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1/64 · source slide 1</a:t>
            </a:r>
          </a:p>
          <a:p>
            <a:r>
              <a:t>Melooloo</a:t>
            </a:r>
          </a:p>
          <a:p>
            <a:r>
              <a:t>Interactive web version: https://mthoriqzi383.github.io/melooloo-project-hub/Melooloo_Final_Presentation_Web_20Oct2026/index.html#slide=1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2/64 · source slide 2</a:t>
            </a:r>
          </a:p>
          <a:p>
            <a:r>
              <a:t>Our Shareholders</a:t>
            </a:r>
          </a:p>
          <a:p>
            <a:r>
              <a:t>Interactive web version: https://mthoriqzi383.github.io/melooloo-project-hub/Melooloo_Final_Presentation_Web_20Oct2026/index.html#slide=2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3/64 · source slide 3</a:t>
            </a:r>
          </a:p>
          <a:p>
            <a:r>
              <a:t>Peluang di pasar premium</a:t>
            </a:r>
          </a:p>
          <a:p>
            <a:r>
              <a:t>Interactive web version: https://mthoriqzi383.github.io/melooloo-project-hub/Melooloo_Final_Presentation_Web_20Oct2026/index.html#slide=3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4/64 · source slide 4</a:t>
            </a:r>
          </a:p>
          <a:p>
            <a:r>
              <a:t>Dua masalah. Satu model.</a:t>
            </a:r>
          </a:p>
          <a:p>
            <a:r>
              <a:t>Interactive web version: https://mthoriqzi383.github.io/melooloo-project-hub/Melooloo_Final_Presentation_Web_20Oct2026/index.html#slide=4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5/64 · source slide 5</a:t>
            </a:r>
          </a:p>
          <a:p>
            <a:r>
              <a:t>Struktur industri membuka ruang</a:t>
            </a:r>
          </a:p>
          <a:p>
            <a:r>
              <a:t>Interactive web version: https://mthoriqzi383.github.io/melooloo-project-hub/Melooloo_Final_Presentation_Web_20Oct2026/index.html#slide=5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6/64 · source slide 6</a:t>
            </a:r>
          </a:p>
          <a:p>
            <a:r>
              <a:t>Visi dan standar produk</a:t>
            </a:r>
          </a:p>
          <a:p>
            <a:r>
              <a:t>Interactive web version: https://mthoriqzi383.github.io/melooloo-project-hub/Melooloo_Final_Presentation_Web_20Oct2026/index.html#slide=6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7/64 · source slide 7</a:t>
            </a:r>
          </a:p>
          <a:p>
            <a:r>
              <a:t>Business Model Canvas</a:t>
            </a:r>
          </a:p>
          <a:p>
            <a:r>
              <a:t>Interactive web version: https://mthoriqzi383.github.io/melooloo-project-hub/Melooloo_Final_Presentation_Web_20Oct2026/index.html#slide=7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8/64 · source slide 20</a:t>
            </a:r>
          </a:p>
          <a:p>
            <a:r>
              <a:t>Tujuan dan Sasaran Operasi</a:t>
            </a:r>
          </a:p>
          <a:p>
            <a:r>
              <a:t>Interactive web version: https://mthoriqzi383.github.io/melooloo-project-hub/Melooloo_Final_Presentation_Web_20Oct2026/index.html#slide=20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9/64 · source slide 21</a:t>
            </a:r>
          </a:p>
          <a:p>
            <a:r>
              <a:t>Lokasi dan Rantai Pasok</a:t>
            </a:r>
          </a:p>
          <a:p>
            <a:r>
              <a:t>Interactive web version: https://mthoriqzi383.github.io/melooloo-project-hub/Melooloo_Final_Presentation_Web_20Oct2026/index.html#slide=21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10/64 · source slide 22</a:t>
            </a:r>
          </a:p>
          <a:p>
            <a:r>
              <a:t>Lokasi Potensial</a:t>
            </a:r>
          </a:p>
          <a:p>
            <a:r>
              <a:t>Interactive web version: https://mthoriqzi383.github.io/melooloo-project-hub/Melooloo_Final_Presentation_Web_20Oct2026/index.html#slide=22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11/64 · source slide 23</a:t>
            </a:r>
          </a:p>
          <a:p>
            <a:r>
              <a:t>Kinerja dan Biaya Operasional</a:t>
            </a:r>
          </a:p>
          <a:p>
            <a:r>
              <a:t>Interactive web version: https://mthoriqzi383.github.io/melooloo-project-hub/Melooloo_Final_Presentation_Web_20Oct2026/index.html#slide=23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12/64 · source slide 24</a:t>
            </a:r>
          </a:p>
          <a:p>
            <a:r>
              <a:t>Prioritas Kinerja Operasi</a:t>
            </a:r>
          </a:p>
          <a:p>
            <a:r>
              <a:t>Interactive web version: https://mthoriqzi383.github.io/melooloo-project-hub/Melooloo_Final_Presentation_Web_20Oct2026/index.html#slide=24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13/64 · source slide 25</a:t>
            </a:r>
          </a:p>
          <a:p>
            <a:r>
              <a:t>Struktur Organisasi dan Kesiapan Tim</a:t>
            </a:r>
          </a:p>
          <a:p>
            <a:r>
              <a:t>Interactive web version: https://mthoriqzi383.github.io/melooloo-project-hub/Melooloo_Final_Presentation_Web_20Oct2026/index.html#slide=25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14/64 · source slide 26</a:t>
            </a:r>
          </a:p>
          <a:p>
            <a:r>
              <a:t>Manajemen Risiko Rantai Pasok</a:t>
            </a:r>
          </a:p>
          <a:p>
            <a:r>
              <a:t>Interactive web version: https://mthoriqzi383.github.io/melooloo-project-hub/Melooloo_Final_Presentation_Web_20Oct2026/index.html#slide=26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15/64 · source slide 27</a:t>
            </a:r>
          </a:p>
          <a:p>
            <a:r>
              <a:t>Strategi operasi</a:t>
            </a:r>
          </a:p>
          <a:p>
            <a:r>
              <a:t>Interactive web version: https://mthoriqzi383.github.io/melooloo-project-hub/Melooloo_Final_Presentation_Web_20Oct2026/index.html#slide=27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16/64 · source slide 28</a:t>
            </a:r>
          </a:p>
          <a:p>
            <a:r>
              <a:t>Enam pertanyaan operasional</a:t>
            </a:r>
          </a:p>
          <a:p>
            <a:r>
              <a:t>Interactive web version: https://mthoriqzi383.github.io/melooloo-project-hub/Melooloo_Final_Presentation_Web_20Oct2026/index.html#slide=28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17/64 · source slide 29</a:t>
            </a:r>
          </a:p>
          <a:p>
            <a:r>
              <a:t>Di dalam satu greenhouse</a:t>
            </a:r>
          </a:p>
          <a:p>
            <a:r>
              <a:t>Interactive web version: https://mthoriqzi383.github.io/melooloo-project-hub/Melooloo_Final_Presentation_Web_20Oct2026/index.html#slide=29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18/64 · source slide 30</a:t>
            </a:r>
          </a:p>
          <a:p>
            <a:r>
              <a:t>Teknologi produksi</a:t>
            </a:r>
          </a:p>
          <a:p>
            <a:r>
              <a:t>Interactive web version: https://mthoriqzi383.github.io/melooloo-project-hub/Melooloo_Final_Presentation_Web_20Oct2026/index.html#slide=30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19/64 · source slide 31</a:t>
            </a:r>
          </a:p>
          <a:p>
            <a:r>
              <a:t>Sensor → keputusan → aktuator</a:t>
            </a:r>
          </a:p>
          <a:p>
            <a:r>
              <a:t>Interactive web version: https://mthoriqzi383.github.io/melooloo-project-hub/Melooloo_Final_Presentation_Web_20Oct2026/index.html#slide=31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20/64 · source slide 32</a:t>
            </a:r>
          </a:p>
          <a:p>
            <a:r>
              <a:t>Mengapa memilih DFT</a:t>
            </a:r>
          </a:p>
          <a:p>
            <a:r>
              <a:t>Interactive web version: https://mthoriqzi383.github.io/melooloo-project-hub/Melooloo_Final_Presentation_Web_20Oct2026/index.html#slide=32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21/64 · source slide 33</a:t>
            </a:r>
          </a:p>
          <a:p>
            <a:r>
              <a:t>Produksi tahun demi tahun</a:t>
            </a:r>
          </a:p>
          <a:p>
            <a:r>
              <a:t>Interactive web version: https://mthoriqzi383.github.io/melooloo-project-hub/Melooloo_Final_Presentation_Web_20Oct2026/index.html#slide=33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22/64 · source slide 34</a:t>
            </a:r>
          </a:p>
          <a:p>
            <a:r>
              <a:t>Pertumbuhan dari unit yang sama</a:t>
            </a:r>
          </a:p>
          <a:p>
            <a:r>
              <a:t>Interactive web version: https://mthoriqzi383.github.io/melooloo-project-hub/Melooloo_Final_Presentation_Web_20Oct2026/index.html#slide=34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23/64 · source slide 35</a:t>
            </a:r>
          </a:p>
          <a:p>
            <a:r>
              <a:t>Banyak. Seragam. Aman.</a:t>
            </a:r>
          </a:p>
          <a:p>
            <a:r>
              <a:t>Interactive web version: https://mthoriqzi383.github.io/melooloo-project-hub/Melooloo_Final_Presentation_Web_20Oct2026/index.html#slide=35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24/64 · source slide 36</a:t>
            </a:r>
          </a:p>
          <a:p>
            <a:r>
              <a:t>Kemanisan dibangun per fase</a:t>
            </a:r>
          </a:p>
          <a:p>
            <a:r>
              <a:t>Interactive web version: https://mthoriqzi383.github.io/melooloo-project-hub/Melooloo_Final_Presentation_Web_20Oct2026/index.html#slide=36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25/64 · source slide 37</a:t>
            </a:r>
          </a:p>
          <a:p>
            <a:r>
              <a:t>Kapan petani bertindak</a:t>
            </a:r>
          </a:p>
          <a:p>
            <a:r>
              <a:t>Interactive web version: https://mthoriqzi383.github.io/melooloo-project-hub/Melooloo_Final_Presentation_Web_20Oct2026/index.html#slide=37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26/64 · source slide 38</a:t>
            </a:r>
          </a:p>
          <a:p>
            <a:r>
              <a:t>Nursery berjalan paralel</a:t>
            </a:r>
          </a:p>
          <a:p>
            <a:r>
              <a:t>Interactive web version: https://mthoriqzi383.github.io/melooloo-project-hub/Melooloo_Final_Presentation_Web_20Oct2026/index.html#slide=38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27/64 · source slide 39</a:t>
            </a:r>
          </a:p>
          <a:p>
            <a:r>
              <a:t>Delapan tahap kerja</a:t>
            </a:r>
          </a:p>
          <a:p>
            <a:r>
              <a:t>Interactive web version: https://mthoriqzi383.github.io/melooloo-project-hub/Melooloo_Final_Presentation_Web_20Oct2026/index.html#slide=39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28/64 · source slide 40</a:t>
            </a:r>
          </a:p>
          <a:p>
            <a:r>
              <a:t>Apakah tenaga kerja cukup?</a:t>
            </a:r>
          </a:p>
          <a:p>
            <a:r>
              <a:t>Interactive web version: https://mthoriqzi383.github.io/melooloo-project-hub/Melooloo_Final_Presentation_Web_20Oct2026/index.html#slide=40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29/64 · source slide 41</a:t>
            </a:r>
          </a:p>
          <a:p>
            <a:r>
              <a:t>Lima panen dari slot 73 hari</a:t>
            </a:r>
          </a:p>
          <a:p>
            <a:r>
              <a:t>Interactive web version: https://mthoriqzi383.github.io/melooloo-project-hub/Melooloo_Final_Presentation_Web_20Oct2026/index.html#slide=41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30/64 · source slide 42</a:t>
            </a:r>
          </a:p>
          <a:p>
            <a:r>
              <a:t>Benih dapat ditiru. Sistem tidak.</a:t>
            </a:r>
          </a:p>
          <a:p>
            <a:r>
              <a:t>Interactive web version: https://mthoriqzi383.github.io/melooloo-project-hub/Melooloo_Final_Presentation_Web_20Oct2026/index.html#slide=42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31/64 · source slide 43</a:t>
            </a:r>
          </a:p>
          <a:p>
            <a:r>
              <a:t>Investasi benih bertahap</a:t>
            </a:r>
          </a:p>
          <a:p>
            <a:r>
              <a:t>Interactive web version: https://mthoriqzi383.github.io/melooloo-project-hub/Melooloo_Final_Presentation_Web_20Oct2026/index.html#slide=43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32/64 · source slide 44</a:t>
            </a:r>
          </a:p>
          <a:p>
            <a:r>
              <a:t>Apa yang sukar disalin</a:t>
            </a:r>
          </a:p>
          <a:p>
            <a:r>
              <a:t>Interactive web version: https://mthoriqzi383.github.io/melooloo-project-hub/Melooloo_Final_Presentation_Web_20Oct2026/index.html#slide=44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33/64 · source slide 47</a:t>
            </a:r>
          </a:p>
          <a:p>
            <a:r>
              <a:t>Empat angka inti</a:t>
            </a:r>
          </a:p>
          <a:p>
            <a:r>
              <a:t>Interactive web version: https://mthoriqzi383.github.io/melooloo-project-hub/Melooloo_Final_Presentation_Web_20Oct2026/index.html#slide=47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34/64 · source slide 48</a:t>
            </a:r>
          </a:p>
          <a:p>
            <a:r>
              <a:t>Strategi Sumber Daya Manusia</a:t>
            </a:r>
          </a:p>
          <a:p>
            <a:r>
              <a:t>Interactive web version: https://mthoriqzi383.github.io/melooloo-project-hub/Melooloo_Final_Presentation_Web_20Oct2026/index.html#slide=48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35/64 · source slide 49</a:t>
            </a:r>
          </a:p>
          <a:p>
            <a:r>
              <a:t>Strategi Perencanaan &amp; Pengadaan SDM</a:t>
            </a:r>
          </a:p>
          <a:p>
            <a:r>
              <a:t>Interactive web version: https://mthoriqzi383.github.io/melooloo-project-hub/Melooloo_Final_Presentation_Web_20Oct2026/index.html#slide=49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36/64 · source slide 50</a:t>
            </a:r>
          </a:p>
          <a:p>
            <a:r>
              <a:t>Struktur Organisasi SDM</a:t>
            </a:r>
          </a:p>
          <a:p>
            <a:r>
              <a:t>Interactive web version: https://mthoriqzi383.github.io/melooloo-project-hub/Melooloo_Final_Presentation_Web_20Oct2026/index.html#slide=50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37/64 · source slide 51</a:t>
            </a:r>
          </a:p>
          <a:p>
            <a:r>
              <a:t>Proyeksi Jumlah Pekerja</a:t>
            </a:r>
          </a:p>
          <a:p>
            <a:r>
              <a:t>Interactive web version: https://mthoriqzi383.github.io/melooloo-project-hub/Melooloo_Final_Presentation_Web_20Oct2026/index.html#slide=51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38/64 · source slide 52</a:t>
            </a:r>
          </a:p>
          <a:p>
            <a:r>
              <a:t>Proyeksi Pengeluaran Biaya</a:t>
            </a:r>
          </a:p>
          <a:p>
            <a:r>
              <a:t>Interactive web version: https://mthoriqzi383.github.io/melooloo-project-hub/Melooloo_Final_Presentation_Web_20Oct2026/index.html#slide=52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39/64 · source slide 53</a:t>
            </a:r>
          </a:p>
          <a:p>
            <a:r>
              <a:t>Rencana keuangan Melooloo</a:t>
            </a:r>
          </a:p>
          <a:p>
            <a:r>
              <a:t>Interactive web version: https://mthoriqzi383.github.io/melooloo-project-hub/Melooloo_Final_Presentation_Web_20Oct2026/index.html#slide=53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40/64 · source slide 54</a:t>
            </a:r>
          </a:p>
          <a:p>
            <a:r>
              <a:t>Asumsi Utama Proyeksi</a:t>
            </a:r>
          </a:p>
          <a:p>
            <a:r>
              <a:t>Interactive web version: https://mthoriqzi383.github.io/melooloo-project-hub/Melooloo_Final_Presentation_Web_20Oct2026/index.html#slide=54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41/64 · source slide 55</a:t>
            </a:r>
          </a:p>
          <a:p>
            <a:r>
              <a:t>Initial Investment</a:t>
            </a:r>
          </a:p>
          <a:p>
            <a:r>
              <a:t>Interactive web version: https://mthoriqzi383.github.io/melooloo-project-hub/Melooloo_Final_Presentation_Web_20Oct2026/index.html#slide=55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42/64 · source slide 56</a:t>
            </a:r>
          </a:p>
          <a:p>
            <a:r>
              <a:t>Funding Strategy</a:t>
            </a:r>
          </a:p>
          <a:p>
            <a:r>
              <a:t>Interactive web version: https://mthoriqzi383.github.io/melooloo-project-hub/Melooloo_Final_Presentation_Web_20Oct2026/index.html#slide=56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43/64 · source slide 57</a:t>
            </a:r>
          </a:p>
          <a:p>
            <a:r>
              <a:t>Belanja bangun, biaya jalan</a:t>
            </a:r>
          </a:p>
          <a:p>
            <a:r>
              <a:t>Interactive web version: https://mthoriqzi383.github.io/melooloo-project-hub/Melooloo_Final_Presentation_Web_20Oct2026/index.html#slide=57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44/64 · source slide 58</a:t>
            </a:r>
          </a:p>
          <a:p>
            <a:r>
              <a:t>Pendapatan tumbuh, laba positif sejak Y1</a:t>
            </a:r>
          </a:p>
          <a:p>
            <a:r>
              <a:t>Interactive web version: https://mthoriqzi383.github.io/melooloo-project-hub/Melooloo_Final_Presentation_Web_20Oct2026/index.html#slide=58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45/64 · source slide 59</a:t>
            </a:r>
          </a:p>
          <a:p>
            <a:r>
              <a:t>Aset dan ekuitas bertumbuh</a:t>
            </a:r>
          </a:p>
          <a:p>
            <a:r>
              <a:t>Interactive web version: https://mthoriqzi383.github.io/melooloo-project-hub/Melooloo_Final_Presentation_Web_20Oct2026/index.html#slide=59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46/64 · source slide 60</a:t>
            </a:r>
          </a:p>
          <a:p>
            <a:r>
              <a:t>Cashflow &amp; Payback Period</a:t>
            </a:r>
          </a:p>
          <a:p>
            <a:r>
              <a:t>Interactive web version: https://mthoriqzi383.github.io/melooloo-project-hub/Melooloo_Final_Presentation_Web_20Oct2026/index.html#slide=60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47/64 · source slide 61</a:t>
            </a:r>
          </a:p>
          <a:p>
            <a:r>
              <a:t>Break Even Point</a:t>
            </a:r>
          </a:p>
          <a:p>
            <a:r>
              <a:t>Interactive web version: https://mthoriqzi383.github.io/melooloo-project-hub/Melooloo_Final_Presentation_Web_20Oct2026/index.html#slide=61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48/64 · source slide 62</a:t>
            </a:r>
          </a:p>
          <a:p>
            <a:r>
              <a:t>Indikator Kelayakan Bisnis</a:t>
            </a:r>
          </a:p>
          <a:p>
            <a:r>
              <a:t>Interactive web version: https://mthoriqzi383.github.io/melooloo-project-hub/Melooloo_Final_Presentation_Web_20Oct2026/index.html#slide=62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49/64 · source slide 63</a:t>
            </a:r>
          </a:p>
          <a:p>
            <a:r>
              <a:t>Sensitivitas &amp; Skenario</a:t>
            </a:r>
          </a:p>
          <a:p>
            <a:r>
              <a:t>Interactive web version: https://mthoriqzi383.github.io/melooloo-project-hub/Melooloo_Final_Presentation_Web_20Oct2026/index.html#slide=63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50/64 · source slide 64</a:t>
            </a:r>
          </a:p>
          <a:p>
            <a:r>
              <a:t>Keputusan Investasi</a:t>
            </a:r>
          </a:p>
          <a:p>
            <a:r>
              <a:t>Interactive web version: https://mthoriqzi383.github.io/melooloo-project-hub/Melooloo_Final_Presentation_Web_20Oct2026/index.html#slide=64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51/64 · source slide 8</a:t>
            </a:r>
          </a:p>
          <a:p>
            <a:r>
              <a:t>Tiga sasaran pemasaran</a:t>
            </a:r>
          </a:p>
          <a:p>
            <a:r>
              <a:t>Interactive web version: https://mthoriqzi383.github.io/melooloo-project-hub/Melooloo_Final_Presentation_Web_20Oct2026/index.html#slide=8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52/64 · source slide 9</a:t>
            </a:r>
          </a:p>
          <a:p>
            <a:r>
              <a:t>Enam segmen, dua jalur</a:t>
            </a:r>
          </a:p>
          <a:p>
            <a:r>
              <a:t>Interactive web version: https://mthoriqzi383.github.io/melooloo-project-hub/Melooloo_Final_Presentation_Web_20Oct2026/index.html#slide=9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53/64 · source slide 10</a:t>
            </a:r>
          </a:p>
          <a:p>
            <a:r>
              <a:t>Dari TAM ke SOM</a:t>
            </a:r>
          </a:p>
          <a:p>
            <a:r>
              <a:t>Interactive web version: https://mthoriqzi383.github.io/melooloo-project-hub/Melooloo_Final_Presentation_Web_20Oct2026/index.html#slide=10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54/64 · source slide 11</a:t>
            </a:r>
          </a:p>
          <a:p>
            <a:r>
              <a:t>Apa yang setara. Apa yang berbeda.</a:t>
            </a:r>
          </a:p>
          <a:p>
            <a:r>
              <a:t>Interactive web version: https://mthoriqzi383.github.io/melooloo-project-hub/Melooloo_Final_Presentation_Web_20Oct2026/index.html#slide=11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55/64 · source slide 12</a:t>
            </a:r>
          </a:p>
          <a:p>
            <a:r>
              <a:t>Peta kompetitif</a:t>
            </a:r>
          </a:p>
          <a:p>
            <a:r>
              <a:t>Interactive web version: https://mthoriqzi383.github.io/melooloo-project-hub/Melooloo_Final_Presentation_Web_20Oct2026/index.html#slide=12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56/64 · source slide 13</a:t>
            </a:r>
          </a:p>
          <a:p>
            <a:r>
              <a:t>Ruang menuju titik ideal</a:t>
            </a:r>
          </a:p>
          <a:p>
            <a:r>
              <a:t>Interactive web version: https://mthoriqzi383.github.io/melooloo-project-hub/Melooloo_Final_Presentation_Web_20Oct2026/index.html#slide=13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57/64 · source slide 14</a:t>
            </a:r>
          </a:p>
          <a:p>
            <a:r>
              <a:t>Posisi merek: kebun di kota</a:t>
            </a:r>
          </a:p>
          <a:p>
            <a:r>
              <a:t>Interactive web version: https://mthoriqzi383.github.io/melooloo-project-hub/Melooloo_Final_Presentation_Web_20Oct2026/index.html#slide=14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58/64 · source slide 15</a:t>
            </a:r>
          </a:p>
          <a:p>
            <a:r>
              <a:t>Produk dan harga</a:t>
            </a:r>
          </a:p>
          <a:p>
            <a:r>
              <a:t>Interactive web version: https://mthoriqzi383.github.io/melooloo-project-hub/Melooloo_Final_Presentation_Web_20Oct2026/index.html#slide=15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59/64 · source slide 16</a:t>
            </a:r>
          </a:p>
          <a:p>
            <a:r>
              <a:t>Lima kanal distribusi</a:t>
            </a:r>
          </a:p>
          <a:p>
            <a:r>
              <a:t>Interactive web version: https://mthoriqzi383.github.io/melooloo-project-hub/Melooloo_Final_Presentation_Web_20Oct2026/index.html#slide=16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60/64 · source slide 17</a:t>
            </a:r>
          </a:p>
          <a:p>
            <a:r>
              <a:t>Komunikasi yang terukur</a:t>
            </a:r>
          </a:p>
          <a:p>
            <a:r>
              <a:t>Interactive web version: https://mthoriqzi383.github.io/melooloo-project-hub/Melooloo_Final_Presentation_Web_20Oct2026/index.html#slide=17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61/64 · source slide 18</a:t>
            </a:r>
          </a:p>
          <a:p>
            <a:r>
              <a:t>Brand di titik temu pelanggan</a:t>
            </a:r>
          </a:p>
          <a:p>
            <a:r>
              <a:t>Interactive web version: https://mthoriqzi383.github.io/melooloo-project-hub/Melooloo_Final_Presentation_Web_20Oct2026/index.html#slide=18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62/64 · source slide 19</a:t>
            </a:r>
          </a:p>
          <a:p>
            <a:r>
              <a:t>Ekonomi pemasaran</a:t>
            </a:r>
          </a:p>
          <a:p>
            <a:r>
              <a:t>Interactive web version: https://mthoriqzi383.github.io/melooloo-project-hub/Melooloo_Final_Presentation_Web_20Oct2026/index.html#slide=19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63/64 · source slide 65</a:t>
            </a:r>
          </a:p>
          <a:p>
            <a:r>
              <a:t>Dari peluang ke keputusan</a:t>
            </a:r>
          </a:p>
          <a:p>
            <a:r>
              <a:t>Interactive web version: https://mthoriqzi383.github.io/melooloo-project-hub/Melooloo_Final_Presentation_Web_20Oct2026/index.html#slide=65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Melooloo presentation 64/64 · source slide 66</a:t>
            </a:r>
          </a:p>
          <a:p>
            <a:r>
              <a:t>Terima kasih.</a:t>
            </a:r>
          </a:p>
          <a:p>
            <a:r>
              <a:t>Interactive web version: https://mthoriqzi383.github.io/melooloo-project-hub/Melooloo_Final_Presentation_Web_20Oct2026/index.html#slide=66</a:t>
            </a:r>
          </a:p>
          <a:p>
            <a:r>
              <a:t>Native PowerPoint text and drawing objects; photos are separate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PELUANG &amp; MODEL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PELUANG &amp;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Melooloo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Produsen melon premium berbasis urban farming dengan sistem smart greenhouse adaptif untuk segmen B2B2C di Jakarta.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Sidang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Business plan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Kelompok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Prasetiya Mulya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ictur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05" y="233145"/>
            <a:ext cx="579033" cy="5790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136" y="331174"/>
            <a:ext cx="194484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23665"/>
                </a:solidFill>
                <a:latin typeface="Arial"/>
              </a:rPr>
              <a:t>UNIVERSITAS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136" y="466862"/>
            <a:ext cx="1944845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23665"/>
                </a:solidFill>
                <a:latin typeface="Arial"/>
              </a:rPr>
              <a:t>PRASETIYA MULYA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3420"/>
            <a:ext cx="12191999" cy="8646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55" b="1" i="0">
                <a:solidFill>
                  <a:srgbClr val="050505"/>
                </a:solidFill>
                <a:latin typeface="Arial"/>
              </a:rPr>
              <a:t>Our Shareholders</a:t>
            </a:r>
          </a:p>
        </p:txBody>
      </p:sp>
      <p:sp>
        <p:nvSpPr>
          <p:cNvPr id="7" name="Oval 6"/>
          <p:cNvSpPr/>
          <p:nvPr/>
        </p:nvSpPr>
        <p:spPr>
          <a:xfrm>
            <a:off x="426686" y="1714414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625" y="3899228"/>
            <a:ext cx="1012617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Carlos</a:t>
            </a:r>
          </a:p>
        </p:txBody>
      </p:sp>
      <p:sp>
        <p:nvSpPr>
          <p:cNvPr id="9" name="Oval 8"/>
          <p:cNvSpPr/>
          <p:nvPr/>
        </p:nvSpPr>
        <p:spPr>
          <a:xfrm>
            <a:off x="5059639" y="1714414"/>
            <a:ext cx="2072606" cy="2072634"/>
          </a:xfrm>
          <a:prstGeom prst="ellipse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cture-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39" y="1714414"/>
            <a:ext cx="2072606" cy="20726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05921" y="3899228"/>
            <a:ext cx="1011933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Nindio</a:t>
            </a:r>
          </a:p>
        </p:txBody>
      </p:sp>
      <p:sp>
        <p:nvSpPr>
          <p:cNvPr id="12" name="Oval 11"/>
          <p:cNvSpPr/>
          <p:nvPr/>
        </p:nvSpPr>
        <p:spPr>
          <a:xfrm>
            <a:off x="9692592" y="1714414"/>
            <a:ext cx="2072606" cy="2072634"/>
          </a:xfrm>
          <a:prstGeom prst="ellipse">
            <a:avLst/>
          </a:prstGeom>
          <a:solidFill>
            <a:srgbClr val="FB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592" y="1714414"/>
            <a:ext cx="2072606" cy="20726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307573" y="3899228"/>
            <a:ext cx="874535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Emily</a:t>
            </a:r>
          </a:p>
        </p:txBody>
      </p:sp>
      <p:sp>
        <p:nvSpPr>
          <p:cNvPr id="15" name="Oval 14"/>
          <p:cNvSpPr/>
          <p:nvPr/>
        </p:nvSpPr>
        <p:spPr>
          <a:xfrm>
            <a:off x="2743162" y="3840457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8241" y="6025271"/>
            <a:ext cx="774340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Mery</a:t>
            </a:r>
          </a:p>
        </p:txBody>
      </p:sp>
      <p:sp>
        <p:nvSpPr>
          <p:cNvPr id="17" name="Oval 16"/>
          <p:cNvSpPr/>
          <p:nvPr/>
        </p:nvSpPr>
        <p:spPr>
          <a:xfrm>
            <a:off x="7376115" y="3840457"/>
            <a:ext cx="2072606" cy="2072634"/>
          </a:xfrm>
          <a:prstGeom prst="ellipse">
            <a:avLst/>
          </a:prstGeom>
          <a:solidFill>
            <a:srgbClr val="FBF5E7"/>
          </a:solidFill>
          <a:ln w="7303">
            <a:solidFill>
              <a:srgbClr val="D4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2397" y="6025271"/>
            <a:ext cx="1011933" cy="41179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88" b="1" i="0">
                <a:solidFill>
                  <a:srgbClr val="050505"/>
                </a:solidFill>
                <a:latin typeface="Arial"/>
              </a:rPr>
              <a:t>Thoriq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6416778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143E2B"/>
                </a:solidFill>
                <a:latin typeface="Arial Narrow"/>
              </a:rPr>
              <a:t>Peluang di pasar 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61203"/>
            <a:ext cx="641677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715E"/>
                </a:solidFill>
                <a:latin typeface="Arial"/>
              </a:rPr>
              <a:t>Estimasi permintaan premium DKI lebih besar daripada pasokan bermerek dari produsen lokal.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3336163"/>
            <a:ext cx="1100837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3164528"/>
            <a:ext cx="815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115" y="3164528"/>
            <a:ext cx="18047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550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57241" y="3164528"/>
            <a:ext cx="2546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1.100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3658" y="3164528"/>
            <a:ext cx="2546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1.650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9960" y="3164528"/>
            <a:ext cx="46222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9715E"/>
                </a:solidFill>
                <a:latin typeface="Arial"/>
              </a:rPr>
              <a:t>2.200 TON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814" y="4018255"/>
            <a:ext cx="20134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143E2B"/>
                </a:solidFill>
                <a:latin typeface="Arial"/>
              </a:rPr>
              <a:t>PERMINTAAN PREMIUM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699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3225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4751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6277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802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9328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854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380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906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32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6957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8483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0009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1535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3061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4587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112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7638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9164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0690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2216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37419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52677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67935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8319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98452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13710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28968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844226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9484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74743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490001" y="3815807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90722" y="3815807"/>
            <a:ext cx="72709" cy="536360"/>
          </a:xfrm>
          <a:prstGeom prst="rect">
            <a:avLst/>
          </a:prstGeom>
          <a:solidFill>
            <a:srgbClr val="B7D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61971" y="3815807"/>
            <a:ext cx="72709" cy="536360"/>
          </a:xfrm>
          <a:prstGeom prst="rect">
            <a:avLst/>
          </a:prstGeom>
          <a:solidFill>
            <a:srgbClr val="B4D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533220" y="3815807"/>
            <a:ext cx="72709" cy="536360"/>
          </a:xfrm>
          <a:prstGeom prst="rect">
            <a:avLst/>
          </a:prstGeom>
          <a:solidFill>
            <a:srgbClr val="B0D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04469" y="3815807"/>
            <a:ext cx="72709" cy="536360"/>
          </a:xfrm>
          <a:prstGeom prst="rect">
            <a:avLst/>
          </a:prstGeom>
          <a:solidFill>
            <a:srgbClr val="ADD6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75717" y="3815807"/>
            <a:ext cx="72709" cy="536360"/>
          </a:xfrm>
          <a:prstGeom prst="rect">
            <a:avLst/>
          </a:prstGeom>
          <a:solidFill>
            <a:srgbClr val="A9D3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46966" y="3815807"/>
            <a:ext cx="72709" cy="536360"/>
          </a:xfrm>
          <a:prstGeom prst="rect">
            <a:avLst/>
          </a:prstGeom>
          <a:solidFill>
            <a:srgbClr val="A6D0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18215" y="3815807"/>
            <a:ext cx="72709" cy="536360"/>
          </a:xfrm>
          <a:prstGeom prst="rect">
            <a:avLst/>
          </a:prstGeom>
          <a:solidFill>
            <a:srgbClr val="A2C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89463" y="3815807"/>
            <a:ext cx="72709" cy="536360"/>
          </a:xfrm>
          <a:prstGeom prst="rect">
            <a:avLst/>
          </a:prstGeom>
          <a:solidFill>
            <a:srgbClr val="9FC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60712" y="3815807"/>
            <a:ext cx="72709" cy="536360"/>
          </a:xfrm>
          <a:prstGeom prst="rect">
            <a:avLst/>
          </a:prstGeom>
          <a:solidFill>
            <a:srgbClr val="9CC8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31961" y="3815807"/>
            <a:ext cx="72709" cy="536360"/>
          </a:xfrm>
          <a:prstGeom prst="rect">
            <a:avLst/>
          </a:prstGeom>
          <a:solidFill>
            <a:srgbClr val="98C6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03210" y="3815807"/>
            <a:ext cx="72709" cy="536360"/>
          </a:xfrm>
          <a:prstGeom prst="rect">
            <a:avLst/>
          </a:prstGeom>
          <a:solidFill>
            <a:srgbClr val="95C3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74458" y="3815807"/>
            <a:ext cx="72709" cy="536360"/>
          </a:xfrm>
          <a:prstGeom prst="rect">
            <a:avLst/>
          </a:prstGeom>
          <a:solidFill>
            <a:srgbClr val="91C0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45707" y="3815807"/>
            <a:ext cx="72709" cy="536360"/>
          </a:xfrm>
          <a:prstGeom prst="rect">
            <a:avLst/>
          </a:prstGeom>
          <a:solidFill>
            <a:srgbClr val="8E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316956" y="3815807"/>
            <a:ext cx="72709" cy="536360"/>
          </a:xfrm>
          <a:prstGeom prst="rect">
            <a:avLst/>
          </a:prstGeom>
          <a:solidFill>
            <a:srgbClr val="8A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388204" y="3815807"/>
            <a:ext cx="72709" cy="536360"/>
          </a:xfrm>
          <a:prstGeom prst="rect">
            <a:avLst/>
          </a:prstGeom>
          <a:solidFill>
            <a:srgbClr val="87B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9453" y="3815807"/>
            <a:ext cx="72709" cy="536360"/>
          </a:xfrm>
          <a:prstGeom prst="rect">
            <a:avLst/>
          </a:prstGeom>
          <a:solidFill>
            <a:srgbClr val="83B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530702" y="3815807"/>
            <a:ext cx="72709" cy="536360"/>
          </a:xfrm>
          <a:prstGeom prst="rect">
            <a:avLst/>
          </a:prstGeom>
          <a:solidFill>
            <a:srgbClr val="80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601951" y="3815807"/>
            <a:ext cx="72709" cy="536360"/>
          </a:xfrm>
          <a:prstGeom prst="rect">
            <a:avLst/>
          </a:prstGeom>
          <a:solidFill>
            <a:srgbClr val="7CB1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673199" y="3815807"/>
            <a:ext cx="72709" cy="536360"/>
          </a:xfrm>
          <a:prstGeom prst="rect">
            <a:avLst/>
          </a:prstGeom>
          <a:solidFill>
            <a:srgbClr val="79A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744448" y="3815807"/>
            <a:ext cx="72709" cy="536360"/>
          </a:xfrm>
          <a:prstGeom prst="rect">
            <a:avLst/>
          </a:prstGeom>
          <a:solidFill>
            <a:srgbClr val="75A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15697" y="3815807"/>
            <a:ext cx="72709" cy="536360"/>
          </a:xfrm>
          <a:prstGeom prst="rect">
            <a:avLst/>
          </a:prstGeom>
          <a:solidFill>
            <a:srgbClr val="72A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86945" y="3815807"/>
            <a:ext cx="72709" cy="536360"/>
          </a:xfrm>
          <a:prstGeom prst="rect">
            <a:avLst/>
          </a:prstGeom>
          <a:solidFill>
            <a:srgbClr val="6EA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58194" y="3815807"/>
            <a:ext cx="72709" cy="536360"/>
          </a:xfrm>
          <a:prstGeom prst="rect">
            <a:avLst/>
          </a:prstGeom>
          <a:solidFill>
            <a:srgbClr val="6BA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29443" y="3815807"/>
            <a:ext cx="72709" cy="536360"/>
          </a:xfrm>
          <a:prstGeom prst="rect">
            <a:avLst/>
          </a:prstGeom>
          <a:solidFill>
            <a:srgbClr val="67A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00692" y="3815807"/>
            <a:ext cx="72709" cy="536360"/>
          </a:xfrm>
          <a:prstGeom prst="rect">
            <a:avLst/>
          </a:prstGeom>
          <a:solidFill>
            <a:srgbClr val="649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71940" y="3815807"/>
            <a:ext cx="72709" cy="536360"/>
          </a:xfrm>
          <a:prstGeom prst="rect">
            <a:avLst/>
          </a:prstGeom>
          <a:solidFill>
            <a:srgbClr val="61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243189" y="3815807"/>
            <a:ext cx="72709" cy="536360"/>
          </a:xfrm>
          <a:prstGeom prst="rect">
            <a:avLst/>
          </a:prstGeom>
          <a:solidFill>
            <a:srgbClr val="5D99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314438" y="3815807"/>
            <a:ext cx="72709" cy="536360"/>
          </a:xfrm>
          <a:prstGeom prst="rect">
            <a:avLst/>
          </a:prstGeom>
          <a:solidFill>
            <a:srgbClr val="5A9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385686" y="3815807"/>
            <a:ext cx="72709" cy="536360"/>
          </a:xfrm>
          <a:prstGeom prst="rect">
            <a:avLst/>
          </a:prstGeom>
          <a:solidFill>
            <a:srgbClr val="569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456935" y="3815807"/>
            <a:ext cx="72709" cy="536360"/>
          </a:xfrm>
          <a:prstGeom prst="rect">
            <a:avLst/>
          </a:prstGeom>
          <a:solidFill>
            <a:srgbClr val="539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28184" y="3815807"/>
            <a:ext cx="72709" cy="536360"/>
          </a:xfrm>
          <a:prstGeom prst="rect">
            <a:avLst/>
          </a:prstGeom>
          <a:solidFill>
            <a:srgbClr val="4F8E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99433" y="3815807"/>
            <a:ext cx="72709" cy="536360"/>
          </a:xfrm>
          <a:prstGeom prst="rect">
            <a:avLst/>
          </a:prstGeom>
          <a:solidFill>
            <a:srgbClr val="4C8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949015" y="3959825"/>
            <a:ext cx="168317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32" b="0" i="0">
                <a:solidFill>
                  <a:srgbClr val="164630"/>
                </a:solidFill>
                <a:latin typeface="Arial"/>
              </a:rPr>
              <a:t>1.460–2.190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1814" y="5034373"/>
            <a:ext cx="20134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143E2B"/>
                </a:solidFill>
                <a:latin typeface="Arial"/>
              </a:rPr>
              <a:t>PASOKAN BERMEREK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81699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03225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24751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46277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67802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89328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10854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32380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3906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75432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96957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8483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0009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1535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83061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4587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6112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47638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69164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90690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12216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337419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552677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767935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98319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198452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413710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628968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44226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059484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274743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490001" y="4831925"/>
            <a:ext cx="216718" cy="536360"/>
          </a:xfrm>
          <a:prstGeom prst="rect">
            <a:avLst/>
          </a:prstGeom>
          <a:solidFill>
            <a:srgbClr val="20543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070580" y="4831925"/>
            <a:ext cx="79599" cy="536360"/>
          </a:xfrm>
          <a:prstGeom prst="rect">
            <a:avLst/>
          </a:prstGeom>
          <a:solidFill>
            <a:srgbClr val="AD9D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48719" y="4831925"/>
            <a:ext cx="79599" cy="536360"/>
          </a:xfrm>
          <a:prstGeom prst="rect">
            <a:avLst/>
          </a:prstGeom>
          <a:solidFill>
            <a:srgbClr val="AC9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226857" y="4831925"/>
            <a:ext cx="79599" cy="536360"/>
          </a:xfrm>
          <a:prstGeom prst="rect">
            <a:avLst/>
          </a:prstGeom>
          <a:solidFill>
            <a:srgbClr val="AB9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304996" y="4831925"/>
            <a:ext cx="79599" cy="536360"/>
          </a:xfrm>
          <a:prstGeom prst="rect">
            <a:avLst/>
          </a:prstGeom>
          <a:solidFill>
            <a:srgbClr val="AA9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383134" y="4831925"/>
            <a:ext cx="79599" cy="536360"/>
          </a:xfrm>
          <a:prstGeom prst="rect">
            <a:avLst/>
          </a:prstGeom>
          <a:solidFill>
            <a:srgbClr val="A999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461273" y="4831925"/>
            <a:ext cx="79599" cy="536360"/>
          </a:xfrm>
          <a:prstGeom prst="rect">
            <a:avLst/>
          </a:prstGeom>
          <a:solidFill>
            <a:srgbClr val="A99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539412" y="4831925"/>
            <a:ext cx="79599" cy="536360"/>
          </a:xfrm>
          <a:prstGeom prst="rect">
            <a:avLst/>
          </a:prstGeom>
          <a:solidFill>
            <a:srgbClr val="A897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617550" y="4831925"/>
            <a:ext cx="79599" cy="536360"/>
          </a:xfrm>
          <a:prstGeom prst="rect">
            <a:avLst/>
          </a:prstGeom>
          <a:solidFill>
            <a:srgbClr val="A79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95689" y="4831925"/>
            <a:ext cx="79599" cy="536360"/>
          </a:xfrm>
          <a:prstGeom prst="rect">
            <a:avLst/>
          </a:prstGeom>
          <a:solidFill>
            <a:srgbClr val="A69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773827" y="4831925"/>
            <a:ext cx="79599" cy="536360"/>
          </a:xfrm>
          <a:prstGeom prst="rect">
            <a:avLst/>
          </a:prstGeom>
          <a:solidFill>
            <a:srgbClr val="A69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851966" y="4831925"/>
            <a:ext cx="79599" cy="536360"/>
          </a:xfrm>
          <a:prstGeom prst="rect">
            <a:avLst/>
          </a:prstGeom>
          <a:solidFill>
            <a:srgbClr val="A59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30104" y="4831925"/>
            <a:ext cx="79599" cy="536360"/>
          </a:xfrm>
          <a:prstGeom prst="rect">
            <a:avLst/>
          </a:prstGeom>
          <a:solidFill>
            <a:srgbClr val="A492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008243" y="4831925"/>
            <a:ext cx="79599" cy="536360"/>
          </a:xfrm>
          <a:prstGeom prst="rect">
            <a:avLst/>
          </a:prstGeom>
          <a:solidFill>
            <a:srgbClr val="A391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086382" y="4831925"/>
            <a:ext cx="79599" cy="536360"/>
          </a:xfrm>
          <a:prstGeom prst="rect">
            <a:avLst/>
          </a:prstGeom>
          <a:solidFill>
            <a:srgbClr val="A29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164520" y="4831925"/>
            <a:ext cx="79599" cy="536360"/>
          </a:xfrm>
          <a:prstGeom prst="rect">
            <a:avLst/>
          </a:prstGeom>
          <a:solidFill>
            <a:srgbClr val="A28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242659" y="4831925"/>
            <a:ext cx="79599" cy="536360"/>
          </a:xfrm>
          <a:prstGeom prst="rect">
            <a:avLst/>
          </a:prstGeom>
          <a:solidFill>
            <a:srgbClr val="A18E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320797" y="4831925"/>
            <a:ext cx="79599" cy="536360"/>
          </a:xfrm>
          <a:prstGeom prst="rect">
            <a:avLst/>
          </a:prstGeom>
          <a:solidFill>
            <a:srgbClr val="A08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398936" y="4831925"/>
            <a:ext cx="79599" cy="536360"/>
          </a:xfrm>
          <a:prstGeom prst="rect">
            <a:avLst/>
          </a:prstGeom>
          <a:solidFill>
            <a:srgbClr val="9F8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477075" y="4831925"/>
            <a:ext cx="79599" cy="536360"/>
          </a:xfrm>
          <a:prstGeom prst="rect">
            <a:avLst/>
          </a:prstGeom>
          <a:solidFill>
            <a:srgbClr val="9F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555213" y="4831925"/>
            <a:ext cx="79599" cy="536360"/>
          </a:xfrm>
          <a:prstGeom prst="rect">
            <a:avLst/>
          </a:prstGeom>
          <a:solidFill>
            <a:srgbClr val="9E8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633352" y="4831925"/>
            <a:ext cx="79599" cy="536360"/>
          </a:xfrm>
          <a:prstGeom prst="rect">
            <a:avLst/>
          </a:prstGeom>
          <a:solidFill>
            <a:srgbClr val="9D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711490" y="4831925"/>
            <a:ext cx="79599" cy="536360"/>
          </a:xfrm>
          <a:prstGeom prst="rect">
            <a:avLst/>
          </a:prstGeom>
          <a:solidFill>
            <a:srgbClr val="9C8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789629" y="4831925"/>
            <a:ext cx="79599" cy="536360"/>
          </a:xfrm>
          <a:prstGeom prst="rect">
            <a:avLst/>
          </a:prstGeom>
          <a:solidFill>
            <a:srgbClr val="9B8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67767" y="4831925"/>
            <a:ext cx="79599" cy="536360"/>
          </a:xfrm>
          <a:prstGeom prst="rect">
            <a:avLst/>
          </a:prstGeom>
          <a:solidFill>
            <a:srgbClr val="9B86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945906" y="4831925"/>
            <a:ext cx="79599" cy="536360"/>
          </a:xfrm>
          <a:prstGeom prst="rect">
            <a:avLst/>
          </a:prstGeom>
          <a:solidFill>
            <a:srgbClr val="9A85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024045" y="4831925"/>
            <a:ext cx="79599" cy="536360"/>
          </a:xfrm>
          <a:prstGeom prst="rect">
            <a:avLst/>
          </a:prstGeom>
          <a:solidFill>
            <a:srgbClr val="998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102183" y="4831925"/>
            <a:ext cx="79599" cy="536360"/>
          </a:xfrm>
          <a:prstGeom prst="rect">
            <a:avLst/>
          </a:prstGeom>
          <a:solidFill>
            <a:srgbClr val="988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180322" y="4831925"/>
            <a:ext cx="79599" cy="536360"/>
          </a:xfrm>
          <a:prstGeom prst="rect">
            <a:avLst/>
          </a:prstGeom>
          <a:solidFill>
            <a:srgbClr val="988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258460" y="4831925"/>
            <a:ext cx="79599" cy="536360"/>
          </a:xfrm>
          <a:prstGeom prst="rect">
            <a:avLst/>
          </a:prstGeom>
          <a:solidFill>
            <a:srgbClr val="978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336599" y="4831925"/>
            <a:ext cx="79599" cy="536360"/>
          </a:xfrm>
          <a:prstGeom prst="rect">
            <a:avLst/>
          </a:prstGeom>
          <a:solidFill>
            <a:srgbClr val="968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414737" y="4831925"/>
            <a:ext cx="79599" cy="536360"/>
          </a:xfrm>
          <a:prstGeom prst="rect">
            <a:avLst/>
          </a:prstGeom>
          <a:solidFill>
            <a:srgbClr val="95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492876" y="4831925"/>
            <a:ext cx="79599" cy="536360"/>
          </a:xfrm>
          <a:prstGeom prst="rect">
            <a:avLst/>
          </a:prstGeom>
          <a:solidFill>
            <a:srgbClr val="947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949015" y="4975944"/>
            <a:ext cx="168317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32" b="0" i="0">
                <a:solidFill>
                  <a:srgbClr val="143E2B"/>
                </a:solidFill>
                <a:latin typeface="Arial"/>
              </a:rPr>
              <a:t>400–1.200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689068" y="2305324"/>
            <a:ext cx="9431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143E2B"/>
                </a:solidFill>
                <a:latin typeface="Arial"/>
              </a:rPr>
              <a:t>CELAH ESTIMASI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29403" y="2356449"/>
            <a:ext cx="2102784" cy="6601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27" b="1" i="0">
                <a:solidFill>
                  <a:srgbClr val="143E2B"/>
                </a:solidFill>
                <a:latin typeface="Arial"/>
              </a:rPr>
              <a:t>260–1.790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870744" y="2939142"/>
            <a:ext cx="76144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ton per tahun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077597" y="5279844"/>
            <a:ext cx="3522587" cy="105765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42155" y="5407771"/>
            <a:ext cx="4328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C5E99C"/>
                </a:solidFill>
                <a:latin typeface="Arial"/>
              </a:rPr>
              <a:t>01 / 03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728297" y="5462549"/>
            <a:ext cx="2707329" cy="7303"/>
          </a:xfrm>
          <a:prstGeom prst="rect">
            <a:avLst/>
          </a:prstGeom>
          <a:solidFill>
            <a:srgbClr val="D2EDB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242155" y="5587966"/>
            <a:ext cx="3225475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EEF6E6"/>
                </a:solidFill>
                <a:latin typeface="Arial"/>
              </a:rPr>
              <a:t>Permintaan premium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242155" y="5863678"/>
            <a:ext cx="322547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2EEE0"/>
                </a:solidFill>
                <a:latin typeface="Arial"/>
              </a:rPr>
              <a:t>Estimasi kebutuhan di DKI: 1.460–2.190 ton per tahun.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242155" y="6107323"/>
            <a:ext cx="3225475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B9D994"/>
                </a:solidFill>
                <a:latin typeface="Arial"/>
              </a:rPr>
              <a:t>KLIK ELEMEN ATAU TEKAN →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7804336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99" b="1" i="0">
                <a:solidFill>
                  <a:srgbClr val="143E2B"/>
                </a:solidFill>
                <a:latin typeface="Arial Narrow"/>
              </a:rPr>
              <a:t>Dua masalah. Satu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16385"/>
            <a:ext cx="784096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59715E"/>
                </a:solidFill>
                <a:latin typeface="Arial"/>
              </a:rPr>
              <a:t>Kesenjangan lokasi dan kualitas bertemu dengan inefisiensi budidaya konvensional.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9786"/>
            <a:ext cx="3085972" cy="3301243"/>
          </a:xfrm>
          <a:prstGeom prst="rect">
            <a:avLst/>
          </a:prstGeom>
          <a:solidFill>
            <a:srgbClr val="E8E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09786"/>
            <a:ext cx="3085973" cy="0"/>
          </a:xfrm>
          <a:prstGeom prst="line">
            <a:avLst/>
          </a:prstGeom>
          <a:ln w="43821">
            <a:solidFill>
              <a:srgbClr val="B99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7543" y="2075487"/>
            <a:ext cx="281328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37454"/>
                </a:solidFill>
                <a:latin typeface="Arial"/>
              </a:rPr>
              <a:t>01 / KESENJANGAN PASAR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543" y="2271659"/>
            <a:ext cx="2813282" cy="8207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183" b="1" i="0">
                <a:solidFill>
                  <a:srgbClr val="583B2D"/>
                </a:solidFill>
                <a:latin typeface="Arial"/>
              </a:rPr>
              <a:t>1,46%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543" y="3038312"/>
            <a:ext cx="2592236" cy="3364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Produksi di wilayah konsumsi tinggi Jabodetabek.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7543" y="4547996"/>
            <a:ext cx="2781278" cy="7303"/>
          </a:xfrm>
          <a:prstGeom prst="rect">
            <a:avLst/>
          </a:prstGeom>
          <a:solidFill>
            <a:srgbClr val="B9AA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543" y="4587025"/>
            <a:ext cx="2813282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74533D"/>
                </a:solidFill>
                <a:latin typeface="Arial"/>
              </a:rPr>
              <a:t>30–40%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543" y="4951408"/>
            <a:ext cx="281328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143E2B"/>
                </a:solidFill>
                <a:latin typeface="Arial"/>
              </a:rPr>
              <a:t>risiko gagal panen konvensional · hanya 1–2 panen/tahun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62576" y="1909786"/>
            <a:ext cx="3526809" cy="3301243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762576" y="1909786"/>
            <a:ext cx="3526810" cy="0"/>
          </a:xfrm>
          <a:prstGeom prst="line">
            <a:avLst/>
          </a:prstGeom>
          <a:ln w="43821">
            <a:solidFill>
              <a:srgbClr val="5383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14924" y="2075487"/>
            <a:ext cx="32541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37454"/>
                </a:solidFill>
                <a:latin typeface="Arial"/>
              </a:rPr>
              <a:t>02 / TARGET HIDROPONIK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914924" y="3156197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914924" y="2760546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&lt;10%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6890" y="2921226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risiko gagal panen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3914924" y="3640748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14924" y="3245096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4–5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6890" y="3405776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panen per tahun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914924" y="4125298"/>
            <a:ext cx="3222115" cy="0"/>
          </a:xfrm>
          <a:prstGeom prst="line">
            <a:avLst/>
          </a:prstGeom>
          <a:ln w="7303">
            <a:solidFill>
              <a:srgbClr val="35673F">
                <a:alpha val="2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14924" y="3729647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80–85%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6890" y="3890327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hemat 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4924" y="4214197"/>
            <a:ext cx="13530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E2B"/>
                </a:solidFill>
                <a:latin typeface="Arial"/>
              </a:rPr>
              <a:t>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96890" y="4374877"/>
            <a:ext cx="187215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E2B"/>
                </a:solidFill>
                <a:latin typeface="Arial"/>
              </a:rPr>
              <a:t>produktivitas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80794" y="1909786"/>
            <a:ext cx="4226009" cy="330124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380794" y="1909786"/>
            <a:ext cx="4226009" cy="0"/>
          </a:xfrm>
          <a:prstGeom prst="line">
            <a:avLst/>
          </a:prstGeom>
          <a:ln w="43821">
            <a:solidFill>
              <a:srgbClr val="B9E3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533141" y="2075487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9E390"/>
                </a:solidFill>
                <a:latin typeface="Arial"/>
              </a:rPr>
              <a:t>03 / MODEL B2B2C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33141" y="2821029"/>
            <a:ext cx="3921315" cy="0"/>
          </a:xfrm>
          <a:prstGeom prst="line">
            <a:avLst/>
          </a:prstGeom>
          <a:ln w="7303">
            <a:solidFill>
              <a:srgbClr val="E8F8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533141" y="2913580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8E0C6"/>
                </a:solidFill>
                <a:latin typeface="Arial"/>
              </a:rPr>
              <a:t>B2B UTAMA · RITEL / HORECA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3141" y="3010923"/>
            <a:ext cx="3953318" cy="4629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8" b="1" i="0">
                <a:solidFill>
                  <a:srgbClr val="F7FAEC"/>
                </a:solidFill>
                <a:latin typeface="Arial"/>
              </a:rPr>
              <a:t>Rp75.000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442" y="3230032"/>
            <a:ext cx="2407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AEC"/>
                </a:solidFill>
                <a:latin typeface="Arial"/>
              </a:rPr>
              <a:t>/kg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33141" y="3492393"/>
            <a:ext cx="3921315" cy="0"/>
          </a:xfrm>
          <a:prstGeom prst="line">
            <a:avLst/>
          </a:prstGeom>
          <a:ln w="7303">
            <a:solidFill>
              <a:srgbClr val="E8F8D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33141" y="3584944"/>
            <a:ext cx="395331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8E0C6"/>
                </a:solidFill>
                <a:latin typeface="Arial"/>
              </a:rPr>
              <a:t>B2C PENDUKUNG · LANGSUNG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33141" y="3682287"/>
            <a:ext cx="3953318" cy="46291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8" b="1" i="0">
                <a:solidFill>
                  <a:srgbClr val="F7FAEC"/>
                </a:solidFill>
                <a:latin typeface="Arial"/>
              </a:rPr>
              <a:t>Rp99.000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7442" y="3901396"/>
            <a:ext cx="2407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AEC"/>
                </a:solidFill>
                <a:latin typeface="Arial"/>
              </a:rPr>
              <a:t>/kg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33141" y="4799744"/>
            <a:ext cx="3953318" cy="3081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DCEFD6"/>
                </a:solidFill>
                <a:latin typeface="Arial"/>
              </a:rPr>
              <a:t>Porsi B2C tumbuh bertahap · konsep rooftop Jakarta: panen dan kirim di hari yang sama.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195" y="5290228"/>
            <a:ext cx="2950514" cy="877805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85195" y="5290228"/>
            <a:ext cx="2950515" cy="0"/>
          </a:xfrm>
          <a:prstGeom prst="line">
            <a:avLst/>
          </a:prstGeom>
          <a:ln w="7303">
            <a:solidFill>
              <a:srgbClr val="577D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64393" y="5441665"/>
            <a:ext cx="2824123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253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393" y="5757319"/>
            <a:ext cx="282412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responden survei primer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4393" y="5876003"/>
            <a:ext cx="282412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Mei–Agustus 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4908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614908" y="5290228"/>
            <a:ext cx="2611129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694106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94,5%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94106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rasa manis faktor utama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5234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305234" y="5290228"/>
            <a:ext cx="2611129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384432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45,8%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4432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bersedia ≥Rp100.000/buah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5561" y="5290228"/>
            <a:ext cx="2611128" cy="877805"/>
          </a:xfrm>
          <a:prstGeom prst="rect">
            <a:avLst/>
          </a:prstGeom>
          <a:solidFill>
            <a:srgbClr val="FFFFFF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995561" y="5290228"/>
            <a:ext cx="2611128" cy="0"/>
          </a:xfrm>
          <a:prstGeom prst="line">
            <a:avLst/>
          </a:prstGeom>
          <a:ln w="7303">
            <a:solidFill>
              <a:srgbClr val="AEB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074758" y="5501007"/>
            <a:ext cx="2484737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E2B"/>
                </a:solidFill>
                <a:latin typeface="Arial"/>
              </a:rPr>
              <a:t>78,7%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4758" y="5816661"/>
            <a:ext cx="24847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E2B"/>
                </a:solidFill>
                <a:latin typeface="Arial"/>
              </a:rPr>
              <a:t>tertarik memberi melon sebagai hadiah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195" y="6239929"/>
            <a:ext cx="1105361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697565"/>
                </a:solidFill>
                <a:latin typeface="Arial"/>
              </a:rPr>
              <a:t>Perbandingan budidaya mengikuti asumsi materi awal. Harga strategi per kg; kesediaan bayar survei per buah.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143E2B"/>
                </a:solidFill>
                <a:latin typeface="Arial Narrow"/>
              </a:rPr>
              <a:t>Struktur industri membuka ruang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715E"/>
                </a:solidFill>
                <a:latin typeface="Arial"/>
              </a:rPr>
              <a:t>Lima kekuatan persaingan memperlihatkan daya tawar pembeli tinggi; empat kekuatan lainnya dinilai sedang.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5611048" y="3538328"/>
            <a:ext cx="705384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4905666" y="3292090"/>
            <a:ext cx="705382" cy="246238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4200283" y="3045853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3494900" y="2799616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2789517" y="2553379"/>
            <a:ext cx="705383" cy="246237"/>
          </a:xfrm>
          <a:prstGeom prst="line">
            <a:avLst/>
          </a:prstGeom>
          <a:ln w="6350">
            <a:solidFill>
              <a:srgbClr val="407E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316432" y="3531847"/>
            <a:ext cx="727425" cy="252718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043857" y="3279131"/>
            <a:ext cx="727427" cy="25271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71284" y="3026413"/>
            <a:ext cx="727427" cy="252718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498711" y="2773697"/>
            <a:ext cx="727425" cy="25271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226136" y="2520980"/>
            <a:ext cx="727426" cy="252717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5269379" y="37683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4222326" y="37521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3175273" y="37359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2128220" y="3719765"/>
            <a:ext cx="1047053" cy="162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316432" y="3784565"/>
            <a:ext cx="991944" cy="24299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08376" y="3808864"/>
            <a:ext cx="991945" cy="243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00321" y="3833164"/>
            <a:ext cx="991945" cy="24300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92266" y="3857464"/>
            <a:ext cx="991944" cy="24299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279693" y="3784565"/>
            <a:ext cx="36739" cy="377995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242954" y="4162560"/>
            <a:ext cx="36739" cy="377995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206215" y="4540555"/>
            <a:ext cx="36739" cy="377996"/>
          </a:xfrm>
          <a:prstGeom prst="line">
            <a:avLst/>
          </a:prstGeom>
          <a:ln w="6350">
            <a:solidFill>
              <a:srgbClr val="91B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655105" y="3071749"/>
            <a:ext cx="1341111" cy="1341130"/>
          </a:xfrm>
          <a:prstGeom prst="ellipse">
            <a:avLst/>
          </a:prstGeom>
          <a:solidFill>
            <a:srgbClr val="14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1534" y="3327947"/>
            <a:ext cx="48025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4F7EC"/>
                </a:solidFill>
                <a:latin typeface="Arial"/>
              </a:rPr>
              <a:t>PORTER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6196" y="3379072"/>
            <a:ext cx="37093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F4F7EC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9023" y="4047127"/>
            <a:ext cx="48527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4F7EC"/>
                </a:solidFill>
                <a:latin typeface="Arial"/>
              </a:rPr>
              <a:t>FORCES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66869" y="2294140"/>
            <a:ext cx="2645135" cy="527573"/>
          </a:xfrm>
          <a:prstGeom prst="rect">
            <a:avLst/>
          </a:prstGeom>
          <a:solidFill>
            <a:srgbClr val="C5E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466869" y="2294140"/>
            <a:ext cx="2645136" cy="0"/>
          </a:xfrm>
          <a:prstGeom prst="line">
            <a:avLst/>
          </a:prstGeom>
          <a:ln w="14607">
            <a:solidFill>
              <a:srgbClr val="143D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576536" y="2431768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01 / Pendatang baru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7898" y="2387946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76536" y="2621662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CAPEX + teknis · skor 2,825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90232" y="2196910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190232" y="2196910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99899" y="2334538"/>
            <a:ext cx="1900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02 / Pembeli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498" y="2290716"/>
            <a:ext cx="516205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Tinggi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9899" y="2524433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Alternatif lokal &amp; impor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5319" y="3460553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95319" y="3460553"/>
            <a:ext cx="2645136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04986" y="3598181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03 / Pemasok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6348" y="3554360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986" y="3788076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Diversifikasi pemasok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61668" y="3654899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961668" y="3654899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71335" y="3792527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04 / Substitusi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02697" y="3748705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1335" y="3982421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Impor &amp; buah premium lokal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080" y="4391082"/>
            <a:ext cx="2645135" cy="527573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4663080" y="4391082"/>
            <a:ext cx="2645135" cy="0"/>
          </a:xfrm>
          <a:prstGeom prst="line">
            <a:avLst/>
          </a:prstGeom>
          <a:ln w="14607">
            <a:solidFill>
              <a:srgbClr val="91B4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772747" y="4528710"/>
            <a:ext cx="179021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E2B"/>
                </a:solidFill>
                <a:latin typeface="Arial"/>
              </a:rPr>
              <a:t>05 / Rivalitas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109" y="4484888"/>
            <a:ext cx="626443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E2B"/>
                </a:solidFill>
                <a:latin typeface="Arial"/>
              </a:rPr>
              <a:t>Sedang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72747" y="4718605"/>
            <a:ext cx="245780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4705A"/>
                </a:solidFill>
                <a:latin typeface="Arial"/>
              </a:rPr>
              <a:t>Persaingan melon premium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41192" y="4895946"/>
            <a:ext cx="2865611" cy="144771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05750" y="5023874"/>
            <a:ext cx="4328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C5E99C"/>
                </a:solidFill>
                <a:latin typeface="Arial"/>
              </a:rPr>
              <a:t>01 / 05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91892" y="5078651"/>
            <a:ext cx="2050353" cy="7303"/>
          </a:xfrm>
          <a:prstGeom prst="rect">
            <a:avLst/>
          </a:prstGeom>
          <a:solidFill>
            <a:srgbClr val="D2EDB5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5750" y="5252911"/>
            <a:ext cx="256849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EEF6E6"/>
                </a:solidFill>
                <a:latin typeface="Arial"/>
              </a:rPr>
              <a:t>Pendatang baru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5750" y="5553045"/>
            <a:ext cx="2568499" cy="49487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2EEE0"/>
                </a:solidFill>
                <a:latin typeface="Arial"/>
              </a:rPr>
              <a:t>Sedang · skor 2,825 pada slide sumber. Hambatan: investasi, teknis, standar ritel, dan benih.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5750" y="6113485"/>
            <a:ext cx="256849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B9D994"/>
                </a:solidFill>
                <a:latin typeface="Arial"/>
              </a:rPr>
              <a:t>KLIK ELEMEN ATAU TEKAN →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22762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59715E"/>
                </a:solidFill>
                <a:latin typeface="Arial"/>
              </a:rPr>
              <a:t>MELOOLOO / PELUANG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7804336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99" b="1" i="0">
                <a:solidFill>
                  <a:srgbClr val="143E2B"/>
                </a:solidFill>
                <a:latin typeface="Arial Narrow"/>
              </a:rPr>
              <a:t>Visi dan standar produk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16385"/>
            <a:ext cx="784096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59715E"/>
                </a:solidFill>
                <a:latin typeface="Arial"/>
              </a:rPr>
              <a:t>PT Melooloo Segar Indonesia menggabungkan greenhouse IoT, hidroponik presisi, dan analitik untuk kualitas premium.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3738"/>
            <a:ext cx="2645135" cy="4087753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03738"/>
            <a:ext cx="2645135" cy="40877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5668762"/>
            <a:ext cx="2433384" cy="2273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2209" y="1903738"/>
            <a:ext cx="8254594" cy="751818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6297" y="2013407"/>
            <a:ext cx="62194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2E397"/>
                </a:solidFill>
                <a:latin typeface="Arial"/>
              </a:rPr>
              <a:t>VISI · RINGKASAN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297" y="2137568"/>
            <a:ext cx="6219469" cy="4370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F7FAEF"/>
                </a:solidFill>
                <a:latin typeface="Arial"/>
              </a:rPr>
              <a:t>Standar baru kualitas dan efisiensi melon premium Indonesia, dengan daya saing global.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5640" y="2067956"/>
            <a:ext cx="1709078" cy="3387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C9EBA3"/>
                </a:solidFill>
                <a:latin typeface="Arial"/>
              </a:rPr>
              <a:t>18 → 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95640" y="2374708"/>
            <a:ext cx="17090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AEF"/>
                </a:solidFill>
                <a:latin typeface="Arial"/>
              </a:rPr>
              <a:t>karyawan · Y0 ke Y5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2209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52209" y="2722544"/>
            <a:ext cx="2706873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455828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≥15°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828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Brix · target rasa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069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126069" y="2722544"/>
            <a:ext cx="2706874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29688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≥1,5–2,0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688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ukuran buah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99930" y="2722544"/>
            <a:ext cx="2706873" cy="542066"/>
          </a:xfrm>
          <a:prstGeom prst="rect">
            <a:avLst/>
          </a:prstGeom>
          <a:solidFill>
            <a:srgbClr val="DB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899930" y="2722544"/>
            <a:ext cx="2706873" cy="0"/>
          </a:xfrm>
          <a:prstGeom prst="line">
            <a:avLst/>
          </a:prstGeom>
          <a:ln w="36517">
            <a:solidFill>
              <a:srgbClr val="5B8D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03549" y="2800487"/>
            <a:ext cx="2531639" cy="3022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76" b="1" i="0">
                <a:solidFill>
                  <a:srgbClr val="143E2B"/>
                </a:solidFill>
                <a:latin typeface="Arial"/>
              </a:rPr>
              <a:t>4–5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3549" y="3084416"/>
            <a:ext cx="25316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E2B"/>
                </a:solidFill>
                <a:latin typeface="Arial"/>
              </a:rPr>
              <a:t>panen per tahun</a:t>
            </a:r>
          </a:p>
        </p:txBody>
      </p:sp>
      <p:pic>
        <p:nvPicPr>
          <p:cNvPr id="27" name="Picture 26" descr="picture-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209" y="3331599"/>
            <a:ext cx="2706873" cy="265989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3352209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2209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52209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52209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2209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52209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52209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52209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52209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2209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52209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52209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2209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2209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52209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52209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52209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52209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352209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209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52209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52209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52209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2209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52209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52209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52209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52209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52209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52209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52209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52209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352209" y="3331599"/>
            <a:ext cx="2706873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3461876" y="3453364"/>
            <a:ext cx="655035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61876" y="3483834"/>
            <a:ext cx="687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1–2 TAHUN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61876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100 ton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61876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per tahun · GH IoT ±7.000 m² · target gagal panen &lt;6%</a:t>
            </a:r>
          </a:p>
        </p:txBody>
      </p:sp>
      <p:pic>
        <p:nvPicPr>
          <p:cNvPr id="65" name="Picture 64" descr="picture-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069" y="3331599"/>
            <a:ext cx="2706873" cy="2659892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126069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26069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069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26069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26069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6069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26069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26069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26069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26069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6069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26069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26069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26069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26069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26069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26069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26069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26069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26069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26069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26069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26069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26069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126069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26069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126069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126069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26069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26069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26069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126069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6126069" y="3331599"/>
            <a:ext cx="2706874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6235737" y="3453364"/>
            <a:ext cx="655035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35737" y="3483834"/>
            <a:ext cx="687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3–5 TAHUN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235737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+34 GH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5737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operational excellence · pertumbuhan B2C</a:t>
            </a:r>
          </a:p>
        </p:txBody>
      </p:sp>
      <p:pic>
        <p:nvPicPr>
          <p:cNvPr id="103" name="Picture 102" descr="picture-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9930" y="3331599"/>
            <a:ext cx="2706873" cy="2659892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8899930" y="3331599"/>
            <a:ext cx="2706873" cy="84582"/>
          </a:xfrm>
          <a:prstGeom prst="rect">
            <a:avLst/>
          </a:prstGeom>
          <a:solidFill>
            <a:srgbClr val="052216">
              <a:alpha val="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899930" y="3414720"/>
            <a:ext cx="2706873" cy="84582"/>
          </a:xfrm>
          <a:prstGeom prst="rect">
            <a:avLst/>
          </a:prstGeom>
          <a:solidFill>
            <a:srgbClr val="052216">
              <a:alpha val="1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899930" y="3497842"/>
            <a:ext cx="2706873" cy="84582"/>
          </a:xfrm>
          <a:prstGeom prst="rect">
            <a:avLst/>
          </a:prstGeom>
          <a:solidFill>
            <a:srgbClr val="052216">
              <a:alpha val="1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899930" y="3580964"/>
            <a:ext cx="2706873" cy="84582"/>
          </a:xfrm>
          <a:prstGeom prst="rect">
            <a:avLst/>
          </a:prstGeom>
          <a:solidFill>
            <a:srgbClr val="052216">
              <a:alpha val="1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899930" y="3664085"/>
            <a:ext cx="2706873" cy="84582"/>
          </a:xfrm>
          <a:prstGeom prst="rect">
            <a:avLst/>
          </a:prstGeom>
          <a:solidFill>
            <a:srgbClr val="052216">
              <a:alpha val="2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899930" y="3747207"/>
            <a:ext cx="2706873" cy="84582"/>
          </a:xfrm>
          <a:prstGeom prst="rect">
            <a:avLst/>
          </a:prstGeom>
          <a:solidFill>
            <a:srgbClr val="052216">
              <a:alpha val="2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899930" y="3830329"/>
            <a:ext cx="2706873" cy="84582"/>
          </a:xfrm>
          <a:prstGeom prst="rect">
            <a:avLst/>
          </a:prstGeom>
          <a:solidFill>
            <a:srgbClr val="052216">
              <a:alpha val="2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899930" y="3913450"/>
            <a:ext cx="2706873" cy="84582"/>
          </a:xfrm>
          <a:prstGeom prst="rect">
            <a:avLst/>
          </a:prstGeom>
          <a:solidFill>
            <a:srgbClr val="052216">
              <a:alpha val="2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99930" y="3996572"/>
            <a:ext cx="2706873" cy="84582"/>
          </a:xfrm>
          <a:prstGeom prst="rect">
            <a:avLst/>
          </a:prstGeom>
          <a:solidFill>
            <a:srgbClr val="052216">
              <a:alpha val="31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99930" y="4079694"/>
            <a:ext cx="2706873" cy="84582"/>
          </a:xfrm>
          <a:prstGeom prst="rect">
            <a:avLst/>
          </a:prstGeom>
          <a:solidFill>
            <a:srgbClr val="052216">
              <a:alpha val="34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899930" y="4162815"/>
            <a:ext cx="2706873" cy="84582"/>
          </a:xfrm>
          <a:prstGeom prst="rect">
            <a:avLst/>
          </a:prstGeom>
          <a:solidFill>
            <a:srgbClr val="052216">
              <a:alpha val="36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899930" y="4245937"/>
            <a:ext cx="2706873" cy="84582"/>
          </a:xfrm>
          <a:prstGeom prst="rect">
            <a:avLst/>
          </a:prstGeom>
          <a:solidFill>
            <a:srgbClr val="052216">
              <a:alpha val="39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899930" y="4329059"/>
            <a:ext cx="2706873" cy="84582"/>
          </a:xfrm>
          <a:prstGeom prst="rect">
            <a:avLst/>
          </a:prstGeom>
          <a:solidFill>
            <a:srgbClr val="052216">
              <a:alpha val="42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899930" y="4412180"/>
            <a:ext cx="2706873" cy="84582"/>
          </a:xfrm>
          <a:prstGeom prst="rect">
            <a:avLst/>
          </a:prstGeom>
          <a:solidFill>
            <a:srgbClr val="052216">
              <a:alpha val="45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899930" y="4495302"/>
            <a:ext cx="2706873" cy="84582"/>
          </a:xfrm>
          <a:prstGeom prst="rect">
            <a:avLst/>
          </a:prstGeom>
          <a:solidFill>
            <a:srgbClr val="052216">
              <a:alpha val="47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899930" y="4578423"/>
            <a:ext cx="2706873" cy="84582"/>
          </a:xfrm>
          <a:prstGeom prst="rect">
            <a:avLst/>
          </a:prstGeom>
          <a:solidFill>
            <a:srgbClr val="052216">
              <a:alpha val="50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899930" y="4661545"/>
            <a:ext cx="2706873" cy="84582"/>
          </a:xfrm>
          <a:prstGeom prst="rect">
            <a:avLst/>
          </a:prstGeom>
          <a:solidFill>
            <a:srgbClr val="052216">
              <a:alpha val="5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899930" y="4744667"/>
            <a:ext cx="2706873" cy="84582"/>
          </a:xfrm>
          <a:prstGeom prst="rect">
            <a:avLst/>
          </a:prstGeom>
          <a:solidFill>
            <a:srgbClr val="052216">
              <a:alpha val="5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899930" y="4827788"/>
            <a:ext cx="2706873" cy="84582"/>
          </a:xfrm>
          <a:prstGeom prst="rect">
            <a:avLst/>
          </a:prstGeom>
          <a:solidFill>
            <a:srgbClr val="052216">
              <a:alpha val="5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899930" y="4910910"/>
            <a:ext cx="2706873" cy="84582"/>
          </a:xfrm>
          <a:prstGeom prst="rect">
            <a:avLst/>
          </a:prstGeom>
          <a:solidFill>
            <a:srgbClr val="052216">
              <a:alpha val="6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99930" y="4994032"/>
            <a:ext cx="2706873" cy="84582"/>
          </a:xfrm>
          <a:prstGeom prst="rect">
            <a:avLst/>
          </a:prstGeom>
          <a:solidFill>
            <a:srgbClr val="052216">
              <a:alpha val="6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899930" y="5077153"/>
            <a:ext cx="2706873" cy="84582"/>
          </a:xfrm>
          <a:prstGeom prst="rect">
            <a:avLst/>
          </a:prstGeom>
          <a:solidFill>
            <a:srgbClr val="052216">
              <a:alpha val="6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899930" y="5160275"/>
            <a:ext cx="2706873" cy="84582"/>
          </a:xfrm>
          <a:prstGeom prst="rect">
            <a:avLst/>
          </a:prstGeom>
          <a:solidFill>
            <a:srgbClr val="052216">
              <a:alpha val="6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899930" y="5243397"/>
            <a:ext cx="2706873" cy="84582"/>
          </a:xfrm>
          <a:prstGeom prst="rect">
            <a:avLst/>
          </a:prstGeom>
          <a:solidFill>
            <a:srgbClr val="052216">
              <a:alpha val="7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899930" y="5326518"/>
            <a:ext cx="2706873" cy="84582"/>
          </a:xfrm>
          <a:prstGeom prst="rect">
            <a:avLst/>
          </a:prstGeom>
          <a:solidFill>
            <a:srgbClr val="052216">
              <a:alpha val="7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899930" y="5409640"/>
            <a:ext cx="2706873" cy="84582"/>
          </a:xfrm>
          <a:prstGeom prst="rect">
            <a:avLst/>
          </a:prstGeom>
          <a:solidFill>
            <a:srgbClr val="052216">
              <a:alpha val="7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899930" y="5492762"/>
            <a:ext cx="2706873" cy="84582"/>
          </a:xfrm>
          <a:prstGeom prst="rect">
            <a:avLst/>
          </a:prstGeom>
          <a:solidFill>
            <a:srgbClr val="052216">
              <a:alpha val="8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899930" y="5575883"/>
            <a:ext cx="2706873" cy="84582"/>
          </a:xfrm>
          <a:prstGeom prst="rect">
            <a:avLst/>
          </a:prstGeom>
          <a:solidFill>
            <a:srgbClr val="052216">
              <a:alpha val="8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899930" y="5659005"/>
            <a:ext cx="2706873" cy="84582"/>
          </a:xfrm>
          <a:prstGeom prst="rect">
            <a:avLst/>
          </a:prstGeom>
          <a:solidFill>
            <a:srgbClr val="052216">
              <a:alpha val="8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899930" y="5742127"/>
            <a:ext cx="2706873" cy="84582"/>
          </a:xfrm>
          <a:prstGeom prst="rect">
            <a:avLst/>
          </a:prstGeom>
          <a:solidFill>
            <a:srgbClr val="052216">
              <a:alpha val="8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899930" y="5825248"/>
            <a:ext cx="2706873" cy="84582"/>
          </a:xfrm>
          <a:prstGeom prst="rect">
            <a:avLst/>
          </a:prstGeom>
          <a:solidFill>
            <a:srgbClr val="052216">
              <a:alpha val="9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899930" y="5908370"/>
            <a:ext cx="2706873" cy="84582"/>
          </a:xfrm>
          <a:prstGeom prst="rect">
            <a:avLst/>
          </a:prstGeom>
          <a:solidFill>
            <a:srgbClr val="052216">
              <a:alpha val="9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8899930" y="3331599"/>
            <a:ext cx="2706873" cy="0"/>
          </a:xfrm>
          <a:prstGeom prst="line">
            <a:avLst/>
          </a:prstGeom>
          <a:ln w="36517">
            <a:solidFill>
              <a:srgbClr val="B7DE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9009597" y="3453364"/>
            <a:ext cx="606193" cy="170494"/>
          </a:xfrm>
          <a:prstGeom prst="rect">
            <a:avLst/>
          </a:prstGeom>
          <a:solidFill>
            <a:srgbClr val="062418">
              <a:alpha val="8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009597" y="3483834"/>
            <a:ext cx="63819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D7F1B3"/>
                </a:solidFill>
                <a:latin typeface="Arial"/>
              </a:rPr>
              <a:t>&gt;5 TAHUN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09597" y="5427628"/>
            <a:ext cx="2519543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FFFFFF"/>
                </a:solidFill>
                <a:latin typeface="Arial"/>
              </a:rPr>
              <a:t>≥2 kota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009597" y="5786305"/>
            <a:ext cx="25195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FF8E9"/>
                </a:solidFill>
                <a:latin typeface="Arial"/>
              </a:rPr>
              <a:t>target: sekitar 300 ton/tahun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585195" y="6062131"/>
            <a:ext cx="2150664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585195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22789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Modern Precision Farming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802846" y="6062131"/>
            <a:ext cx="2150777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2802846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040439" y="6123071"/>
            <a:ext cx="190262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Excellence in Premium Quality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5020611" y="6062131"/>
            <a:ext cx="2150663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5020611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L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258204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Long-Term Partnership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7238261" y="6062131"/>
            <a:ext cx="2150778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238261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O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475854" y="6123071"/>
            <a:ext cx="190262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Original Local Mastery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9456026" y="6062131"/>
            <a:ext cx="2150663" cy="0"/>
          </a:xfrm>
          <a:prstGeom prst="line">
            <a:avLst/>
          </a:prstGeom>
          <a:ln w="7303">
            <a:solidFill>
              <a:srgbClr val="92AD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9456026" y="6108464"/>
            <a:ext cx="227031" cy="2584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88" b="1" i="0">
                <a:solidFill>
                  <a:srgbClr val="347348"/>
                </a:solidFill>
                <a:latin typeface="Arial"/>
              </a:rPr>
              <a:t>O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693619" y="6123071"/>
            <a:ext cx="190250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E2B"/>
                </a:solidFill>
                <a:latin typeface="Arial"/>
              </a:rPr>
              <a:t>Operational Efficiency &amp; Scalability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59715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851672" y="325924"/>
            <a:ext cx="36054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477459"/>
                </a:solidFill>
                <a:latin typeface="Arial"/>
              </a:rPr>
              <a:t>01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1762" y="440386"/>
            <a:ext cx="2576944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492F"/>
                </a:solidFill>
                <a:latin typeface="Arial"/>
              </a:rPr>
              <a:t>Customer Segments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1762" y="656071"/>
            <a:ext cx="257694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365843"/>
                </a:solidFill>
                <a:latin typeface="Arial"/>
              </a:rPr>
              <a:t>B2B supermarket premium · B2C konsumen urban.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1762" y="795525"/>
            <a:ext cx="25769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8568"/>
                </a:solidFill>
                <a:latin typeface="Arial"/>
              </a:rPr>
              <a:t>TEKAN → ATAU KLIK BLOK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19" y="243840"/>
            <a:ext cx="7103363" cy="5440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1" b="1" i="0">
                <a:solidFill>
                  <a:srgbClr val="193E27"/>
                </a:solidFill>
                <a:latin typeface="Arial"/>
              </a:rPr>
              <a:t>BUSINESS MODEL CANVAS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39" y="1219200"/>
            <a:ext cx="213359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59" y="1328928"/>
            <a:ext cx="19217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Partners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1" y="17068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Supplier benih 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51" y="20116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Supplier kebutuhan perkebunan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1" y="23164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Mitra greenhouse &amp; IoT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751" y="26212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Retailer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751" y="29260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Institusi riset pertanian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04159" y="1219200"/>
            <a:ext cx="2072639" cy="1743456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79" y="1328928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8271" y="1658112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Automasi IoT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8271" y="1914144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QC &amp; packaging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8271" y="2170175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Distribusi &amp; logistik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8271" y="2426208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Branding &amp; pemasaran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8271" y="2682240"/>
            <a:ext cx="1836419" cy="2880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R&amp;D dan inovasi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04159" y="3084576"/>
            <a:ext cx="2072639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79" y="3194304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Key Resources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8271" y="3572255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Greenhouse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271" y="38770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Sensor IoT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8271" y="41818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Benih melon premium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38271" y="44866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Tim agronomis &amp; teknisi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8719" y="1219200"/>
            <a:ext cx="219455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39" y="1328928"/>
            <a:ext cx="198272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Value Propositions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2831" y="17068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Melon premium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2831" y="20116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Rasa manis konsisten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2831" y="23164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Visual buah yang estetis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2831" y="26212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Kemasan konsisten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2831" y="29260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Urban smart farming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32831" y="3230880"/>
            <a:ext cx="195833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Kemampuan supply konsisten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199" y="1219200"/>
            <a:ext cx="2072639" cy="1743456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37119" y="1328928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Customer Relationships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49311" y="17068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Account management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49311" y="20116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Storytelling brand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9311" y="23164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Social media engagement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9311" y="2621280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Community building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199" y="3084576"/>
            <a:ext cx="2072639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37119" y="3194304"/>
            <a:ext cx="186080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Channels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49311" y="3572255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Distribusi B2B supermarket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49311" y="38770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Event &amp; HoReCa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49311" y="41818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Marketplace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49311" y="4486656"/>
            <a:ext cx="183641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Online delivery &amp; e-commerce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59" y="1219200"/>
            <a:ext cx="213359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31679" y="1328928"/>
            <a:ext cx="19217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Customer Segments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3871" y="17068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B2B: supermarket premium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3871" y="20116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B2C: konsumen urban menengah atas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3871" y="23164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Health conscious customers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3871" y="2621280"/>
            <a:ext cx="1897379" cy="3368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8" b="0" i="0">
                <a:solidFill>
                  <a:srgbClr val="243827"/>
                </a:solidFill>
                <a:latin typeface="Arial"/>
              </a:rPr>
              <a:t>• Gen Z &amp; Millennial lifestyle &amp; foodie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39" y="5010912"/>
            <a:ext cx="5486399" cy="134112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559" y="5120640"/>
            <a:ext cx="52745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Cost Structure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2751" y="5498592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Konstruksi &amp; operasi greenhouse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751" y="5754624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Benih &amp; nutrisi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751" y="6010656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Tenaga kerja &amp; teknisi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25951" y="5498592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Pemasaran &amp; branding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5951" y="5754624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R&amp;D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5951" y="6010656"/>
            <a:ext cx="2531363" cy="2758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 i="0">
                <a:solidFill>
                  <a:srgbClr val="243827"/>
                </a:solidFill>
                <a:latin typeface="Arial"/>
              </a:rPr>
              <a:t>• Utilitas dasar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59" y="5010912"/>
            <a:ext cx="5486399" cy="1341120"/>
          </a:xfrm>
          <a:prstGeom prst="rect">
            <a:avLst/>
          </a:prstGeom>
          <a:solidFill>
            <a:srgbClr val="FFFFFF"/>
          </a:solidFill>
          <a:ln w="9525">
            <a:solidFill>
              <a:srgbClr val="678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78879" y="5120640"/>
            <a:ext cx="5274563" cy="3489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1" b="1" i="0">
                <a:solidFill>
                  <a:srgbClr val="193E27"/>
                </a:solidFill>
                <a:latin typeface="Arial"/>
              </a:rPr>
              <a:t>Revenue Streams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91071" y="5535168"/>
            <a:ext cx="2531363" cy="5196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3" b="0" i="0">
                <a:solidFill>
                  <a:srgbClr val="243827"/>
                </a:solidFill>
                <a:latin typeface="Arial"/>
              </a:rPr>
              <a:t>• Kontrak penjualan B2B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1" y="5535168"/>
            <a:ext cx="2531363" cy="5196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3" b="0" i="0">
                <a:solidFill>
                  <a:srgbClr val="243827"/>
                </a:solidFill>
                <a:latin typeface="Arial"/>
              </a:rPr>
              <a:t>• Penjualan langsung B2C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Tujuan dan Sasaran Operasi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Kualitas · kontinuitas suplai · efisiensi sumber daya · mitigasi risiko.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7960"/>
            <a:ext cx="5813843" cy="1596757"/>
          </a:xfrm>
          <a:prstGeom prst="rect">
            <a:avLst/>
          </a:prstGeom>
          <a:solidFill>
            <a:srgbClr val="153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591" y="2042050"/>
            <a:ext cx="55290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9E99C"/>
                </a:solidFill>
                <a:latin typeface="Arial"/>
              </a:rPr>
              <a:t>VISI OPERASI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591" y="2200334"/>
            <a:ext cx="5529056" cy="58399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67" b="1" i="0">
                <a:solidFill>
                  <a:srgbClr val="F3FAEB"/>
                </a:solidFill>
                <a:latin typeface="Arial"/>
              </a:rPr>
              <a:t>Sistem produksi pangan perkotaan yang tangguh dan terstandarisasi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2796721"/>
            <a:ext cx="552905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F3FAEB"/>
                </a:solidFill>
                <a:latin typeface="Arial"/>
              </a:rPr>
              <a:t>Melon premium setara kualitas impor, secara berkelanjutan.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195" y="3596127"/>
            <a:ext cx="2873371" cy="1340217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585195" y="3596127"/>
            <a:ext cx="0" cy="1340217"/>
          </a:xfrm>
          <a:prstGeom prst="line">
            <a:avLst/>
          </a:prstGeom>
          <a:ln w="29214">
            <a:solidFill>
              <a:srgbClr val="8CBE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9656" y="4072918"/>
            <a:ext cx="270566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Brix &gt;15°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56" y="4322839"/>
            <a:ext cx="270566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90% hasil panen Grade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5554" y="3596127"/>
            <a:ext cx="2873485" cy="1340217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525554" y="3596127"/>
            <a:ext cx="0" cy="1340217"/>
          </a:xfrm>
          <a:prstGeom prst="line">
            <a:avLst/>
          </a:prstGeom>
          <a:ln w="29214">
            <a:solidFill>
              <a:srgbClr val="8CBE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40014" y="4072918"/>
            <a:ext cx="270578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4–5×/tahun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0014" y="4322839"/>
            <a:ext cx="270578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Siklus panen non-musiman melalui CEA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5003332"/>
            <a:ext cx="2873371" cy="1340331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85195" y="5003332"/>
            <a:ext cx="0" cy="1340332"/>
          </a:xfrm>
          <a:prstGeom prst="line">
            <a:avLst/>
          </a:prstGeom>
          <a:ln w="29214">
            <a:solidFill>
              <a:srgbClr val="8CBE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9656" y="5480237"/>
            <a:ext cx="270566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80–85%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56" y="5730158"/>
            <a:ext cx="270566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Lebih hemat air · 45–60 liter/kg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5554" y="5003332"/>
            <a:ext cx="2873485" cy="1340331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3525554" y="5003332"/>
            <a:ext cx="0" cy="1340332"/>
          </a:xfrm>
          <a:prstGeom prst="line">
            <a:avLst/>
          </a:prstGeom>
          <a:ln w="29214">
            <a:solidFill>
              <a:srgbClr val="8CBE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40014" y="5480237"/>
            <a:ext cx="270578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&lt;10%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0014" y="5730158"/>
            <a:ext cx="270578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Target risiko gagal panen dengan IoT real-time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0447" y="1907960"/>
            <a:ext cx="5116355" cy="4435703"/>
          </a:xfrm>
          <a:prstGeom prst="rect">
            <a:avLst/>
          </a:prstGeom>
          <a:solidFill>
            <a:srgbClr val="D4E7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5005" y="2072520"/>
            <a:ext cx="481924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PETA JALAN EKSPANSI KAPASITAS · 5 TAHUN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5005" y="2382012"/>
            <a:ext cx="704842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5" b="1" i="0">
                <a:solidFill>
                  <a:srgbClr val="143D30"/>
                </a:solidFill>
                <a:latin typeface="Arial"/>
              </a:rPr>
              <a:t>106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4831" y="25572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79AB70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0109" y="2382012"/>
            <a:ext cx="704842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5" b="1" i="0">
                <a:solidFill>
                  <a:srgbClr val="143D30"/>
                </a:solidFill>
                <a:latin typeface="Arial"/>
              </a:rPr>
              <a:t>197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9934" y="2696068"/>
            <a:ext cx="55591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43D30"/>
                </a:solidFill>
                <a:latin typeface="Arial"/>
              </a:rPr>
              <a:t>ton/tahun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5005" y="2982622"/>
            <a:ext cx="15125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Y1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47408" y="3007500"/>
            <a:ext cx="139036" cy="66988"/>
          </a:xfrm>
          <a:prstGeom prst="rect">
            <a:avLst/>
          </a:prstGeom>
          <a:solidFill>
            <a:srgbClr val="A3C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84984" y="3007500"/>
            <a:ext cx="139036" cy="66988"/>
          </a:xfrm>
          <a:prstGeom prst="rect">
            <a:avLst/>
          </a:prstGeom>
          <a:solidFill>
            <a:srgbClr val="9ECA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22560" y="3007500"/>
            <a:ext cx="139036" cy="66988"/>
          </a:xfrm>
          <a:prstGeom prst="rect">
            <a:avLst/>
          </a:prstGeom>
          <a:solidFill>
            <a:srgbClr val="9AC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0136" y="3007500"/>
            <a:ext cx="139036" cy="66988"/>
          </a:xfrm>
          <a:prstGeom prst="rect">
            <a:avLst/>
          </a:prstGeom>
          <a:solidFill>
            <a:srgbClr val="95C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97712" y="3007500"/>
            <a:ext cx="139036" cy="66988"/>
          </a:xfrm>
          <a:prstGeom prst="rect">
            <a:avLst/>
          </a:prstGeom>
          <a:solidFill>
            <a:srgbClr val="91B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35288" y="3007500"/>
            <a:ext cx="139036" cy="66988"/>
          </a:xfrm>
          <a:prstGeom prst="rect">
            <a:avLst/>
          </a:prstGeom>
          <a:solidFill>
            <a:srgbClr val="8CB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72864" y="3007500"/>
            <a:ext cx="139036" cy="66988"/>
          </a:xfrm>
          <a:prstGeom prst="rect">
            <a:avLst/>
          </a:prstGeom>
          <a:solidFill>
            <a:srgbClr val="88B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10440" y="3007500"/>
            <a:ext cx="139036" cy="66988"/>
          </a:xfrm>
          <a:prstGeom prst="rect">
            <a:avLst/>
          </a:prstGeom>
          <a:solidFill>
            <a:srgbClr val="83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48017" y="3007500"/>
            <a:ext cx="139036" cy="66988"/>
          </a:xfrm>
          <a:prstGeom prst="rect">
            <a:avLst/>
          </a:prstGeom>
          <a:solidFill>
            <a:srgbClr val="7FA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85593" y="3007500"/>
            <a:ext cx="139036" cy="66988"/>
          </a:xfrm>
          <a:prstGeom prst="rect">
            <a:avLst/>
          </a:prstGeom>
          <a:solidFill>
            <a:srgbClr val="7AA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3169" y="3007500"/>
            <a:ext cx="139036" cy="66988"/>
          </a:xfrm>
          <a:prstGeom prst="rect">
            <a:avLst/>
          </a:prstGeom>
          <a:solidFill>
            <a:srgbClr val="76A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60745" y="3007500"/>
            <a:ext cx="139036" cy="66988"/>
          </a:xfrm>
          <a:prstGeom prst="rect">
            <a:avLst/>
          </a:prstGeom>
          <a:solidFill>
            <a:srgbClr val="719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98321" y="3007500"/>
            <a:ext cx="139036" cy="66988"/>
          </a:xfrm>
          <a:prstGeom prst="rect">
            <a:avLst/>
          </a:prstGeom>
          <a:solidFill>
            <a:srgbClr val="6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35897" y="3007500"/>
            <a:ext cx="139036" cy="66988"/>
          </a:xfrm>
          <a:prstGeom prst="rect">
            <a:avLst/>
          </a:prstGeom>
          <a:solidFill>
            <a:srgbClr val="689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3473" y="3007500"/>
            <a:ext cx="139036" cy="66988"/>
          </a:xfrm>
          <a:prstGeom prst="rect">
            <a:avLst/>
          </a:prstGeom>
          <a:solidFill>
            <a:srgbClr val="649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11049" y="3007500"/>
            <a:ext cx="139036" cy="66988"/>
          </a:xfrm>
          <a:prstGeom prst="rect">
            <a:avLst/>
          </a:prstGeom>
          <a:solidFill>
            <a:srgbClr val="5F8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48625" y="3007500"/>
            <a:ext cx="139036" cy="66988"/>
          </a:xfrm>
          <a:prstGeom prst="rect">
            <a:avLst/>
          </a:prstGeom>
          <a:solidFill>
            <a:srgbClr val="5B8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86201" y="3007500"/>
            <a:ext cx="139036" cy="66988"/>
          </a:xfrm>
          <a:prstGeom prst="rect">
            <a:avLst/>
          </a:prstGeom>
          <a:solidFill>
            <a:srgbClr val="568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23778" y="3007500"/>
            <a:ext cx="139036" cy="66988"/>
          </a:xfrm>
          <a:prstGeom prst="rect">
            <a:avLst/>
          </a:prstGeom>
          <a:solidFill>
            <a:srgbClr val="528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61354" y="3007500"/>
            <a:ext cx="139036" cy="66988"/>
          </a:xfrm>
          <a:prstGeom prst="rect">
            <a:avLst/>
          </a:prstGeom>
          <a:solidFill>
            <a:srgbClr val="4D7C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98930" y="3007500"/>
            <a:ext cx="139036" cy="66988"/>
          </a:xfrm>
          <a:prstGeom prst="rect">
            <a:avLst/>
          </a:prstGeom>
          <a:solidFill>
            <a:srgbClr val="49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736506" y="3007500"/>
            <a:ext cx="139036" cy="66988"/>
          </a:xfrm>
          <a:prstGeom prst="rect">
            <a:avLst/>
          </a:prstGeom>
          <a:solidFill>
            <a:srgbClr val="447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74082" y="3007500"/>
            <a:ext cx="139036" cy="66988"/>
          </a:xfrm>
          <a:prstGeom prst="rect">
            <a:avLst/>
          </a:prstGeom>
          <a:solidFill>
            <a:srgbClr val="406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11658" y="3007500"/>
            <a:ext cx="139036" cy="66988"/>
          </a:xfrm>
          <a:prstGeom prst="rect">
            <a:avLst/>
          </a:prstGeom>
          <a:solidFill>
            <a:srgbClr val="3B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149234" y="3007500"/>
            <a:ext cx="139036" cy="66988"/>
          </a:xfrm>
          <a:prstGeom prst="rect">
            <a:avLst/>
          </a:prstGeom>
          <a:solidFill>
            <a:srgbClr val="376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286810" y="3007500"/>
            <a:ext cx="139036" cy="66988"/>
          </a:xfrm>
          <a:prstGeom prst="rect">
            <a:avLst/>
          </a:prstGeom>
          <a:solidFill>
            <a:srgbClr val="326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24386" y="3007500"/>
            <a:ext cx="139036" cy="66988"/>
          </a:xfrm>
          <a:prstGeom prst="rect">
            <a:avLst/>
          </a:prstGeom>
          <a:solidFill>
            <a:srgbClr val="2E5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61962" y="3007500"/>
            <a:ext cx="139036" cy="66988"/>
          </a:xfrm>
          <a:prstGeom prst="rect">
            <a:avLst/>
          </a:prstGeom>
          <a:solidFill>
            <a:srgbClr val="29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699539" y="3007500"/>
            <a:ext cx="139036" cy="66988"/>
          </a:xfrm>
          <a:prstGeom prst="rect">
            <a:avLst/>
          </a:prstGeom>
          <a:solidFill>
            <a:srgbClr val="2555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37115" y="3007500"/>
            <a:ext cx="139036" cy="66988"/>
          </a:xfrm>
          <a:prstGeom prst="rect">
            <a:avLst/>
          </a:prstGeom>
          <a:solidFill>
            <a:srgbClr val="205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974691" y="3007500"/>
            <a:ext cx="139036" cy="66988"/>
          </a:xfrm>
          <a:prstGeom prst="rect">
            <a:avLst/>
          </a:prstGeom>
          <a:solidFill>
            <a:srgbClr val="1C4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112267" y="3007500"/>
            <a:ext cx="139036" cy="66988"/>
          </a:xfrm>
          <a:prstGeom prst="rect">
            <a:avLst/>
          </a:prstGeom>
          <a:solidFill>
            <a:srgbClr val="17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322992" y="2982622"/>
            <a:ext cx="15125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Y5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5005" y="3221359"/>
            <a:ext cx="387240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35 → 52 unit greenhouse · 2 → 3 lokasi rooftop Jakarta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5005" y="3472764"/>
            <a:ext cx="3872409" cy="2856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Kapasitas teoretis maksimum ±119 ton/tahun ditarget konservatif ke 106 ton pada Tahun 1 untuk ramp-up dan learning curve.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Lokasi dan Rantai Pasok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Hyper-Proximity · desentralisasi lokasi · tier pemasok · SLA logistik.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13552"/>
            <a:ext cx="3682009" cy="1822257"/>
          </a:xfrm>
          <a:prstGeom prst="rect">
            <a:avLst/>
          </a:prstGeom>
          <a:solidFill>
            <a:srgbClr val="15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692" y="2004962"/>
            <a:ext cx="34702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EECAB"/>
                </a:solidFill>
                <a:latin typeface="Arial"/>
              </a:rPr>
              <a:t>01 / JAKARTA SELATAN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692" y="3144329"/>
            <a:ext cx="3470258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F6FAEE"/>
                </a:solidFill>
                <a:latin typeface="Arial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6215" y="3326920"/>
            <a:ext cx="19610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6FAEE"/>
                </a:solidFill>
                <a:latin typeface="Arial"/>
              </a:rPr>
              <a:t>unit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692" y="3533818"/>
            <a:ext cx="347025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6FAEE"/>
                </a:solidFill>
                <a:latin typeface="Arial"/>
              </a:rPr>
              <a:t>Rooftop strategis · lokasi usulan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973" y="1913552"/>
            <a:ext cx="3682009" cy="1822257"/>
          </a:xfrm>
          <a:prstGeom prst="rect">
            <a:avLst/>
          </a:prstGeom>
          <a:solidFill>
            <a:srgbClr val="276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8851" y="2004962"/>
            <a:ext cx="34702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EECAB"/>
                </a:solidFill>
                <a:latin typeface="Arial"/>
              </a:rPr>
              <a:t>02 / JAKARTA TIMUR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8851" y="3144329"/>
            <a:ext cx="3470258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F6FAEE"/>
                </a:solidFill>
                <a:latin typeface="Arial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1374" y="3326920"/>
            <a:ext cx="196105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6FAEE"/>
                </a:solidFill>
                <a:latin typeface="Arial"/>
              </a:rPr>
              <a:t>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8851" y="3533818"/>
            <a:ext cx="347025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6FAEE"/>
                </a:solidFill>
                <a:latin typeface="Arial"/>
              </a:rPr>
              <a:t>Rooftop strategis · lokasi usulan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2133" y="1913552"/>
            <a:ext cx="3498051" cy="1822257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4010" y="3084873"/>
            <a:ext cx="3286300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73F2D"/>
                </a:solidFill>
                <a:latin typeface="Arial"/>
              </a:rPr>
              <a:t>±7.000 m²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4010" y="3430540"/>
            <a:ext cx="3286300" cy="2448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73F2D"/>
                </a:solidFill>
                <a:latin typeface="Arial"/>
              </a:rPr>
              <a:t>total dua lokasi · model terdesentralisasi menjaga operasi jika satu lokasi terganggu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1814" y="3799145"/>
            <a:ext cx="11008370" cy="348292"/>
          </a:xfrm>
          <a:prstGeom prst="rect">
            <a:avLst/>
          </a:prstGeom>
          <a:solidFill>
            <a:srgbClr val="C7E2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481" y="3914862"/>
            <a:ext cx="35609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43D30"/>
                </a:solidFill>
                <a:latin typeface="Arial"/>
              </a:rPr>
              <a:t>PANEN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1923" y="3874692"/>
            <a:ext cx="190513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0" i="0">
                <a:solidFill>
                  <a:srgbClr val="143D30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6779" y="3914862"/>
            <a:ext cx="11017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143D30"/>
                </a:solidFill>
                <a:latin typeface="Arial"/>
              </a:rPr>
              <a:t>SORTIR + COLD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3874692"/>
            <a:ext cx="190513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0" i="0">
                <a:solidFill>
                  <a:srgbClr val="143D30"/>
                </a:solidFill>
                <a:latin typeface="Arial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77608" y="3866134"/>
            <a:ext cx="1012909" cy="214316"/>
          </a:xfrm>
          <a:prstGeom prst="rect">
            <a:avLst/>
          </a:prstGeom>
          <a:solidFill>
            <a:srgbClr val="15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77608" y="3914862"/>
            <a:ext cx="104491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FFFFF"/>
                </a:solidFill>
                <a:latin typeface="Arial"/>
              </a:rPr>
              <a:t>MITRA B2B &lt;12 JAM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1814" y="4210774"/>
            <a:ext cx="3620614" cy="1822371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91814" y="4210774"/>
            <a:ext cx="3620615" cy="0"/>
          </a:xfrm>
          <a:prstGeom prst="line">
            <a:avLst/>
          </a:prstGeom>
          <a:ln w="29214">
            <a:solidFill>
              <a:srgbClr val="8DB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1481" y="4348402"/>
            <a:ext cx="78130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TIER 1 · KRITIS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481" y="4487171"/>
            <a:ext cx="343328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3" b="1" i="0">
                <a:solidFill>
                  <a:srgbClr val="143D30"/>
                </a:solidFill>
                <a:latin typeface="Arial"/>
              </a:rPr>
              <a:t>Benih premium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481" y="4691673"/>
            <a:ext cx="343328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Fujisawa RZ F1 dari PT Excelindo; kontrak tahunan untuk keaslian dan stok.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85578" y="4210774"/>
            <a:ext cx="3620728" cy="1822371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285578" y="4210774"/>
            <a:ext cx="3620729" cy="0"/>
          </a:xfrm>
          <a:prstGeom prst="line">
            <a:avLst/>
          </a:prstGeom>
          <a:ln w="29214">
            <a:solidFill>
              <a:srgbClr val="8DB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395245" y="4348402"/>
            <a:ext cx="107698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TIER 2 · PENDUKUNG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5245" y="4487171"/>
            <a:ext cx="3433398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3" b="1" i="0">
                <a:solidFill>
                  <a:srgbClr val="143D30"/>
                </a:solidFill>
                <a:latin typeface="Arial"/>
              </a:rPr>
              <a:t>Nutrisi &amp; sensor IoT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95245" y="4691673"/>
            <a:ext cx="3433398" cy="24940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AB Mix dan platform IoT (Habibi Garden dkk.); diversifikasi ≥2 vendor per kebutuhan.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79456" y="4210774"/>
            <a:ext cx="3620614" cy="1822371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979456" y="4210774"/>
            <a:ext cx="3620614" cy="0"/>
          </a:xfrm>
          <a:prstGeom prst="line">
            <a:avLst/>
          </a:prstGeom>
          <a:ln w="29214">
            <a:solidFill>
              <a:srgbClr val="8DB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089123" y="4348402"/>
            <a:ext cx="70176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TIER 3 · JASA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9123" y="4487171"/>
            <a:ext cx="343328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3" b="1" i="0">
                <a:solidFill>
                  <a:srgbClr val="143D30"/>
                </a:solidFill>
                <a:latin typeface="Arial"/>
              </a:rPr>
              <a:t>Logistik cold chain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89123" y="4691673"/>
            <a:ext cx="343328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Ninja Xpress Cold Chain dkk.; SLA same-day delivery ke mitra.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3800" y="6198732"/>
            <a:ext cx="2488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28633D"/>
                </a:solidFill>
                <a:latin typeface="Arial"/>
              </a:rPr>
              <a:t>TAHUN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5178" y="6096481"/>
            <a:ext cx="237187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28633D"/>
                </a:solidFill>
                <a:latin typeface="Arial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3800" y="6198732"/>
            <a:ext cx="2488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28633D"/>
                </a:solidFill>
                <a:latin typeface="Arial"/>
              </a:rPr>
              <a:t>LOKASI KE-3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7435" y="6096481"/>
            <a:ext cx="237187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28633D"/>
                </a:solidFill>
                <a:latin typeface="Arial"/>
              </a:rPr>
              <a:t>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3800" y="6198732"/>
            <a:ext cx="2488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28633D"/>
                </a:solidFill>
                <a:latin typeface="Arial"/>
              </a:rPr>
              <a:t>42 GREENHOUSE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Lokasi Potensial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Dua lokasi rooftop strategis di Jakarta menjadi rencana awal fasilitas produksi.</a:t>
            </a:r>
          </a:p>
        </p:txBody>
      </p:sp>
      <p:pic>
        <p:nvPicPr>
          <p:cNvPr id="7" name="Picture 6" descr="pictur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07960"/>
            <a:ext cx="6476069" cy="387412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45" y="5528852"/>
            <a:ext cx="2320584" cy="180080"/>
          </a:xfrm>
          <a:prstGeom prst="rect">
            <a:avLst/>
          </a:prstGeom>
          <a:solidFill>
            <a:srgbClr val="143D2C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45" y="5571418"/>
            <a:ext cx="235258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FFFFF"/>
                </a:solidFill>
                <a:latin typeface="Arial"/>
              </a:rPr>
              <a:t>VISUALISASI KONSEP · LOKASI PERLU VERIFIKASI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40462" y="1907960"/>
            <a:ext cx="4466341" cy="3874122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86761" y="2029840"/>
            <a:ext cx="42057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GREENHOUSE DI ATAS ROOFTOP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86761" y="2197937"/>
            <a:ext cx="4205747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9" b="1" i="0">
                <a:solidFill>
                  <a:srgbClr val="143D30"/>
                </a:solidFill>
                <a:latin typeface="Arial"/>
              </a:rPr>
              <a:t>17–18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5862" y="2438957"/>
            <a:ext cx="45789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unit/lokasi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86761" y="2765339"/>
            <a:ext cx="4173743" cy="0"/>
          </a:xfrm>
          <a:prstGeom prst="line">
            <a:avLst/>
          </a:prstGeom>
          <a:ln w="7303">
            <a:solidFill>
              <a:srgbClr val="B1C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86761" y="2821371"/>
            <a:ext cx="62461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1 rumah kaca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5627" y="2821371"/>
            <a:ext cx="4068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±200 m²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86761" y="2986958"/>
            <a:ext cx="4173743" cy="0"/>
          </a:xfrm>
          <a:prstGeom prst="line">
            <a:avLst/>
          </a:prstGeom>
          <a:ln w="7303">
            <a:solidFill>
              <a:srgbClr val="B1C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86761" y="3042991"/>
            <a:ext cx="6894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Luas per lokasi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11664" y="3042991"/>
            <a:ext cx="7808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±3.400–3.600 m²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86761" y="3208578"/>
            <a:ext cx="4173743" cy="0"/>
          </a:xfrm>
          <a:prstGeom prst="line">
            <a:avLst/>
          </a:prstGeom>
          <a:ln w="7303">
            <a:solidFill>
              <a:srgbClr val="B1C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86761" y="3264611"/>
            <a:ext cx="59015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Siklus panen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73401" y="3264611"/>
            <a:ext cx="71910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4–5× per tahun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86761" y="3430198"/>
            <a:ext cx="4173743" cy="0"/>
          </a:xfrm>
          <a:prstGeom prst="line">
            <a:avLst/>
          </a:prstGeom>
          <a:ln w="7303">
            <a:solidFill>
              <a:srgbClr val="B1C9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86761" y="3486230"/>
            <a:ext cx="86643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Kapasitas produksi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7572" y="3486230"/>
            <a:ext cx="8349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43D30"/>
                </a:solidFill>
                <a:latin typeface="Arial"/>
              </a:rPr>
              <a:t>±60–70 ton/tahun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6761" y="5548138"/>
            <a:ext cx="420574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Sensor suhu, kelembapan, cahaya, pH, EC, dan air mengirim data ke dashboard IoT.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5861281"/>
            <a:ext cx="11021607" cy="482382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45" y="5934432"/>
            <a:ext cx="10907312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9E9AA"/>
                </a:solidFill>
                <a:latin typeface="Arial"/>
              </a:rPr>
              <a:t>FASILITAS PENDUKUNG ROOFTOP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45" y="6078108"/>
            <a:ext cx="844700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503045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58345" y="6270513"/>
            <a:ext cx="844700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58345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45" y="6126837"/>
            <a:ext cx="87670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Akses &amp; keamanan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551773" y="6078108"/>
            <a:ext cx="730011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281784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551773" y="6270513"/>
            <a:ext cx="730011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51773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51773" y="6126837"/>
            <a:ext cx="76201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Sortir &amp; packing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330513" y="6078108"/>
            <a:ext cx="513986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44499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330513" y="6270513"/>
            <a:ext cx="513986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330513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330513" y="6126837"/>
            <a:ext cx="54599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Cold room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893227" y="6078108"/>
            <a:ext cx="412992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306219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893227" y="6270513"/>
            <a:ext cx="412992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893227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893227" y="6126837"/>
            <a:ext cx="4449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Gudang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354948" y="6078108"/>
            <a:ext cx="622854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802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3354948" y="6270513"/>
            <a:ext cx="622854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354948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354948" y="6126837"/>
            <a:ext cx="6548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Ruang nutrisi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26531" y="6078108"/>
            <a:ext cx="614067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640598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4026531" y="6270513"/>
            <a:ext cx="614067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026531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026531" y="6126837"/>
            <a:ext cx="64607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Staf &amp; kantor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89327" y="6078108"/>
            <a:ext cx="811377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500704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4689327" y="6270513"/>
            <a:ext cx="811377" cy="0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689327" y="6078108"/>
            <a:ext cx="0" cy="192405"/>
          </a:xfrm>
          <a:prstGeom prst="line">
            <a:avLst/>
          </a:prstGeom>
          <a:ln w="7303">
            <a:solidFill>
              <a:srgbClr val="9BBF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689327" y="6126837"/>
            <a:ext cx="84338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1" i="0">
                <a:solidFill>
                  <a:srgbClr val="F7FAEF"/>
                </a:solidFill>
                <a:latin typeface="Arial"/>
              </a:rPr>
              <a:t>Utilitas air &amp; listrik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Kinerja dan Biaya Operasional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CAPEX · cost per ton · OPEX ratio · skala ekonomi dalam materi operasi Canva.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13552"/>
            <a:ext cx="5708741" cy="4423949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420" y="2059853"/>
            <a:ext cx="539953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8E99F"/>
                </a:solidFill>
                <a:latin typeface="Arial"/>
              </a:rPr>
              <a:t>ALOKASI INVESTASI AWAL · CAPEX TAHUN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420" y="2262072"/>
            <a:ext cx="5399533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F7FBF0"/>
                </a:solidFill>
                <a:latin typeface="Arial"/>
              </a:rPr>
              <a:t>Rp7,46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2491" y="2627254"/>
            <a:ext cx="24825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7FBF0"/>
                </a:solidFill>
                <a:latin typeface="Arial"/>
              </a:rPr>
              <a:t>miliar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420" y="5417814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762420" y="5417814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2420" y="5467798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Greenhouse 35 unit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2375" y="5417814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3472375" y="5417814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72375" y="5467798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Modal kerja pra-operasi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420" y="5693070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762420" y="5693070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62420" y="5743054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Cold storage &amp; distribusi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2375" y="5693070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472375" y="5693070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72375" y="5743054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Lokasi rooftop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420" y="5968325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762420" y="5968325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62420" y="6018310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Legal &amp; kantor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2375" y="5968325"/>
            <a:ext cx="2657574" cy="222875"/>
          </a:xfrm>
          <a:prstGeom prst="rect">
            <a:avLst/>
          </a:prstGeom>
          <a:solidFill>
            <a:srgbClr val="FFF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3472375" y="5968325"/>
            <a:ext cx="0" cy="222875"/>
          </a:xfrm>
          <a:prstGeom prst="line">
            <a:avLst/>
          </a:prstGeom>
          <a:ln w="14607">
            <a:solidFill>
              <a:srgbClr val="C9E6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72375" y="6018310"/>
            <a:ext cx="26895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F7FBF0"/>
                </a:solidFill>
                <a:latin typeface="Arial"/>
              </a:rPr>
              <a:t>Kontingensi 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10223" y="1913552"/>
            <a:ext cx="5189961" cy="1421812"/>
          </a:xfrm>
          <a:prstGeom prst="rect">
            <a:avLst/>
          </a:prstGeom>
          <a:solidFill>
            <a:srgbClr val="E4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2100" y="2023221"/>
            <a:ext cx="49782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COST PER TON · Y0 → Y10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2100" y="2806536"/>
            <a:ext cx="4978210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143D30"/>
                </a:solidFill>
                <a:latin typeface="Arial"/>
              </a:rPr>
              <a:t>Rp29,2 → 45,3 jt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2100" y="3116141"/>
            <a:ext cx="4978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CAGR ±4,5% per tahun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10223" y="3414563"/>
            <a:ext cx="5189961" cy="1421812"/>
          </a:xfrm>
          <a:prstGeom prst="rect">
            <a:avLst/>
          </a:prstGeom>
          <a:solidFill>
            <a:srgbClr val="D2E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2100" y="3524232"/>
            <a:ext cx="49782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OPEX 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2100" y="4307547"/>
            <a:ext cx="4978210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143D30"/>
                </a:solidFill>
                <a:latin typeface="Arial"/>
              </a:rPr>
              <a:t>64% → 49–52%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2100" y="4617153"/>
            <a:ext cx="4978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Stabil mulai Tahun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10223" y="4915575"/>
            <a:ext cx="5189961" cy="1421812"/>
          </a:xfrm>
          <a:prstGeom prst="rect">
            <a:avLst/>
          </a:prstGeom>
          <a:solidFill>
            <a:srgbClr val="E4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2100" y="5025243"/>
            <a:ext cx="49782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PERTUMBUHAN Y0 → Y10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2100" y="5808558"/>
            <a:ext cx="64047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143D30"/>
                </a:solidFill>
                <a:latin typeface="Arial"/>
              </a:rPr>
              <a:t>4,12×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5822" y="5947327"/>
            <a:ext cx="16095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60836A"/>
                </a:solidFill>
                <a:latin typeface="Arial"/>
              </a:rPr>
              <a:t>vs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0021" y="5808558"/>
            <a:ext cx="64047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143D30"/>
                </a:solidFill>
                <a:latin typeface="Arial"/>
              </a:rPr>
              <a:t>3,71×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2100" y="6118164"/>
            <a:ext cx="4978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Biaya vs produksi; laju biaya sedikit melampaui volume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Prioritas Kinerja Operasi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Lima dimensi performa menentukan implementasi strategis.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7960"/>
            <a:ext cx="11021607" cy="243530"/>
          </a:xfrm>
          <a:prstGeom prst="rect">
            <a:avLst/>
          </a:prstGeom>
          <a:solidFill>
            <a:srgbClr val="153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1882" y="1978600"/>
            <a:ext cx="244080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DIMENSI PERFORMA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0680" y="1978600"/>
            <a:ext cx="139342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PRIORITAS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104" y="1978600"/>
            <a:ext cx="6734825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IMPLEMENTASI STRATEGIS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195" y="2151491"/>
            <a:ext cx="11021607" cy="838434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85195" y="2989925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604" y="2512222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605" y="2464748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Kualitas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6930" y="2508570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Sangat Tinggi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1188" y="2505147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Benih unggul Fujisawa RZ F1 + sistem one plant one fruit — nutrisi difokuskan pada satu buah terbaik per tanaman.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195" y="2989925"/>
            <a:ext cx="11021607" cy="838434"/>
          </a:xfrm>
          <a:prstGeom prst="rect">
            <a:avLst/>
          </a:prstGeom>
          <a:solidFill>
            <a:srgbClr val="E5EF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585195" y="3828360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6604" y="3350657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605" y="3303183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Keandalan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6930" y="3347005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Tinggi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1188" y="3343581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Kontrol iklim otomatis di dalam smart greenhouse memastikan jadwal panen tetap tepat waktu meski cuaca ekstrem.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195" y="3828360"/>
            <a:ext cx="11021607" cy="838434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585195" y="4666795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6604" y="4189091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605" y="4141618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Kecepatan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6930" y="4185439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Tinggi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1188" y="4182016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Konsep Hyper-Proximity (0-km Distribution) lewat rooftop farming — produk tiba di tangan konsumen di hari yang sama saat panen.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195" y="4666795"/>
            <a:ext cx="11021607" cy="838434"/>
          </a:xfrm>
          <a:prstGeom prst="rect">
            <a:avLst/>
          </a:prstGeom>
          <a:solidFill>
            <a:srgbClr val="E5EF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585195" y="5505229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76604" y="5027526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605" y="4980052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Fleksibilitas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6930" y="5023874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Sedang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1188" y="5020450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Fasilitas produksi bersifat modular — volume produksi atau varietas melon dapat disesuaikan cepat dengan tren pasar.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195" y="5505229"/>
            <a:ext cx="11021607" cy="838434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585195" y="6343664"/>
            <a:ext cx="11021608" cy="0"/>
          </a:xfrm>
          <a:prstGeom prst="line">
            <a:avLst/>
          </a:prstGeom>
          <a:ln w="7303">
            <a:solidFill>
              <a:srgbClr val="BAD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6604" y="5865960"/>
            <a:ext cx="27575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9365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605" y="5818487"/>
            <a:ext cx="2308082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95" b="1" i="0">
                <a:solidFill>
                  <a:srgbClr val="143D30"/>
                </a:solidFill>
                <a:latin typeface="Arial"/>
              </a:rPr>
              <a:t>Biaya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6930" y="5862309"/>
            <a:ext cx="1441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1" i="0">
                <a:solidFill>
                  <a:srgbClr val="437A49"/>
                </a:solidFill>
                <a:latin typeface="Arial"/>
              </a:rPr>
              <a:t>Sedang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61188" y="5858885"/>
            <a:ext cx="668621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Efisiensi biaya logistik &amp; penurunan kerugian produk rusak mengompensasi investasi awal teknologi yang tinggi.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Struktur Organisasi dan Kesiapan Tim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Tiga divisi operasional, pertumbuhan tim, dan standardisasi lintas lokasi.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7960"/>
            <a:ext cx="3621070" cy="3704084"/>
          </a:xfrm>
          <a:prstGeom prst="rect">
            <a:avLst/>
          </a:prstGeom>
          <a:solidFill>
            <a:srgbClr val="E8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07960"/>
            <a:ext cx="3621071" cy="0"/>
          </a:xfrm>
          <a:prstGeom prst="line">
            <a:avLst/>
          </a:prstGeom>
          <a:ln w="36517">
            <a:solidFill>
              <a:srgbClr val="87B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07073" y="2048099"/>
            <a:ext cx="34093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01 / DIVISI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73" y="2200334"/>
            <a:ext cx="34093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Agronomi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73" y="2446603"/>
            <a:ext cx="34093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97548"/>
                </a:solidFill>
                <a:latin typeface="Arial"/>
              </a:rPr>
              <a:t>Head of Agronomy &amp; Quality Excellence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073" y="2632846"/>
            <a:ext cx="3409319" cy="2624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Mengawasi standar budidaya dan pemeliharaan tanaman di seluruh unit greenhouse.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5464" y="1907960"/>
            <a:ext cx="3621070" cy="3704084"/>
          </a:xfrm>
          <a:prstGeom prst="rect">
            <a:avLst/>
          </a:prstGeom>
          <a:solidFill>
            <a:srgbClr val="D8E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85464" y="1907960"/>
            <a:ext cx="3621071" cy="0"/>
          </a:xfrm>
          <a:prstGeom prst="line">
            <a:avLst/>
          </a:prstGeom>
          <a:ln w="36517">
            <a:solidFill>
              <a:srgbClr val="87B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07342" y="2048099"/>
            <a:ext cx="34093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02 / DIVISI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342" y="2200334"/>
            <a:ext cx="34093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Teknologi &amp; 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342" y="2446603"/>
            <a:ext cx="34093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97548"/>
                </a:solidFill>
                <a:latin typeface="Arial"/>
              </a:rPr>
              <a:t>Smart Greenhouse &amp; IoT System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342" y="2632846"/>
            <a:ext cx="3409319" cy="2624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Menjaga kestabilan sensor, sistem automasi irigasi, dan pengolahan data untuk keputusan agronomis.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32" y="1907960"/>
            <a:ext cx="3621070" cy="3704084"/>
          </a:xfrm>
          <a:prstGeom prst="rect">
            <a:avLst/>
          </a:prstGeom>
          <a:solidFill>
            <a:srgbClr val="C9E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985732" y="1907960"/>
            <a:ext cx="3621071" cy="0"/>
          </a:xfrm>
          <a:prstGeom prst="line">
            <a:avLst/>
          </a:prstGeom>
          <a:ln w="36517">
            <a:solidFill>
              <a:srgbClr val="87B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07610" y="2048099"/>
            <a:ext cx="34093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B8054"/>
                </a:solidFill>
                <a:latin typeface="Arial"/>
              </a:rPr>
              <a:t>03 / DIVISI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610" y="2200334"/>
            <a:ext cx="34093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143D30"/>
                </a:solidFill>
                <a:latin typeface="Arial"/>
              </a:rPr>
              <a:t>Logistik &amp; Distribusi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7610" y="2446603"/>
            <a:ext cx="34093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97548"/>
                </a:solidFill>
                <a:latin typeface="Arial"/>
              </a:rPr>
              <a:t>Distribusi rooftop ke mitra ritel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7610" y="2632846"/>
            <a:ext cx="34093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Mengatur rantai pasok dari rooftop langsung ke mitra ritel premium di Jakarta.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195" y="5691244"/>
            <a:ext cx="3625064" cy="469943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441" y="5776491"/>
            <a:ext cx="41646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F7FAEC"/>
                </a:solidFill>
                <a:latin typeface="Arial"/>
              </a:rPr>
              <a:t>±14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8054" y="5872123"/>
            <a:ext cx="2307512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F7FAEC"/>
                </a:solidFill>
                <a:latin typeface="Arial"/>
              </a:rPr>
              <a:t>Tahun 0 · 1 CEO + 4 Direktur + tenaga lapangan · 2 siklus trial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83410" y="5691244"/>
            <a:ext cx="3625064" cy="469943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8656" y="5776491"/>
            <a:ext cx="41646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F7FAEC"/>
                </a:solidFill>
                <a:latin typeface="Arial"/>
              </a:rPr>
              <a:t>±20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6268" y="5872123"/>
            <a:ext cx="173658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F7FAEC"/>
                </a:solidFill>
                <a:latin typeface="Arial"/>
              </a:rPr>
              <a:t>Tahun 1–2 · operasional penuh 35 greenhouse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1624" y="5691244"/>
            <a:ext cx="3625179" cy="469943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66870" y="5776491"/>
            <a:ext cx="41646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F7FAEC"/>
                </a:solidFill>
                <a:latin typeface="Arial"/>
              </a:rPr>
              <a:t>±26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4482" y="5872123"/>
            <a:ext cx="196162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F7FAEC"/>
                </a:solidFill>
                <a:latin typeface="Arial"/>
              </a:rPr>
              <a:t>Tahun 5 · steady-state, mendukung ~52 greenhouse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195" y="6227034"/>
            <a:ext cx="1105361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365C3E"/>
                </a:solidFill>
                <a:latin typeface="Arial"/>
              </a:rPr>
              <a:t>SOP menjaga kualitas lintas lokasi. Dalam jangka panjang (&gt;5 tahun), model direplikasi ke Surabaya dan Bali; operasi fisik tersebar, data IoT terpusat.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Manajemen Risiko Rantai Pasok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Lima risiko utama dipasangkan dengan dampak, probabilitas, dan mitigasi.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07960"/>
            <a:ext cx="11021607" cy="243530"/>
          </a:xfrm>
          <a:prstGeom prst="rect">
            <a:avLst/>
          </a:prstGeom>
          <a:solidFill>
            <a:srgbClr val="153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1882" y="1978600"/>
            <a:ext cx="2650207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RISIKO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086" y="1978600"/>
            <a:ext cx="1079262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DAMPAK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7344" y="1978600"/>
            <a:ext cx="128866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PROBABILITAS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4009" y="1978600"/>
            <a:ext cx="558292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FFFFFF"/>
                </a:solidFill>
                <a:latin typeface="Arial"/>
              </a:rPr>
              <a:t>STRATEGI MITIGASI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151491"/>
            <a:ext cx="11021607" cy="838434"/>
          </a:xfrm>
          <a:prstGeom prst="rect">
            <a:avLst/>
          </a:prstGeom>
          <a:solidFill>
            <a:srgbClr val="F4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585195" y="2989925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0441" y="2512222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829" y="2486545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Kelangkaan benih Fujisawa RZ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9734" y="2512222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Tinggi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7915" y="2512222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Rendah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148" y="2509483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Kontrak tahunan dengan PT Excelindo; varietas alternatif Inthanon RZ; stok cadangan ≥2 siklus.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2989925"/>
            <a:ext cx="11021607" cy="838434"/>
          </a:xfrm>
          <a:prstGeom prst="rect">
            <a:avLst/>
          </a:prstGeom>
          <a:solidFill>
            <a:srgbClr val="E6EF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585195" y="3828360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0441" y="3350657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829" y="3324980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Kenaikan harga nutrisi AB Mix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9734" y="3350657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7915" y="3350657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148" y="3347918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Diversifikasi ≥2 vendor; negosiasi kontrak tahunan; eksplorasi formulasi nutrisi mandiri.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195" y="3828360"/>
            <a:ext cx="11021607" cy="838434"/>
          </a:xfrm>
          <a:prstGeom prst="rect">
            <a:avLst/>
          </a:prstGeom>
          <a:solidFill>
            <a:srgbClr val="F4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85195" y="4666795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441" y="4189091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829" y="4163414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Gangguan logistik cold chain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9734" y="4189091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Tinggi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7915" y="4189091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53148" y="4186352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Kontrak dengan 2 penyedia jasa logistik; armada distribusi internal sebagai backup.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195" y="4666795"/>
            <a:ext cx="11021607" cy="838434"/>
          </a:xfrm>
          <a:prstGeom prst="rect">
            <a:avLst/>
          </a:prstGeom>
          <a:solidFill>
            <a:srgbClr val="E6EF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585195" y="5505229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0441" y="5027526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829" y="5001849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Kerusakan peralatan IoT / sensor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9734" y="5027526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7915" y="5027526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Sedang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148" y="5024787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Stok suku cadang kritis; kontrak pemeliharaan preventif; pelatihan troubleshooting operator.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195" y="5505229"/>
            <a:ext cx="11021607" cy="838434"/>
          </a:xfrm>
          <a:prstGeom prst="rect">
            <a:avLst/>
          </a:prstGeom>
          <a:solidFill>
            <a:srgbClr val="F4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585195" y="6343664"/>
            <a:ext cx="11021608" cy="0"/>
          </a:xfrm>
          <a:prstGeom prst="line">
            <a:avLst/>
          </a:prstGeom>
          <a:ln w="7303">
            <a:solidFill>
              <a:srgbClr val="B6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0441" y="5865960"/>
            <a:ext cx="23924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60875D"/>
                </a:solidFill>
                <a:latin typeface="Arial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829" y="5840283"/>
            <a:ext cx="252775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1" i="0">
                <a:solidFill>
                  <a:srgbClr val="143D30"/>
                </a:solidFill>
                <a:latin typeface="Arial"/>
              </a:rPr>
              <a:t>Keterlambatan konstruksi GH baru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19734" y="5865960"/>
            <a:ext cx="111703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Tinggi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7915" y="5865960"/>
            <a:ext cx="133408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B4B"/>
                </a:solidFill>
                <a:latin typeface="Arial"/>
              </a:rPr>
              <a:t>Rendah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53148" y="5863221"/>
            <a:ext cx="55004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43D30"/>
                </a:solidFill>
                <a:latin typeface="Arial"/>
              </a:rPr>
              <a:t>Tender terbatas 2–3 kontraktor terseleksi; buffer waktu proyek 20%; supervisi internal.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195" y="6392393"/>
            <a:ext cx="1105361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784A"/>
                </a:solidFill>
                <a:latin typeface="Arial"/>
              </a:rPr>
              <a:t>Mitigasi untuk setiap risiko dengan skor ≥ Sedang × Sedang.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pic>
        <p:nvPicPr>
          <p:cNvPr id="5" name="Picture 4" descr="picture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Strategi operasi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Satu unit standar, pemantauan empat parameter, dan proses panen yang bisa diulang.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greenhouse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per tahun mulai Y2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35 → 237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unit Y0–Y10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50 → 817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Y0–Y10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Enam pertanyaan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Dari bentuk satu rumah kaca sampai bagaimana menjaga panen, tim, siklus, dan benih.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8860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8861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494" y="2102990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01 / PERTANYAAN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494" y="3255709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200 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494" y="365193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Satu modul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494" y="3856433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Geometri dan alat di dalam GH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1512" y="1944593"/>
            <a:ext cx="3608860" cy="2150806"/>
          </a:xfrm>
          <a:prstGeom prst="rect">
            <a:avLst/>
          </a:prstGeom>
          <a:solidFill>
            <a:srgbClr val="D3E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91512" y="1944593"/>
            <a:ext cx="3608860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37811" y="2102990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02 / PERTANYAAN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7811" y="3255709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50 → 817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7811" y="3651932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Skala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11" y="3856433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Panen dari Y0 sampai Y10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7829" y="1944593"/>
            <a:ext cx="3608974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997829" y="1944593"/>
            <a:ext cx="3608974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44128" y="2102990"/>
            <a:ext cx="33483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03 / PERTANYAAN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4128" y="3255709"/>
            <a:ext cx="3348380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4128" y="3651932"/>
            <a:ext cx="334838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Mutu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4128" y="3856433"/>
            <a:ext cx="3348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Iklim, pH, dan nutrisi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195" y="4192857"/>
            <a:ext cx="3608860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85195" y="4192857"/>
            <a:ext cx="3608861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494" y="4351255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04 / PERTANYAAN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494" y="5503974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8 tahap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494" y="5900196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Ritme kerja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494" y="6104698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Dari semai sampai sanitasi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1512" y="4192857"/>
            <a:ext cx="3608860" cy="2150806"/>
          </a:xfrm>
          <a:prstGeom prst="rect">
            <a:avLst/>
          </a:prstGeom>
          <a:solidFill>
            <a:srgbClr val="D3E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291512" y="4192857"/>
            <a:ext cx="3608860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437811" y="4351255"/>
            <a:ext cx="3348266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05 / PERTANYAAN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7811" y="5503974"/>
            <a:ext cx="3348266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7811" y="5900196"/>
            <a:ext cx="334826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Siklus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7811" y="6104698"/>
            <a:ext cx="3348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Mengapa lima panen mungkin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97829" y="4192857"/>
            <a:ext cx="3608974" cy="2150806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7997829" y="4192857"/>
            <a:ext cx="3608974" cy="0"/>
          </a:xfrm>
          <a:prstGeom prst="line">
            <a:avLst/>
          </a:prstGeom>
          <a:ln w="36517">
            <a:solidFill>
              <a:srgbClr val="79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144128" y="4351255"/>
            <a:ext cx="33483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A8059"/>
                </a:solidFill>
                <a:latin typeface="Arial"/>
              </a:rPr>
              <a:t>06 / PERTANYAAN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4128" y="5503974"/>
            <a:ext cx="3348380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Rp4.250 jt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4128" y="5900196"/>
            <a:ext cx="334838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143D30"/>
                </a:solidFill>
                <a:latin typeface="Arial"/>
              </a:rPr>
              <a:t>Benih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4128" y="6104698"/>
            <a:ext cx="3348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Program R&amp;D bertahap; belum di model dasar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Di dalam satu greenhouse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Unit 10 × 20 meter menempatkan 420 tanaman dalam 14 baris pipa DFT.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5069909" cy="4399071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44593"/>
            <a:ext cx="5069909" cy="439907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45" y="6134711"/>
            <a:ext cx="4923610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45" y="6157878"/>
            <a:ext cx="49556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073" y="2066472"/>
            <a:ext cx="1385960" cy="389603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073" y="2133460"/>
            <a:ext cx="1417964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FFFFFF"/>
                </a:solidFill>
                <a:latin typeface="Arial"/>
              </a:rPr>
              <a:t>10 m × 20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76983" y="1944593"/>
            <a:ext cx="2872230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776983" y="1944593"/>
            <a:ext cx="2872230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98861" y="2641862"/>
            <a:ext cx="2660478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200 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8861" y="3007614"/>
            <a:ext cx="26604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luas modul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4459" y="1944593"/>
            <a:ext cx="2872344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8734459" y="1944593"/>
            <a:ext cx="2872344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56337" y="2641862"/>
            <a:ext cx="26605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140 m²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6337" y="3007614"/>
            <a:ext cx="26605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area ditanami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76983" y="3921938"/>
            <a:ext cx="2872230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5776983" y="3921938"/>
            <a:ext cx="2872230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98861" y="4619207"/>
            <a:ext cx="2660478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14 ×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8861" y="4984959"/>
            <a:ext cx="26604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baris × tanaman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34459" y="3921938"/>
            <a:ext cx="2872344" cy="1892098"/>
          </a:xfrm>
          <a:prstGeom prst="rect">
            <a:avLst/>
          </a:prstGeom>
          <a:solidFill>
            <a:srgbClr val="E1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734459" y="3921938"/>
            <a:ext cx="2872344" cy="0"/>
          </a:xfrm>
          <a:prstGeom prst="line">
            <a:avLst/>
          </a:prstGeom>
          <a:ln w="36517">
            <a:solidFill>
              <a:srgbClr val="80B0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856337" y="4619207"/>
            <a:ext cx="26605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143D30"/>
                </a:solidFill>
                <a:latin typeface="Arial"/>
              </a:rPr>
              <a:t>420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6337" y="4984959"/>
            <a:ext cx="26605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titik tanam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76983" y="5911494"/>
            <a:ext cx="5829820" cy="432169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8861" y="6002904"/>
            <a:ext cx="561806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6E997"/>
                </a:solidFill>
                <a:latin typeface="Arial"/>
              </a:rPr>
              <a:t>GEOMETRI YANG MENENTUKAN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861" y="6134369"/>
            <a:ext cx="561806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F5FAEB"/>
                </a:solidFill>
                <a:latin typeface="Arial"/>
              </a:rPr>
              <a:t>DFT 3 inci · pipa 0,8 m dari lantai · jalur kerja 80 cm · jarak tanam 40–50 cm · trellis 2,5 m · atap 4,5 m.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Teknologi produksi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DFT, trellis vertikal, sensor real-time, dan cadangan listrik membentuk satu sistem.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50184"/>
            <a:ext cx="5944508" cy="4387316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cture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4" y="1950184"/>
            <a:ext cx="5944508" cy="43873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64964" y="6128549"/>
            <a:ext cx="5798209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964" y="6151715"/>
            <a:ext cx="58302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5" name="Oval 14"/>
          <p:cNvSpPr/>
          <p:nvPr/>
        </p:nvSpPr>
        <p:spPr>
          <a:xfrm>
            <a:off x="2969572" y="2739890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9572" y="2747194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88906" y="2753927"/>
            <a:ext cx="782049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188906" y="2753927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8906" y="2784397"/>
            <a:ext cx="81405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TANGKI NUTRISI</a:t>
            </a:r>
          </a:p>
        </p:txBody>
      </p:sp>
      <p:sp>
        <p:nvSpPr>
          <p:cNvPr id="20" name="Oval 19"/>
          <p:cNvSpPr/>
          <p:nvPr/>
        </p:nvSpPr>
        <p:spPr>
          <a:xfrm>
            <a:off x="3266735" y="4363123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6735" y="4370427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069" y="4377160"/>
            <a:ext cx="732293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486069" y="4377160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069" y="4407630"/>
            <a:ext cx="76429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PROBE pH / EC</a:t>
            </a:r>
          </a:p>
        </p:txBody>
      </p:sp>
      <p:sp>
        <p:nvSpPr>
          <p:cNvPr id="25" name="Oval 24"/>
          <p:cNvSpPr/>
          <p:nvPr/>
        </p:nvSpPr>
        <p:spPr>
          <a:xfrm>
            <a:off x="1126798" y="4977427"/>
            <a:ext cx="176768" cy="176770"/>
          </a:xfrm>
          <a:prstGeom prst="ellipse">
            <a:avLst/>
          </a:prstGeom>
          <a:solidFill>
            <a:srgbClr val="194A32"/>
          </a:solidFill>
          <a:ln w="7303">
            <a:solidFill>
              <a:srgbClr val="F6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6798" y="4984731"/>
            <a:ext cx="208772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F6FFF0"/>
                </a:solidFill>
                <a:latin typeface="Arial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46133" y="4991464"/>
            <a:ext cx="700340" cy="148583"/>
          </a:xfrm>
          <a:prstGeom prst="rect">
            <a:avLst/>
          </a:prstGeom>
          <a:solidFill>
            <a:srgbClr val="0D33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346133" y="4991464"/>
            <a:ext cx="0" cy="148583"/>
          </a:xfrm>
          <a:prstGeom prst="line">
            <a:avLst/>
          </a:prstGeom>
          <a:ln w="7303">
            <a:solidFill>
              <a:srgbClr val="C8E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46133" y="5021934"/>
            <a:ext cx="73234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9FFF2"/>
                </a:solidFill>
                <a:latin typeface="Arial"/>
              </a:rPr>
              <a:t>POMPA &amp; PIPA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1" y="1950184"/>
            <a:ext cx="4941983" cy="1055717"/>
          </a:xfrm>
          <a:prstGeom prst="rect">
            <a:avLst/>
          </a:prstGeom>
          <a:solidFill>
            <a:srgbClr val="E7EF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6658201" y="1950184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792175" y="2167125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01 / BUDIDAYA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2175" y="2595986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DFT + trellis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7358" y="2641177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Larutan berputar; buah ditopang vertikal.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58201" y="3060679"/>
            <a:ext cx="4941983" cy="1055717"/>
          </a:xfrm>
          <a:prstGeom prst="rect">
            <a:avLst/>
          </a:prstGeom>
          <a:solidFill>
            <a:srgbClr val="D7E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6658201" y="3060679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92175" y="3277620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02 / HASIL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92175" y="3706481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1 tanaman → 1 buah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67358" y="3751672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420 tanaman × 1,8 kg × 95% = 718,2 kg/siklus.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1" y="4171174"/>
            <a:ext cx="4941983" cy="1055717"/>
          </a:xfrm>
          <a:prstGeom prst="rect">
            <a:avLst/>
          </a:prstGeom>
          <a:solidFill>
            <a:srgbClr val="E7EF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6658201" y="4171174"/>
            <a:ext cx="0" cy="1055718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92175" y="4388115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03 / PEMANTAUAN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92175" y="4816976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67358" y="4862167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Suhu · kelembapan · pH · EC/TDS.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58201" y="5281669"/>
            <a:ext cx="4941983" cy="1055831"/>
          </a:xfrm>
          <a:prstGeom prst="rect">
            <a:avLst/>
          </a:prstGeom>
          <a:solidFill>
            <a:srgbClr val="D7E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6658201" y="5281669"/>
            <a:ext cx="0" cy="1055832"/>
          </a:xfrm>
          <a:prstGeom prst="line">
            <a:avLst/>
          </a:prstGeom>
          <a:ln w="36517">
            <a:solidFill>
              <a:srgbClr val="79AE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792175" y="5498610"/>
            <a:ext cx="474255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658268"/>
                </a:solidFill>
                <a:latin typeface="Arial"/>
              </a:rPr>
              <a:t>04 / KONTINUITAS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92175" y="5927471"/>
            <a:ext cx="1821941" cy="229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6" b="1" i="0">
                <a:solidFill>
                  <a:srgbClr val="143D30"/>
                </a:solidFill>
                <a:latin typeface="Arial"/>
              </a:rPr>
              <a:t>1.200 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67358" y="5972776"/>
            <a:ext cx="286737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Genset cadangan untuk sirkulasi nutrisi.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Sensor → keputusan → aktuator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Suhu dan kelembapan diotomatisasi; pH dan nutrisi diperiksa dan dikoreksi operator dua kali sehari.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22892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52" y="2011581"/>
            <a:ext cx="16558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PARAMETER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6548" y="2011581"/>
            <a:ext cx="27386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3193" y="2011581"/>
            <a:ext cx="27386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ALAT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9838" y="2011581"/>
            <a:ext cx="219727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85109" y="2011581"/>
            <a:ext cx="16558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3FAEC"/>
                </a:solidFill>
                <a:latin typeface="Arial"/>
              </a:rPr>
              <a:t>HARGA SUMBER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2173516"/>
            <a:ext cx="11021607" cy="754442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585195" y="2927959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2652" y="2448429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Suhu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6548" y="2481752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25–30°C siang · 18–22°C malam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3193" y="2481752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Blower + exhaust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9838" y="2488599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OTOMATIS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5109" y="2492251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Rp1,75 jt/unit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195" y="2927959"/>
            <a:ext cx="11021607" cy="754556"/>
          </a:xfrm>
          <a:prstGeom prst="rect">
            <a:avLst/>
          </a:prstGeom>
          <a:solidFill>
            <a:srgbClr val="E7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585195" y="3682516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2652" y="3202986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Kelembapan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6548" y="3236309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60–70% tumbuh · 50–60% buah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3193" y="3236309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Dehumidifier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9838" y="3243156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OTOMATIS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85109" y="3246808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Rp13 jt/unit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3682516"/>
            <a:ext cx="11021607" cy="754556"/>
          </a:xfrm>
          <a:prstGeom prst="rect">
            <a:avLst/>
          </a:prstGeom>
          <a:solidFill>
            <a:srgbClr val="F8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H="1">
            <a:off x="585195" y="4437072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2652" y="3957543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06548" y="3990866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5,8–6,5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3193" y="3990866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Sensor rendam + pH up/down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9838" y="3997713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MANUAL 2×/HARI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5109" y="4001365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Rp350 rb/unit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195" y="4437072"/>
            <a:ext cx="11021607" cy="754556"/>
          </a:xfrm>
          <a:prstGeom prst="rect">
            <a:avLst/>
          </a:prstGeom>
          <a:solidFill>
            <a:srgbClr val="E7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H="1">
            <a:off x="585195" y="5191629"/>
            <a:ext cx="11021608" cy="0"/>
          </a:xfrm>
          <a:prstGeom prst="line">
            <a:avLst/>
          </a:prstGeom>
          <a:ln w="7303">
            <a:solidFill>
              <a:srgbClr val="B5CA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2652" y="4712100"/>
            <a:ext cx="1655899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73D2C"/>
                </a:solidFill>
                <a:latin typeface="Arial"/>
              </a:rPr>
              <a:t>EC / TDS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6548" y="4745423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900–1.750 ppm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13193" y="4745423"/>
            <a:ext cx="273864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73D2C"/>
                </a:solidFill>
                <a:latin typeface="Arial"/>
              </a:rPr>
              <a:t>Sensor rendam + AB Mix / 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19838" y="4752270"/>
            <a:ext cx="21972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3C8550"/>
                </a:solidFill>
                <a:latin typeface="Arial"/>
              </a:rPr>
              <a:t>MANUAL 2×/HARI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5109" y="4755922"/>
            <a:ext cx="16558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173D2C"/>
                </a:solidFill>
                <a:latin typeface="Arial"/>
              </a:rPr>
              <a:t>Rp350 rb/unit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195" y="5270828"/>
            <a:ext cx="2534897" cy="1072835"/>
          </a:xfrm>
          <a:prstGeom prst="rect">
            <a:avLst/>
          </a:prstGeom>
          <a:solidFill>
            <a:srgbClr val="DC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814" y="5356075"/>
            <a:ext cx="23596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143D30"/>
                </a:solidFill>
                <a:latin typeface="Arial"/>
              </a:rPr>
              <a:t>3 titik / GH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814" y="6033373"/>
            <a:ext cx="2359664" cy="2504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sensor IoT + ESP32 · alarm ke operator · Rp15 jt/GH menurut sumber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99291" y="5270828"/>
            <a:ext cx="2204298" cy="1072835"/>
          </a:xfrm>
          <a:prstGeom prst="rect">
            <a:avLst/>
          </a:prstGeom>
          <a:solidFill>
            <a:srgbClr val="DC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02910" y="5356075"/>
            <a:ext cx="20290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143D30"/>
                </a:solidFill>
                <a:latin typeface="Arial"/>
              </a:rPr>
              <a:t>1.200 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02910" y="6142243"/>
            <a:ext cx="202906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9" b="0" i="0">
                <a:solidFill>
                  <a:srgbClr val="143D30"/>
                </a:solidFill>
                <a:latin typeface="Arial"/>
              </a:rPr>
              <a:t>genset cadangan · pompa nutrisi tetap berjalan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2788" y="5270828"/>
            <a:ext cx="6124015" cy="1072835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92455" y="5356075"/>
            <a:ext cx="593668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2455" y="5472933"/>
            <a:ext cx="5936685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Suhu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92455" y="5683940"/>
            <a:ext cx="593668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Blower dan exhaust bekerja otomatis dalam target 25–30°C siang dan 18–22°C malam.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2455" y="6170773"/>
            <a:ext cx="5936685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Mengapa memilih DFT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Akar tetap terendam dan larutan kembali ke bak; sistem perlu listrik cadangan dan pemisahan stok A+B.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07073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73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BAK A+B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73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stok pekat terpisah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133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44188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444188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6066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066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POMPA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066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cadangan daya 1.200 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3126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3180" y="2340929"/>
            <a:ext cx="2444630" cy="2143274"/>
          </a:xfrm>
          <a:prstGeom prst="rect">
            <a:avLst/>
          </a:prstGeom>
          <a:solidFill>
            <a:srgbClr val="BBD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303180" y="2340929"/>
            <a:ext cx="2444631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25058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58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PIPA DFT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58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akar terendam 24 jam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2118" y="3211773"/>
            <a:ext cx="397751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55935B"/>
                </a:solidFill>
                <a:latin typeface="Arial"/>
              </a:rPr>
              <a:t>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173" y="2340929"/>
            <a:ext cx="2444630" cy="2143274"/>
          </a:xfrm>
          <a:prstGeom prst="rect">
            <a:avLst/>
          </a:prstGeom>
          <a:solidFill>
            <a:srgbClr val="D9E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162173" y="2340929"/>
            <a:ext cx="2444630" cy="0"/>
          </a:xfrm>
          <a:prstGeom prst="line">
            <a:avLst/>
          </a:prstGeom>
          <a:ln w="36517">
            <a:solidFill>
              <a:srgbClr val="6AA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284050" y="3096056"/>
            <a:ext cx="2232879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D7F5B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4050" y="3283554"/>
            <a:ext cx="2232879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143D30"/>
                </a:solidFill>
                <a:latin typeface="Arial"/>
              </a:rPr>
              <a:t>KEMBALI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4050" y="3639036"/>
            <a:ext cx="223287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larutan balik ke bak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195" y="5002534"/>
            <a:ext cx="2552243" cy="134113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7073" y="5406060"/>
            <a:ext cx="23404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FFFFFF"/>
                </a:solidFill>
                <a:latin typeface="Arial"/>
              </a:rPr>
              <a:t>45–60 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073" y="5771812"/>
            <a:ext cx="23404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FFFFF"/>
                </a:solidFill>
                <a:latin typeface="Arial"/>
              </a:rPr>
              <a:t>air per kg melon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4896" y="5002534"/>
            <a:ext cx="2552243" cy="1341130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56774" y="5406060"/>
            <a:ext cx="2340492" cy="426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92" b="1" i="0">
                <a:solidFill>
                  <a:srgbClr val="FFFFFF"/>
                </a:solidFill>
                <a:latin typeface="Arial"/>
              </a:rPr>
              <a:t>80–85%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56774" y="5771812"/>
            <a:ext cx="23404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FFFFF"/>
                </a:solidFill>
                <a:latin typeface="Arial"/>
              </a:rPr>
              <a:t>hemat air · klaim sumber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4596" y="5002534"/>
            <a:ext cx="5722207" cy="1341130"/>
          </a:xfrm>
          <a:prstGeom prst="rect">
            <a:avLst/>
          </a:prstGeom>
          <a:solidFill>
            <a:srgbClr val="F0E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884596" y="5002534"/>
            <a:ext cx="5722207" cy="0"/>
          </a:xfrm>
          <a:prstGeom prst="line">
            <a:avLst/>
          </a:prstGeom>
          <a:ln w="36517">
            <a:solidFill>
              <a:srgbClr val="B69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18685" y="5177935"/>
            <a:ext cx="135645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795F3D"/>
                </a:solidFill>
                <a:latin typeface="Arial"/>
              </a:rPr>
              <a:t>KELEMAHAN YANG DIJAGA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18685" y="5360640"/>
            <a:ext cx="5486034" cy="3139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0" i="0">
                <a:solidFill>
                  <a:srgbClr val="143D30"/>
                </a:solidFill>
                <a:latin typeface="Arial"/>
              </a:rPr>
              <a:t>Satu jalur berbagi larutan. Bibit lemah disaring di nursery (5–10%); pompa dan listrik harus punya cadangan.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55031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Produksi tahun demi tahun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Roadmap sumber memulai 35 unit dan memperluas ke beberapa kota hingga Tahun 10.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378702"/>
            <a:ext cx="11008370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50184"/>
            <a:ext cx="223390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43D30"/>
                </a:solidFill>
                <a:latin typeface="Arial"/>
              </a:rPr>
              <a:t>50,3 → 816,6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9062" y="2132775"/>
            <a:ext cx="59665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ton/tahun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4088" y="2147383"/>
            <a:ext cx="190810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143D30"/>
                </a:solidFill>
                <a:latin typeface="Arial"/>
              </a:rPr>
              <a:t>35 → 237 GREENHOUSE · Y0–Y10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1814" y="242126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1814" y="248845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1814" y="255563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1814" y="262281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1814" y="268999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814" y="275717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4" y="282435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1814" y="289153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1814" y="295871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1814" y="302589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1814" y="309307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1814" y="316025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1814" y="322743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1814" y="329461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1814" y="336179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1814" y="3428978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1814" y="349615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1814" y="3563339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1814" y="3630520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1814" y="369770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1814" y="3764881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1814" y="383206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1814" y="3899242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1814" y="3966423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1814" y="403360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1814" y="4100784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1814" y="416796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1814" y="4235145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1814" y="4302326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1814" y="436950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1814" y="4436687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1814" y="4503868"/>
            <a:ext cx="11008370" cy="6864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H="1">
            <a:off x="591814" y="4571049"/>
            <a:ext cx="11008370" cy="0"/>
          </a:xfrm>
          <a:prstGeom prst="line">
            <a:avLst/>
          </a:prstGeom>
          <a:ln w="7303">
            <a:solidFill>
              <a:srgbClr val="829F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84151" y="4311655"/>
            <a:ext cx="19804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50,3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7931" y="4431024"/>
            <a:ext cx="798710" cy="5608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7931" y="4435172"/>
            <a:ext cx="798710" cy="5608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7931" y="4439319"/>
            <a:ext cx="798710" cy="5608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7931" y="4443467"/>
            <a:ext cx="798710" cy="5608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7931" y="4447614"/>
            <a:ext cx="798710" cy="5608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7931" y="4451762"/>
            <a:ext cx="798710" cy="5608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7931" y="4455909"/>
            <a:ext cx="798710" cy="5608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67931" y="4460057"/>
            <a:ext cx="798710" cy="5608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7931" y="4464204"/>
            <a:ext cx="798710" cy="5608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67931" y="4468352"/>
            <a:ext cx="798710" cy="5608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931" y="4472499"/>
            <a:ext cx="798710" cy="5608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67931" y="4476647"/>
            <a:ext cx="798710" cy="5608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7931" y="4480794"/>
            <a:ext cx="798710" cy="5608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7931" y="4484942"/>
            <a:ext cx="798710" cy="5608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67931" y="4489089"/>
            <a:ext cx="798710" cy="5608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931" y="4493237"/>
            <a:ext cx="798710" cy="5608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67931" y="4497384"/>
            <a:ext cx="798710" cy="5608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67931" y="4501532"/>
            <a:ext cx="798710" cy="5608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7931" y="4505680"/>
            <a:ext cx="798710" cy="5608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7931" y="4509827"/>
            <a:ext cx="798710" cy="5608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67931" y="4513975"/>
            <a:ext cx="798710" cy="5608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7931" y="4518122"/>
            <a:ext cx="798710" cy="5608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67931" y="4522270"/>
            <a:ext cx="798710" cy="5608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67931" y="4526417"/>
            <a:ext cx="798710" cy="5608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7931" y="4530565"/>
            <a:ext cx="798710" cy="5608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67931" y="4534712"/>
            <a:ext cx="798710" cy="5608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7931" y="4538860"/>
            <a:ext cx="798710" cy="5608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7931" y="4543007"/>
            <a:ext cx="798710" cy="5608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7931" y="4547155"/>
            <a:ext cx="798710" cy="5608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7931" y="4551302"/>
            <a:ext cx="798710" cy="5608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7931" y="4555450"/>
            <a:ext cx="798710" cy="5608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67931" y="4559597"/>
            <a:ext cx="798710" cy="5608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1496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673651" y="4300243"/>
            <a:ext cx="798710" cy="9695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73651" y="4308478"/>
            <a:ext cx="798710" cy="9695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673651" y="4316712"/>
            <a:ext cx="798710" cy="9695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73651" y="4324947"/>
            <a:ext cx="798710" cy="9695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3651" y="4333181"/>
            <a:ext cx="798710" cy="9695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673651" y="4341415"/>
            <a:ext cx="798710" cy="9695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73651" y="4349650"/>
            <a:ext cx="798710" cy="9695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673651" y="4357884"/>
            <a:ext cx="798710" cy="9695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673651" y="4366119"/>
            <a:ext cx="798710" cy="9695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73651" y="4374353"/>
            <a:ext cx="798710" cy="9695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73651" y="4382588"/>
            <a:ext cx="798710" cy="9695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73651" y="4390822"/>
            <a:ext cx="798710" cy="9695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3651" y="4399056"/>
            <a:ext cx="798710" cy="9695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73651" y="4407291"/>
            <a:ext cx="798710" cy="9695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673651" y="4415525"/>
            <a:ext cx="798710" cy="9695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673651" y="4423760"/>
            <a:ext cx="798710" cy="9695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673651" y="4431994"/>
            <a:ext cx="798710" cy="9695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73651" y="4440229"/>
            <a:ext cx="798710" cy="9695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673651" y="4448463"/>
            <a:ext cx="798710" cy="9695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73651" y="4456697"/>
            <a:ext cx="798710" cy="9695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73651" y="4464932"/>
            <a:ext cx="798710" cy="9695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673651" y="4473166"/>
            <a:ext cx="798710" cy="9695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73651" y="4481401"/>
            <a:ext cx="798710" cy="9695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673651" y="4489635"/>
            <a:ext cx="798710" cy="9695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673651" y="4497869"/>
            <a:ext cx="798710" cy="9695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673651" y="4506104"/>
            <a:ext cx="798710" cy="9695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673651" y="4514338"/>
            <a:ext cx="798710" cy="9695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673651" y="4522573"/>
            <a:ext cx="798710" cy="9695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73651" y="4530807"/>
            <a:ext cx="798710" cy="9695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73651" y="4539042"/>
            <a:ext cx="798710" cy="9695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673651" y="4547276"/>
            <a:ext cx="798710" cy="9695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73651" y="4555510"/>
            <a:ext cx="798710" cy="9695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02068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71854" y="4018140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162,3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79371" y="4137395"/>
            <a:ext cx="798710" cy="14784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79371" y="4150719"/>
            <a:ext cx="798710" cy="14784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679371" y="4164042"/>
            <a:ext cx="798710" cy="14784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679371" y="4177365"/>
            <a:ext cx="798710" cy="14784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679371" y="4190689"/>
            <a:ext cx="798710" cy="14784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79371" y="4204012"/>
            <a:ext cx="798710" cy="14784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679371" y="4217336"/>
            <a:ext cx="798710" cy="14784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679371" y="4230659"/>
            <a:ext cx="798710" cy="14784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79371" y="4243983"/>
            <a:ext cx="798710" cy="14784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679371" y="4257306"/>
            <a:ext cx="798710" cy="14784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679371" y="4270629"/>
            <a:ext cx="798710" cy="14784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679371" y="4283953"/>
            <a:ext cx="798710" cy="14784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79371" y="4297276"/>
            <a:ext cx="798710" cy="14784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79371" y="4310600"/>
            <a:ext cx="798710" cy="14784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79371" y="4323923"/>
            <a:ext cx="798710" cy="14784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79371" y="4337247"/>
            <a:ext cx="798710" cy="14784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79371" y="4350570"/>
            <a:ext cx="798710" cy="14784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79371" y="4363893"/>
            <a:ext cx="798710" cy="14784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79371" y="4377217"/>
            <a:ext cx="798710" cy="14784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679371" y="4390540"/>
            <a:ext cx="798710" cy="14784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79371" y="4403864"/>
            <a:ext cx="798710" cy="14784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679371" y="4417187"/>
            <a:ext cx="798710" cy="14784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679371" y="4430511"/>
            <a:ext cx="798710" cy="14784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79371" y="4443834"/>
            <a:ext cx="798710" cy="14784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79371" y="4457157"/>
            <a:ext cx="798710" cy="14784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79371" y="4470481"/>
            <a:ext cx="798710" cy="14784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79371" y="4483804"/>
            <a:ext cx="798710" cy="14784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679371" y="4497128"/>
            <a:ext cx="798710" cy="14784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79371" y="4510451"/>
            <a:ext cx="798710" cy="14784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79371" y="4523775"/>
            <a:ext cx="798710" cy="14784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679371" y="4537098"/>
            <a:ext cx="798710" cy="14784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679371" y="4550421"/>
            <a:ext cx="798710" cy="14784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02640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685090" y="3976715"/>
            <a:ext cx="798710" cy="19805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685090" y="3995060"/>
            <a:ext cx="798710" cy="19805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685090" y="4013404"/>
            <a:ext cx="798710" cy="19805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85090" y="4031749"/>
            <a:ext cx="798710" cy="19805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685090" y="4050094"/>
            <a:ext cx="798710" cy="19805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85090" y="4068439"/>
            <a:ext cx="798710" cy="19805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685090" y="4086783"/>
            <a:ext cx="798710" cy="19805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685090" y="4105128"/>
            <a:ext cx="798710" cy="19805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3685090" y="4123473"/>
            <a:ext cx="798710" cy="19805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685090" y="4141817"/>
            <a:ext cx="798710" cy="19805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685090" y="4160162"/>
            <a:ext cx="798710" cy="19805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685090" y="4178507"/>
            <a:ext cx="798710" cy="19805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85090" y="4196851"/>
            <a:ext cx="798710" cy="19805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85090" y="4215196"/>
            <a:ext cx="798710" cy="19805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85090" y="4233541"/>
            <a:ext cx="798710" cy="19805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85090" y="4251885"/>
            <a:ext cx="798710" cy="19805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85090" y="4270230"/>
            <a:ext cx="798710" cy="19805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685090" y="4288575"/>
            <a:ext cx="798710" cy="19805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85090" y="4306919"/>
            <a:ext cx="798710" cy="19805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685090" y="4325264"/>
            <a:ext cx="798710" cy="19805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685090" y="4343609"/>
            <a:ext cx="798710" cy="19805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685090" y="4361953"/>
            <a:ext cx="798710" cy="19805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685090" y="4380298"/>
            <a:ext cx="798710" cy="19805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685090" y="4398643"/>
            <a:ext cx="798710" cy="19805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85090" y="4416987"/>
            <a:ext cx="798710" cy="19805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85090" y="4435332"/>
            <a:ext cx="798710" cy="19805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685090" y="4453677"/>
            <a:ext cx="798710" cy="19805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685090" y="4472021"/>
            <a:ext cx="798710" cy="19805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685090" y="4490366"/>
            <a:ext cx="798710" cy="19805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685090" y="4508711"/>
            <a:ext cx="798710" cy="19805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685090" y="4527056"/>
            <a:ext cx="798710" cy="19805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685090" y="4545400"/>
            <a:ext cx="798710" cy="19805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032123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Y3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690810" y="3818203"/>
            <a:ext cx="798710" cy="24758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690810" y="3841502"/>
            <a:ext cx="798710" cy="24758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690810" y="3864800"/>
            <a:ext cx="798710" cy="24758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690810" y="3888098"/>
            <a:ext cx="798710" cy="24758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690810" y="3911396"/>
            <a:ext cx="798710" cy="24758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690810" y="3934694"/>
            <a:ext cx="798710" cy="24758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690810" y="3957992"/>
            <a:ext cx="798710" cy="24758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690810" y="3981291"/>
            <a:ext cx="798710" cy="24758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90810" y="4004589"/>
            <a:ext cx="798710" cy="24758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690810" y="4027887"/>
            <a:ext cx="798710" cy="24758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690810" y="4051185"/>
            <a:ext cx="798710" cy="24758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690810" y="4074483"/>
            <a:ext cx="798710" cy="24758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690810" y="4097781"/>
            <a:ext cx="798710" cy="24758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690810" y="4121080"/>
            <a:ext cx="798710" cy="24758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90810" y="4144378"/>
            <a:ext cx="798710" cy="24758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690810" y="4167676"/>
            <a:ext cx="798710" cy="24758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690810" y="4190974"/>
            <a:ext cx="798710" cy="24758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690810" y="4214272"/>
            <a:ext cx="798710" cy="24758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690810" y="4237570"/>
            <a:ext cx="798710" cy="24758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690810" y="4260869"/>
            <a:ext cx="798710" cy="24758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690810" y="4284167"/>
            <a:ext cx="798710" cy="24758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690810" y="4307465"/>
            <a:ext cx="798710" cy="24758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690810" y="4330763"/>
            <a:ext cx="798710" cy="24758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690810" y="4354061"/>
            <a:ext cx="798710" cy="24758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690810" y="4377360"/>
            <a:ext cx="798710" cy="24758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690810" y="4400658"/>
            <a:ext cx="798710" cy="24758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90810" y="4423956"/>
            <a:ext cx="798710" cy="24758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690810" y="4447254"/>
            <a:ext cx="798710" cy="24758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690810" y="4470552"/>
            <a:ext cx="798710" cy="24758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690810" y="4493850"/>
            <a:ext cx="798710" cy="24758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690810" y="4517149"/>
            <a:ext cx="798710" cy="24758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690810" y="4540447"/>
            <a:ext cx="798710" cy="24758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037842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Y4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696530" y="3657523"/>
            <a:ext cx="798824" cy="29780"/>
          </a:xfrm>
          <a:prstGeom prst="rect">
            <a:avLst/>
          </a:prstGeom>
          <a:solidFill>
            <a:srgbClr val="A5D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696530" y="3685843"/>
            <a:ext cx="798824" cy="29780"/>
          </a:xfrm>
          <a:prstGeom prst="rect">
            <a:avLst/>
          </a:prstGeom>
          <a:solidFill>
            <a:srgbClr val="A2D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696530" y="3714162"/>
            <a:ext cx="798824" cy="29780"/>
          </a:xfrm>
          <a:prstGeom prst="rect">
            <a:avLst/>
          </a:prstGeom>
          <a:solidFill>
            <a:srgbClr val="9ED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696530" y="3742482"/>
            <a:ext cx="798824" cy="29780"/>
          </a:xfrm>
          <a:prstGeom prst="rect">
            <a:avLst/>
          </a:prstGeom>
          <a:solidFill>
            <a:srgbClr val="9AC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696530" y="3770801"/>
            <a:ext cx="798824" cy="29780"/>
          </a:xfrm>
          <a:prstGeom prst="rect">
            <a:avLst/>
          </a:prstGeom>
          <a:solidFill>
            <a:srgbClr val="97C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696530" y="3799121"/>
            <a:ext cx="798824" cy="29780"/>
          </a:xfrm>
          <a:prstGeom prst="rect">
            <a:avLst/>
          </a:prstGeom>
          <a:solidFill>
            <a:srgbClr val="93C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696530" y="3827440"/>
            <a:ext cx="798824" cy="29780"/>
          </a:xfrm>
          <a:prstGeom prst="rect">
            <a:avLst/>
          </a:prstGeom>
          <a:solidFill>
            <a:srgbClr val="90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696530" y="3855759"/>
            <a:ext cx="798824" cy="29780"/>
          </a:xfrm>
          <a:prstGeom prst="rect">
            <a:avLst/>
          </a:prstGeom>
          <a:solidFill>
            <a:srgbClr val="8CC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96530" y="3884079"/>
            <a:ext cx="798824" cy="29780"/>
          </a:xfrm>
          <a:prstGeom prst="rect">
            <a:avLst/>
          </a:prstGeom>
          <a:solidFill>
            <a:srgbClr val="88B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696530" y="3912398"/>
            <a:ext cx="798824" cy="29780"/>
          </a:xfrm>
          <a:prstGeom prst="rect">
            <a:avLst/>
          </a:prstGeom>
          <a:solidFill>
            <a:srgbClr val="85B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696530" y="3940718"/>
            <a:ext cx="798824" cy="29780"/>
          </a:xfrm>
          <a:prstGeom prst="rect">
            <a:avLst/>
          </a:prstGeom>
          <a:solidFill>
            <a:srgbClr val="81B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5696530" y="3969037"/>
            <a:ext cx="798824" cy="29780"/>
          </a:xfrm>
          <a:prstGeom prst="rect">
            <a:avLst/>
          </a:prstGeom>
          <a:solidFill>
            <a:srgbClr val="7EB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5696530" y="3997356"/>
            <a:ext cx="798824" cy="29780"/>
          </a:xfrm>
          <a:prstGeom prst="rect">
            <a:avLst/>
          </a:prstGeom>
          <a:solidFill>
            <a:srgbClr val="7AB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5696530" y="4025676"/>
            <a:ext cx="798824" cy="29780"/>
          </a:xfrm>
          <a:prstGeom prst="rect">
            <a:avLst/>
          </a:prstGeom>
          <a:solidFill>
            <a:srgbClr val="76B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696530" y="4053995"/>
            <a:ext cx="798824" cy="29780"/>
          </a:xfrm>
          <a:prstGeom prst="rect">
            <a:avLst/>
          </a:prstGeom>
          <a:solidFill>
            <a:srgbClr val="73A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696530" y="4082315"/>
            <a:ext cx="798824" cy="29780"/>
          </a:xfrm>
          <a:prstGeom prst="rect">
            <a:avLst/>
          </a:prstGeom>
          <a:solidFill>
            <a:srgbClr val="6FA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96530" y="4110634"/>
            <a:ext cx="798824" cy="29780"/>
          </a:xfrm>
          <a:prstGeom prst="rect">
            <a:avLst/>
          </a:prstGeom>
          <a:solidFill>
            <a:srgbClr val="6CA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96530" y="4138954"/>
            <a:ext cx="798824" cy="29780"/>
          </a:xfrm>
          <a:prstGeom prst="rect">
            <a:avLst/>
          </a:prstGeom>
          <a:solidFill>
            <a:srgbClr val="68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696530" y="4167273"/>
            <a:ext cx="798824" cy="29780"/>
          </a:xfrm>
          <a:prstGeom prst="rect">
            <a:avLst/>
          </a:prstGeom>
          <a:solidFill>
            <a:srgbClr val="65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696530" y="4195592"/>
            <a:ext cx="798824" cy="29780"/>
          </a:xfrm>
          <a:prstGeom prst="rect">
            <a:avLst/>
          </a:prstGeom>
          <a:solidFill>
            <a:srgbClr val="619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696530" y="4223912"/>
            <a:ext cx="798824" cy="29780"/>
          </a:xfrm>
          <a:prstGeom prst="rect">
            <a:avLst/>
          </a:prstGeom>
          <a:solidFill>
            <a:srgbClr val="5D9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696530" y="4252231"/>
            <a:ext cx="798824" cy="29780"/>
          </a:xfrm>
          <a:prstGeom prst="rect">
            <a:avLst/>
          </a:prstGeom>
          <a:solidFill>
            <a:srgbClr val="5A9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696530" y="4280551"/>
            <a:ext cx="798824" cy="29780"/>
          </a:xfrm>
          <a:prstGeom prst="rect">
            <a:avLst/>
          </a:prstGeom>
          <a:solidFill>
            <a:srgbClr val="569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96530" y="4308870"/>
            <a:ext cx="798824" cy="29780"/>
          </a:xfrm>
          <a:prstGeom prst="rect">
            <a:avLst/>
          </a:prstGeom>
          <a:solidFill>
            <a:srgbClr val="53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696530" y="4337190"/>
            <a:ext cx="798824" cy="29780"/>
          </a:xfrm>
          <a:prstGeom prst="rect">
            <a:avLst/>
          </a:prstGeom>
          <a:solidFill>
            <a:srgbClr val="4F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696530" y="4365509"/>
            <a:ext cx="798824" cy="29780"/>
          </a:xfrm>
          <a:prstGeom prst="rect">
            <a:avLst/>
          </a:prstGeom>
          <a:solidFill>
            <a:srgbClr val="4B8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696530" y="4393828"/>
            <a:ext cx="798824" cy="29780"/>
          </a:xfrm>
          <a:prstGeom prst="rect">
            <a:avLst/>
          </a:prstGeom>
          <a:solidFill>
            <a:srgbClr val="488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696530" y="4422148"/>
            <a:ext cx="798824" cy="29780"/>
          </a:xfrm>
          <a:prstGeom prst="rect">
            <a:avLst/>
          </a:prstGeom>
          <a:solidFill>
            <a:srgbClr val="448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5696530" y="4450467"/>
            <a:ext cx="798824" cy="29780"/>
          </a:xfrm>
          <a:prstGeom prst="rect">
            <a:avLst/>
          </a:prstGeom>
          <a:solidFill>
            <a:srgbClr val="418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696530" y="4478787"/>
            <a:ext cx="798824" cy="29780"/>
          </a:xfrm>
          <a:prstGeom prst="rect">
            <a:avLst/>
          </a:prstGeom>
          <a:solidFill>
            <a:srgbClr val="3D8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696530" y="4507106"/>
            <a:ext cx="798824" cy="29780"/>
          </a:xfrm>
          <a:prstGeom prst="rect">
            <a:avLst/>
          </a:prstGeom>
          <a:solidFill>
            <a:srgbClr val="39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696530" y="4535425"/>
            <a:ext cx="798824" cy="29780"/>
          </a:xfrm>
          <a:prstGeom prst="rect">
            <a:avLst/>
          </a:prstGeom>
          <a:solidFill>
            <a:srgbClr val="367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04367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Y5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994848" y="3338902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421,6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702364" y="3458271"/>
            <a:ext cx="798710" cy="36006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6702364" y="3492817"/>
            <a:ext cx="798710" cy="36006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6702364" y="3527363"/>
            <a:ext cx="798710" cy="36006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6702364" y="3561909"/>
            <a:ext cx="798710" cy="36006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6702364" y="3596455"/>
            <a:ext cx="798710" cy="36006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6702364" y="3631001"/>
            <a:ext cx="798710" cy="36006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6702364" y="3665547"/>
            <a:ext cx="798710" cy="36006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6702364" y="3700093"/>
            <a:ext cx="798710" cy="36006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6702364" y="3734640"/>
            <a:ext cx="798710" cy="36006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6702364" y="3769186"/>
            <a:ext cx="798710" cy="36006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702364" y="3803732"/>
            <a:ext cx="798710" cy="36006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702364" y="3838278"/>
            <a:ext cx="798710" cy="36006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702364" y="3872824"/>
            <a:ext cx="798710" cy="36006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702364" y="3907370"/>
            <a:ext cx="798710" cy="36006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6702364" y="3941916"/>
            <a:ext cx="798710" cy="36006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702364" y="3976462"/>
            <a:ext cx="798710" cy="36006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702364" y="4011008"/>
            <a:ext cx="798710" cy="36006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702364" y="4045554"/>
            <a:ext cx="798710" cy="36006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702364" y="4080100"/>
            <a:ext cx="798710" cy="36006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702364" y="4114646"/>
            <a:ext cx="798710" cy="36006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702364" y="4149192"/>
            <a:ext cx="798710" cy="36006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702364" y="4183738"/>
            <a:ext cx="798710" cy="36006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702364" y="4218284"/>
            <a:ext cx="798710" cy="36006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702364" y="4252830"/>
            <a:ext cx="798710" cy="36006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702364" y="4287376"/>
            <a:ext cx="798710" cy="36006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702364" y="4321922"/>
            <a:ext cx="798710" cy="36006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702364" y="4356469"/>
            <a:ext cx="798710" cy="36006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702364" y="4391015"/>
            <a:ext cx="798710" cy="36006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702364" y="4425561"/>
            <a:ext cx="798710" cy="36006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702364" y="4460107"/>
            <a:ext cx="798710" cy="36006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702364" y="4494653"/>
            <a:ext cx="798710" cy="36006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702364" y="4529199"/>
            <a:ext cx="798710" cy="36006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704939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Y6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7708084" y="3276137"/>
            <a:ext cx="798710" cy="41698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7708084" y="3316374"/>
            <a:ext cx="798710" cy="41698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7708084" y="3356612"/>
            <a:ext cx="798710" cy="41698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7708084" y="3396850"/>
            <a:ext cx="798710" cy="41698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708084" y="3437088"/>
            <a:ext cx="798710" cy="41698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7708084" y="3477325"/>
            <a:ext cx="798710" cy="41698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708084" y="3517563"/>
            <a:ext cx="798710" cy="41698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7708084" y="3557801"/>
            <a:ext cx="798710" cy="41698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7708084" y="3598039"/>
            <a:ext cx="798710" cy="41698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708084" y="3638276"/>
            <a:ext cx="798710" cy="41698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708084" y="3678514"/>
            <a:ext cx="798710" cy="41698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708084" y="3718752"/>
            <a:ext cx="798710" cy="41698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708084" y="3758990"/>
            <a:ext cx="798710" cy="41698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708084" y="3799228"/>
            <a:ext cx="798710" cy="41698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708084" y="3839465"/>
            <a:ext cx="798710" cy="41698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7708084" y="3879703"/>
            <a:ext cx="798710" cy="41698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7708084" y="3919941"/>
            <a:ext cx="798710" cy="41698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708084" y="3960179"/>
            <a:ext cx="798710" cy="41698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708084" y="4000416"/>
            <a:ext cx="798710" cy="41698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708084" y="4040654"/>
            <a:ext cx="798710" cy="41698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7708084" y="4080892"/>
            <a:ext cx="798710" cy="41698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7708084" y="4121130"/>
            <a:ext cx="798710" cy="41698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7708084" y="4161367"/>
            <a:ext cx="798710" cy="41698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7708084" y="4201605"/>
            <a:ext cx="798710" cy="41698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7708084" y="4241843"/>
            <a:ext cx="798710" cy="41698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7708084" y="4282081"/>
            <a:ext cx="798710" cy="41698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7708084" y="4322318"/>
            <a:ext cx="798710" cy="41698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7708084" y="4362556"/>
            <a:ext cx="798710" cy="41698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708084" y="4402794"/>
            <a:ext cx="798710" cy="41698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708084" y="4443032"/>
            <a:ext cx="798710" cy="41698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708084" y="4483269"/>
            <a:ext cx="798710" cy="41698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708084" y="4523507"/>
            <a:ext cx="798710" cy="41698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805511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Y7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713804" y="3053376"/>
            <a:ext cx="798710" cy="48659"/>
          </a:xfrm>
          <a:prstGeom prst="rect">
            <a:avLst/>
          </a:prstGeom>
          <a:solidFill>
            <a:srgbClr val="C7E5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8713804" y="3100575"/>
            <a:ext cx="798710" cy="48659"/>
          </a:xfrm>
          <a:prstGeom prst="rect">
            <a:avLst/>
          </a:prstGeom>
          <a:solidFill>
            <a:srgbClr val="C3E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8713804" y="3147774"/>
            <a:ext cx="798710" cy="48659"/>
          </a:xfrm>
          <a:prstGeom prst="rect">
            <a:avLst/>
          </a:prstGeom>
          <a:solidFill>
            <a:srgbClr val="BFE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8713804" y="3194973"/>
            <a:ext cx="798710" cy="48659"/>
          </a:xfrm>
          <a:prstGeom prst="rect">
            <a:avLst/>
          </a:prstGeom>
          <a:solidFill>
            <a:srgbClr val="BCD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713804" y="3242172"/>
            <a:ext cx="798710" cy="48659"/>
          </a:xfrm>
          <a:prstGeom prst="rect">
            <a:avLst/>
          </a:prstGeom>
          <a:solidFill>
            <a:srgbClr val="B8D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713804" y="3289371"/>
            <a:ext cx="798710" cy="48659"/>
          </a:xfrm>
          <a:prstGeom prst="rect">
            <a:avLst/>
          </a:prstGeom>
          <a:solidFill>
            <a:srgbClr val="B4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8713804" y="3336570"/>
            <a:ext cx="798710" cy="48659"/>
          </a:xfrm>
          <a:prstGeom prst="rect">
            <a:avLst/>
          </a:prstGeom>
          <a:solidFill>
            <a:srgbClr val="B0D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8713804" y="3383769"/>
            <a:ext cx="798710" cy="48659"/>
          </a:xfrm>
          <a:prstGeom prst="rect">
            <a:avLst/>
          </a:prstGeom>
          <a:solidFill>
            <a:srgbClr val="ACD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8713804" y="3430968"/>
            <a:ext cx="798710" cy="48659"/>
          </a:xfrm>
          <a:prstGeom prst="rect">
            <a:avLst/>
          </a:prstGeom>
          <a:solidFill>
            <a:srgbClr val="A9D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8713804" y="3478167"/>
            <a:ext cx="798710" cy="48659"/>
          </a:xfrm>
          <a:prstGeom prst="rect">
            <a:avLst/>
          </a:prstGeom>
          <a:solidFill>
            <a:srgbClr val="A5C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713804" y="3525366"/>
            <a:ext cx="798710" cy="48659"/>
          </a:xfrm>
          <a:prstGeom prst="rect">
            <a:avLst/>
          </a:prstGeom>
          <a:solidFill>
            <a:srgbClr val="A1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8713804" y="3572565"/>
            <a:ext cx="798710" cy="48659"/>
          </a:xfrm>
          <a:prstGeom prst="rect">
            <a:avLst/>
          </a:prstGeom>
          <a:solidFill>
            <a:srgbClr val="9DC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8713804" y="3619764"/>
            <a:ext cx="798710" cy="48659"/>
          </a:xfrm>
          <a:prstGeom prst="rect">
            <a:avLst/>
          </a:prstGeom>
          <a:solidFill>
            <a:srgbClr val="99C8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8713804" y="3666963"/>
            <a:ext cx="798710" cy="48659"/>
          </a:xfrm>
          <a:prstGeom prst="rect">
            <a:avLst/>
          </a:prstGeom>
          <a:solidFill>
            <a:srgbClr val="96C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713804" y="3714162"/>
            <a:ext cx="798710" cy="48659"/>
          </a:xfrm>
          <a:prstGeom prst="rect">
            <a:avLst/>
          </a:prstGeom>
          <a:solidFill>
            <a:srgbClr val="92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713804" y="3761361"/>
            <a:ext cx="798710" cy="48659"/>
          </a:xfrm>
          <a:prstGeom prst="rect">
            <a:avLst/>
          </a:prstGeom>
          <a:solidFill>
            <a:srgbClr val="8E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713804" y="3808560"/>
            <a:ext cx="798710" cy="48659"/>
          </a:xfrm>
          <a:prstGeom prst="rect">
            <a:avLst/>
          </a:prstGeom>
          <a:solidFill>
            <a:srgbClr val="8A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713804" y="3855759"/>
            <a:ext cx="798710" cy="48659"/>
          </a:xfrm>
          <a:prstGeom prst="rect">
            <a:avLst/>
          </a:prstGeom>
          <a:solidFill>
            <a:srgbClr val="86B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713804" y="3902958"/>
            <a:ext cx="798710" cy="48659"/>
          </a:xfrm>
          <a:prstGeom prst="rect">
            <a:avLst/>
          </a:prstGeom>
          <a:solidFill>
            <a:srgbClr val="82B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713804" y="3950157"/>
            <a:ext cx="798710" cy="48659"/>
          </a:xfrm>
          <a:prstGeom prst="rect">
            <a:avLst/>
          </a:prstGeom>
          <a:solidFill>
            <a:srgbClr val="7FB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8713804" y="3997356"/>
            <a:ext cx="798710" cy="48659"/>
          </a:xfrm>
          <a:prstGeom prst="rect">
            <a:avLst/>
          </a:prstGeom>
          <a:solidFill>
            <a:srgbClr val="7BB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8713804" y="4044555"/>
            <a:ext cx="798710" cy="48659"/>
          </a:xfrm>
          <a:prstGeom prst="rect">
            <a:avLst/>
          </a:prstGeom>
          <a:solidFill>
            <a:srgbClr val="77B3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713804" y="4091755"/>
            <a:ext cx="798710" cy="48659"/>
          </a:xfrm>
          <a:prstGeom prst="rect">
            <a:avLst/>
          </a:prstGeom>
          <a:solidFill>
            <a:srgbClr val="73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713804" y="4138954"/>
            <a:ext cx="798710" cy="48659"/>
          </a:xfrm>
          <a:prstGeom prst="rect">
            <a:avLst/>
          </a:prstGeom>
          <a:solidFill>
            <a:srgbClr val="6FA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8713804" y="4186153"/>
            <a:ext cx="798710" cy="48659"/>
          </a:xfrm>
          <a:prstGeom prst="rect">
            <a:avLst/>
          </a:prstGeom>
          <a:solidFill>
            <a:srgbClr val="6CA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713804" y="4233352"/>
            <a:ext cx="798710" cy="48659"/>
          </a:xfrm>
          <a:prstGeom prst="rect">
            <a:avLst/>
          </a:prstGeom>
          <a:solidFill>
            <a:srgbClr val="68A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8713804" y="4280551"/>
            <a:ext cx="798710" cy="48659"/>
          </a:xfrm>
          <a:prstGeom prst="rect">
            <a:avLst/>
          </a:prstGeom>
          <a:solidFill>
            <a:srgbClr val="64A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8713804" y="4327750"/>
            <a:ext cx="798710" cy="48659"/>
          </a:xfrm>
          <a:prstGeom prst="rect">
            <a:avLst/>
          </a:prstGeom>
          <a:solidFill>
            <a:srgbClr val="60A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8713804" y="4374949"/>
            <a:ext cx="798710" cy="48659"/>
          </a:xfrm>
          <a:prstGeom prst="rect">
            <a:avLst/>
          </a:prstGeom>
          <a:solidFill>
            <a:srgbClr val="5CA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8713804" y="4422148"/>
            <a:ext cx="798710" cy="48659"/>
          </a:xfrm>
          <a:prstGeom prst="rect">
            <a:avLst/>
          </a:prstGeom>
          <a:solidFill>
            <a:srgbClr val="59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8713804" y="4469347"/>
            <a:ext cx="798710" cy="48659"/>
          </a:xfrm>
          <a:prstGeom prst="rect">
            <a:avLst/>
          </a:prstGeom>
          <a:solidFill>
            <a:srgbClr val="559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8713804" y="4516546"/>
            <a:ext cx="798710" cy="48659"/>
          </a:xfrm>
          <a:prstGeom prst="rect">
            <a:avLst/>
          </a:prstGeom>
          <a:solidFill>
            <a:srgbClr val="519B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906083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Y8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9719524" y="2710561"/>
            <a:ext cx="798710" cy="59372"/>
          </a:xfrm>
          <a:prstGeom prst="rect">
            <a:avLst/>
          </a:prstGeom>
          <a:solidFill>
            <a:srgbClr val="E5C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9719524" y="2768473"/>
            <a:ext cx="798710" cy="59372"/>
          </a:xfrm>
          <a:prstGeom prst="rect">
            <a:avLst/>
          </a:prstGeom>
          <a:solidFill>
            <a:srgbClr val="E4CB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9719524" y="2826385"/>
            <a:ext cx="798710" cy="59372"/>
          </a:xfrm>
          <a:prstGeom prst="rect">
            <a:avLst/>
          </a:prstGeom>
          <a:solidFill>
            <a:srgbClr val="E2C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9719524" y="2884297"/>
            <a:ext cx="798710" cy="59372"/>
          </a:xfrm>
          <a:prstGeom prst="rect">
            <a:avLst/>
          </a:prstGeom>
          <a:solidFill>
            <a:srgbClr val="E0C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9719524" y="2942209"/>
            <a:ext cx="798710" cy="59372"/>
          </a:xfrm>
          <a:prstGeom prst="rect">
            <a:avLst/>
          </a:prstGeom>
          <a:solidFill>
            <a:srgbClr val="DF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9719524" y="3000121"/>
            <a:ext cx="798710" cy="59372"/>
          </a:xfrm>
          <a:prstGeom prst="rect">
            <a:avLst/>
          </a:prstGeom>
          <a:solidFill>
            <a:srgbClr val="DD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9719524" y="3058033"/>
            <a:ext cx="798710" cy="59372"/>
          </a:xfrm>
          <a:prstGeom prst="rect">
            <a:avLst/>
          </a:prstGeom>
          <a:solidFill>
            <a:srgbClr val="DC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719524" y="3115945"/>
            <a:ext cx="798710" cy="59372"/>
          </a:xfrm>
          <a:prstGeom prst="rect">
            <a:avLst/>
          </a:prstGeom>
          <a:solidFill>
            <a:srgbClr val="DAB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9719524" y="3173857"/>
            <a:ext cx="798710" cy="59372"/>
          </a:xfrm>
          <a:prstGeom prst="rect">
            <a:avLst/>
          </a:prstGeom>
          <a:solidFill>
            <a:srgbClr val="D8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719524" y="3231769"/>
            <a:ext cx="798710" cy="59372"/>
          </a:xfrm>
          <a:prstGeom prst="rect">
            <a:avLst/>
          </a:prstGeom>
          <a:solidFill>
            <a:srgbClr val="D7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719524" y="3289681"/>
            <a:ext cx="798710" cy="59372"/>
          </a:xfrm>
          <a:prstGeom prst="rect">
            <a:avLst/>
          </a:prstGeom>
          <a:solidFill>
            <a:srgbClr val="D5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9719524" y="3347593"/>
            <a:ext cx="798710" cy="59372"/>
          </a:xfrm>
          <a:prstGeom prst="rect">
            <a:avLst/>
          </a:prstGeom>
          <a:solidFill>
            <a:srgbClr val="D4B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9719524" y="3405505"/>
            <a:ext cx="798710" cy="59372"/>
          </a:xfrm>
          <a:prstGeom prst="rect">
            <a:avLst/>
          </a:prstGeom>
          <a:solidFill>
            <a:srgbClr val="D2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9719524" y="3463417"/>
            <a:ext cx="798710" cy="59372"/>
          </a:xfrm>
          <a:prstGeom prst="rect">
            <a:avLst/>
          </a:prstGeom>
          <a:solidFill>
            <a:srgbClr val="D0A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9719524" y="3521329"/>
            <a:ext cx="798710" cy="59372"/>
          </a:xfrm>
          <a:prstGeom prst="rect">
            <a:avLst/>
          </a:prstGeom>
          <a:solidFill>
            <a:srgbClr val="CF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9719524" y="3579241"/>
            <a:ext cx="798710" cy="59372"/>
          </a:xfrm>
          <a:prstGeom prst="rect">
            <a:avLst/>
          </a:prstGeom>
          <a:solidFill>
            <a:srgbClr val="CD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719524" y="3637153"/>
            <a:ext cx="798710" cy="59372"/>
          </a:xfrm>
          <a:prstGeom prst="rect">
            <a:avLst/>
          </a:prstGeom>
          <a:solidFill>
            <a:srgbClr val="CCA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9719524" y="3695065"/>
            <a:ext cx="798710" cy="59372"/>
          </a:xfrm>
          <a:prstGeom prst="rect">
            <a:avLst/>
          </a:prstGeom>
          <a:solidFill>
            <a:srgbClr val="CA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9719524" y="3752977"/>
            <a:ext cx="798710" cy="59372"/>
          </a:xfrm>
          <a:prstGeom prst="rect">
            <a:avLst/>
          </a:prstGeom>
          <a:solidFill>
            <a:srgbClr val="C9A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719524" y="3810889"/>
            <a:ext cx="798710" cy="59372"/>
          </a:xfrm>
          <a:prstGeom prst="rect">
            <a:avLst/>
          </a:prstGeom>
          <a:solidFill>
            <a:srgbClr val="C79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9719524" y="3868801"/>
            <a:ext cx="798710" cy="59372"/>
          </a:xfrm>
          <a:prstGeom prst="rect">
            <a:avLst/>
          </a:prstGeom>
          <a:solidFill>
            <a:srgbClr val="C5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9719524" y="3926713"/>
            <a:ext cx="798710" cy="59372"/>
          </a:xfrm>
          <a:prstGeom prst="rect">
            <a:avLst/>
          </a:prstGeom>
          <a:solidFill>
            <a:srgbClr val="C4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9719524" y="3984625"/>
            <a:ext cx="798710" cy="59372"/>
          </a:xfrm>
          <a:prstGeom prst="rect">
            <a:avLst/>
          </a:prstGeom>
          <a:solidFill>
            <a:srgbClr val="C29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9719524" y="4042537"/>
            <a:ext cx="798710" cy="59372"/>
          </a:xfrm>
          <a:prstGeom prst="rect">
            <a:avLst/>
          </a:prstGeom>
          <a:solidFill>
            <a:srgbClr val="C19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9719524" y="4100449"/>
            <a:ext cx="798710" cy="59372"/>
          </a:xfrm>
          <a:prstGeom prst="rect">
            <a:avLst/>
          </a:prstGeom>
          <a:solidFill>
            <a:srgbClr val="BF93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9719524" y="4158361"/>
            <a:ext cx="798710" cy="59372"/>
          </a:xfrm>
          <a:prstGeom prst="rect">
            <a:avLst/>
          </a:prstGeom>
          <a:solidFill>
            <a:srgbClr val="BD9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9719524" y="4216273"/>
            <a:ext cx="798710" cy="59372"/>
          </a:xfrm>
          <a:prstGeom prst="rect">
            <a:avLst/>
          </a:prstGeom>
          <a:solidFill>
            <a:srgbClr val="BC8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9719524" y="4274185"/>
            <a:ext cx="798710" cy="59372"/>
          </a:xfrm>
          <a:prstGeom prst="rect">
            <a:avLst/>
          </a:prstGeom>
          <a:solidFill>
            <a:srgbClr val="BA8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9719524" y="4332097"/>
            <a:ext cx="798710" cy="59372"/>
          </a:xfrm>
          <a:prstGeom prst="rect">
            <a:avLst/>
          </a:prstGeom>
          <a:solidFill>
            <a:srgbClr val="B98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719524" y="4390009"/>
            <a:ext cx="798710" cy="59372"/>
          </a:xfrm>
          <a:prstGeom prst="rect">
            <a:avLst/>
          </a:prstGeom>
          <a:solidFill>
            <a:srgbClr val="B78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9719524" y="4447921"/>
            <a:ext cx="798710" cy="59372"/>
          </a:xfrm>
          <a:prstGeom prst="rect">
            <a:avLst/>
          </a:prstGeom>
          <a:solidFill>
            <a:srgbClr val="B5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9719524" y="4505833"/>
            <a:ext cx="798710" cy="59372"/>
          </a:xfrm>
          <a:prstGeom prst="rect">
            <a:avLst/>
          </a:prstGeom>
          <a:solidFill>
            <a:srgbClr val="B48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66556" y="4595584"/>
            <a:ext cx="136421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Y9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1017727" y="2302014"/>
            <a:ext cx="24551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0" i="0">
                <a:solidFill>
                  <a:srgbClr val="143D30"/>
                </a:solidFill>
                <a:latin typeface="Arial"/>
              </a:rPr>
              <a:t>816,6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725244" y="2421269"/>
            <a:ext cx="798710" cy="68413"/>
          </a:xfrm>
          <a:prstGeom prst="rect">
            <a:avLst/>
          </a:prstGeom>
          <a:solidFill>
            <a:srgbClr val="E5C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725244" y="2488221"/>
            <a:ext cx="798710" cy="68413"/>
          </a:xfrm>
          <a:prstGeom prst="rect">
            <a:avLst/>
          </a:prstGeom>
          <a:solidFill>
            <a:srgbClr val="E4CB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725244" y="2555174"/>
            <a:ext cx="798710" cy="68413"/>
          </a:xfrm>
          <a:prstGeom prst="rect">
            <a:avLst/>
          </a:prstGeom>
          <a:solidFill>
            <a:srgbClr val="E2C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0725244" y="2622126"/>
            <a:ext cx="798710" cy="68413"/>
          </a:xfrm>
          <a:prstGeom prst="rect">
            <a:avLst/>
          </a:prstGeom>
          <a:solidFill>
            <a:srgbClr val="E0C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10725244" y="2689078"/>
            <a:ext cx="798710" cy="68413"/>
          </a:xfrm>
          <a:prstGeom prst="rect">
            <a:avLst/>
          </a:prstGeom>
          <a:solidFill>
            <a:srgbClr val="DFC4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0725244" y="2756031"/>
            <a:ext cx="798710" cy="68413"/>
          </a:xfrm>
          <a:prstGeom prst="rect">
            <a:avLst/>
          </a:prstGeom>
          <a:solidFill>
            <a:srgbClr val="DD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10725244" y="2822983"/>
            <a:ext cx="798710" cy="68413"/>
          </a:xfrm>
          <a:prstGeom prst="rect">
            <a:avLst/>
          </a:prstGeom>
          <a:solidFill>
            <a:srgbClr val="DCB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10725244" y="2889936"/>
            <a:ext cx="798710" cy="68413"/>
          </a:xfrm>
          <a:prstGeom prst="rect">
            <a:avLst/>
          </a:prstGeom>
          <a:solidFill>
            <a:srgbClr val="DAB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0725244" y="2956888"/>
            <a:ext cx="798710" cy="68413"/>
          </a:xfrm>
          <a:prstGeom prst="rect">
            <a:avLst/>
          </a:prstGeom>
          <a:solidFill>
            <a:srgbClr val="D8B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10725244" y="3023840"/>
            <a:ext cx="798710" cy="68413"/>
          </a:xfrm>
          <a:prstGeom prst="rect">
            <a:avLst/>
          </a:prstGeom>
          <a:solidFill>
            <a:srgbClr val="D7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10725244" y="3090793"/>
            <a:ext cx="798710" cy="68413"/>
          </a:xfrm>
          <a:prstGeom prst="rect">
            <a:avLst/>
          </a:prstGeom>
          <a:solidFill>
            <a:srgbClr val="D5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10725244" y="3157745"/>
            <a:ext cx="798710" cy="68413"/>
          </a:xfrm>
          <a:prstGeom prst="rect">
            <a:avLst/>
          </a:prstGeom>
          <a:solidFill>
            <a:srgbClr val="D4B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10725244" y="3224697"/>
            <a:ext cx="798710" cy="68413"/>
          </a:xfrm>
          <a:prstGeom prst="rect">
            <a:avLst/>
          </a:prstGeom>
          <a:solidFill>
            <a:srgbClr val="D2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725244" y="3291650"/>
            <a:ext cx="798710" cy="68413"/>
          </a:xfrm>
          <a:prstGeom prst="rect">
            <a:avLst/>
          </a:prstGeom>
          <a:solidFill>
            <a:srgbClr val="D0A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0725244" y="3358602"/>
            <a:ext cx="798710" cy="68413"/>
          </a:xfrm>
          <a:prstGeom prst="rect">
            <a:avLst/>
          </a:prstGeom>
          <a:solidFill>
            <a:srgbClr val="CF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0725244" y="3425555"/>
            <a:ext cx="798710" cy="68413"/>
          </a:xfrm>
          <a:prstGeom prst="rect">
            <a:avLst/>
          </a:prstGeom>
          <a:solidFill>
            <a:srgbClr val="CD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0725244" y="3492507"/>
            <a:ext cx="798710" cy="68413"/>
          </a:xfrm>
          <a:prstGeom prst="rect">
            <a:avLst/>
          </a:prstGeom>
          <a:solidFill>
            <a:srgbClr val="CCA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0725244" y="3559459"/>
            <a:ext cx="798710" cy="68413"/>
          </a:xfrm>
          <a:prstGeom prst="rect">
            <a:avLst/>
          </a:prstGeom>
          <a:solidFill>
            <a:srgbClr val="CA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0725244" y="3626412"/>
            <a:ext cx="798710" cy="68413"/>
          </a:xfrm>
          <a:prstGeom prst="rect">
            <a:avLst/>
          </a:prstGeom>
          <a:solidFill>
            <a:srgbClr val="C9A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0725244" y="3693364"/>
            <a:ext cx="798710" cy="68413"/>
          </a:xfrm>
          <a:prstGeom prst="rect">
            <a:avLst/>
          </a:prstGeom>
          <a:solidFill>
            <a:srgbClr val="C79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0725244" y="3760316"/>
            <a:ext cx="798710" cy="68413"/>
          </a:xfrm>
          <a:prstGeom prst="rect">
            <a:avLst/>
          </a:prstGeom>
          <a:solidFill>
            <a:srgbClr val="C59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0725244" y="3827269"/>
            <a:ext cx="798710" cy="68413"/>
          </a:xfrm>
          <a:prstGeom prst="rect">
            <a:avLst/>
          </a:prstGeom>
          <a:solidFill>
            <a:srgbClr val="C4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0725244" y="3894221"/>
            <a:ext cx="798710" cy="68413"/>
          </a:xfrm>
          <a:prstGeom prst="rect">
            <a:avLst/>
          </a:prstGeom>
          <a:solidFill>
            <a:srgbClr val="C29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10725244" y="3961174"/>
            <a:ext cx="798710" cy="68413"/>
          </a:xfrm>
          <a:prstGeom prst="rect">
            <a:avLst/>
          </a:prstGeom>
          <a:solidFill>
            <a:srgbClr val="C19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10725244" y="4028126"/>
            <a:ext cx="798710" cy="68413"/>
          </a:xfrm>
          <a:prstGeom prst="rect">
            <a:avLst/>
          </a:prstGeom>
          <a:solidFill>
            <a:srgbClr val="BF93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10725244" y="4095078"/>
            <a:ext cx="798710" cy="68413"/>
          </a:xfrm>
          <a:prstGeom prst="rect">
            <a:avLst/>
          </a:prstGeom>
          <a:solidFill>
            <a:srgbClr val="BD9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725244" y="4162031"/>
            <a:ext cx="798710" cy="68413"/>
          </a:xfrm>
          <a:prstGeom prst="rect">
            <a:avLst/>
          </a:prstGeom>
          <a:solidFill>
            <a:srgbClr val="BC8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0725244" y="4228983"/>
            <a:ext cx="798710" cy="68413"/>
          </a:xfrm>
          <a:prstGeom prst="rect">
            <a:avLst/>
          </a:prstGeom>
          <a:solidFill>
            <a:srgbClr val="BA8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725244" y="4295935"/>
            <a:ext cx="798710" cy="68413"/>
          </a:xfrm>
          <a:prstGeom prst="rect">
            <a:avLst/>
          </a:prstGeom>
          <a:solidFill>
            <a:srgbClr val="B98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0725244" y="4362888"/>
            <a:ext cx="798710" cy="68413"/>
          </a:xfrm>
          <a:prstGeom prst="rect">
            <a:avLst/>
          </a:prstGeom>
          <a:solidFill>
            <a:srgbClr val="B78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0725244" y="4429840"/>
            <a:ext cx="798710" cy="68413"/>
          </a:xfrm>
          <a:prstGeom prst="rect">
            <a:avLst/>
          </a:prstGeom>
          <a:solidFill>
            <a:srgbClr val="B58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0725244" y="4496792"/>
            <a:ext cx="798710" cy="68413"/>
          </a:xfrm>
          <a:prstGeom prst="rect">
            <a:avLst/>
          </a:prstGeom>
          <a:solidFill>
            <a:srgbClr val="B48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11048653" y="4595584"/>
            <a:ext cx="183780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143D30"/>
                </a:solidFill>
                <a:latin typeface="Arial"/>
              </a:rPr>
              <a:t>Y10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9181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35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59753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35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260325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52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60897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69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4614694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86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5620414" y="4711073"/>
            <a:ext cx="98306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103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6626248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127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763196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143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863768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172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964340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213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649127" y="4711073"/>
            <a:ext cx="98294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2" b="0" i="0">
                <a:solidFill>
                  <a:srgbClr val="678168"/>
                </a:solidFill>
                <a:latin typeface="Arial"/>
              </a:rPr>
              <a:t>237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591814" y="4903364"/>
            <a:ext cx="1760723" cy="975263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7" name="Connector 426"/>
          <p:cNvCxnSpPr/>
          <p:nvPr/>
        </p:nvCxnSpPr>
        <p:spPr>
          <a:xfrm>
            <a:off x="59181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235253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59181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59181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TextBox 430"/>
          <p:cNvSpPr txBox="1"/>
          <p:nvPr/>
        </p:nvSpPr>
        <p:spPr>
          <a:xfrm>
            <a:off x="678315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678315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50,3 t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2419524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4" name="Connector 433"/>
          <p:cNvCxnSpPr/>
          <p:nvPr/>
        </p:nvCxnSpPr>
        <p:spPr>
          <a:xfrm>
            <a:off x="241952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418024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H="1">
            <a:off x="241952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241952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8" name="TextBox 437"/>
          <p:cNvSpPr txBox="1"/>
          <p:nvPr/>
        </p:nvSpPr>
        <p:spPr>
          <a:xfrm>
            <a:off x="250602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Y2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250602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162,3 t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4247234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1" name="Connector 440"/>
          <p:cNvCxnSpPr/>
          <p:nvPr/>
        </p:nvCxnSpPr>
        <p:spPr>
          <a:xfrm>
            <a:off x="4247234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6007957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H="1">
            <a:off x="4247234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4247234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TextBox 444"/>
          <p:cNvSpPr txBox="1"/>
          <p:nvPr/>
        </p:nvSpPr>
        <p:spPr>
          <a:xfrm>
            <a:off x="433373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Y6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433373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421,6 t</a:t>
            </a:r>
          </a:p>
        </p:txBody>
      </p:sp>
      <p:sp>
        <p:nvSpPr>
          <p:cNvPr id="447" name="Rectangle 446"/>
          <p:cNvSpPr/>
          <p:nvPr/>
        </p:nvSpPr>
        <p:spPr>
          <a:xfrm>
            <a:off x="6074945" y="4903364"/>
            <a:ext cx="1760723" cy="975263"/>
          </a:xfrm>
          <a:prstGeom prst="rect">
            <a:avLst/>
          </a:prstGeom>
          <a:solidFill>
            <a:srgbClr val="EE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8" name="Connector 447"/>
          <p:cNvCxnSpPr/>
          <p:nvPr/>
        </p:nvCxnSpPr>
        <p:spPr>
          <a:xfrm>
            <a:off x="6074945" y="4903364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7835668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H="1">
            <a:off x="6074945" y="5878628"/>
            <a:ext cx="1760723" cy="0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6074945" y="4903364"/>
            <a:ext cx="0" cy="975264"/>
          </a:xfrm>
          <a:prstGeom prst="line">
            <a:avLst/>
          </a:prstGeom>
          <a:ln w="7303">
            <a:solidFill>
              <a:srgbClr val="B9CD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TextBox 451"/>
          <p:cNvSpPr txBox="1"/>
          <p:nvPr/>
        </p:nvSpPr>
        <p:spPr>
          <a:xfrm>
            <a:off x="6161446" y="4977656"/>
            <a:ext cx="161972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73D2C"/>
                </a:solidFill>
                <a:latin typeface="Arial"/>
              </a:rPr>
              <a:t>Y10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161446" y="5636352"/>
            <a:ext cx="161972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1" i="0">
                <a:solidFill>
                  <a:srgbClr val="173D2C"/>
                </a:solidFill>
                <a:latin typeface="Arial"/>
              </a:rPr>
              <a:t>816,6 t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7902655" y="4903364"/>
            <a:ext cx="3697529" cy="975263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8012322" y="4988611"/>
            <a:ext cx="35101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8012322" y="5105469"/>
            <a:ext cx="351019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Y0 · masa coba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8012322" y="5316476"/>
            <a:ext cx="35101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35 greenhouse di dua lokasi menjalankan dua siklus; panen 50,3 ton.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8012322" y="5705737"/>
            <a:ext cx="3510199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459" name="Connector 458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0" name="TextBox 459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Pertumbuhan dari unit yang 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Skala dicapai dengan menggandakan rumah kaca modular sambil menahan kenaikan biaya tetap.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8860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8861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3591" y="4269317"/>
            <a:ext cx="332407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16,2×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4937371"/>
            <a:ext cx="3324073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pertumbuhan tonase · 50,3 ke 816,6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1512" y="1944593"/>
            <a:ext cx="3608860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291512" y="1944593"/>
            <a:ext cx="3608860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49908" y="4269317"/>
            <a:ext cx="3324073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6,8×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9908" y="4937371"/>
            <a:ext cx="3324073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pertumbuhan modul · 35 ke 237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7829" y="1944593"/>
            <a:ext cx="3608974" cy="3289717"/>
          </a:xfrm>
          <a:prstGeom prst="rect">
            <a:avLst/>
          </a:prstGeom>
          <a:solidFill>
            <a:srgbClr val="DCE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997829" y="1944593"/>
            <a:ext cx="3608974" cy="0"/>
          </a:xfrm>
          <a:prstGeom prst="line">
            <a:avLst/>
          </a:prstGeom>
          <a:ln w="43821">
            <a:solidFill>
              <a:srgbClr val="69A8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56224" y="4269317"/>
            <a:ext cx="3324187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143D30"/>
                </a:solidFill>
                <a:latin typeface="Arial"/>
              </a:rPr>
              <a:t>0,71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224" y="4937371"/>
            <a:ext cx="332418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8" b="0" i="0">
                <a:solidFill>
                  <a:srgbClr val="143D30"/>
                </a:solidFill>
                <a:latin typeface="Arial"/>
              </a:rPr>
              <a:t>rasio pertumbuhan biaya tetap terhadap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5343979"/>
            <a:ext cx="11021607" cy="999685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073" y="5789044"/>
            <a:ext cx="75870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D2EBAD"/>
                </a:solidFill>
                <a:latin typeface="Arial"/>
              </a:rPr>
              <a:t>MESIN SKALA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850" y="5697748"/>
            <a:ext cx="1083941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Y2–Y5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5850" y="5821910"/>
            <a:ext cx="108394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+17 GH / TAHUN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5244" y="5734267"/>
            <a:ext cx="214820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BEE39D"/>
                </a:solidFill>
                <a:latin typeface="Arial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5517" y="5697748"/>
            <a:ext cx="85205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JAKARTA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5517" y="5821910"/>
            <a:ext cx="85205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17–18 / ATAP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3024" y="5734267"/>
            <a:ext cx="214820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BEE39D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3297" y="5697748"/>
            <a:ext cx="98363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3" b="0" i="0">
                <a:solidFill>
                  <a:srgbClr val="BED9BD"/>
                </a:solidFill>
                <a:latin typeface="Arial"/>
              </a:rPr>
              <a:t>EKSPANSI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33297" y="5821910"/>
            <a:ext cx="98363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5FAED"/>
                </a:solidFill>
                <a:latin typeface="Arial"/>
              </a:rPr>
              <a:t>20–41 / LAHAN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Banyak. Seragam. Aman.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Jumlah datang dari replikasi unit; konsistensi dari parameter; keamanan dari inspeksi petani.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00757" cy="4399071"/>
          </a:xfrm>
          <a:prstGeom prst="rect">
            <a:avLst/>
          </a:prstGeom>
          <a:solidFill>
            <a:srgbClr val="E2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3591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E825D"/>
                </a:solidFill>
                <a:latin typeface="Arial"/>
              </a:rPr>
              <a:t>01 / BANYAK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591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143D30"/>
                </a:solidFill>
                <a:latin typeface="Arial"/>
              </a:rPr>
              <a:t>237 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3591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143D30"/>
                </a:solidFill>
                <a:latin typeface="Arial"/>
              </a:rPr>
              <a:t>11 lokasi · 3 kota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3591" y="5330513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3591" y="5403663"/>
            <a:ext cx="101010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816,6 t panen Y10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3591" y="5621517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3591" y="5694667"/>
            <a:ext cx="1009765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5 siklus/unit/tahun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3591" y="5912521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3591" y="5985671"/>
            <a:ext cx="954532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jeda tanam 4 hari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5620" y="1944593"/>
            <a:ext cx="3600757" cy="4399071"/>
          </a:xfrm>
          <a:prstGeom prst="rect">
            <a:avLst/>
          </a:prstGeom>
          <a:solidFill>
            <a:srgbClr val="CFE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295620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54016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5E825D"/>
                </a:solidFill>
                <a:latin typeface="Arial"/>
              </a:rPr>
              <a:t>02 / SERAGAM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4016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4016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143D30"/>
                </a:solidFill>
                <a:latin typeface="Arial"/>
              </a:rPr>
              <a:t>suhu · lembap · pH · nutrisi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54016" y="5330513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54016" y="5403663"/>
            <a:ext cx="154805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&lt;10% beda hasil antarlokasi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54016" y="5621517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54016" y="5694667"/>
            <a:ext cx="869057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&gt;15° target Brix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54016" y="5912521"/>
            <a:ext cx="3283967" cy="0"/>
          </a:xfrm>
          <a:prstGeom prst="line">
            <a:avLst/>
          </a:prstGeom>
          <a:ln w="7303">
            <a:solidFill>
              <a:srgbClr val="4E7A4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454016" y="5985671"/>
            <a:ext cx="109911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90% target Grade 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6045" y="1944593"/>
            <a:ext cx="3600757" cy="4399071"/>
          </a:xfrm>
          <a:prstGeom prst="rect">
            <a:avLst/>
          </a:prstGeom>
          <a:solidFill>
            <a:srgbClr val="17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006045" y="1944593"/>
            <a:ext cx="3600758" cy="0"/>
          </a:xfrm>
          <a:prstGeom prst="line">
            <a:avLst/>
          </a:prstGeom>
          <a:ln w="43821">
            <a:solidFill>
              <a:srgbClr val="78AB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64441" y="2128553"/>
            <a:ext cx="331597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CAE8A7"/>
                </a:solidFill>
                <a:latin typeface="Arial"/>
              </a:rPr>
              <a:t>03 / AMAN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4441" y="4499496"/>
            <a:ext cx="3315970" cy="5213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64" b="1" i="0">
                <a:solidFill>
                  <a:srgbClr val="F5F9EA"/>
                </a:solidFill>
                <a:latin typeface="Arial"/>
              </a:rPr>
              <a:t>Setiap 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4441" y="5006528"/>
            <a:ext cx="33159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0" i="0">
                <a:solidFill>
                  <a:srgbClr val="F5F9EA"/>
                </a:solidFill>
                <a:latin typeface="Arial"/>
              </a:rPr>
              <a:t>petani memeriksa tanaman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64441" y="5330513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64441" y="5403663"/>
            <a:ext cx="97883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10 titik acak / unit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64441" y="5621517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164441" y="5694667"/>
            <a:ext cx="100542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2 perangkap / unit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164441" y="5912521"/>
            <a:ext cx="3283967" cy="0"/>
          </a:xfrm>
          <a:prstGeom prst="line">
            <a:avLst/>
          </a:prstGeom>
          <a:ln w="7303">
            <a:solidFill>
              <a:srgbClr val="DCF3CE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164441" y="5985671"/>
            <a:ext cx="135691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5F9EA"/>
                </a:solidFill>
                <a:latin typeface="Arial"/>
              </a:rPr>
              <a:t>3 tingkat protokol wabah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Kemanisan dibangun per fase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Kepekatan larutan dan kelembapan diatur dari fase vegetatif hingga pematangan.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2686788" cy="3375078"/>
          </a:xfrm>
          <a:prstGeom prst="rect">
            <a:avLst/>
          </a:prstGeom>
          <a:solidFill>
            <a:srgbClr val="E9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2686789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494" y="2122505"/>
            <a:ext cx="242619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01 / DAUN &amp; AKAR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494" y="4095057"/>
            <a:ext cx="2426194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900–1.100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494" y="4453391"/>
            <a:ext cx="242619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494" y="4697036"/>
            <a:ext cx="2394191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494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60–70%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2650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494" y="5053887"/>
            <a:ext cx="242619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Batang kuat, daun cukup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2" y="1944593"/>
            <a:ext cx="2686902" cy="3375078"/>
          </a:xfrm>
          <a:prstGeom prst="rect">
            <a:avLst/>
          </a:prstGeom>
          <a:solidFill>
            <a:srgbClr val="DCE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63392" y="1944593"/>
            <a:ext cx="2686903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09691" y="2122505"/>
            <a:ext cx="242630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02 / BUNGA &amp; PENTIL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691" y="4095057"/>
            <a:ext cx="242630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1.100–1.300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9691" y="4453391"/>
            <a:ext cx="242630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09691" y="4697036"/>
            <a:ext cx="2394305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09691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60–70%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847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9691" y="5053887"/>
            <a:ext cx="242630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Serbuki; pilih satu buah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1704" y="1944593"/>
            <a:ext cx="2686788" cy="3375078"/>
          </a:xfrm>
          <a:prstGeom prst="rect">
            <a:avLst/>
          </a:prstGeom>
          <a:solidFill>
            <a:srgbClr val="CCE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141704" y="1944593"/>
            <a:ext cx="2686788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88002" y="2122505"/>
            <a:ext cx="242619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03 / BUAH MEMBESAR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8002" y="4095057"/>
            <a:ext cx="2426194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1.300–1.500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8002" y="4453391"/>
            <a:ext cx="242619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88002" y="4697036"/>
            <a:ext cx="2394191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288002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50–60%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9158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8002" y="5053887"/>
            <a:ext cx="242619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Bobot menuju 1,8 kg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9901" y="1944593"/>
            <a:ext cx="2686902" cy="3375078"/>
          </a:xfrm>
          <a:prstGeom prst="rect">
            <a:avLst/>
          </a:prstGeom>
          <a:solidFill>
            <a:srgbClr val="B6D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919901" y="1944593"/>
            <a:ext cx="2686902" cy="0"/>
          </a:xfrm>
          <a:prstGeom prst="line">
            <a:avLst/>
          </a:prstGeom>
          <a:ln w="43821">
            <a:solidFill>
              <a:srgbClr val="A6B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066199" y="2122505"/>
            <a:ext cx="242630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37851"/>
                </a:solidFill>
                <a:latin typeface="Arial"/>
              </a:rPr>
              <a:t>04 / PEMATANGAN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66199" y="4095057"/>
            <a:ext cx="242630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95" b="1" i="0">
                <a:solidFill>
                  <a:srgbClr val="143D30"/>
                </a:solidFill>
                <a:latin typeface="Arial"/>
              </a:rPr>
              <a:t>1.500–1.750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66199" y="4453391"/>
            <a:ext cx="242630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ppm nutrisi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066199" y="4697036"/>
            <a:ext cx="2394305" cy="0"/>
          </a:xfrm>
          <a:prstGeom prst="line">
            <a:avLst/>
          </a:prstGeom>
          <a:ln w="7303">
            <a:solidFill>
              <a:srgbClr val="99B6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066199" y="4765280"/>
            <a:ext cx="622221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143D30"/>
                </a:solidFill>
                <a:latin typeface="Arial"/>
              </a:rPr>
              <a:t>50–60%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7355" y="4831012"/>
            <a:ext cx="53309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66199" y="5053887"/>
            <a:ext cx="242630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143D30"/>
                </a:solidFill>
                <a:latin typeface="Arial"/>
              </a:rPr>
              <a:t>Gula naik 10–14 hari akhir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195" y="5417129"/>
            <a:ext cx="11021607" cy="926534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9284" y="5690445"/>
            <a:ext cx="2935388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F5FAEB"/>
                </a:solidFill>
                <a:latin typeface="Arial"/>
              </a:rPr>
              <a:t>&gt;15° BRIX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9284" y="5960679"/>
            <a:ext cx="29353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CAE5C0"/>
                </a:solidFill>
                <a:latin typeface="Arial"/>
              </a:rPr>
              <a:t>target mutu pada model sumber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4546" y="5813465"/>
            <a:ext cx="776017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F5FAEB"/>
                </a:solidFill>
                <a:latin typeface="Arial"/>
              </a:rPr>
              <a:t>DFT menjaga akar terendam. Pematangan mengatur konsentrasi nutrisi bertahap; klaim kemanisan perlu divalidasi dengan uji Brix per batch.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Kapan petani bertindak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Pemeriksaan harian, perangkap kuning, dan protokol wabah melengkapi sensor.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585195" y="2183330"/>
            <a:ext cx="5449808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5195" y="2005532"/>
            <a:ext cx="548181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57A58"/>
                </a:solidFill>
                <a:latin typeface="Arial"/>
              </a:rPr>
              <a:t>THRIPS / PER PERANGKAP / MINGGU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195" y="2256481"/>
            <a:ext cx="5449808" cy="1264556"/>
          </a:xfrm>
          <a:prstGeom prst="rect">
            <a:avLst/>
          </a:prstGeom>
          <a:solidFill>
            <a:srgbClr val="D9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585195" y="2256481"/>
            <a:ext cx="0" cy="1264556"/>
          </a:xfrm>
          <a:prstGeom prst="line">
            <a:avLst/>
          </a:prstGeom>
          <a:ln w="43821">
            <a:solidFill>
              <a:srgbClr val="65A6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26473" y="2724370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&lt;5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498" y="2815665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PANTAU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9053" y="2830158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catat jumlah per perangkap per minggu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195" y="3575814"/>
            <a:ext cx="5449808" cy="1264556"/>
          </a:xfrm>
          <a:prstGeom prst="rect">
            <a:avLst/>
          </a:prstGeom>
          <a:solidFill>
            <a:srgbClr val="F3E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585195" y="3575814"/>
            <a:ext cx="0" cy="1264556"/>
          </a:xfrm>
          <a:prstGeom prst="line">
            <a:avLst/>
          </a:prstGeom>
          <a:ln w="43821">
            <a:solidFill>
              <a:srgbClr val="C99F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6473" y="4043703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5–15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7498" y="4134999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WASPADA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9053" y="4149492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agens hayati setelah inspeksi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195" y="4895147"/>
            <a:ext cx="5449808" cy="1264556"/>
          </a:xfrm>
          <a:prstGeom prst="rect">
            <a:avLst/>
          </a:prstGeom>
          <a:solidFill>
            <a:srgbClr val="EFD1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85195" y="4895147"/>
            <a:ext cx="0" cy="1264556"/>
          </a:xfrm>
          <a:prstGeom prst="line">
            <a:avLst/>
          </a:prstGeom>
          <a:ln w="43821">
            <a:solidFill>
              <a:srgbClr val="BD76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6473" y="5363037"/>
            <a:ext cx="1022089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43D30"/>
                </a:solidFill>
                <a:latin typeface="Arial"/>
              </a:rPr>
              <a:t>&gt;15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77498" y="5454332"/>
            <a:ext cx="1282620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TINDAK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9053" y="5468825"/>
            <a:ext cx="28804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143D30"/>
                </a:solidFill>
                <a:latin typeface="Arial"/>
              </a:rPr>
              <a:t>tindakan berizin sesuai protokol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195" y="6226806"/>
            <a:ext cx="54818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Inspeksi 10 titik acak dan 2 perangkap per unit, setiap hari.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156881" y="2183330"/>
            <a:ext cx="5449922" cy="0"/>
          </a:xfrm>
          <a:prstGeom prst="line">
            <a:avLst/>
          </a:prstGeom>
          <a:ln w="7303">
            <a:solidFill>
              <a:srgbClr val="B4C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56881" y="2005532"/>
            <a:ext cx="548192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57A58"/>
                </a:solidFill>
                <a:latin typeface="Arial"/>
              </a:rPr>
              <a:t>JIKA WABAH MENYEBAR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881" y="2256481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156881" y="2256481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242127" y="2857319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1–3 tanaman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2838" y="2848760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CABUT &amp; TANDAI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0340" y="2858004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awasi radius 2 m selama seminggu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6881" y="3637096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156881" y="3637096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242127" y="4237934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4–15 tanaman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2838" y="4229375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HENTIKAN JALUR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0340" y="4238619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uji akar/larutan; tunda panen unit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881" y="5017711"/>
            <a:ext cx="5449922" cy="1325838"/>
          </a:xfrm>
          <a:prstGeom prst="rect">
            <a:avLst/>
          </a:prstGeom>
          <a:solidFill>
            <a:srgbClr val="E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156881" y="5017711"/>
            <a:ext cx="5449922" cy="0"/>
          </a:xfrm>
          <a:prstGeom prst="line">
            <a:avLst/>
          </a:prstGeom>
          <a:ln w="7303">
            <a:solidFill>
              <a:srgbClr val="A9C0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42127" y="5618550"/>
            <a:ext cx="135177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143D30"/>
                </a:solidFill>
                <a:latin typeface="Arial"/>
              </a:rPr>
              <a:t>&gt;15 / 2 unit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2838" y="5609991"/>
            <a:ext cx="166856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43D30"/>
                </a:solidFill>
                <a:latin typeface="Arial"/>
              </a:rPr>
              <a:t>KARANTINA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0340" y="5619234"/>
            <a:ext cx="223322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143D30"/>
                </a:solidFill>
                <a:latin typeface="Arial"/>
              </a:rPr>
              <a:t>lokasi ≤2 jam; survei ≤24 jam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Nursery berjalan paralel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Bibit 18 hari dipelihara terpisah dari rumah kaca produksi 66 hari karena kebutuhan lingkungan berbeda.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857522" cy="2156854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1944593"/>
            <a:ext cx="3857522" cy="215685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45" y="3892495"/>
            <a:ext cx="3711223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45" y="3915661"/>
            <a:ext cx="374322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0441" y="2029840"/>
            <a:ext cx="740167" cy="241019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441" y="2084617"/>
            <a:ext cx="77217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FFFFF"/>
                </a:solidFill>
                <a:latin typeface="Arial"/>
              </a:rPr>
              <a:t>NURSERY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195" y="4186695"/>
            <a:ext cx="3857522" cy="2156969"/>
          </a:xfrm>
          <a:prstGeom prst="rect">
            <a:avLst/>
          </a:prstGeom>
          <a:solidFill>
            <a:srgbClr val="DCE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cture-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95" y="4186695"/>
            <a:ext cx="3857522" cy="215696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45" y="6134711"/>
            <a:ext cx="3711223" cy="148012"/>
          </a:xfrm>
          <a:prstGeom prst="rect">
            <a:avLst/>
          </a:prstGeom>
          <a:solidFill>
            <a:srgbClr val="09301E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45" y="6157878"/>
            <a:ext cx="374322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8FFF1"/>
                </a:solidFill>
                <a:latin typeface="Arial"/>
              </a:rPr>
              <a:t>VISUALISASI KONSEP · BUKAN FASILITAS TERPASANG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0441" y="4271942"/>
            <a:ext cx="1006176" cy="241019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441" y="4326719"/>
            <a:ext cx="103818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FFFFF"/>
                </a:solidFill>
                <a:latin typeface="Arial"/>
              </a:rPr>
              <a:t>GROW HOUSE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64596" y="1944593"/>
            <a:ext cx="7042207" cy="233716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2053" y="1999370"/>
            <a:ext cx="208612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PARAMETER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6172" y="199937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BIBIT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5704" y="199937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FFFFFF"/>
                </a:solidFill>
                <a:latin typeface="Arial"/>
              </a:rPr>
              <a:t>TANAMAN PRODUKSI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64596" y="2178309"/>
            <a:ext cx="7042207" cy="694187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4564596" y="2872497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62053" y="2455961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Waktu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6172" y="2459613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18 hari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5704" y="2459613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66 hari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64596" y="2872497"/>
            <a:ext cx="7042207" cy="694187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>
            <a:off x="4564596" y="356668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62053" y="3150149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Kelembapan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6172" y="3153801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70–90%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5704" y="3153801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70% → 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64596" y="3566684"/>
            <a:ext cx="7042207" cy="694301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4564596" y="4260986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662053" y="3844451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Suhu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16172" y="3848103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25–28°C stabil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5704" y="3848103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beda siang/malam ≥7°C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64596" y="4260986"/>
            <a:ext cx="7042207" cy="694187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>
            <a:off x="4564596" y="495517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662053" y="4538639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Cahaya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16172" y="454229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naungan 30–50%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75704" y="454229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penuh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64596" y="4955174"/>
            <a:ext cx="7042207" cy="694187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4564596" y="5649362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662053" y="5232826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Nutrisi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16172" y="5236478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400–800 ppm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5704" y="5236478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900–1.750 ppm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4596" y="5649362"/>
            <a:ext cx="7042207" cy="694301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4564596" y="6343664"/>
            <a:ext cx="7042207" cy="0"/>
          </a:xfrm>
          <a:prstGeom prst="line">
            <a:avLst/>
          </a:prstGeom>
          <a:ln w="7303">
            <a:solidFill>
              <a:srgbClr val="AFC3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662053" y="5927128"/>
            <a:ext cx="20861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143D30"/>
                </a:solidFill>
                <a:latin typeface="Arial"/>
              </a:rPr>
              <a:t>Saringan mutu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16172" y="5930780"/>
            <a:ext cx="229153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buang 5–10% bibit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5704" y="5930780"/>
            <a:ext cx="25656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143D30"/>
                </a:solidFill>
                <a:latin typeface="Arial"/>
              </a:rPr>
              <a:t>satu buah per tanaman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Delapan tahap kerja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Rangkaian semai, pindah tanam, perawatan, penyerbukan, pematangan, hingga panen dan sortir.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121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01 / 18 hari · nursery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121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SEMAI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121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bibit lemah disaring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1909" y="1944593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361909" y="1944593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89835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02 / hari 1 · 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9835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PINDAH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9835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tanam DFT + penyangga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8622" y="1944593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138622" y="1944593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66548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03 / 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6548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VEGETATIF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6548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ikat sulur, pangkas tunas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336" y="1944593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915336" y="1944593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043262" y="2090779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04 / 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3262" y="3401668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BUNGA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3262" y="3664941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serbuki; sisakan 1 buah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195" y="3978541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85195" y="3978541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121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05 / 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121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BUAH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121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gantung, bungkus, pangkas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61909" y="3978541"/>
            <a:ext cx="2691467" cy="1948701"/>
          </a:xfrm>
          <a:prstGeom prst="rect">
            <a:avLst/>
          </a:prstGeom>
          <a:solidFill>
            <a:srgbClr val="D3E5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361909" y="3978541"/>
            <a:ext cx="2691467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89835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06 / 10–14 hari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9835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MATANG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9835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naikkan nutrisi; cek Brix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38622" y="3978541"/>
            <a:ext cx="2691467" cy="1948701"/>
          </a:xfrm>
          <a:prstGeom prst="rect">
            <a:avLst/>
          </a:prstGeom>
          <a:solidFill>
            <a:srgbClr val="E3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138622" y="3978541"/>
            <a:ext cx="2691468" cy="0"/>
          </a:xfrm>
          <a:prstGeom prst="line">
            <a:avLst/>
          </a:prstGeom>
          <a:ln w="36517">
            <a:solidFill>
              <a:srgbClr val="7AA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66548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E805F"/>
                </a:solidFill>
                <a:latin typeface="Arial"/>
              </a:rPr>
              <a:t>07 / &lt;12 jam kirim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6548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143D30"/>
                </a:solidFill>
                <a:latin typeface="Arial"/>
              </a:rPr>
              <a:t>PANEN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6548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sortir, grading, kemas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336" y="3978541"/>
            <a:ext cx="2691467" cy="1948701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915336" y="3978541"/>
            <a:ext cx="2691467" cy="0"/>
          </a:xfrm>
          <a:prstGeom prst="line">
            <a:avLst/>
          </a:prstGeom>
          <a:ln w="36517">
            <a:solidFill>
              <a:srgbClr val="C5E6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043262" y="4124728"/>
            <a:ext cx="246761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6E899"/>
                </a:solidFill>
                <a:latin typeface="Arial"/>
              </a:rPr>
              <a:t>08 / 7 hari · 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43262" y="5435616"/>
            <a:ext cx="2467619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2" b="1" i="0">
                <a:solidFill>
                  <a:srgbClr val="FFFFFF"/>
                </a:solidFill>
                <a:latin typeface="Arial"/>
              </a:rPr>
              <a:t>SANITASI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262" y="5698890"/>
            <a:ext cx="24676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FFFFFF"/>
                </a:solidFill>
                <a:latin typeface="Arial"/>
              </a:rPr>
              <a:t>cuci jalur; ganti larutan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5195" y="6012490"/>
            <a:ext cx="11021607" cy="331174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2652" y="6119648"/>
            <a:ext cx="92771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NURSERY 18 HARI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64779" y="6079478"/>
            <a:ext cx="86894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BDE297"/>
                </a:solidFill>
                <a:latin typeface="Arial"/>
              </a:rPr>
              <a:t>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6201" y="6119648"/>
            <a:ext cx="13125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GH PRODUKSI 63–66 HARI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73133" y="6079478"/>
            <a:ext cx="127178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BDE297"/>
                </a:solidFill>
                <a:latin typeface="Arial"/>
              </a:rPr>
              <a:t>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54838" y="6119648"/>
            <a:ext cx="8387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F5FAEE"/>
                </a:solidFill>
                <a:latin typeface="Arial"/>
              </a:rPr>
              <a:t>SANITASI 7 HARI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47953" y="6119648"/>
            <a:ext cx="7933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CDEBA6"/>
                </a:solidFill>
                <a:latin typeface="Arial"/>
              </a:rPr>
              <a:t>= SLOT 73 HARI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Apakah tenaga kerja cukup?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3047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Waktu kerja per tanaman dibandingkan dengan kapasitas kerja setelah jalan kaki, sanitasi, dan pencatatan.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1950184"/>
            <a:ext cx="5834384" cy="4387316"/>
          </a:xfrm>
          <a:prstGeom prst="rect">
            <a:avLst/>
          </a:prstGeom>
          <a:solidFill>
            <a:srgbClr val="EF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113" y="2072064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5A805A"/>
                </a:solidFill>
                <a:latin typeface="Arial"/>
              </a:rPr>
              <a:t>WAKTU SENTUH TANAMAN / SIKLUS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113" y="2468628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Pindah tanam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4867" y="2483236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4867" y="2483236"/>
            <a:ext cx="164044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6667" y="2464977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113" y="2995175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Ikat sulur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04867" y="3009782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04867" y="3009782"/>
            <a:ext cx="2460721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6667" y="2991523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113" y="3521721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Pangkas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04867" y="3536329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4867" y="3536329"/>
            <a:ext cx="2870860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36667" y="3518070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2,1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113" y="4048268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Serbuki &amp; pilih buah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04867" y="4062875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04867" y="4062875"/>
            <a:ext cx="205058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6667" y="4044616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113" y="4574814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Bungkus &amp; gantung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04867" y="4589422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4867" y="4589422"/>
            <a:ext cx="1230303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6667" y="4571163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0,9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113" y="5101361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Inspeksi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04867" y="5115968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04867" y="5115968"/>
            <a:ext cx="820164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6667" y="5097709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0,6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113" y="5627907"/>
            <a:ext cx="213781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143D30"/>
                </a:solidFill>
                <a:latin typeface="Arial"/>
              </a:rPr>
              <a:t>Panen &amp; sortir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04867" y="5642515"/>
            <a:ext cx="2870860" cy="87757"/>
          </a:xfrm>
          <a:prstGeom prst="rect">
            <a:avLst/>
          </a:prstGeom>
          <a:solidFill>
            <a:srgbClr val="D2E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4867" y="5642515"/>
            <a:ext cx="1640442" cy="87757"/>
          </a:xfrm>
          <a:prstGeom prst="rect">
            <a:avLst/>
          </a:prstGeom>
          <a:solidFill>
            <a:srgbClr val="67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36667" y="5624256"/>
            <a:ext cx="47523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6" b="1" i="0">
                <a:solidFill>
                  <a:srgbClr val="143D30"/>
                </a:solidFill>
                <a:latin typeface="Arial"/>
              </a:rPr>
              <a:t>1,2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8113" y="5970950"/>
            <a:ext cx="5541787" cy="0"/>
          </a:xfrm>
          <a:prstGeom prst="line">
            <a:avLst/>
          </a:prstGeom>
          <a:ln w="7303">
            <a:solidFill>
              <a:srgbClr val="ACC4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8113" y="6033031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097" y="6033031"/>
            <a:ext cx="825807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143D30"/>
                </a:solidFill>
                <a:latin typeface="Arial"/>
              </a:rPr>
              <a:t>9,30 MENIT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8113" y="6033031"/>
            <a:ext cx="5573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43D30"/>
                </a:solidFill>
                <a:latin typeface="Arial"/>
              </a:rPr>
              <a:t>/ TANAMAN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48077" y="1950184"/>
            <a:ext cx="5052107" cy="1900428"/>
          </a:xfrm>
          <a:prstGeom prst="rect">
            <a:avLst/>
          </a:prstGeom>
          <a:solidFill>
            <a:srgbClr val="D9E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69955" y="2598268"/>
            <a:ext cx="48403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57856"/>
                </a:solidFill>
                <a:latin typeface="Arial"/>
              </a:rPr>
              <a:t>SETELAH JALAN + SANITASI + CATATAN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9955" y="2713871"/>
            <a:ext cx="484035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9,6–10,0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955" y="3085557"/>
            <a:ext cx="484035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menit kebutuhan riil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48077" y="3929812"/>
            <a:ext cx="5052107" cy="1900543"/>
          </a:xfrm>
          <a:prstGeom prst="rect">
            <a:avLst/>
          </a:prstGeom>
          <a:solidFill>
            <a:srgbClr val="CCE3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9955" y="4578010"/>
            <a:ext cx="484035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57856"/>
                </a:solidFill>
                <a:latin typeface="Arial"/>
              </a:rPr>
              <a:t>KAPASITAS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69955" y="4693613"/>
            <a:ext cx="484035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 : 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955" y="5065299"/>
            <a:ext cx="484035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143D30"/>
                </a:solidFill>
                <a:latin typeface="Arial"/>
              </a:rPr>
              <a:t>petani : GH · 288 hari × 7 jam/tahun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48077" y="5909554"/>
            <a:ext cx="5052107" cy="427947"/>
          </a:xfrm>
          <a:prstGeom prst="rect">
            <a:avLst/>
          </a:prstGeom>
          <a:solidFill>
            <a:srgbClr val="F2E8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6548077" y="5909554"/>
            <a:ext cx="0" cy="427947"/>
          </a:xfrm>
          <a:prstGeom prst="line">
            <a:avLst/>
          </a:prstGeom>
          <a:ln w="36517">
            <a:solidFill>
              <a:srgbClr val="C49D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48077" y="5994801"/>
            <a:ext cx="5084111" cy="2848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Jika &gt;10 menit, turunkan ke 1:5 → tambahan biaya sekitar Rp4,7 miliar sepanjang 11 tahun (skenario sumber).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Lima panen dari slot 73 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Penyemaian dipindah ke nursery; rumah kaca dipakai 66 hari dan disanitasi 7 hari.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5449808" cy="3314138"/>
          </a:xfrm>
          <a:prstGeom prst="rect">
            <a:avLst/>
          </a:prstGeom>
          <a:solidFill>
            <a:srgbClr val="E8E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801" y="2078683"/>
            <a:ext cx="514059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D805B"/>
                </a:solidFill>
                <a:latin typeface="Arial"/>
              </a:rPr>
              <a:t>SEMAI DI DALAM 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801" y="4088780"/>
            <a:ext cx="5140599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23" b="1" i="0">
                <a:solidFill>
                  <a:srgbClr val="143D30"/>
                </a:solidFill>
                <a:latin typeface="Arial"/>
              </a:rPr>
              <a:t>88–91 hari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801" y="4720202"/>
            <a:ext cx="514059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143D30"/>
                </a:solidFill>
                <a:latin typeface="Arial"/>
              </a:rPr>
              <a:t>≈4 panen/tahun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5801" y="5002762"/>
            <a:ext cx="161104" cy="121879"/>
          </a:xfrm>
          <a:prstGeom prst="rect">
            <a:avLst/>
          </a:prstGeom>
          <a:solidFill>
            <a:srgbClr val="74A569">
              <a:alpha val="9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5445" y="5002762"/>
            <a:ext cx="161104" cy="121879"/>
          </a:xfrm>
          <a:prstGeom prst="rect">
            <a:avLst/>
          </a:prstGeom>
          <a:solidFill>
            <a:srgbClr val="73A468">
              <a:alpha val="9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5089" y="5002762"/>
            <a:ext cx="161104" cy="121879"/>
          </a:xfrm>
          <a:prstGeom prst="rect">
            <a:avLst/>
          </a:prstGeom>
          <a:solidFill>
            <a:srgbClr val="72A267">
              <a:alpha val="9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732" y="5002762"/>
            <a:ext cx="161104" cy="121879"/>
          </a:xfrm>
          <a:prstGeom prst="rect">
            <a:avLst/>
          </a:prstGeom>
          <a:solidFill>
            <a:srgbClr val="71A166">
              <a:alpha val="9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94376" y="5002762"/>
            <a:ext cx="161104" cy="121879"/>
          </a:xfrm>
          <a:prstGeom prst="rect">
            <a:avLst/>
          </a:prstGeom>
          <a:solidFill>
            <a:srgbClr val="70A065">
              <a:alpha val="8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020" y="5002762"/>
            <a:ext cx="161104" cy="121879"/>
          </a:xfrm>
          <a:prstGeom prst="rect">
            <a:avLst/>
          </a:prstGeom>
          <a:solidFill>
            <a:srgbClr val="6F9E64">
              <a:alpha val="8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3663" y="5002762"/>
            <a:ext cx="161104" cy="121879"/>
          </a:xfrm>
          <a:prstGeom prst="rect">
            <a:avLst/>
          </a:prstGeom>
          <a:solidFill>
            <a:srgbClr val="6D9D63">
              <a:alpha val="8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3307" y="5002762"/>
            <a:ext cx="161104" cy="121879"/>
          </a:xfrm>
          <a:prstGeom prst="rect">
            <a:avLst/>
          </a:prstGeom>
          <a:solidFill>
            <a:srgbClr val="6C9B62">
              <a:alpha val="7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32950" y="5002762"/>
            <a:ext cx="161104" cy="121879"/>
          </a:xfrm>
          <a:prstGeom prst="rect">
            <a:avLst/>
          </a:prstGeom>
          <a:solidFill>
            <a:srgbClr val="6B9A61">
              <a:alpha val="76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2594" y="5002762"/>
            <a:ext cx="161104" cy="121879"/>
          </a:xfrm>
          <a:prstGeom prst="rect">
            <a:avLst/>
          </a:prstGeom>
          <a:solidFill>
            <a:srgbClr val="6A9860">
              <a:alpha val="73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52238" y="5002762"/>
            <a:ext cx="161104" cy="121879"/>
          </a:xfrm>
          <a:prstGeom prst="rect">
            <a:avLst/>
          </a:prstGeom>
          <a:solidFill>
            <a:srgbClr val="69975F">
              <a:alpha val="71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11881" y="5002762"/>
            <a:ext cx="161104" cy="121879"/>
          </a:xfrm>
          <a:prstGeom prst="rect">
            <a:avLst/>
          </a:prstGeom>
          <a:solidFill>
            <a:srgbClr val="68955E">
              <a:alpha val="68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71525" y="5002762"/>
            <a:ext cx="161104" cy="121879"/>
          </a:xfrm>
          <a:prstGeom prst="rect">
            <a:avLst/>
          </a:prstGeom>
          <a:solidFill>
            <a:srgbClr val="67945D">
              <a:alpha val="65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31169" y="5002762"/>
            <a:ext cx="161104" cy="121879"/>
          </a:xfrm>
          <a:prstGeom prst="rect">
            <a:avLst/>
          </a:prstGeom>
          <a:solidFill>
            <a:srgbClr val="65935C">
              <a:alpha val="62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90812" y="5002762"/>
            <a:ext cx="161104" cy="121879"/>
          </a:xfrm>
          <a:prstGeom prst="rect">
            <a:avLst/>
          </a:prstGeom>
          <a:solidFill>
            <a:srgbClr val="64915B">
              <a:alpha val="60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50456" y="5002762"/>
            <a:ext cx="161104" cy="121879"/>
          </a:xfrm>
          <a:prstGeom prst="rect">
            <a:avLst/>
          </a:prstGeom>
          <a:solidFill>
            <a:srgbClr val="63905A">
              <a:alpha val="57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099" y="5002762"/>
            <a:ext cx="161104" cy="121879"/>
          </a:xfrm>
          <a:prstGeom prst="rect">
            <a:avLst/>
          </a:prstGeom>
          <a:solidFill>
            <a:srgbClr val="628E58">
              <a:alpha val="5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69743" y="5002762"/>
            <a:ext cx="161104" cy="121879"/>
          </a:xfrm>
          <a:prstGeom prst="rect">
            <a:avLst/>
          </a:prstGeom>
          <a:solidFill>
            <a:srgbClr val="618D57">
              <a:alpha val="5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29387" y="5002762"/>
            <a:ext cx="161104" cy="121879"/>
          </a:xfrm>
          <a:prstGeom prst="rect">
            <a:avLst/>
          </a:prstGeom>
          <a:solidFill>
            <a:srgbClr val="608B56">
              <a:alpha val="4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89030" y="5002762"/>
            <a:ext cx="161104" cy="121879"/>
          </a:xfrm>
          <a:prstGeom prst="rect">
            <a:avLst/>
          </a:prstGeom>
          <a:solidFill>
            <a:srgbClr val="5E8A55">
              <a:alpha val="4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48674" y="5002762"/>
            <a:ext cx="161104" cy="121879"/>
          </a:xfrm>
          <a:prstGeom prst="rect">
            <a:avLst/>
          </a:prstGeom>
          <a:solidFill>
            <a:srgbClr val="5D8954">
              <a:alpha val="4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08318" y="5002762"/>
            <a:ext cx="161104" cy="121879"/>
          </a:xfrm>
          <a:prstGeom prst="rect">
            <a:avLst/>
          </a:prstGeom>
          <a:solidFill>
            <a:srgbClr val="5C8753">
              <a:alpha val="4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67961" y="5002762"/>
            <a:ext cx="161104" cy="121879"/>
          </a:xfrm>
          <a:prstGeom prst="rect">
            <a:avLst/>
          </a:prstGeom>
          <a:solidFill>
            <a:srgbClr val="5B8652">
              <a:alpha val="3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27605" y="5002762"/>
            <a:ext cx="161104" cy="121879"/>
          </a:xfrm>
          <a:prstGeom prst="rect">
            <a:avLst/>
          </a:prstGeom>
          <a:solidFill>
            <a:srgbClr val="5A8451">
              <a:alpha val="3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87248" y="5002762"/>
            <a:ext cx="161104" cy="121879"/>
          </a:xfrm>
          <a:prstGeom prst="rect">
            <a:avLst/>
          </a:prstGeom>
          <a:solidFill>
            <a:srgbClr val="598350">
              <a:alpha val="3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46892" y="5002762"/>
            <a:ext cx="161104" cy="121879"/>
          </a:xfrm>
          <a:prstGeom prst="rect">
            <a:avLst/>
          </a:prstGeom>
          <a:solidFill>
            <a:srgbClr val="58814F">
              <a:alpha val="2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06536" y="5002762"/>
            <a:ext cx="161104" cy="121879"/>
          </a:xfrm>
          <a:prstGeom prst="rect">
            <a:avLst/>
          </a:prstGeom>
          <a:solidFill>
            <a:srgbClr val="56804E">
              <a:alpha val="2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66179" y="5002762"/>
            <a:ext cx="161104" cy="121879"/>
          </a:xfrm>
          <a:prstGeom prst="rect">
            <a:avLst/>
          </a:prstGeom>
          <a:solidFill>
            <a:srgbClr val="557E4D">
              <a:alpha val="2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25823" y="5002762"/>
            <a:ext cx="161104" cy="121879"/>
          </a:xfrm>
          <a:prstGeom prst="rect">
            <a:avLst/>
          </a:prstGeom>
          <a:solidFill>
            <a:srgbClr val="547D4C">
              <a:alpha val="2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85466" y="5002762"/>
            <a:ext cx="161104" cy="121879"/>
          </a:xfrm>
          <a:prstGeom prst="rect">
            <a:avLst/>
          </a:prstGeom>
          <a:solidFill>
            <a:srgbClr val="537C4B">
              <a:alpha val="1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45110" y="5002762"/>
            <a:ext cx="161104" cy="121879"/>
          </a:xfrm>
          <a:prstGeom prst="rect">
            <a:avLst/>
          </a:prstGeom>
          <a:solidFill>
            <a:srgbClr val="527A4A">
              <a:alpha val="1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04754" y="5002762"/>
            <a:ext cx="161104" cy="121879"/>
          </a:xfrm>
          <a:prstGeom prst="rect">
            <a:avLst/>
          </a:prstGeom>
          <a:solidFill>
            <a:srgbClr val="517949">
              <a:alpha val="1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6881" y="1944593"/>
            <a:ext cx="5449922" cy="3314138"/>
          </a:xfrm>
          <a:prstGeom prst="rect">
            <a:avLst/>
          </a:prstGeom>
          <a:solidFill>
            <a:srgbClr val="D1E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6156881" y="1944593"/>
            <a:ext cx="5449922" cy="0"/>
          </a:xfrm>
          <a:prstGeom prst="line">
            <a:avLst/>
          </a:prstGeom>
          <a:ln w="43821">
            <a:solidFill>
              <a:srgbClr val="5B9B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327487" y="2122505"/>
            <a:ext cx="514071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D805B"/>
                </a:solidFill>
                <a:latin typeface="Arial"/>
              </a:rPr>
              <a:t>NURSERY BERJALAN PARALEL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487" y="4088780"/>
            <a:ext cx="5140714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23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7487" y="4720202"/>
            <a:ext cx="51407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143D30"/>
                </a:solidFill>
                <a:latin typeface="Arial"/>
              </a:rPr>
              <a:t>63–66 hari tumbuh + 7 hari sanitasi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27487" y="5002762"/>
            <a:ext cx="161107" cy="121879"/>
          </a:xfrm>
          <a:prstGeom prst="rect">
            <a:avLst/>
          </a:prstGeom>
          <a:solidFill>
            <a:srgbClr val="74A569">
              <a:alpha val="98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87134" y="5002762"/>
            <a:ext cx="161107" cy="121879"/>
          </a:xfrm>
          <a:prstGeom prst="rect">
            <a:avLst/>
          </a:prstGeom>
          <a:solidFill>
            <a:srgbClr val="73A468">
              <a:alpha val="95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46782" y="5002762"/>
            <a:ext cx="161107" cy="121879"/>
          </a:xfrm>
          <a:prstGeom prst="rect">
            <a:avLst/>
          </a:prstGeom>
          <a:solidFill>
            <a:srgbClr val="72A267">
              <a:alpha val="93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06429" y="5002762"/>
            <a:ext cx="161107" cy="121879"/>
          </a:xfrm>
          <a:prstGeom prst="rect">
            <a:avLst/>
          </a:prstGeom>
          <a:solidFill>
            <a:srgbClr val="71A166">
              <a:alpha val="90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66076" y="5002762"/>
            <a:ext cx="161107" cy="121879"/>
          </a:xfrm>
          <a:prstGeom prst="rect">
            <a:avLst/>
          </a:prstGeom>
          <a:solidFill>
            <a:srgbClr val="70A065">
              <a:alpha val="87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25723" y="5002762"/>
            <a:ext cx="161107" cy="121879"/>
          </a:xfrm>
          <a:prstGeom prst="rect">
            <a:avLst/>
          </a:prstGeom>
          <a:solidFill>
            <a:srgbClr val="6F9E64">
              <a:alpha val="84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85370" y="5002762"/>
            <a:ext cx="161107" cy="121879"/>
          </a:xfrm>
          <a:prstGeom prst="rect">
            <a:avLst/>
          </a:prstGeom>
          <a:solidFill>
            <a:srgbClr val="6D9D63">
              <a:alpha val="82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45018" y="5002762"/>
            <a:ext cx="161107" cy="121879"/>
          </a:xfrm>
          <a:prstGeom prst="rect">
            <a:avLst/>
          </a:prstGeom>
          <a:solidFill>
            <a:srgbClr val="6C9B62">
              <a:alpha val="79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04665" y="5002762"/>
            <a:ext cx="161107" cy="121879"/>
          </a:xfrm>
          <a:prstGeom prst="rect">
            <a:avLst/>
          </a:prstGeom>
          <a:solidFill>
            <a:srgbClr val="6B9A61">
              <a:alpha val="76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64312" y="5002762"/>
            <a:ext cx="161107" cy="121879"/>
          </a:xfrm>
          <a:prstGeom prst="rect">
            <a:avLst/>
          </a:prstGeom>
          <a:solidFill>
            <a:srgbClr val="6A9860">
              <a:alpha val="73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23959" y="5002762"/>
            <a:ext cx="161107" cy="121879"/>
          </a:xfrm>
          <a:prstGeom prst="rect">
            <a:avLst/>
          </a:prstGeom>
          <a:solidFill>
            <a:srgbClr val="69975F">
              <a:alpha val="71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83606" y="5002762"/>
            <a:ext cx="161107" cy="121879"/>
          </a:xfrm>
          <a:prstGeom prst="rect">
            <a:avLst/>
          </a:prstGeom>
          <a:solidFill>
            <a:srgbClr val="68955E">
              <a:alpha val="68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43253" y="5002762"/>
            <a:ext cx="161107" cy="121879"/>
          </a:xfrm>
          <a:prstGeom prst="rect">
            <a:avLst/>
          </a:prstGeom>
          <a:solidFill>
            <a:srgbClr val="67945D">
              <a:alpha val="65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02901" y="5002762"/>
            <a:ext cx="161107" cy="121879"/>
          </a:xfrm>
          <a:prstGeom prst="rect">
            <a:avLst/>
          </a:prstGeom>
          <a:solidFill>
            <a:srgbClr val="65935C">
              <a:alpha val="62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562548" y="5002762"/>
            <a:ext cx="161107" cy="121879"/>
          </a:xfrm>
          <a:prstGeom prst="rect">
            <a:avLst/>
          </a:prstGeom>
          <a:solidFill>
            <a:srgbClr val="64915B">
              <a:alpha val="60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722195" y="5002762"/>
            <a:ext cx="161107" cy="121879"/>
          </a:xfrm>
          <a:prstGeom prst="rect">
            <a:avLst/>
          </a:prstGeom>
          <a:solidFill>
            <a:srgbClr val="63905A">
              <a:alpha val="57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81842" y="5002762"/>
            <a:ext cx="161107" cy="121879"/>
          </a:xfrm>
          <a:prstGeom prst="rect">
            <a:avLst/>
          </a:prstGeom>
          <a:solidFill>
            <a:srgbClr val="628E58">
              <a:alpha val="54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041489" y="5002762"/>
            <a:ext cx="161107" cy="121879"/>
          </a:xfrm>
          <a:prstGeom prst="rect">
            <a:avLst/>
          </a:prstGeom>
          <a:solidFill>
            <a:srgbClr val="618D57">
              <a:alpha val="51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01137" y="5002762"/>
            <a:ext cx="161107" cy="121879"/>
          </a:xfrm>
          <a:prstGeom prst="rect">
            <a:avLst/>
          </a:prstGeom>
          <a:solidFill>
            <a:srgbClr val="608B56">
              <a:alpha val="49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360784" y="5002762"/>
            <a:ext cx="161107" cy="121879"/>
          </a:xfrm>
          <a:prstGeom prst="rect">
            <a:avLst/>
          </a:prstGeom>
          <a:solidFill>
            <a:srgbClr val="5E8A55">
              <a:alpha val="46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520431" y="5002762"/>
            <a:ext cx="161107" cy="121879"/>
          </a:xfrm>
          <a:prstGeom prst="rect">
            <a:avLst/>
          </a:prstGeom>
          <a:solidFill>
            <a:srgbClr val="5D8954">
              <a:alpha val="43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680078" y="5002762"/>
            <a:ext cx="161107" cy="121879"/>
          </a:xfrm>
          <a:prstGeom prst="rect">
            <a:avLst/>
          </a:prstGeom>
          <a:solidFill>
            <a:srgbClr val="5C8753">
              <a:alpha val="40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39725" y="5002762"/>
            <a:ext cx="161107" cy="121879"/>
          </a:xfrm>
          <a:prstGeom prst="rect">
            <a:avLst/>
          </a:prstGeom>
          <a:solidFill>
            <a:srgbClr val="5B8652">
              <a:alpha val="38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999373" y="5002762"/>
            <a:ext cx="161107" cy="121879"/>
          </a:xfrm>
          <a:prstGeom prst="rect">
            <a:avLst/>
          </a:prstGeom>
          <a:solidFill>
            <a:srgbClr val="5A8451">
              <a:alpha val="35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59020" y="5002762"/>
            <a:ext cx="161107" cy="121879"/>
          </a:xfrm>
          <a:prstGeom prst="rect">
            <a:avLst/>
          </a:prstGeom>
          <a:solidFill>
            <a:srgbClr val="598350">
              <a:alpha val="32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18667" y="5002762"/>
            <a:ext cx="161107" cy="121879"/>
          </a:xfrm>
          <a:prstGeom prst="rect">
            <a:avLst/>
          </a:prstGeom>
          <a:solidFill>
            <a:srgbClr val="58814F">
              <a:alpha val="29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78314" y="5002762"/>
            <a:ext cx="161107" cy="121879"/>
          </a:xfrm>
          <a:prstGeom prst="rect">
            <a:avLst/>
          </a:prstGeom>
          <a:solidFill>
            <a:srgbClr val="56804E">
              <a:alpha val="27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637961" y="5002762"/>
            <a:ext cx="161107" cy="121879"/>
          </a:xfrm>
          <a:prstGeom prst="rect">
            <a:avLst/>
          </a:prstGeom>
          <a:solidFill>
            <a:srgbClr val="557E4D">
              <a:alpha val="24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797608" y="5002762"/>
            <a:ext cx="161107" cy="121879"/>
          </a:xfrm>
          <a:prstGeom prst="rect">
            <a:avLst/>
          </a:prstGeom>
          <a:solidFill>
            <a:srgbClr val="547D4C">
              <a:alpha val="216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57256" y="5002762"/>
            <a:ext cx="161107" cy="121879"/>
          </a:xfrm>
          <a:prstGeom prst="rect">
            <a:avLst/>
          </a:prstGeom>
          <a:solidFill>
            <a:srgbClr val="537C4B">
              <a:alpha val="188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116903" y="5002762"/>
            <a:ext cx="161107" cy="121879"/>
          </a:xfrm>
          <a:prstGeom prst="rect">
            <a:avLst/>
          </a:prstGeom>
          <a:solidFill>
            <a:srgbClr val="527A4A">
              <a:alpha val="161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1276550" y="5002762"/>
            <a:ext cx="161107" cy="121879"/>
          </a:xfrm>
          <a:prstGeom prst="rect">
            <a:avLst/>
          </a:prstGeom>
          <a:solidFill>
            <a:srgbClr val="517949">
              <a:alpha val="1337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85195" y="5356189"/>
            <a:ext cx="3056644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2652" y="5668534"/>
            <a:ext cx="289373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SLOT PER TAHUN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2652" y="5812210"/>
            <a:ext cx="2893735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365 ÷ 73 = 5,0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27086" y="5356189"/>
            <a:ext cx="4126384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24542" y="5668534"/>
            <a:ext cx="396347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HASIL PER SIKLUS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24542" y="5812210"/>
            <a:ext cx="3963475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420 × 1,8 × 95% = 718,2 kg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38716" y="5356189"/>
            <a:ext cx="3668087" cy="987474"/>
          </a:xfrm>
          <a:prstGeom prst="rect">
            <a:avLst/>
          </a:prstGeom>
          <a:solidFill>
            <a:srgbClr val="16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36173" y="5668534"/>
            <a:ext cx="350517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C6E79F"/>
                </a:solidFill>
                <a:latin typeface="Arial"/>
              </a:rPr>
              <a:t>HASIL TAHUNAN / GH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36173" y="5812210"/>
            <a:ext cx="3505178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2" b="1" i="0">
                <a:solidFill>
                  <a:srgbClr val="F4FAEB"/>
                </a:solidFill>
                <a:latin typeface="Arial"/>
              </a:rPr>
              <a:t>718,2 × 5 = 3.591 kg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Benih dapat ditiru. Sistem tidak.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Sumber deck menempatkan pengembangan benih sendiri sebagai perlindungan jangka panjang.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367007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195" y="2042050"/>
            <a:ext cx="11053611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5" b="0" i="0">
                <a:solidFill>
                  <a:srgbClr val="F7F9F0"/>
                </a:solidFill>
                <a:latin typeface="Arial"/>
              </a:rPr>
              <a:t>Fujisawa RZ F1 bisa dibeli pesaing. Keunggulan jangka panjang harus tumbuh dari pasokan, proses, dan pengembangan varietas.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195" y="2409058"/>
            <a:ext cx="5462018" cy="393460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85195" y="2409058"/>
            <a:ext cx="5462019" cy="0"/>
          </a:xfrm>
          <a:prstGeom prst="line">
            <a:avLst/>
          </a:prstGeom>
          <a:ln w="36517">
            <a:solidFill>
              <a:srgbClr val="76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3591" y="2579667"/>
            <a:ext cx="51772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28761"/>
                </a:solidFill>
                <a:latin typeface="Arial"/>
              </a:rPr>
              <a:t>JALUR 01 / SAAT 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591" y="2811100"/>
            <a:ext cx="5177231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D30"/>
                </a:solidFill>
                <a:latin typeface="Arial"/>
              </a:rPr>
              <a:t>Amankan pasokan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591" y="3171375"/>
            <a:ext cx="5177231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3B7750"/>
                </a:solidFill>
                <a:latin typeface="Arial"/>
              </a:rPr>
              <a:t>6–12 bulan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591" y="5758232"/>
            <a:ext cx="517723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Perjanjian dengan distributor PT Excelindo / Rijk Zwaan, volume tahunan dan alternatif benih.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3591" y="6031776"/>
            <a:ext cx="5145228" cy="0"/>
          </a:xfrm>
          <a:prstGeom prst="line">
            <a:avLst/>
          </a:prstGeom>
          <a:ln w="7303">
            <a:solidFill>
              <a:srgbClr val="A6BF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591" y="6100019"/>
            <a:ext cx="517723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Genetik tetap bukan milik Melooloo.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671" y="2409058"/>
            <a:ext cx="5462132" cy="3934605"/>
          </a:xfrm>
          <a:prstGeom prst="rect">
            <a:avLst/>
          </a:prstGeom>
          <a:solidFill>
            <a:srgbClr val="CFE6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144671" y="2409058"/>
            <a:ext cx="5462132" cy="0"/>
          </a:xfrm>
          <a:prstGeom prst="line">
            <a:avLst/>
          </a:prstGeom>
          <a:ln w="36517">
            <a:solidFill>
              <a:srgbClr val="76A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3066" y="2579667"/>
            <a:ext cx="51773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28761"/>
                </a:solidFill>
                <a:latin typeface="Arial"/>
              </a:rPr>
              <a:t>JALUR 02 / JANGKA PANJANG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3066" y="2811100"/>
            <a:ext cx="5177345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60" b="1" i="0">
                <a:solidFill>
                  <a:srgbClr val="143D30"/>
                </a:solidFill>
                <a:latin typeface="Arial"/>
              </a:rPr>
              <a:t>Kembangkan benih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3066" y="3171375"/>
            <a:ext cx="5177345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3B7750"/>
                </a:solidFill>
                <a:latin typeface="Arial"/>
              </a:rPr>
              <a:t>7–8 tahun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3066" y="5606567"/>
            <a:ext cx="5177345" cy="32243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43D30"/>
                </a:solidFill>
                <a:latin typeface="Arial"/>
              </a:rPr>
              <a:t>Mitra pemuliaan yang diusulkan: UGM atau IPB. Koleksi 40–60 plasma nutfah, uji, lalu pendaftaran PVT.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03066" y="6031776"/>
            <a:ext cx="5145342" cy="0"/>
          </a:xfrm>
          <a:prstGeom prst="line">
            <a:avLst/>
          </a:prstGeom>
          <a:ln w="7303">
            <a:solidFill>
              <a:srgbClr val="A6BF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03066" y="6100019"/>
            <a:ext cx="51773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143D30"/>
                </a:solidFill>
                <a:latin typeface="Arial"/>
              </a:rPr>
              <a:t>Target penggunaan benih sendiri: Tahun 7+.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Investasi benih bertahap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Empat fase dari koleksi plasma nutfah hingga produksi rutin; tiap fase punya keputusan lanjut atau berhenti.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11021607" cy="701377"/>
          </a:xfrm>
          <a:prstGeom prst="rect">
            <a:avLst/>
          </a:prstGeom>
          <a:solidFill>
            <a:srgbClr val="15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7073" y="2251459"/>
            <a:ext cx="168431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9E99E"/>
                </a:solidFill>
                <a:latin typeface="Arial"/>
              </a:rPr>
              <a:t>PROGRAM PEMULIAAN · 10 TAHUN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7782" y="2017743"/>
            <a:ext cx="1347211" cy="419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44" b="1" i="0">
                <a:solidFill>
                  <a:srgbClr val="F5FAED"/>
                </a:solidFill>
                <a:latin typeface="Arial"/>
              </a:rPr>
              <a:t>Rp4.250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1369" y="2214941"/>
            <a:ext cx="17362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5FAED"/>
                </a:solidFill>
                <a:latin typeface="Arial"/>
              </a:rPr>
              <a:t>juta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04867" y="2244156"/>
            <a:ext cx="1312062" cy="3606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5FAED"/>
                </a:solidFill>
                <a:latin typeface="Arial"/>
              </a:rPr>
              <a:t>Anggaran usulan, belum masuk proyeksi keuangan dasar.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2725169"/>
            <a:ext cx="2700482" cy="2564032"/>
          </a:xfrm>
          <a:prstGeom prst="rect">
            <a:avLst/>
          </a:prstGeom>
          <a:solidFill>
            <a:srgbClr val="D9E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85195" y="2725169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85678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85195" y="5289201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85195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4377" y="2829930"/>
            <a:ext cx="24741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1 · Y1–Y2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377" y="4723740"/>
            <a:ext cx="247412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Rp950 jt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377" y="5062218"/>
            <a:ext cx="247412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40–60 plasma nutfah &amp; silang awal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8828" y="2725169"/>
            <a:ext cx="2700596" cy="2564032"/>
          </a:xfrm>
          <a:prstGeom prst="rect">
            <a:avLst/>
          </a:prstGeom>
          <a:solidFill>
            <a:srgbClr val="D5E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58828" y="2725169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59425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358828" y="5289201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358828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88009" y="2829930"/>
            <a:ext cx="247423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2 · Y3–Y4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8009" y="4723740"/>
            <a:ext cx="2474238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Rp1.050 jt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88009" y="5062218"/>
            <a:ext cx="24742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20–30 kandidat hibrida tersisa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32574" y="2725169"/>
            <a:ext cx="2700482" cy="2564032"/>
          </a:xfrm>
          <a:prstGeom prst="rect">
            <a:avLst/>
          </a:prstGeom>
          <a:solidFill>
            <a:srgbClr val="E5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132574" y="2725169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33057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132574" y="5289201"/>
            <a:ext cx="2700483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132574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61755" y="2829930"/>
            <a:ext cx="247412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3 · Y5–Y6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1755" y="4723740"/>
            <a:ext cx="247412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Rp1.050 jt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1755" y="5062218"/>
            <a:ext cx="247412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uji di GH, BUSS, pendaftaran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6206" y="2725169"/>
            <a:ext cx="2700596" cy="2564032"/>
          </a:xfrm>
          <a:prstGeom prst="rect">
            <a:avLst/>
          </a:prstGeom>
          <a:solidFill>
            <a:srgbClr val="D5E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906206" y="2725169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606803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906206" y="5289201"/>
            <a:ext cx="2700597" cy="0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906206" y="2725169"/>
            <a:ext cx="0" cy="2564032"/>
          </a:xfrm>
          <a:prstGeom prst="line">
            <a:avLst/>
          </a:prstGeom>
          <a:ln w="7303">
            <a:solidFill>
              <a:srgbClr val="ACC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35388" y="2829930"/>
            <a:ext cx="2474238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2" b="1" i="0">
                <a:solidFill>
                  <a:srgbClr val="567E59"/>
                </a:solidFill>
                <a:latin typeface="Arial"/>
              </a:rPr>
              <a:t>FASE 4 · Y7–Y10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5388" y="4723740"/>
            <a:ext cx="2474238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63D2B"/>
                </a:solidFill>
                <a:latin typeface="Arial"/>
              </a:rPr>
              <a:t>Rp1.200 jt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5388" y="5062218"/>
            <a:ext cx="24742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163D2B"/>
                </a:solidFill>
                <a:latin typeface="Arial"/>
              </a:rPr>
              <a:t>galur tetua &amp; produksi rutin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5195" y="5368400"/>
            <a:ext cx="2645135" cy="975263"/>
          </a:xfrm>
          <a:prstGeom prst="rect">
            <a:avLst/>
          </a:prstGeom>
          <a:solidFill>
            <a:srgbClr val="F1E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652" y="5441551"/>
            <a:ext cx="248222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143D30"/>
                </a:solidFill>
                <a:latin typeface="Arial"/>
              </a:rPr>
              <a:t>GERBANG BERHENTI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2652" y="6044557"/>
            <a:ext cx="2482226" cy="2508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Jika bukti tidak cukup di akhir fase, hentikan sebelum dana berikutnya.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97318" y="5368400"/>
            <a:ext cx="2424660" cy="975263"/>
          </a:xfrm>
          <a:prstGeom prst="rect">
            <a:avLst/>
          </a:prstGeom>
          <a:solidFill>
            <a:srgbClr val="E2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94775" y="5441551"/>
            <a:ext cx="2261751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143D30"/>
                </a:solidFill>
                <a:latin typeface="Arial"/>
              </a:rPr>
              <a:t>Rp2,0 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94775" y="6044557"/>
            <a:ext cx="2261751" cy="2508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143D30"/>
                </a:solidFill>
                <a:latin typeface="Arial"/>
              </a:rPr>
              <a:t>paparan maksimum jika dihentikan pada gerbang akhir Y4, menurut sumber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88965" y="5368400"/>
            <a:ext cx="5817837" cy="975263"/>
          </a:xfrm>
          <a:prstGeom prst="rect">
            <a:avLst/>
          </a:prstGeom>
          <a:solidFill>
            <a:srgbClr val="12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8633" y="5453647"/>
            <a:ext cx="563050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7E99B"/>
                </a:solidFill>
                <a:latin typeface="Arial"/>
              </a:rPr>
              <a:t>01 /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8633" y="5570505"/>
            <a:ext cx="5630507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F5FAED"/>
                </a:solidFill>
                <a:latin typeface="Arial"/>
              </a:rPr>
              <a:t>Fase 1 · kumpulkan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8633" y="5781512"/>
            <a:ext cx="563050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5FAED"/>
                </a:solidFill>
                <a:latin typeface="Arial"/>
              </a:rPr>
              <a:t>Rp950 juta untuk plasma nutfah dan persilangan awal.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98633" y="6170773"/>
            <a:ext cx="563050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6" b="1" i="0">
                <a:solidFill>
                  <a:srgbClr val="C7E99B"/>
                </a:solidFill>
                <a:latin typeface="Arial"/>
              </a:rPr>
              <a:t>KLIK TAHAP ATAU TEKAN →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ED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96C61"/>
                </a:solidFill>
                <a:latin typeface="Arial"/>
              </a:rPr>
              <a:t>MELOOLOO / OPERASI &amp;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694583" cy="5578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23" b="1" i="0">
                <a:solidFill>
                  <a:srgbClr val="143D30"/>
                </a:solidFill>
                <a:latin typeface="Arial Narrow"/>
              </a:rPr>
              <a:t>Apa yang sukar disalin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7455"/>
            <a:ext cx="805128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496C61"/>
                </a:solidFill>
                <a:latin typeface="Arial"/>
              </a:rPr>
              <a:t>Nursery paralel, empat parameter mutu, kapasitas tenaga, dan kepadatan unit membentuk keunggulan operasi.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44593"/>
            <a:ext cx="3616962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1944593"/>
            <a:ext cx="3616963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121" y="2078569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01 / KAPABILITAS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121" y="3278761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73 hari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121" y="3685369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Nursery paralel membuka 5 siklus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7404" y="1944593"/>
            <a:ext cx="3617076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87404" y="1944593"/>
            <a:ext cx="3617077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15330" y="2078569"/>
            <a:ext cx="339322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02 / KAPABILITAS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330" y="3278761"/>
            <a:ext cx="3393228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4 parameter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5330" y="3685369"/>
            <a:ext cx="33932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Resep iklim &amp; nutrisi lintas lokasi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89727" y="1944593"/>
            <a:ext cx="3616962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989727" y="1944593"/>
            <a:ext cx="3616962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17653" y="2078569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03 / KAPABILITAS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653" y="3278761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 : 5,1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7653" y="3685369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Kapasitas kerja efektif dalam asumsi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195" y="3996800"/>
            <a:ext cx="3616962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85195" y="3996800"/>
            <a:ext cx="3616963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121" y="4130776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04 / KAPABILITAS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121" y="5330969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17–18 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121" y="5737576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Kepadatan lokasi atap Jakarta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87404" y="3996800"/>
            <a:ext cx="3617076" cy="1966960"/>
          </a:xfrm>
          <a:prstGeom prst="rect">
            <a:avLst/>
          </a:prstGeom>
          <a:solidFill>
            <a:srgbClr val="E5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287404" y="3996800"/>
            <a:ext cx="3617077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415330" y="4130776"/>
            <a:ext cx="339322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05 / KAPABILITAS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5330" y="5330969"/>
            <a:ext cx="3393228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&lt;12 jam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5330" y="5737576"/>
            <a:ext cx="33932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Kedekatan kebun ke pelanggan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89727" y="3996800"/>
            <a:ext cx="3616962" cy="1966960"/>
          </a:xfrm>
          <a:prstGeom prst="rect">
            <a:avLst/>
          </a:prstGeom>
          <a:solidFill>
            <a:srgbClr val="D1E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989727" y="3996800"/>
            <a:ext cx="3616962" cy="0"/>
          </a:xfrm>
          <a:prstGeom prst="line">
            <a:avLst/>
          </a:prstGeom>
          <a:ln w="36517">
            <a:solidFill>
              <a:srgbClr val="80B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17653" y="4130776"/>
            <a:ext cx="339311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5C825E"/>
                </a:solidFill>
                <a:latin typeface="Arial"/>
              </a:rPr>
              <a:t>06 / KAPABILITAS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7653" y="5330969"/>
            <a:ext cx="3393114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4" b="1" i="0">
                <a:solidFill>
                  <a:srgbClr val="143D30"/>
                </a:solidFill>
                <a:latin typeface="Arial"/>
              </a:rPr>
              <a:t>Y7+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7653" y="5737576"/>
            <a:ext cx="33931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0" i="0">
                <a:solidFill>
                  <a:srgbClr val="143D30"/>
                </a:solidFill>
                <a:latin typeface="Arial"/>
              </a:rPr>
              <a:t>Target varietas sendiri &amp; PVT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195" y="6049008"/>
            <a:ext cx="11021607" cy="294656"/>
          </a:xfrm>
          <a:prstGeom prst="rect">
            <a:avLst/>
          </a:prstGeom>
          <a:solidFill>
            <a:srgbClr val="153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195" y="6134255"/>
            <a:ext cx="110536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4FAED"/>
                </a:solidFill>
                <a:latin typeface="Arial"/>
              </a:rPr>
              <a:t>KEUNGGULAN DATANG DARI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1171" y="6134255"/>
            <a:ext cx="24636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CFEBA7"/>
                </a:solidFill>
                <a:latin typeface="Arial"/>
              </a:rPr>
              <a:t>ENAM SISTEM YANG SALING MENGUATKAN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195" y="6134255"/>
            <a:ext cx="110536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F4FAED"/>
                </a:solidFill>
                <a:latin typeface="Arial"/>
              </a:rPr>
              <a:t>, BUKAN SATU ALAT.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ACC8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496C61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9E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46955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OPERASI &amp; TEKNOLOGI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OPERASI &amp; TEKNOLOGI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Empat angka inti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Melon manis itu gampang sekali-sekali. Yang dibangun adalah rasa manis yang berulang.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420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tanaman per unit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per tahun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&lt;10%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target beda hasil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816,6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panen Y10 dalam model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B2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CEBD7"/>
                </a:solidFill>
                <a:latin typeface="Arial"/>
              </a:rPr>
              <a:t>MELOOLOO /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809220"/>
            <a:ext cx="1105361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C9E99E"/>
                </a:solidFill>
                <a:latin typeface="Arial"/>
              </a:rPr>
              <a:t>TIM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062564"/>
            <a:ext cx="11053611" cy="6747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FAFCF5"/>
                </a:solidFill>
                <a:latin typeface="Arial Narrow"/>
              </a:rPr>
              <a:t>Strategi Sumber Daya Manusia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195" y="1734271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DCE9DC"/>
                </a:solidFill>
                <a:latin typeface="Arial"/>
              </a:rPr>
              <a:t>Merekrut, melatih, mengevaluasi, dan mempertahankan talenta kunci guna memastikan standar mutu greenhouse yang konsisten.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195" y="2032693"/>
            <a:ext cx="57349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CDE99F"/>
                </a:solidFill>
                <a:latin typeface="Arial"/>
              </a:rPr>
              <a:t>KUALITAS TERJAGA MELALUI KAPABILITAS SDM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195" y="2262871"/>
            <a:ext cx="46816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REKRUT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130" y="2230005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3938" y="2262871"/>
            <a:ext cx="33475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LATIH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1469" y="2230005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9278" y="2262871"/>
            <a:ext cx="3369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UKUR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08977" y="2230005"/>
            <a:ext cx="185035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1" i="0">
                <a:solidFill>
                  <a:srgbClr val="A8D682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6786" y="2262871"/>
            <a:ext cx="82204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F2F8E9"/>
                </a:solidFill>
                <a:latin typeface="Arial"/>
              </a:rPr>
              <a:t>PERTAHANKAN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195" y="2493050"/>
            <a:ext cx="5734925" cy="3749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DDE9D9"/>
                </a:solidFill>
                <a:latin typeface="Arial"/>
              </a:rPr>
              <a:t>Keahlian agronomi, teknologi pertanian, dan QC diterjemahkan menjadi keputusan yang berulang di setiap greenhouse.</a:t>
            </a:r>
          </a:p>
        </p:txBody>
      </p:sp>
      <p:pic>
        <p:nvPicPr>
          <p:cNvPr id="17" name="Picture 16" descr="picture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935491"/>
            <a:ext cx="5702921" cy="340817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85195" y="2935491"/>
            <a:ext cx="5702921" cy="107966"/>
          </a:xfrm>
          <a:prstGeom prst="rect">
            <a:avLst/>
          </a:prstGeom>
          <a:solidFill>
            <a:srgbClr val="000000">
              <a:alpha val="1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195" y="3041996"/>
            <a:ext cx="5702921" cy="107966"/>
          </a:xfrm>
          <a:prstGeom prst="rect">
            <a:avLst/>
          </a:prstGeom>
          <a:solidFill>
            <a:srgbClr val="000201">
              <a:alpha val="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195" y="3148501"/>
            <a:ext cx="5702921" cy="107966"/>
          </a:xfrm>
          <a:prstGeom prst="rect">
            <a:avLst/>
          </a:prstGeom>
          <a:solidFill>
            <a:srgbClr val="000202">
              <a:alpha val="5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5195" y="3255007"/>
            <a:ext cx="5702921" cy="107966"/>
          </a:xfrm>
          <a:prstGeom prst="rect">
            <a:avLst/>
          </a:prstGeom>
          <a:solidFill>
            <a:srgbClr val="000402">
              <a:alpha val="7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5195" y="3361512"/>
            <a:ext cx="5702921" cy="107966"/>
          </a:xfrm>
          <a:prstGeom prst="rect">
            <a:avLst/>
          </a:prstGeom>
          <a:solidFill>
            <a:srgbClr val="000403">
              <a:alpha val="9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5195" y="3468018"/>
            <a:ext cx="5702921" cy="107966"/>
          </a:xfrm>
          <a:prstGeom prst="rect">
            <a:avLst/>
          </a:prstGeom>
          <a:solidFill>
            <a:srgbClr val="010604">
              <a:alpha val="11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5195" y="3574523"/>
            <a:ext cx="5702921" cy="107966"/>
          </a:xfrm>
          <a:prstGeom prst="rect">
            <a:avLst/>
          </a:prstGeom>
          <a:solidFill>
            <a:srgbClr val="010604">
              <a:alpha val="14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5195" y="3681028"/>
            <a:ext cx="5702921" cy="107966"/>
          </a:xfrm>
          <a:prstGeom prst="rect">
            <a:avLst/>
          </a:prstGeom>
          <a:solidFill>
            <a:srgbClr val="010805">
              <a:alpha val="16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195" y="3787534"/>
            <a:ext cx="5702921" cy="107966"/>
          </a:xfrm>
          <a:prstGeom prst="rect">
            <a:avLst/>
          </a:prstGeom>
          <a:solidFill>
            <a:srgbClr val="010806">
              <a:alpha val="18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5195" y="3894039"/>
            <a:ext cx="5702921" cy="107966"/>
          </a:xfrm>
          <a:prstGeom prst="rect">
            <a:avLst/>
          </a:prstGeom>
          <a:solidFill>
            <a:srgbClr val="010A06">
              <a:alpha val="20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195" y="4000545"/>
            <a:ext cx="5702921" cy="107966"/>
          </a:xfrm>
          <a:prstGeom prst="rect">
            <a:avLst/>
          </a:prstGeom>
          <a:solidFill>
            <a:srgbClr val="010A07">
              <a:alpha val="2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5195" y="4107050"/>
            <a:ext cx="5702921" cy="107966"/>
          </a:xfrm>
          <a:prstGeom prst="rect">
            <a:avLst/>
          </a:prstGeom>
          <a:solidFill>
            <a:srgbClr val="010C08">
              <a:alpha val="24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5195" y="4213555"/>
            <a:ext cx="5702921" cy="107966"/>
          </a:xfrm>
          <a:prstGeom prst="rect">
            <a:avLst/>
          </a:prstGeom>
          <a:solidFill>
            <a:srgbClr val="010C08">
              <a:alpha val="26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5195" y="4320061"/>
            <a:ext cx="5702921" cy="107966"/>
          </a:xfrm>
          <a:prstGeom prst="rect">
            <a:avLst/>
          </a:prstGeom>
          <a:solidFill>
            <a:srgbClr val="010E09">
              <a:alpha val="29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5195" y="4426566"/>
            <a:ext cx="5702921" cy="107966"/>
          </a:xfrm>
          <a:prstGeom prst="rect">
            <a:avLst/>
          </a:prstGeom>
          <a:solidFill>
            <a:srgbClr val="010E0A">
              <a:alpha val="31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195" y="4533072"/>
            <a:ext cx="5702921" cy="107966"/>
          </a:xfrm>
          <a:prstGeom prst="rect">
            <a:avLst/>
          </a:prstGeom>
          <a:solidFill>
            <a:srgbClr val="01100A">
              <a:alpha val="33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5195" y="4639577"/>
            <a:ext cx="5702921" cy="107966"/>
          </a:xfrm>
          <a:prstGeom prst="rect">
            <a:avLst/>
          </a:prstGeom>
          <a:solidFill>
            <a:srgbClr val="02100B">
              <a:alpha val="35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5195" y="4746083"/>
            <a:ext cx="5702921" cy="107966"/>
          </a:xfrm>
          <a:prstGeom prst="rect">
            <a:avLst/>
          </a:prstGeom>
          <a:solidFill>
            <a:srgbClr val="02120B">
              <a:alpha val="37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5195" y="4852588"/>
            <a:ext cx="5702921" cy="107966"/>
          </a:xfrm>
          <a:prstGeom prst="rect">
            <a:avLst/>
          </a:prstGeom>
          <a:solidFill>
            <a:srgbClr val="02120C">
              <a:alpha val="39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5195" y="4959093"/>
            <a:ext cx="5702921" cy="107966"/>
          </a:xfrm>
          <a:prstGeom prst="rect">
            <a:avLst/>
          </a:prstGeom>
          <a:solidFill>
            <a:srgbClr val="02140D">
              <a:alpha val="4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195" y="5065599"/>
            <a:ext cx="5702921" cy="107966"/>
          </a:xfrm>
          <a:prstGeom prst="rect">
            <a:avLst/>
          </a:prstGeom>
          <a:solidFill>
            <a:srgbClr val="02140D">
              <a:alpha val="44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195" y="5172104"/>
            <a:ext cx="5702921" cy="107966"/>
          </a:xfrm>
          <a:prstGeom prst="rect">
            <a:avLst/>
          </a:prstGeom>
          <a:solidFill>
            <a:srgbClr val="02160E">
              <a:alpha val="46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195" y="5278610"/>
            <a:ext cx="5702921" cy="107966"/>
          </a:xfrm>
          <a:prstGeom prst="rect">
            <a:avLst/>
          </a:prstGeom>
          <a:solidFill>
            <a:srgbClr val="02160F">
              <a:alpha val="48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5195" y="5385115"/>
            <a:ext cx="5702921" cy="107966"/>
          </a:xfrm>
          <a:prstGeom prst="rect">
            <a:avLst/>
          </a:prstGeom>
          <a:solidFill>
            <a:srgbClr val="02180F">
              <a:alpha val="50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5195" y="5491620"/>
            <a:ext cx="5702921" cy="107966"/>
          </a:xfrm>
          <a:prstGeom prst="rect">
            <a:avLst/>
          </a:prstGeom>
          <a:solidFill>
            <a:srgbClr val="021810">
              <a:alpha val="52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5195" y="5598126"/>
            <a:ext cx="5702921" cy="107966"/>
          </a:xfrm>
          <a:prstGeom prst="rect">
            <a:avLst/>
          </a:prstGeom>
          <a:solidFill>
            <a:srgbClr val="021A11">
              <a:alpha val="54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195" y="5704631"/>
            <a:ext cx="5702921" cy="107966"/>
          </a:xfrm>
          <a:prstGeom prst="rect">
            <a:avLst/>
          </a:prstGeom>
          <a:solidFill>
            <a:srgbClr val="021A11">
              <a:alpha val="57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85195" y="5811137"/>
            <a:ext cx="5702921" cy="107966"/>
          </a:xfrm>
          <a:prstGeom prst="rect">
            <a:avLst/>
          </a:prstGeom>
          <a:solidFill>
            <a:srgbClr val="031C12">
              <a:alpha val="59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5195" y="5917642"/>
            <a:ext cx="5702921" cy="107966"/>
          </a:xfrm>
          <a:prstGeom prst="rect">
            <a:avLst/>
          </a:prstGeom>
          <a:solidFill>
            <a:srgbClr val="031C13">
              <a:alpha val="6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85195" y="6024148"/>
            <a:ext cx="5702921" cy="107966"/>
          </a:xfrm>
          <a:prstGeom prst="rect">
            <a:avLst/>
          </a:prstGeom>
          <a:solidFill>
            <a:srgbClr val="031E13">
              <a:alpha val="63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5195" y="6130653"/>
            <a:ext cx="5702921" cy="107966"/>
          </a:xfrm>
          <a:prstGeom prst="rect">
            <a:avLst/>
          </a:prstGeom>
          <a:solidFill>
            <a:srgbClr val="031E14">
              <a:alpha val="65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5195" y="6237158"/>
            <a:ext cx="5702921" cy="107966"/>
          </a:xfrm>
          <a:prstGeom prst="rect">
            <a:avLst/>
          </a:prstGeom>
          <a:solidFill>
            <a:srgbClr val="032015">
              <a:alpha val="67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85195" y="2935491"/>
            <a:ext cx="5702922" cy="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288117" y="2935491"/>
            <a:ext cx="0" cy="3408173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85195" y="6343664"/>
            <a:ext cx="5702922" cy="0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85195" y="2935491"/>
            <a:ext cx="0" cy="3408173"/>
          </a:xfrm>
          <a:prstGeom prst="line">
            <a:avLst/>
          </a:prstGeom>
          <a:ln w="7303">
            <a:solidFill>
              <a:srgbClr val="DDF4D8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Picture 53" descr="picture-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204" y="4805341"/>
            <a:ext cx="743194" cy="378063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677745" y="6101274"/>
            <a:ext cx="2885125" cy="155886"/>
          </a:xfrm>
          <a:prstGeom prst="rect">
            <a:avLst/>
          </a:prstGeom>
          <a:solidFill>
            <a:srgbClr val="092D1C">
              <a:alpha val="7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7745" y="6131744"/>
            <a:ext cx="291712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1" i="0">
                <a:solidFill>
                  <a:srgbClr val="F2F7EC"/>
                </a:solidFill>
                <a:latin typeface="Arial"/>
              </a:rPr>
              <a:t>VISUALISASI KONSEP PELATIHAN · BUKAN FOTO TIM TERPASANG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22205" y="2032693"/>
            <a:ext cx="2544712" cy="2107897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6422205" y="2032693"/>
            <a:ext cx="2544712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544083" y="2144758"/>
            <a:ext cx="233296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01 / TARGET SUMBER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38" y="2680206"/>
            <a:ext cx="699250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4/5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68829" y="3273740"/>
            <a:ext cx="1483353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skor kinerja rata-rata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44083" y="3926617"/>
            <a:ext cx="233296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review tiap semester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61977" y="2032693"/>
            <a:ext cx="2544826" cy="2107897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1977" y="2032693"/>
            <a:ext cx="2544826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183855" y="2144758"/>
            <a:ext cx="233307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02 / TARGET SUMBER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69066" y="2680206"/>
            <a:ext cx="562537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1×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04787" y="3273740"/>
            <a:ext cx="1891096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pelatihan per orang / tahun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3855" y="3926617"/>
            <a:ext cx="23330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kompetensi smart greenhouse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22205" y="4235652"/>
            <a:ext cx="2544712" cy="2108011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6422205" y="4235652"/>
            <a:ext cx="2544712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544083" y="4347717"/>
            <a:ext cx="233296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03 / TARGET SUMBER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88620" y="4883279"/>
            <a:ext cx="1043886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&lt;7%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42973" y="5476813"/>
            <a:ext cx="113518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turnover / tahun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44083" y="6129690"/>
            <a:ext cx="233296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sasaran retensi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61977" y="4235652"/>
            <a:ext cx="2544826" cy="2108011"/>
          </a:xfrm>
          <a:prstGeom prst="rect">
            <a:avLst/>
          </a:prstGeom>
          <a:solidFill>
            <a:srgbClr val="E8F6D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9061977" y="4235652"/>
            <a:ext cx="2544826" cy="0"/>
          </a:xfrm>
          <a:prstGeom prst="line">
            <a:avLst/>
          </a:prstGeom>
          <a:ln w="14607">
            <a:solidFill>
              <a:srgbClr val="9DCF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183855" y="4347717"/>
            <a:ext cx="233307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3E4A5"/>
                </a:solidFill>
                <a:latin typeface="Arial"/>
              </a:rPr>
              <a:t>04 / TARGET SUMBER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01493" y="4883279"/>
            <a:ext cx="1297798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4EFA3"/>
                </a:solidFill>
                <a:latin typeface="Arial"/>
              </a:rPr>
              <a:t>≥85%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00694" y="5476813"/>
            <a:ext cx="1299395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1F8E9"/>
                </a:solidFill>
                <a:latin typeface="Arial"/>
              </a:rPr>
              <a:t>engagement index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83855" y="6129690"/>
            <a:ext cx="23330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C7D9C6"/>
                </a:solidFill>
                <a:latin typeface="Arial"/>
              </a:rPr>
              <a:t>sasaran dalam 5 tahun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3F7D3">
                <a:alpha val="3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DCEBD7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9868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Strategi Perencanaan &amp; Pengadaan SDM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626200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Seluruh SDM dirancang full-time untuk menjaga stabilitas tim dan konsistensi kualitas.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1924622"/>
            <a:ext cx="4904781" cy="4419042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7543" y="2058712"/>
            <a:ext cx="463209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CBE99D"/>
                </a:solidFill>
                <a:latin typeface="Arial"/>
              </a:rPr>
              <a:t>PLANNING SDM MELOOLOO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98911" y="4868552"/>
            <a:ext cx="121793" cy="1488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20704" y="4851086"/>
            <a:ext cx="121685" cy="1746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242389" y="4830757"/>
            <a:ext cx="121548" cy="2032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363937" y="4807310"/>
            <a:ext cx="121372" cy="2344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85309" y="4780486"/>
            <a:ext cx="121155" cy="2682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606464" y="4750024"/>
            <a:ext cx="120887" cy="3046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27351" y="4715742"/>
            <a:ext cx="120569" cy="3428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847920" y="4677464"/>
            <a:ext cx="120194" cy="3827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968114" y="4635124"/>
            <a:ext cx="119770" cy="4234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87884" y="4588732"/>
            <a:ext cx="119303" cy="4639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07187" y="4538395"/>
            <a:ext cx="118806" cy="5033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325993" y="4484314"/>
            <a:ext cx="118293" cy="5408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444286" y="4426781"/>
            <a:ext cx="117786" cy="5753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562072" y="4366153"/>
            <a:ext cx="117303" cy="6062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679375" y="4302825"/>
            <a:ext cx="116860" cy="6332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796235" y="4237209"/>
            <a:ext cx="116466" cy="6561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12701" y="4169719"/>
            <a:ext cx="116134" cy="6749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028835" y="4100334"/>
            <a:ext cx="115786" cy="6938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144621" y="4028816"/>
            <a:ext cx="115382" cy="7151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260003" y="3955164"/>
            <a:ext cx="114964" cy="73652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374967" y="3879399"/>
            <a:ext cx="114536" cy="7576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489503" y="3801545"/>
            <a:ext cx="114101" cy="7785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3603604" y="3721618"/>
            <a:ext cx="113654" cy="79927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17258" y="3639647"/>
            <a:ext cx="113201" cy="81971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830459" y="3555668"/>
            <a:ext cx="112743" cy="83979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943202" y="3469713"/>
            <a:ext cx="112279" cy="8595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055481" y="3381820"/>
            <a:ext cx="111812" cy="8789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167293" y="3292027"/>
            <a:ext cx="111342" cy="8979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278635" y="3200377"/>
            <a:ext cx="110870" cy="91650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389505" y="3106912"/>
            <a:ext cx="110400" cy="9346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499905" y="3011679"/>
            <a:ext cx="109928" cy="95233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09833" y="2914723"/>
            <a:ext cx="109460" cy="96956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719293" y="2816095"/>
            <a:ext cx="108994" cy="98628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828287" y="2715830"/>
            <a:ext cx="108529" cy="100265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936816" y="2614016"/>
            <a:ext cx="108081" cy="101814"/>
          </a:xfrm>
          <a:prstGeom prst="line">
            <a:avLst/>
          </a:prstGeom>
          <a:ln w="18258">
            <a:solidFill>
              <a:srgbClr val="BCE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7543" y="5172800"/>
            <a:ext cx="90249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543" y="5275051"/>
            <a:ext cx="902494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543" y="5874748"/>
            <a:ext cx="902494" cy="26754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DBE8D9"/>
                </a:solidFill>
                <a:latin typeface="Arial"/>
              </a:rPr>
              <a:t>Jakarta · awal operasi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56761" y="5577809"/>
            <a:ext cx="909975" cy="7303"/>
          </a:xfrm>
          <a:prstGeom prst="rect">
            <a:avLst/>
          </a:prstGeom>
          <a:solidFill>
            <a:srgbClr val="A8D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15465" y="5291484"/>
            <a:ext cx="87613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15465" y="5393735"/>
            <a:ext cx="876133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15465" y="5993432"/>
            <a:ext cx="87613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DBE8D9"/>
                </a:solidFill>
                <a:latin typeface="Arial"/>
              </a:rPr>
              <a:t>ekspansi bertahap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08322" y="5577809"/>
            <a:ext cx="910089" cy="7303"/>
          </a:xfrm>
          <a:prstGeom prst="rect">
            <a:avLst/>
          </a:prstGeom>
          <a:solidFill>
            <a:srgbClr val="A8D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67139" y="5172800"/>
            <a:ext cx="90249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D1E5CF"/>
                </a:solidFill>
                <a:latin typeface="Arial"/>
              </a:rPr>
              <a:t>Y10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67139" y="5275051"/>
            <a:ext cx="902494" cy="6382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32" b="1" i="0">
                <a:solidFill>
                  <a:srgbClr val="D1EDA0"/>
                </a:solidFill>
                <a:latin typeface="Arial"/>
              </a:rPr>
              <a:t>85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67139" y="5874748"/>
            <a:ext cx="902494" cy="26754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6" b="0" i="0">
                <a:solidFill>
                  <a:srgbClr val="DBE8D9"/>
                </a:solidFill>
                <a:latin typeface="Arial"/>
              </a:rPr>
              <a:t>Jakarta · Surabaya · Bali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5611855" y="2182645"/>
            <a:ext cx="5994948" cy="0"/>
          </a:xfrm>
          <a:prstGeom prst="line">
            <a:avLst/>
          </a:prstGeom>
          <a:ln w="14607">
            <a:solidFill>
              <a:srgbClr val="91B8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11855" y="1924622"/>
            <a:ext cx="6026952" cy="2218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8" b="1" i="0">
                <a:solidFill>
                  <a:srgbClr val="3A6846"/>
                </a:solidFill>
                <a:latin typeface="Arial"/>
              </a:rPr>
              <a:t>PENGADAAN SDM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11855" y="2261730"/>
            <a:ext cx="5994948" cy="1135144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11855" y="2261730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606803" y="2261730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611855" y="3396875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611855" y="2261730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728825" y="2669022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77275" y="2633873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Seleksi kompetensi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77275" y="2867361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Agrikultur, adaptasi teknologi, disiplin, integritas, dan keselarasan nilai.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11855" y="3451652"/>
            <a:ext cx="5994948" cy="1135258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5611855" y="3451652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606803" y="3451652"/>
            <a:ext cx="0" cy="1135259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5611855" y="4586911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611855" y="3451652"/>
            <a:ext cx="0" cy="1135259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728825" y="3858944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77275" y="3823795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Onboarding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77275" y="4057283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Orientasi budaya dan SOP teknis sebelum menangani mutu panen.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11855" y="4641688"/>
            <a:ext cx="5994948" cy="1135144"/>
          </a:xfrm>
          <a:prstGeom prst="rect">
            <a:avLst/>
          </a:prstGeom>
          <a:solidFill>
            <a:srgbClr val="E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5611855" y="4641688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606803" y="4641688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5611855" y="5776833"/>
            <a:ext cx="5994948" cy="0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611855" y="4641688"/>
            <a:ext cx="0" cy="1135145"/>
          </a:xfrm>
          <a:prstGeom prst="line">
            <a:avLst/>
          </a:prstGeom>
          <a:ln w="7303">
            <a:solidFill>
              <a:srgbClr val="BDCD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728825" y="5048980"/>
            <a:ext cx="482997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79A86B"/>
                </a:solidFill>
                <a:latin typeface="Arial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77275" y="5013831"/>
            <a:ext cx="524456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2" b="1" i="0">
                <a:solidFill>
                  <a:srgbClr val="536E57"/>
                </a:solidFill>
                <a:latin typeface="Arial"/>
              </a:rPr>
              <a:t>Reality check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77275" y="5247320"/>
            <a:ext cx="524456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1" b="0" i="0">
                <a:solidFill>
                  <a:srgbClr val="536E57"/>
                </a:solidFill>
                <a:latin typeface="Arial"/>
              </a:rPr>
              <a:t>Penilaian kinerja dan pemahaman sistem menentukan kelulusan probation.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1855" y="5831610"/>
            <a:ext cx="5994948" cy="512053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09311" y="5882736"/>
            <a:ext cx="583203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3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09311" y="5981335"/>
            <a:ext cx="5832039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F5F9EE"/>
                </a:solidFill>
                <a:latin typeface="Arial"/>
              </a:rPr>
              <a:t>Seleksi kompetensi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09311" y="6143841"/>
            <a:ext cx="583203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0" i="0">
                <a:solidFill>
                  <a:srgbClr val="E0ECDF"/>
                </a:solidFill>
                <a:latin typeface="Arial"/>
              </a:rPr>
              <a:t>Uji kemampuan agrikultur, adaptasi teknologi, kedisiplinan, integritas, dan keselarasan nilai.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Struktur Organisasi SDM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MELOOLOO (Y0–Y10)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92" y="1954521"/>
            <a:ext cx="1950614" cy="365181"/>
          </a:xfrm>
          <a:prstGeom prst="rect">
            <a:avLst/>
          </a:prstGeom>
          <a:solidFill>
            <a:srgbClr val="14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2570" y="2012950"/>
            <a:ext cx="1738863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FFFFFF"/>
                </a:solidFill>
                <a:latin typeface="Arial"/>
              </a:rPr>
              <a:t>CEO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527936" y="2466004"/>
            <a:ext cx="7136126" cy="0"/>
          </a:xfrm>
          <a:prstGeom prst="line">
            <a:avLst/>
          </a:prstGeom>
          <a:ln w="14607">
            <a:solidFill>
              <a:srgbClr val="527E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095942" y="2319703"/>
            <a:ext cx="0" cy="131693"/>
          </a:xfrm>
          <a:prstGeom prst="line">
            <a:avLst/>
          </a:prstGeom>
          <a:ln w="14607">
            <a:solidFill>
              <a:srgbClr val="4F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44161" y="2541551"/>
            <a:ext cx="3421364" cy="3332740"/>
          </a:xfrm>
          <a:prstGeom prst="rect">
            <a:avLst/>
          </a:prstGeom>
          <a:solidFill>
            <a:srgbClr val="DC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35438" y="2565858"/>
            <a:ext cx="2438810" cy="414481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5438" y="2690705"/>
            <a:ext cx="2470814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8FBF2"/>
                </a:solidFill>
                <a:latin typeface="Arial"/>
              </a:rPr>
              <a:t>Commercial Director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165" y="3254568"/>
            <a:ext cx="1658359" cy="1258051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61165" y="3254568"/>
            <a:ext cx="1658359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19524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61165" y="4512619"/>
            <a:ext cx="1658359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61165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61165" y="3756237"/>
            <a:ext cx="1690363" cy="27621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Business Development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3041" y="4512619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1165" y="4579607"/>
            <a:ext cx="1658359" cy="125816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61165" y="4579607"/>
            <a:ext cx="1658359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419524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761165" y="5837773"/>
            <a:ext cx="1658359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61165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1165" y="5141303"/>
            <a:ext cx="16903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Staff Business Development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90163" y="3254568"/>
            <a:ext cx="1658359" cy="1258051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490163" y="3254568"/>
            <a:ext cx="1658360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148523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490163" y="4512619"/>
            <a:ext cx="1658360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490163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490163" y="3816263"/>
            <a:ext cx="16903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Marketing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2039" y="4512619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90163" y="4579607"/>
            <a:ext cx="1658359" cy="125816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2490163" y="4579607"/>
            <a:ext cx="165836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148523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490163" y="5837773"/>
            <a:ext cx="165836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490163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90163" y="5141303"/>
            <a:ext cx="169036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Staff Marketing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62672" y="2565858"/>
            <a:ext cx="2808552" cy="414481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62672" y="2690705"/>
            <a:ext cx="284055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8FBF2"/>
                </a:solidFill>
                <a:latin typeface="Arial"/>
              </a:rPr>
              <a:t>Operation Director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16618" y="3254568"/>
            <a:ext cx="1915010" cy="816409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4316618" y="3254568"/>
            <a:ext cx="1915010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231628" y="3254568"/>
            <a:ext cx="0" cy="81641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4316618" y="4070978"/>
            <a:ext cx="1915010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16618" y="3254568"/>
            <a:ext cx="0" cy="81641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316618" y="3595443"/>
            <a:ext cx="19470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HRGA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66763" y="4070978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16618" y="4137966"/>
            <a:ext cx="1915010" cy="816409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316618" y="4137966"/>
            <a:ext cx="191501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231628" y="4137966"/>
            <a:ext cx="0" cy="816409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4316618" y="4954375"/>
            <a:ext cx="191501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316618" y="4137966"/>
            <a:ext cx="0" cy="816409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316618" y="4478840"/>
            <a:ext cx="19470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Staff HRGA / Admin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66763" y="4954375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16618" y="5021363"/>
            <a:ext cx="1915010" cy="816409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4316618" y="5021363"/>
            <a:ext cx="191501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231628" y="5021363"/>
            <a:ext cx="0" cy="81641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4316618" y="5837773"/>
            <a:ext cx="1915010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316618" y="5021363"/>
            <a:ext cx="0" cy="81641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316618" y="5362238"/>
            <a:ext cx="194701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Driver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2267" y="3254568"/>
            <a:ext cx="1915124" cy="816409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6302267" y="3254568"/>
            <a:ext cx="1915125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217392" y="3254568"/>
            <a:ext cx="0" cy="81641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6302267" y="4070978"/>
            <a:ext cx="1915125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6302267" y="3254568"/>
            <a:ext cx="0" cy="81641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302267" y="3595443"/>
            <a:ext cx="19471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Operation / GM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52526" y="4070978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02267" y="4137966"/>
            <a:ext cx="1915124" cy="816409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6302267" y="4137966"/>
            <a:ext cx="1915125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217392" y="4137966"/>
            <a:ext cx="0" cy="816409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6302267" y="4954375"/>
            <a:ext cx="1915125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6302267" y="4137966"/>
            <a:ext cx="0" cy="816409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302267" y="4478840"/>
            <a:ext cx="19471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Grower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52526" y="4954375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02267" y="5021363"/>
            <a:ext cx="1915124" cy="816409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6302267" y="5021363"/>
            <a:ext cx="1915125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217392" y="5021363"/>
            <a:ext cx="0" cy="81641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6302267" y="5837773"/>
            <a:ext cx="1915125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6302267" y="5021363"/>
            <a:ext cx="0" cy="81641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302267" y="5362238"/>
            <a:ext cx="194712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Farmer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11831" y="2565858"/>
            <a:ext cx="2192544" cy="414481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11831" y="2690705"/>
            <a:ext cx="22245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5" b="1" i="0">
                <a:solidFill>
                  <a:srgbClr val="F8FBF2"/>
                </a:solidFill>
                <a:latin typeface="Arial"/>
              </a:rPr>
              <a:t>Finance Director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85487" y="3254568"/>
            <a:ext cx="3045232" cy="1258051"/>
          </a:xfrm>
          <a:prstGeom prst="rect">
            <a:avLst/>
          </a:prstGeom>
          <a:solidFill>
            <a:srgbClr val="BDD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8385487" y="3254568"/>
            <a:ext cx="3045233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1430720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8385487" y="4512619"/>
            <a:ext cx="3045233" cy="0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8385487" y="3254568"/>
            <a:ext cx="0" cy="1258051"/>
          </a:xfrm>
          <a:prstGeom prst="line">
            <a:avLst/>
          </a:prstGeom>
          <a:ln w="7303">
            <a:solidFill>
              <a:srgbClr val="9AC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8385487" y="3816263"/>
            <a:ext cx="307723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Head of Finance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00743" y="4512619"/>
            <a:ext cx="14607" cy="66988"/>
          </a:xfrm>
          <a:prstGeom prst="rect">
            <a:avLst/>
          </a:prstGeom>
          <a:solidFill>
            <a:srgbClr val="5F9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385487" y="4579607"/>
            <a:ext cx="3045232" cy="1258165"/>
          </a:xfrm>
          <a:prstGeom prst="rect">
            <a:avLst/>
          </a:prstGeom>
          <a:solidFill>
            <a:srgbClr val="E6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8385487" y="4579607"/>
            <a:ext cx="3045233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1430720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8385487" y="5837773"/>
            <a:ext cx="3045233" cy="0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8385487" y="4579607"/>
            <a:ext cx="0" cy="1258166"/>
          </a:xfrm>
          <a:prstGeom prst="line">
            <a:avLst/>
          </a:prstGeom>
          <a:ln w="7303">
            <a:solidFill>
              <a:srgbClr val="A8C4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385487" y="5141303"/>
            <a:ext cx="307723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7432D"/>
                </a:solidFill>
                <a:latin typeface="Arial"/>
              </a:rPr>
              <a:t>Staff Finance &amp; Accounting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44161" y="5910809"/>
            <a:ext cx="10703675" cy="426692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618" y="6076625"/>
            <a:ext cx="6903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CAEC9B"/>
                </a:solidFill>
                <a:latin typeface="Arial"/>
              </a:rPr>
              <a:t>01 / 03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60902" y="6044215"/>
            <a:ext cx="100725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F5F9EE"/>
                </a:solidFill>
                <a:latin typeface="Arial"/>
              </a:rPr>
              <a:t>Komersial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97092" y="6063387"/>
            <a:ext cx="87852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E0ECDF"/>
                </a:solidFill>
                <a:latin typeface="Arial"/>
              </a:rPr>
              <a:t>Business Development dan Marketing memiliki kepala fungsi serta staf pendukung.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Proyeksi Jumlah Pekerja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Pertumbuhan SDM mengikuti pertumbuhan jumlah greenhouse dan pembukaan lokasi baru.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290945"/>
            <a:ext cx="11008370" cy="0"/>
          </a:xfrm>
          <a:prstGeom prst="line">
            <a:avLst/>
          </a:prstGeom>
          <a:ln w="7303">
            <a:solidFill>
              <a:srgbClr val="9DB7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00999"/>
            <a:ext cx="340350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26" y="1900999"/>
            <a:ext cx="324259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80AE69"/>
                </a:solidFill>
                <a:latin typeface="Arial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7548" y="1900999"/>
            <a:ext cx="340350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8460" y="2090894"/>
            <a:ext cx="51209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1" b="1" i="0">
                <a:solidFill>
                  <a:srgbClr val="253F36"/>
                </a:solidFill>
                <a:latin typeface="Arial"/>
              </a:rPr>
              <a:t>personel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5099" y="2124216"/>
            <a:ext cx="1857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253F36"/>
                </a:solidFill>
                <a:latin typeface="Arial"/>
              </a:rPr>
              <a:t>35 → 237 GREENHOUSE · Y0–Y10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91814" y="5172001"/>
            <a:ext cx="11008370" cy="0"/>
          </a:xfrm>
          <a:prstGeom prst="line">
            <a:avLst/>
          </a:prstGeom>
          <a:ln w="14607">
            <a:solidFill>
              <a:srgbClr val="7598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37901" y="447929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939" y="4667137"/>
            <a:ext cx="928348" cy="490256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939" y="4994203"/>
            <a:ext cx="928348" cy="16319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32" y="447929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0671" y="4667137"/>
            <a:ext cx="928348" cy="490256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0671" y="4994203"/>
            <a:ext cx="928348" cy="16319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3478" y="4344065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8402" y="4531906"/>
            <a:ext cx="928462" cy="625487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38402" y="4912836"/>
            <a:ext cx="928462" cy="244557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31210" y="4237021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27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6248" y="4424862"/>
            <a:ext cx="928348" cy="732531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36248" y="4832153"/>
            <a:ext cx="928348" cy="325240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8941" y="4098937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32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3980" y="4286777"/>
            <a:ext cx="928348" cy="870616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33980" y="4749075"/>
            <a:ext cx="928348" cy="40831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6787" y="3910184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39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31711" y="4098024"/>
            <a:ext cx="928462" cy="1059369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31711" y="4668050"/>
            <a:ext cx="928462" cy="48934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4519" y="3555158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52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557" y="3742999"/>
            <a:ext cx="928348" cy="1414394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29557" y="4559180"/>
            <a:ext cx="928348" cy="598213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22250" y="3391740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27289" y="3579580"/>
            <a:ext cx="928348" cy="1577813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27289" y="4477357"/>
            <a:ext cx="928348" cy="680036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0096" y="3231060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64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25020" y="3418900"/>
            <a:ext cx="928462" cy="1738493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25020" y="4342125"/>
            <a:ext cx="928462" cy="815268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17828" y="2768990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81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22866" y="2956831"/>
            <a:ext cx="928348" cy="2200562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622866" y="4098937"/>
            <a:ext cx="928348" cy="1058456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15673" y="2659094"/>
            <a:ext cx="17031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53F36"/>
                </a:solidFill>
                <a:latin typeface="Arial"/>
              </a:rPr>
              <a:t>85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20598" y="2846934"/>
            <a:ext cx="928462" cy="2310459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20598" y="4043817"/>
            <a:ext cx="928462" cy="1113576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1814" y="5308830"/>
            <a:ext cx="91408" cy="91409"/>
          </a:xfrm>
          <a:prstGeom prst="rect">
            <a:avLst/>
          </a:prstGeom>
          <a:solidFill>
            <a:srgbClr val="195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1814" y="5296163"/>
            <a:ext cx="4727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7" b="0" i="0">
                <a:solidFill>
                  <a:srgbClr val="4F6E54"/>
                </a:solidFill>
                <a:latin typeface="Arial"/>
              </a:rPr>
              <a:t>Farmer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84884" y="5308830"/>
            <a:ext cx="91408" cy="91409"/>
          </a:xfrm>
          <a:prstGeom prst="rect">
            <a:avLst/>
          </a:prstGeom>
          <a:solidFill>
            <a:srgbClr val="AFD9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84884" y="5296163"/>
            <a:ext cx="18574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7" b="0" i="0">
                <a:solidFill>
                  <a:srgbClr val="4F6E54"/>
                </a:solidFill>
                <a:latin typeface="Arial"/>
              </a:rPr>
              <a:t>Personel lainnya menurut total sumber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9782" y="5242641"/>
            <a:ext cx="3570402" cy="223902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029782" y="5242641"/>
            <a:ext cx="3570402" cy="0"/>
          </a:xfrm>
          <a:prstGeom prst="line">
            <a:avLst/>
          </a:prstGeom>
          <a:ln w="7303">
            <a:solidFill>
              <a:srgbClr val="A6C6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600184" y="5242641"/>
            <a:ext cx="0" cy="223902"/>
          </a:xfrm>
          <a:prstGeom prst="line">
            <a:avLst/>
          </a:prstGeom>
          <a:ln w="7303">
            <a:solidFill>
              <a:srgbClr val="A6C6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8029782" y="5466543"/>
            <a:ext cx="3570402" cy="0"/>
          </a:xfrm>
          <a:prstGeom prst="line">
            <a:avLst/>
          </a:prstGeom>
          <a:ln w="7303">
            <a:solidFill>
              <a:srgbClr val="A6C6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029782" y="5242641"/>
            <a:ext cx="0" cy="223902"/>
          </a:xfrm>
          <a:prstGeom prst="line">
            <a:avLst/>
          </a:prstGeom>
          <a:ln w="7303">
            <a:solidFill>
              <a:srgbClr val="A6C6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029782" y="5296163"/>
            <a:ext cx="360240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1" i="0">
                <a:solidFill>
                  <a:srgbClr val="1A4B33"/>
                </a:solidFill>
                <a:latin typeface="Arial"/>
              </a:rPr>
              <a:t>1 farmer menangani 6 greenhouse · 1 head farmer membawahi 6 farmer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8162" y="5747733"/>
            <a:ext cx="3930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253F36"/>
                </a:solidFill>
                <a:latin typeface="Arial"/>
              </a:rPr>
              <a:t>Proyeksi jumlah farmer dan total personel tiap tahun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5466" y="5518924"/>
            <a:ext cx="1320114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95466" y="5518924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15580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95466" y="5751385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95466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7418" y="5579863"/>
            <a:ext cx="58821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PERSONEL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15580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915580" y="5518924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95657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915580" y="5751385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915580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292397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95657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795657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675733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795657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795657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172473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5733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675733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555809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3675733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675733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4052550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55809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4555809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435885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4555809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555809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4932626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435885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5435885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315961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5435885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435885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812702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15961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6315961" y="5518924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196038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6315961" y="5751385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6315961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6692778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96038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7196038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8076114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7196038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7196038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7572854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076114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8076114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8956190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8076114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8076114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452931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956190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8956190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9836266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8956190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8956190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9333007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836266" y="5518924"/>
            <a:ext cx="880076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9836266" y="5518924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0716342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836266" y="5751385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9836266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10213083" y="5579863"/>
            <a:ext cx="15844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716342" y="5518924"/>
            <a:ext cx="880190" cy="232461"/>
          </a:xfrm>
          <a:prstGeom prst="rect">
            <a:avLst/>
          </a:prstGeom>
          <a:solidFill>
            <a:srgbClr val="E3E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10716342" y="5518924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1596533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10716342" y="5751385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10716342" y="5518924"/>
            <a:ext cx="0" cy="23246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11064173" y="5579863"/>
            <a:ext cx="216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15F3D"/>
                </a:solidFill>
                <a:latin typeface="Arial"/>
              </a:rPr>
              <a:t>Y10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95466" y="5758688"/>
            <a:ext cx="11001066" cy="287580"/>
          </a:xfrm>
          <a:prstGeom prst="rect">
            <a:avLst/>
          </a:prstGeom>
          <a:solidFill>
            <a:srgbClr val="F5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>
            <a:off x="595466" y="5758688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915580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595466" y="6046269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595466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613725" y="5822595"/>
            <a:ext cx="457777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205439"/>
                </a:solidFill>
                <a:latin typeface="Arial"/>
              </a:rPr>
              <a:t>Farmer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915580" y="5758688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795657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1915580" y="6046269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1915580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2315563" y="5812324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6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2795657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675733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795657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2795657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3195639" y="5812324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6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3675733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555809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H="1">
            <a:off x="3675733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3675733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4075715" y="5812324"/>
            <a:ext cx="112000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9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555809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5435885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H="1">
            <a:off x="4555809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555809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915850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12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435885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6315961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H="1">
            <a:off x="5435885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5435885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5795927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15</a:t>
            </a:r>
          </a:p>
        </p:txBody>
      </p:sp>
      <p:cxnSp>
        <p:nvCxnSpPr>
          <p:cNvPr id="165" name="Connector 164"/>
          <p:cNvCxnSpPr/>
          <p:nvPr/>
        </p:nvCxnSpPr>
        <p:spPr>
          <a:xfrm>
            <a:off x="6315961" y="5758688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7196038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6315961" y="6046269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6315961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6676003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18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7196038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8076114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7196038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7196038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Box 173"/>
          <p:cNvSpPr txBox="1"/>
          <p:nvPr/>
        </p:nvSpPr>
        <p:spPr>
          <a:xfrm>
            <a:off x="7556079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22</a:t>
            </a:r>
          </a:p>
        </p:txBody>
      </p:sp>
      <p:cxnSp>
        <p:nvCxnSpPr>
          <p:cNvPr id="175" name="Connector 174"/>
          <p:cNvCxnSpPr/>
          <p:nvPr/>
        </p:nvCxnSpPr>
        <p:spPr>
          <a:xfrm>
            <a:off x="8076114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8956190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8076114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8076114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8436155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25</a:t>
            </a:r>
          </a:p>
        </p:txBody>
      </p:sp>
      <p:cxnSp>
        <p:nvCxnSpPr>
          <p:cNvPr id="180" name="Connector 179"/>
          <p:cNvCxnSpPr/>
          <p:nvPr/>
        </p:nvCxnSpPr>
        <p:spPr>
          <a:xfrm>
            <a:off x="8956190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9836266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8956190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8956190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/>
          <p:cNvSpPr txBox="1"/>
          <p:nvPr/>
        </p:nvSpPr>
        <p:spPr>
          <a:xfrm>
            <a:off x="9316232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30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9836266" y="5758688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10716342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>
            <a:off x="9836266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9836266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>
            <a:off x="10196308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39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10716342" y="5758688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11596533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H="1">
            <a:off x="10716342" y="6046269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0716342" y="5758688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/>
          <p:cNvSpPr txBox="1"/>
          <p:nvPr/>
        </p:nvSpPr>
        <p:spPr>
          <a:xfrm>
            <a:off x="11076384" y="5812324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205439"/>
                </a:solidFill>
                <a:latin typeface="Arial"/>
              </a:rPr>
              <a:t>41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95466" y="6046269"/>
            <a:ext cx="11001066" cy="287580"/>
          </a:xfrm>
          <a:prstGeom prst="rect">
            <a:avLst/>
          </a:prstGeom>
          <a:solidFill>
            <a:srgbClr val="143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6" name="Connector 195"/>
          <p:cNvCxnSpPr/>
          <p:nvPr/>
        </p:nvCxnSpPr>
        <p:spPr>
          <a:xfrm>
            <a:off x="595466" y="6046269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1915580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>
            <a:off x="595466" y="6333850"/>
            <a:ext cx="1320114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595466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/>
          <p:cNvSpPr txBox="1"/>
          <p:nvPr/>
        </p:nvSpPr>
        <p:spPr>
          <a:xfrm>
            <a:off x="613725" y="6110176"/>
            <a:ext cx="31729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1" i="0">
                <a:solidFill>
                  <a:srgbClr val="F4FAEC"/>
                </a:solidFill>
                <a:latin typeface="Arial"/>
              </a:rPr>
              <a:t>Total</a:t>
            </a:r>
          </a:p>
        </p:txBody>
      </p:sp>
      <p:cxnSp>
        <p:nvCxnSpPr>
          <p:cNvPr id="201" name="Connector 200"/>
          <p:cNvCxnSpPr/>
          <p:nvPr/>
        </p:nvCxnSpPr>
        <p:spPr>
          <a:xfrm>
            <a:off x="1915580" y="6046269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2795657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>
            <a:off x="1915580" y="633385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915580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TextBox 204"/>
          <p:cNvSpPr txBox="1"/>
          <p:nvPr/>
        </p:nvSpPr>
        <p:spPr>
          <a:xfrm>
            <a:off x="2275622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18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2795657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675733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2795657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795657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3155698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18</a:t>
            </a:r>
          </a:p>
        </p:txBody>
      </p:sp>
      <p:cxnSp>
        <p:nvCxnSpPr>
          <p:cNvPr id="211" name="Connector 210"/>
          <p:cNvCxnSpPr/>
          <p:nvPr/>
        </p:nvCxnSpPr>
        <p:spPr>
          <a:xfrm>
            <a:off x="3675733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555809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>
            <a:off x="3675733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675733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4035774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23</a:t>
            </a:r>
          </a:p>
        </p:txBody>
      </p:sp>
      <p:cxnSp>
        <p:nvCxnSpPr>
          <p:cNvPr id="216" name="Connector 215"/>
          <p:cNvCxnSpPr/>
          <p:nvPr/>
        </p:nvCxnSpPr>
        <p:spPr>
          <a:xfrm>
            <a:off x="4555809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5435885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4555809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4555809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4915850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27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5435885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6315961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5435885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5435885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TextBox 224"/>
          <p:cNvSpPr txBox="1"/>
          <p:nvPr/>
        </p:nvSpPr>
        <p:spPr>
          <a:xfrm>
            <a:off x="5795927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32</a:t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6315961" y="6046269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7196038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>
            <a:off x="6315961" y="6333850"/>
            <a:ext cx="880077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6315961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TextBox 229"/>
          <p:cNvSpPr txBox="1"/>
          <p:nvPr/>
        </p:nvSpPr>
        <p:spPr>
          <a:xfrm>
            <a:off x="6676003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39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7196038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8076114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H="1">
            <a:off x="7196038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7196038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7556079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52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8076114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8956190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>
            <a:off x="8076114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8076114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TextBox 239"/>
          <p:cNvSpPr txBox="1"/>
          <p:nvPr/>
        </p:nvSpPr>
        <p:spPr>
          <a:xfrm>
            <a:off x="8436155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58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8956190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9836266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>
            <a:off x="8956190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8956190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TextBox 244"/>
          <p:cNvSpPr txBox="1"/>
          <p:nvPr/>
        </p:nvSpPr>
        <p:spPr>
          <a:xfrm>
            <a:off x="9316232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64</a:t>
            </a:r>
          </a:p>
        </p:txBody>
      </p:sp>
      <p:cxnSp>
        <p:nvCxnSpPr>
          <p:cNvPr id="246" name="Connector 245"/>
          <p:cNvCxnSpPr/>
          <p:nvPr/>
        </p:nvCxnSpPr>
        <p:spPr>
          <a:xfrm>
            <a:off x="9836266" y="6046269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0716342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>
            <a:off x="9836266" y="6333850"/>
            <a:ext cx="8800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9836266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TextBox 249"/>
          <p:cNvSpPr txBox="1"/>
          <p:nvPr/>
        </p:nvSpPr>
        <p:spPr>
          <a:xfrm>
            <a:off x="10196308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81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716342" y="6046269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1596533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>
            <a:off x="10716342" y="6333850"/>
            <a:ext cx="880191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10716342" y="6046269"/>
            <a:ext cx="0" cy="287581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TextBox 254"/>
          <p:cNvSpPr txBox="1"/>
          <p:nvPr/>
        </p:nvSpPr>
        <p:spPr>
          <a:xfrm>
            <a:off x="11076384" y="6099905"/>
            <a:ext cx="191997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F4FAEC"/>
                </a:solidFill>
                <a:latin typeface="Arial"/>
              </a:rPr>
              <a:t>85</a:t>
            </a:r>
          </a:p>
        </p:txBody>
      </p:sp>
      <p:cxnSp>
        <p:nvCxnSpPr>
          <p:cNvPr id="256" name="Connector 25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TextBox 25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B7D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128113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6786D"/>
                </a:solidFill>
                <a:latin typeface="Arial"/>
              </a:rPr>
              <a:t>MELOOLOO / TIM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75460"/>
            <a:ext cx="9994028" cy="5505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65" b="1" i="0">
                <a:solidFill>
                  <a:srgbClr val="253F36"/>
                </a:solidFill>
                <a:latin typeface="Arial Narrow"/>
              </a:rPr>
              <a:t>Proyeksi Pengeluaran Biaya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631792"/>
            <a:ext cx="897153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66786D"/>
                </a:solidFill>
                <a:latin typeface="Arial"/>
              </a:rPr>
              <a:t>Payroll, hiring, training, dan teknologi merupakan sumber biaya SDM.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91814" y="2450483"/>
            <a:ext cx="11008370" cy="0"/>
          </a:xfrm>
          <a:prstGeom prst="line">
            <a:avLst/>
          </a:prstGeom>
          <a:ln w="14607">
            <a:solidFill>
              <a:srgbClr val="A4C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1930214"/>
            <a:ext cx="2685356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07452"/>
                </a:solidFill>
                <a:latin typeface="Arial"/>
              </a:rPr>
              <a:t>PROYEKSI PENGELUARAN SDM · RP JUTA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814" y="2027557"/>
            <a:ext cx="1094212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53E2B"/>
                </a:solidFill>
                <a:latin typeface="Arial"/>
              </a:rPr>
              <a:t>Rp1.713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6588" y="2027557"/>
            <a:ext cx="321634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7CAB68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8785" y="2027557"/>
            <a:ext cx="1248385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53E2B"/>
                </a:solidFill>
                <a:latin typeface="Arial"/>
              </a:rPr>
              <a:t>Rp11.905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52213" y="2065559"/>
            <a:ext cx="3079975" cy="32974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496B51"/>
                </a:solidFill>
                <a:latin typeface="Arial"/>
              </a:rPr>
              <a:t>Payroll, rekrutmen, pelatihan, dan teknologi HR pada setiap tahun.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162" y="2756666"/>
            <a:ext cx="3930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0" i="0">
                <a:solidFill>
                  <a:srgbClr val="253F36"/>
                </a:solidFill>
                <a:latin typeface="Arial"/>
              </a:rPr>
              <a:t>Rincian proyeksi biaya SDM Tahun 0 sampai Tahun 10, dalam juta rupiah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5466" y="2515075"/>
            <a:ext cx="1870276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5466" y="2515075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5742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95466" y="276031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95466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2737" y="2578411"/>
            <a:ext cx="105347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KOMPONEN · RP JT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5742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2465742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295721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465742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465742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816084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5721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95721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25699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3295721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295721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46062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25699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125699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955678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4125699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125699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476041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5678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955678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785656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4955678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55678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306019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85656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785656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15635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5785656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785656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135998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15635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6615635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45613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615635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615635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65976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45613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7445613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275592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7445613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445613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95955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592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8275592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105570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8275592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275592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625933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05570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9105570" y="25150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35549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9105570" y="276031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9105570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455912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935549" y="2515075"/>
            <a:ext cx="829978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9935549" y="25150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765527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9935549" y="276031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9935549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0285890" y="2578411"/>
            <a:ext cx="16129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765527" y="2515075"/>
            <a:ext cx="831005" cy="245242"/>
          </a:xfrm>
          <a:prstGeom prst="rect">
            <a:avLst/>
          </a:prstGeom>
          <a:solidFill>
            <a:srgbClr val="15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0765527" y="2515075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1596533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765527" y="276031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0765527" y="2515075"/>
            <a:ext cx="0" cy="245242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1086655" y="2578411"/>
            <a:ext cx="2206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8" b="1" i="0">
                <a:solidFill>
                  <a:srgbClr val="F5FBEF"/>
                </a:solidFill>
                <a:latin typeface="Arial"/>
              </a:rPr>
              <a:t>Y10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5466" y="2776636"/>
            <a:ext cx="11001066" cy="643975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595466" y="2776636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65742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595466" y="3420612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595466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613725" y="3018227"/>
            <a:ext cx="657825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5" b="1" i="0">
                <a:solidFill>
                  <a:srgbClr val="244B31"/>
                </a:solidFill>
                <a:latin typeface="Arial"/>
              </a:rPr>
              <a:t>Payroll all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2465742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295721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2465742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465742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716002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1.682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295721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125699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3295721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95721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3545981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1.721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125699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955678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125699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125699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375959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2.243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4955678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5785656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4955678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955678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5205938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3.064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785656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15635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5785656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785656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6035916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3.644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6615635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445613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6615635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15635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6865895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5.094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7445613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8275592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7445613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7445613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7695873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7.732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8275592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9105570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8275592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8275592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8525852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8.579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9105570" y="2776636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9935549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9105570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9105570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9355830" y="3012863"/>
            <a:ext cx="36134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9.452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9935549" y="2776636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0765527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9935549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9935549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10149291" y="3012863"/>
            <a:ext cx="43449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11.161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0765527" y="2776636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1596533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10765527" y="3420612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10765527" y="2776636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10979726" y="3012863"/>
            <a:ext cx="43449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11.822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95466" y="3420612"/>
            <a:ext cx="11001066" cy="643975"/>
          </a:xfrm>
          <a:prstGeom prst="rect">
            <a:avLst/>
          </a:prstGeom>
          <a:solidFill>
            <a:srgbClr val="E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595466" y="3420612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465742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595466" y="406458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595466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613725" y="3662202"/>
            <a:ext cx="74581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5" b="1" i="0">
                <a:solidFill>
                  <a:srgbClr val="244B31"/>
                </a:solidFill>
                <a:latin typeface="Arial"/>
              </a:rPr>
              <a:t>Rekrutmen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2465742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295721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2465742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465742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2752634" y="3656839"/>
            <a:ext cx="28819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12,6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3295721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125699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3295721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295721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3619130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0,7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4125699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955678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4125699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125699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4449109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4,2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4955678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5785656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4955678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955678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279087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3,5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5785656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6615635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5785656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5785656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/>
          <p:cNvSpPr txBox="1"/>
          <p:nvPr/>
        </p:nvSpPr>
        <p:spPr>
          <a:xfrm>
            <a:off x="6109066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4,9</a:t>
            </a:r>
          </a:p>
        </p:txBody>
      </p:sp>
      <p:cxnSp>
        <p:nvCxnSpPr>
          <p:cNvPr id="182" name="Connector 181"/>
          <p:cNvCxnSpPr/>
          <p:nvPr/>
        </p:nvCxnSpPr>
        <p:spPr>
          <a:xfrm>
            <a:off x="6615635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7445613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6615635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6615635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6939044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7445613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8275592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7445613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7445613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7732505" y="3656839"/>
            <a:ext cx="28819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11,2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275592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9105570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>
            <a:off x="8275592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8275592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TextBox 195"/>
          <p:cNvSpPr txBox="1"/>
          <p:nvPr/>
        </p:nvSpPr>
        <p:spPr>
          <a:xfrm>
            <a:off x="8599001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9105570" y="342061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9935549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>
            <a:off x="9105570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9105570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TextBox 200"/>
          <p:cNvSpPr txBox="1"/>
          <p:nvPr/>
        </p:nvSpPr>
        <p:spPr>
          <a:xfrm>
            <a:off x="9428980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6,3</a:t>
            </a:r>
          </a:p>
        </p:txBody>
      </p:sp>
      <p:cxnSp>
        <p:nvCxnSpPr>
          <p:cNvPr id="202" name="Connector 201"/>
          <p:cNvCxnSpPr/>
          <p:nvPr/>
        </p:nvCxnSpPr>
        <p:spPr>
          <a:xfrm>
            <a:off x="9935549" y="342061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10765527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9935549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9935549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/>
          <p:cNvSpPr txBox="1"/>
          <p:nvPr/>
        </p:nvSpPr>
        <p:spPr>
          <a:xfrm>
            <a:off x="10222441" y="3656839"/>
            <a:ext cx="28819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14,7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10765527" y="3420612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1596533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>
            <a:off x="10765527" y="406458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10765527" y="3420612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TextBox 210"/>
          <p:cNvSpPr txBox="1"/>
          <p:nvPr/>
        </p:nvSpPr>
        <p:spPr>
          <a:xfrm>
            <a:off x="11089507" y="3656839"/>
            <a:ext cx="215048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5,6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95466" y="4064587"/>
            <a:ext cx="11001066" cy="643975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3" name="Connector 212"/>
          <p:cNvCxnSpPr/>
          <p:nvPr/>
        </p:nvCxnSpPr>
        <p:spPr>
          <a:xfrm>
            <a:off x="595466" y="4064587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465742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595466" y="4708562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595466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613725" y="4306178"/>
            <a:ext cx="633062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5" b="1" i="0">
                <a:solidFill>
                  <a:srgbClr val="244B31"/>
                </a:solidFill>
                <a:latin typeface="Arial"/>
              </a:rPr>
              <a:t>Pelatihan</a:t>
            </a:r>
          </a:p>
        </p:txBody>
      </p:sp>
      <p:cxnSp>
        <p:nvCxnSpPr>
          <p:cNvPr id="218" name="Connector 217"/>
          <p:cNvCxnSpPr/>
          <p:nvPr/>
        </p:nvCxnSpPr>
        <p:spPr>
          <a:xfrm>
            <a:off x="2465742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3295721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2465742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465742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TextBox 221"/>
          <p:cNvSpPr txBox="1"/>
          <p:nvPr/>
        </p:nvSpPr>
        <p:spPr>
          <a:xfrm>
            <a:off x="2807525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11</a:t>
            </a:r>
          </a:p>
        </p:txBody>
      </p:sp>
      <p:cxnSp>
        <p:nvCxnSpPr>
          <p:cNvPr id="223" name="Connector 222"/>
          <p:cNvCxnSpPr/>
          <p:nvPr/>
        </p:nvCxnSpPr>
        <p:spPr>
          <a:xfrm>
            <a:off x="3295721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125699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95721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95721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637503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36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4125699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955678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4125699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4125699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/>
          <p:cNvSpPr txBox="1"/>
          <p:nvPr/>
        </p:nvSpPr>
        <p:spPr>
          <a:xfrm>
            <a:off x="4467482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40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4955678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85656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4955678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4955678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5297460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42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5785656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6615635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5785656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785656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6127439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44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6615635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445613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6615635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6615635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TextBox 246"/>
          <p:cNvSpPr txBox="1"/>
          <p:nvPr/>
        </p:nvSpPr>
        <p:spPr>
          <a:xfrm>
            <a:off x="6957417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48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7445613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275592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>
            <a:off x="7445613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7445613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/>
          <p:cNvSpPr txBox="1"/>
          <p:nvPr/>
        </p:nvSpPr>
        <p:spPr>
          <a:xfrm>
            <a:off x="7787396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56</a:t>
            </a:r>
          </a:p>
        </p:txBody>
      </p:sp>
      <p:cxnSp>
        <p:nvCxnSpPr>
          <p:cNvPr id="253" name="Connector 252"/>
          <p:cNvCxnSpPr/>
          <p:nvPr/>
        </p:nvCxnSpPr>
        <p:spPr>
          <a:xfrm>
            <a:off x="8275592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105570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8275592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8275592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TextBox 256"/>
          <p:cNvSpPr txBox="1"/>
          <p:nvPr/>
        </p:nvSpPr>
        <p:spPr>
          <a:xfrm>
            <a:off x="8617374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58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9105570" y="4064587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9935549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9105570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9105570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TextBox 261"/>
          <p:cNvSpPr txBox="1"/>
          <p:nvPr/>
        </p:nvSpPr>
        <p:spPr>
          <a:xfrm>
            <a:off x="9447353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61</a:t>
            </a:r>
          </a:p>
        </p:txBody>
      </p:sp>
      <p:cxnSp>
        <p:nvCxnSpPr>
          <p:cNvPr id="263" name="Connector 262"/>
          <p:cNvCxnSpPr/>
          <p:nvPr/>
        </p:nvCxnSpPr>
        <p:spPr>
          <a:xfrm>
            <a:off x="9935549" y="4064587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0765527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>
            <a:off x="9935549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9935549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TextBox 266"/>
          <p:cNvSpPr txBox="1"/>
          <p:nvPr/>
        </p:nvSpPr>
        <p:spPr>
          <a:xfrm>
            <a:off x="10277331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72</a:t>
            </a:r>
          </a:p>
        </p:txBody>
      </p:sp>
      <p:cxnSp>
        <p:nvCxnSpPr>
          <p:cNvPr id="268" name="Connector 267"/>
          <p:cNvCxnSpPr/>
          <p:nvPr/>
        </p:nvCxnSpPr>
        <p:spPr>
          <a:xfrm>
            <a:off x="10765527" y="4064587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11596533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>
            <a:off x="10765527" y="4708562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10765527" y="4064587"/>
            <a:ext cx="0" cy="643975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271"/>
          <p:cNvSpPr txBox="1"/>
          <p:nvPr/>
        </p:nvSpPr>
        <p:spPr>
          <a:xfrm>
            <a:off x="11107766" y="4300814"/>
            <a:ext cx="17841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71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595466" y="4708562"/>
            <a:ext cx="11001066" cy="643975"/>
          </a:xfrm>
          <a:prstGeom prst="rect">
            <a:avLst/>
          </a:prstGeom>
          <a:solidFill>
            <a:srgbClr val="E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4" name="Connector 273"/>
          <p:cNvCxnSpPr/>
          <p:nvPr/>
        </p:nvCxnSpPr>
        <p:spPr>
          <a:xfrm>
            <a:off x="595466" y="4708562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465742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595466" y="5352538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595466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TextBox 277"/>
          <p:cNvSpPr txBox="1"/>
          <p:nvPr/>
        </p:nvSpPr>
        <p:spPr>
          <a:xfrm>
            <a:off x="613725" y="4950153"/>
            <a:ext cx="88845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5" b="1" i="0">
                <a:solidFill>
                  <a:srgbClr val="244B31"/>
                </a:solidFill>
                <a:latin typeface="Arial"/>
              </a:rPr>
              <a:t>Teknologi HR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2465742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295721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2465742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465742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/>
          <p:cNvSpPr txBox="1"/>
          <p:nvPr/>
        </p:nvSpPr>
        <p:spPr>
          <a:xfrm>
            <a:off x="2844042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84" name="Connector 283"/>
          <p:cNvCxnSpPr/>
          <p:nvPr/>
        </p:nvCxnSpPr>
        <p:spPr>
          <a:xfrm>
            <a:off x="3295721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4125699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3295721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3295721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3674021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89" name="Connector 288"/>
          <p:cNvCxnSpPr/>
          <p:nvPr/>
        </p:nvCxnSpPr>
        <p:spPr>
          <a:xfrm>
            <a:off x="4125699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4955678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4125699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4125699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4503999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4955678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5785656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4955678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4955678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TextBox 297"/>
          <p:cNvSpPr txBox="1"/>
          <p:nvPr/>
        </p:nvSpPr>
        <p:spPr>
          <a:xfrm>
            <a:off x="5333978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5785656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615635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5785656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785656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6163956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6615635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7445613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H="1">
            <a:off x="6615635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6615635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TextBox 307"/>
          <p:cNvSpPr txBox="1"/>
          <p:nvPr/>
        </p:nvSpPr>
        <p:spPr>
          <a:xfrm>
            <a:off x="6993935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09" name="Connector 308"/>
          <p:cNvCxnSpPr/>
          <p:nvPr/>
        </p:nvCxnSpPr>
        <p:spPr>
          <a:xfrm>
            <a:off x="7445613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275592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>
            <a:off x="7445613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7445613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TextBox 312"/>
          <p:cNvSpPr txBox="1"/>
          <p:nvPr/>
        </p:nvSpPr>
        <p:spPr>
          <a:xfrm>
            <a:off x="7823913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8275592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9105570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H="1">
            <a:off x="8275592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8275592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>
            <a:off x="8653892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9105570" y="4708562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935549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>
            <a:off x="9105570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9105570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TextBox 322"/>
          <p:cNvSpPr txBox="1"/>
          <p:nvPr/>
        </p:nvSpPr>
        <p:spPr>
          <a:xfrm>
            <a:off x="9483871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24" name="Connector 323"/>
          <p:cNvCxnSpPr/>
          <p:nvPr/>
        </p:nvCxnSpPr>
        <p:spPr>
          <a:xfrm>
            <a:off x="9935549" y="4708562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765527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>
            <a:off x="9935549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9935549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TextBox 327"/>
          <p:cNvSpPr txBox="1"/>
          <p:nvPr/>
        </p:nvSpPr>
        <p:spPr>
          <a:xfrm>
            <a:off x="10313849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cxnSp>
        <p:nvCxnSpPr>
          <p:cNvPr id="329" name="Connector 328"/>
          <p:cNvCxnSpPr/>
          <p:nvPr/>
        </p:nvCxnSpPr>
        <p:spPr>
          <a:xfrm>
            <a:off x="10765527" y="4708562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1596533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10765527" y="5352538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10765527" y="4708562"/>
            <a:ext cx="0" cy="643976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TextBox 332"/>
          <p:cNvSpPr txBox="1"/>
          <p:nvPr/>
        </p:nvSpPr>
        <p:spPr>
          <a:xfrm>
            <a:off x="11144398" y="4944789"/>
            <a:ext cx="105267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6" b="1" i="0">
                <a:solidFill>
                  <a:srgbClr val="1D4930"/>
                </a:solidFill>
                <a:latin typeface="Arial"/>
              </a:rPr>
              <a:t>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595466" y="5352538"/>
            <a:ext cx="11001066" cy="650137"/>
          </a:xfrm>
          <a:prstGeom prst="rect">
            <a:avLst/>
          </a:prstGeom>
          <a:solidFill>
            <a:srgbClr val="F7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95466" y="5352538"/>
            <a:ext cx="1870276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6" name="Connector 335"/>
          <p:cNvCxnSpPr/>
          <p:nvPr/>
        </p:nvCxnSpPr>
        <p:spPr>
          <a:xfrm>
            <a:off x="595466" y="5352538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465742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H="1">
            <a:off x="595466" y="6002675"/>
            <a:ext cx="187027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595466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" name="TextBox 339"/>
          <p:cNvSpPr txBox="1"/>
          <p:nvPr/>
        </p:nvSpPr>
        <p:spPr>
          <a:xfrm>
            <a:off x="613725" y="5595954"/>
            <a:ext cx="109044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Total biaya SDM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2465742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2" name="Connector 341"/>
          <p:cNvCxnSpPr/>
          <p:nvPr/>
        </p:nvCxnSpPr>
        <p:spPr>
          <a:xfrm>
            <a:off x="2465742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295721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2465742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2465742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TextBox 345"/>
          <p:cNvSpPr txBox="1"/>
          <p:nvPr/>
        </p:nvSpPr>
        <p:spPr>
          <a:xfrm>
            <a:off x="2708356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1.713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3295721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295721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4125699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3295721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3295721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3538335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1.765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4125699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125699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955678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H="1">
            <a:off x="4125699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4125699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TextBox 357"/>
          <p:cNvSpPr txBox="1"/>
          <p:nvPr/>
        </p:nvSpPr>
        <p:spPr>
          <a:xfrm>
            <a:off x="4368313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2.294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4955678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0" name="Connector 359"/>
          <p:cNvCxnSpPr/>
          <p:nvPr/>
        </p:nvCxnSpPr>
        <p:spPr>
          <a:xfrm>
            <a:off x="4955678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5785656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4955678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V="1">
            <a:off x="4955678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TextBox 363"/>
          <p:cNvSpPr txBox="1"/>
          <p:nvPr/>
        </p:nvSpPr>
        <p:spPr>
          <a:xfrm>
            <a:off x="5198292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3.116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5785656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6" name="Connector 365"/>
          <p:cNvCxnSpPr/>
          <p:nvPr/>
        </p:nvCxnSpPr>
        <p:spPr>
          <a:xfrm>
            <a:off x="5785656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6615635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H="1">
            <a:off x="5785656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5785656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TextBox 369"/>
          <p:cNvSpPr txBox="1"/>
          <p:nvPr/>
        </p:nvSpPr>
        <p:spPr>
          <a:xfrm>
            <a:off x="6028270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3.700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615635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2" name="Connector 371"/>
          <p:cNvCxnSpPr/>
          <p:nvPr/>
        </p:nvCxnSpPr>
        <p:spPr>
          <a:xfrm>
            <a:off x="6615635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7445613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6615635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6615635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6858249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5.156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7445613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8" name="Connector 377"/>
          <p:cNvCxnSpPr/>
          <p:nvPr/>
        </p:nvCxnSpPr>
        <p:spPr>
          <a:xfrm>
            <a:off x="7445613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8275592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7445613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7445613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TextBox 381"/>
          <p:cNvSpPr txBox="1"/>
          <p:nvPr/>
        </p:nvSpPr>
        <p:spPr>
          <a:xfrm>
            <a:off x="7688227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7.806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8275592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4" name="Connector 383"/>
          <p:cNvCxnSpPr/>
          <p:nvPr/>
        </p:nvCxnSpPr>
        <p:spPr>
          <a:xfrm>
            <a:off x="8275592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9105570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H="1">
            <a:off x="8275592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8275592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TextBox 387"/>
          <p:cNvSpPr txBox="1"/>
          <p:nvPr/>
        </p:nvSpPr>
        <p:spPr>
          <a:xfrm>
            <a:off x="8518206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8.650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9105570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0" name="Connector 389"/>
          <p:cNvCxnSpPr/>
          <p:nvPr/>
        </p:nvCxnSpPr>
        <p:spPr>
          <a:xfrm>
            <a:off x="9105570" y="5352538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9935549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9105570" y="6002675"/>
            <a:ext cx="829979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9105570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TextBox 393"/>
          <p:cNvSpPr txBox="1"/>
          <p:nvPr/>
        </p:nvSpPr>
        <p:spPr>
          <a:xfrm>
            <a:off x="9348184" y="5595954"/>
            <a:ext cx="376753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9.526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9935549" y="5352538"/>
            <a:ext cx="829978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6" name="Connector 395"/>
          <p:cNvCxnSpPr/>
          <p:nvPr/>
        </p:nvCxnSpPr>
        <p:spPr>
          <a:xfrm>
            <a:off x="9935549" y="5352538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0765527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9935549" y="6002675"/>
            <a:ext cx="829978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9935549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/>
          <p:cNvSpPr txBox="1"/>
          <p:nvPr/>
        </p:nvSpPr>
        <p:spPr>
          <a:xfrm>
            <a:off x="10139819" y="5595954"/>
            <a:ext cx="45332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11.524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10765527" y="5352538"/>
            <a:ext cx="831005" cy="650137"/>
          </a:xfrm>
          <a:prstGeom prst="rect">
            <a:avLst/>
          </a:prstGeom>
          <a:solidFill>
            <a:srgbClr val="1D5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2" name="Connector 401"/>
          <p:cNvCxnSpPr/>
          <p:nvPr/>
        </p:nvCxnSpPr>
        <p:spPr>
          <a:xfrm>
            <a:off x="10765527" y="5352538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11596533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10765527" y="6002675"/>
            <a:ext cx="831006" cy="0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10765527" y="5352538"/>
            <a:ext cx="0" cy="650137"/>
          </a:xfrm>
          <a:prstGeom prst="line">
            <a:avLst/>
          </a:prstGeom>
          <a:ln w="7303">
            <a:solidFill>
              <a:srgbClr val="C6D5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6" name="TextBox 405"/>
          <p:cNvSpPr txBox="1"/>
          <p:nvPr/>
        </p:nvSpPr>
        <p:spPr>
          <a:xfrm>
            <a:off x="10970369" y="5595954"/>
            <a:ext cx="453326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4" b="1" i="0">
                <a:solidFill>
                  <a:srgbClr val="F5FBED"/>
                </a:solidFill>
                <a:latin typeface="Arial"/>
              </a:rPr>
              <a:t>11.905</a:t>
            </a:r>
          </a:p>
        </p:txBody>
      </p:sp>
      <p:cxnSp>
        <p:nvCxnSpPr>
          <p:cNvPr id="407" name="Connector 406"/>
          <p:cNvCxnSpPr/>
          <p:nvPr/>
        </p:nvCxnSpPr>
        <p:spPr>
          <a:xfrm>
            <a:off x="591814" y="6067267"/>
            <a:ext cx="11008370" cy="0"/>
          </a:xfrm>
          <a:prstGeom prst="line">
            <a:avLst/>
          </a:prstGeom>
          <a:ln w="7303">
            <a:solidFill>
              <a:srgbClr val="9FB8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TextBox 407"/>
          <p:cNvSpPr txBox="1"/>
          <p:nvPr/>
        </p:nvSpPr>
        <p:spPr>
          <a:xfrm>
            <a:off x="610073" y="6162214"/>
            <a:ext cx="16552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Y0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610073" y="6133000"/>
            <a:ext cx="79773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Rp1.713 jt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5647459" y="6162214"/>
            <a:ext cx="165521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Y5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5647459" y="6133000"/>
            <a:ext cx="79773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Rp5.156 jt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10684732" y="6162214"/>
            <a:ext cx="227944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6B9362"/>
                </a:solidFill>
                <a:latin typeface="Arial"/>
              </a:rPr>
              <a:t>Y10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0684732" y="6133000"/>
            <a:ext cx="929197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9" b="0" i="0">
                <a:solidFill>
                  <a:srgbClr val="385F41"/>
                </a:solidFill>
                <a:latin typeface="Arial"/>
              </a:rPr>
              <a:t>Rp11.905 jt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B3C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TextBox 41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6786D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CBE1CE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02" y="1165842"/>
            <a:ext cx="6506018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C5EC92"/>
                </a:solidFill>
                <a:latin typeface="Arial"/>
              </a:rPr>
              <a:t>INVESTASI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02" y="1346151"/>
            <a:ext cx="6506018" cy="1756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70" b="1" i="0">
                <a:solidFill>
                  <a:srgbClr val="F6F8EE"/>
                </a:solidFill>
                <a:latin typeface="Arial Narrow"/>
              </a:rPr>
              <a:t>Rencana keuangan Melooloo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02" y="3219762"/>
            <a:ext cx="5757976" cy="56334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0" b="0" i="0">
                <a:solidFill>
                  <a:srgbClr val="DBEADC"/>
                </a:solidFill>
                <a:latin typeface="Arial"/>
              </a:rPr>
              <a:t>Dari investasi awal, pertumbuhan kapasitas, hingga keputusan kelayakan.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383748" y="3648639"/>
            <a:ext cx="188555" cy="304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572303" y="3645598"/>
            <a:ext cx="188554" cy="304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60857" y="3645598"/>
            <a:ext cx="188240" cy="483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949097" y="3650429"/>
            <a:ext cx="187702" cy="1816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136799" y="3668594"/>
            <a:ext cx="187702" cy="1816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324501" y="3677508"/>
            <a:ext cx="187615" cy="92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12116" y="3658144"/>
            <a:ext cx="187583" cy="19364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699699" y="3637177"/>
            <a:ext cx="187337" cy="2096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887036" y="3599620"/>
            <a:ext cx="184802" cy="375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071838" y="3562063"/>
            <a:ext cx="184802" cy="375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256640" y="3513738"/>
            <a:ext cx="181780" cy="4832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438420" y="3449658"/>
            <a:ext cx="177358" cy="64080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615778" y="3385580"/>
            <a:ext cx="177360" cy="64078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93138" y="3329523"/>
            <a:ext cx="179930" cy="560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973068" y="3278567"/>
            <a:ext cx="181565" cy="5095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154633" y="3227611"/>
            <a:ext cx="181564" cy="5095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336197" y="3139154"/>
            <a:ext cx="165877" cy="88457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502074" y="3045648"/>
            <a:ext cx="163765" cy="9350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665839" y="2952142"/>
            <a:ext cx="163766" cy="9350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829605" y="2852107"/>
            <a:ext cx="159829" cy="10003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989434" y="2750961"/>
            <a:ext cx="159161" cy="101146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0148595" y="2649816"/>
            <a:ext cx="159161" cy="101145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0307756" y="2541304"/>
            <a:ext cx="154142" cy="10851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0461898" y="2430210"/>
            <a:ext cx="152384" cy="111094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614282" y="2319117"/>
            <a:ext cx="152383" cy="111093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766665" y="2187659"/>
            <a:ext cx="131933" cy="131458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898598" y="2034808"/>
            <a:ext cx="110451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1009049" y="1881956"/>
            <a:ext cx="110451" cy="152852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119500" y="1729105"/>
            <a:ext cx="110451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29951" y="1576254"/>
            <a:ext cx="110450" cy="152851"/>
          </a:xfrm>
          <a:prstGeom prst="line">
            <a:avLst/>
          </a:prstGeom>
          <a:ln w="21910">
            <a:solidFill>
              <a:srgbClr val="C7E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83514" y="3857375"/>
            <a:ext cx="253398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009" y="3857375"/>
            <a:ext cx="114522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Y6 · POSITIF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17328" y="3857375"/>
            <a:ext cx="35507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2F8ED"/>
                </a:solidFill>
                <a:latin typeface="Arial"/>
              </a:rPr>
              <a:t>Y10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0380" y="825767"/>
            <a:ext cx="12341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D3ECC2"/>
                </a:solidFill>
                <a:latin typeface="Arial"/>
              </a:rPr>
              <a:t>10 TAHUN PROYEKSI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5742940"/>
            <a:ext cx="352708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DANA AWAL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897571"/>
            <a:ext cx="352708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Rp10.462 jt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8343" y="5742940"/>
            <a:ext cx="35272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WACC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48343" y="5897571"/>
            <a:ext cx="3527202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12,77%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7297" y="5742940"/>
            <a:ext cx="352708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D3E9CB"/>
                </a:solidFill>
                <a:latin typeface="Arial"/>
              </a:rPr>
              <a:t>NPV MOST LIKELY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7297" y="5897571"/>
            <a:ext cx="3527088" cy="40448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72" b="1" i="0">
                <a:solidFill>
                  <a:srgbClr val="D0F09D"/>
                </a:solidFill>
                <a:latin typeface="Arial"/>
              </a:rPr>
              <a:t>Rp23,5 M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DF3D2">
                <a:alpha val="3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CBE1CE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ASUMSI PROYEKSI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Asumsi Utama Proyeksi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Kapasitas, hasil panen, harga, dan biaya modal membentuk proyeksi sepuluh tahun.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6270885" cy="4213513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60774" y="2095915"/>
            <a:ext cx="6270886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31660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60774" y="6309428"/>
            <a:ext cx="6270886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60774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0894" y="2255568"/>
            <a:ext cx="5922648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PARAMETER OPERASI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0894" y="2506402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0894" y="2562435"/>
            <a:ext cx="7076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Kapasitas 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9003" y="2562435"/>
            <a:ext cx="141454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 Y0 → 103 Y5 → 237 Y10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0894" y="2748107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0894" y="2804139"/>
            <a:ext cx="6591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Siklus panen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637" y="2804139"/>
            <a:ext cx="120490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2 Y0 · 4 Y1 · 5 mulai Y2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50894" y="2989811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50894" y="3045844"/>
            <a:ext cx="10301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Hasil per GH / siklus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4670" y="3045844"/>
            <a:ext cx="14988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420 tanaman × 1,8 kg × 95%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0894" y="3231516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0894" y="3287549"/>
            <a:ext cx="43575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Grade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28" y="3287549"/>
            <a:ext cx="162611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80% Y0 → 85% Y1 → 90% Y2+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894" y="3473221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0894" y="3529253"/>
            <a:ext cx="75927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Harga Grade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8654" y="3529253"/>
            <a:ext cx="160488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B2B Rp75 rb · B2C Rp99 rb/kg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0894" y="3714925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50894" y="3770958"/>
            <a:ext cx="61628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Grade B /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3769" y="3770958"/>
            <a:ext cx="111977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Rp35 rb / Rp15 rb/kg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0894" y="3956630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50894" y="4012663"/>
            <a:ext cx="95715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Porsi B2B Grade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9412" y="4012663"/>
            <a:ext cx="9941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75% Y0 → 40% Y5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94" y="4198335"/>
            <a:ext cx="5890645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94" y="4254367"/>
            <a:ext cx="102094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Harga / inflasi OPEX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89031" y="4254367"/>
            <a:ext cx="1084512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+3% / +5% mulai Y2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96217" y="2095915"/>
            <a:ext cx="4635007" cy="4213513"/>
          </a:xfrm>
          <a:prstGeom prst="rect">
            <a:avLst/>
          </a:prstGeom>
          <a:solidFill>
            <a:srgbClr val="11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996217" y="2095915"/>
            <a:ext cx="46350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31224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996217" y="6309428"/>
            <a:ext cx="46350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996217" y="2095915"/>
            <a:ext cx="0" cy="4213513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186338" y="2255568"/>
            <a:ext cx="428677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C7ED94"/>
                </a:solidFill>
                <a:latin typeface="Arial"/>
              </a:rPr>
              <a:t>BIAYA MODAL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186338" y="2506402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86338" y="2562435"/>
            <a:ext cx="100805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Risk-free SUN 10 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18265" y="2562435"/>
            <a:ext cx="35484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6,59%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86338" y="2748107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186338" y="2804139"/>
            <a:ext cx="56961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Beta / ERP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3528" y="2804139"/>
            <a:ext cx="66957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1,33 / 7,50%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86338" y="2989811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86338" y="3045844"/>
            <a:ext cx="71785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Cost of equity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57440" y="3045844"/>
            <a:ext cx="41566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16,57%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186338" y="3231516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186338" y="3287549"/>
            <a:ext cx="62267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Bunga bank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57440" y="3287549"/>
            <a:ext cx="41566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11,50%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186338" y="3473221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186338" y="3529253"/>
            <a:ext cx="94323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Debt setelah pajak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18265" y="3529253"/>
            <a:ext cx="35484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8,97%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186338" y="3714925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186338" y="3770958"/>
            <a:ext cx="66729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Bobot modal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6948" y="3770958"/>
            <a:ext cx="5861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4FBEA"/>
                </a:solidFill>
                <a:latin typeface="Arial"/>
              </a:rPr>
              <a:t>50% : 50%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186338" y="3974889"/>
            <a:ext cx="4254766" cy="0"/>
          </a:xfrm>
          <a:prstGeom prst="line">
            <a:avLst/>
          </a:prstGeom>
          <a:ln w="7303">
            <a:solidFill>
              <a:srgbClr val="DCF6D8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186338" y="4067440"/>
            <a:ext cx="36009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3E5D4"/>
                </a:solidFill>
                <a:latin typeface="Arial"/>
              </a:rPr>
              <a:t>WACC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58109" y="4067440"/>
            <a:ext cx="714998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35" b="1" i="0">
                <a:solidFill>
                  <a:srgbClr val="CEEF9D"/>
                </a:solidFill>
                <a:latin typeface="Arial"/>
              </a:rPr>
              <a:t>12,77%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INVESTASI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Initial Investment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Dana Tahun 0 menggabungkan aset tetap dan modal kerja termasuk buffer kas.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5186081" cy="4213513"/>
          </a:xfrm>
          <a:prstGeom prst="rect">
            <a:avLst/>
          </a:prstGeom>
          <a:solidFill>
            <a:srgbClr val="133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12" y="2303155"/>
            <a:ext cx="48036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B8D49F"/>
                </a:solidFill>
                <a:latin typeface="Arial"/>
              </a:rPr>
              <a:t>TOTAL DANA TAHUN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12" y="2490768"/>
            <a:ext cx="4803610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Rp10.462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12" y="3111577"/>
            <a:ext cx="4803610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FFFFFF"/>
                </a:solidFill>
                <a:latin typeface="Arial"/>
              </a:rPr>
              <a:t>juta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12" y="5124984"/>
            <a:ext cx="4771606" cy="341330"/>
          </a:xfrm>
          <a:prstGeom prst="rect">
            <a:avLst/>
          </a:prstGeom>
          <a:solidFill>
            <a:srgbClr val="97A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12" y="5124984"/>
            <a:ext cx="3201688" cy="341330"/>
          </a:xfrm>
          <a:prstGeom prst="rect">
            <a:avLst/>
          </a:prstGeom>
          <a:solidFill>
            <a:srgbClr val="D2F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69700" y="5124984"/>
            <a:ext cx="1569803" cy="341330"/>
          </a:xfrm>
          <a:prstGeom prst="rect">
            <a:avLst/>
          </a:prstGeom>
          <a:solidFill>
            <a:srgbClr val="659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12" y="5563772"/>
            <a:ext cx="126002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FFFFFF"/>
                </a:solidFill>
                <a:latin typeface="Arial"/>
              </a:rPr>
              <a:t>67,1% CAPEX ASET TETAP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430" y="5563772"/>
            <a:ext cx="103019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FFFFFF"/>
                </a:solidFill>
                <a:latin typeface="Arial"/>
              </a:rPr>
              <a:t>32,9% MODAL KERJA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8012" y="5819628"/>
            <a:ext cx="4771606" cy="0"/>
          </a:xfrm>
          <a:prstGeom prst="line">
            <a:avLst/>
          </a:prstGeom>
          <a:ln w="7303">
            <a:solidFill>
              <a:srgbClr val="FFFFFF">
                <a:alpha val="2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8012" y="5963418"/>
            <a:ext cx="48036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D6E8D3"/>
                </a:solidFill>
                <a:latin typeface="Arial"/>
              </a:rPr>
              <a:t>OPEX Y0 Rp3.137 juta · pendapatan trial Y0 Rp3.509 juta.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9203" y="2095915"/>
            <a:ext cx="5731907" cy="2357476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899203" y="2095915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31110" y="2095915"/>
            <a:ext cx="0" cy="2357476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99203" y="4453391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899203" y="2095915"/>
            <a:ext cx="0" cy="2357476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52806" y="2212887"/>
            <a:ext cx="5456706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CAPEX · RP7.024 JUTA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52806" y="2463721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52806" y="2517243"/>
            <a:ext cx="99002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Greenhouse 35 unit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3397" y="2517243"/>
            <a:ext cx="30611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5.066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52806" y="2700405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52806" y="2753927"/>
            <a:ext cx="130829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Cold storage &amp; kendaraan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4691" y="2753927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650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52806" y="2937088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52806" y="2990610"/>
            <a:ext cx="132667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Rooftop &amp; deposit 2 lokasi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4691" y="2990610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600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52806" y="3173772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052806" y="3227294"/>
            <a:ext cx="73827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Legal &amp; kantor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4691" y="3227294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351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52806" y="3410455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52806" y="3463977"/>
            <a:ext cx="61035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Kontingensi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4691" y="3463977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357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9203" y="4563060"/>
            <a:ext cx="5731907" cy="1746367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5899203" y="4563060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631110" y="4563060"/>
            <a:ext cx="0" cy="1746368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5899203" y="6309428"/>
            <a:ext cx="5731907" cy="0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899203" y="4563060"/>
            <a:ext cx="0" cy="1746368"/>
          </a:xfrm>
          <a:prstGeom prst="line">
            <a:avLst/>
          </a:prstGeom>
          <a:ln w="7303">
            <a:solidFill>
              <a:srgbClr val="1E472D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052806" y="4680032"/>
            <a:ext cx="5456706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426C48"/>
                </a:solidFill>
                <a:latin typeface="Arial"/>
              </a:rPr>
              <a:t>MODAL KERJA · RP3.438 JUTA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52806" y="4930867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52806" y="4984389"/>
            <a:ext cx="60202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Pra-operasi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94691" y="4984389"/>
            <a:ext cx="21482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479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2806" y="5167550"/>
            <a:ext cx="5424702" cy="0"/>
          </a:xfrm>
          <a:prstGeom prst="line">
            <a:avLst/>
          </a:prstGeom>
          <a:ln w="7303">
            <a:solidFill>
              <a:srgbClr val="1F4B2D">
                <a:alpha val="13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52806" y="5221072"/>
            <a:ext cx="52750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9634F"/>
                </a:solidFill>
                <a:latin typeface="Arial"/>
              </a:rPr>
              <a:t>Buffer kas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3397" y="5221072"/>
            <a:ext cx="30611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83D2A"/>
                </a:solidFill>
                <a:latin typeface="Arial"/>
              </a:rPr>
              <a:t>2.959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52806" y="5491991"/>
            <a:ext cx="545670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54705A"/>
                </a:solidFill>
                <a:latin typeface="Arial"/>
              </a:rPr>
              <a:t>Buffer kas setara 5,3 bulan biaya kas operasi Y1.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PENDANAAN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Funding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Pendiri menanggung seluruh dana awal; ekspansi menggabungkan kas internal dan kredit investasi.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774" y="2095915"/>
            <a:ext cx="4364776" cy="4213513"/>
          </a:xfrm>
          <a:prstGeom prst="rect">
            <a:avLst/>
          </a:prstGeom>
          <a:solidFill>
            <a:srgbClr val="164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>
            <a:off x="755801" y="2473536"/>
            <a:ext cx="1757642" cy="0"/>
          </a:xfrm>
          <a:prstGeom prst="line">
            <a:avLst/>
          </a:prstGeom>
          <a:ln w="21910">
            <a:solidFill>
              <a:srgbClr val="A5D9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55801" y="2290945"/>
            <a:ext cx="178964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A5D960"/>
                </a:solidFill>
                <a:latin typeface="Arial"/>
              </a:rPr>
              <a:t>01 / TAHUN 0 · MODAL PENDIRI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801" y="2563804"/>
            <a:ext cx="4006725" cy="9887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5" b="1" i="0">
                <a:solidFill>
                  <a:srgbClr val="D4F2A2"/>
                </a:solidFill>
                <a:latin typeface="Arial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801" y="3632760"/>
            <a:ext cx="4006725" cy="39855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9ED"/>
                </a:solidFill>
                <a:latin typeface="Arial"/>
              </a:rPr>
              <a:t>Rp10.462 juta dari lima pendiri. Masing-masing Rp2.092,4 juta dan 20% saham.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5801" y="5831839"/>
            <a:ext cx="3974722" cy="0"/>
          </a:xfrm>
          <a:prstGeom prst="line">
            <a:avLst/>
          </a:prstGeom>
          <a:ln w="7303">
            <a:solidFill>
              <a:srgbClr val="E7FAE0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Emily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581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Thoriq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82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Carlos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4178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Nindio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3088" y="5968325"/>
            <a:ext cx="62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89C"/>
                </a:solidFill>
                <a:latin typeface="Arial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801" y="5975629"/>
            <a:ext cx="400672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EEF9ED"/>
                </a:solidFill>
                <a:latin typeface="Arial"/>
              </a:rPr>
              <a:t>Mery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3946" y="2095915"/>
            <a:ext cx="6547278" cy="4213513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083946" y="2095915"/>
            <a:ext cx="6547278" cy="0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631224" y="2095915"/>
            <a:ext cx="0" cy="4213513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5083946" y="6309428"/>
            <a:ext cx="6547278" cy="0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083946" y="2095915"/>
            <a:ext cx="0" cy="4213513"/>
          </a:xfrm>
          <a:prstGeom prst="line">
            <a:avLst/>
          </a:prstGeom>
          <a:ln w="7303">
            <a:solidFill>
              <a:srgbClr val="18462A">
                <a:alpha val="1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286277" y="2466232"/>
            <a:ext cx="1739839" cy="0"/>
          </a:xfrm>
          <a:prstGeom prst="line">
            <a:avLst/>
          </a:prstGeom>
          <a:ln w="7303">
            <a:solidFill>
              <a:srgbClr val="557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286277" y="2298248"/>
            <a:ext cx="17718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557F57"/>
                </a:solidFill>
                <a:latin typeface="Arial"/>
              </a:rPr>
              <a:t>02 / Y1–Y10 · CAPEX EKSPANSI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6277" y="2558783"/>
            <a:ext cx="6174620" cy="6601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40" b="1" i="0">
                <a:solidFill>
                  <a:srgbClr val="153E29"/>
                </a:solidFill>
                <a:latin typeface="Arial"/>
              </a:rPr>
              <a:t>Rp46.094 juta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86277" y="3279446"/>
            <a:ext cx="1842773" cy="975263"/>
          </a:xfrm>
          <a:prstGeom prst="rect">
            <a:avLst/>
          </a:prstGeom>
          <a:solidFill>
            <a:srgbClr val="D8E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32576" y="3433051"/>
            <a:ext cx="762129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143722"/>
                </a:solidFill>
                <a:latin typeface="Arial"/>
              </a:rPr>
              <a:t>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32576" y="3934605"/>
            <a:ext cx="77822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Kas internal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2576" y="4097567"/>
            <a:ext cx="778220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Rp13.830 jt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29050" y="3279446"/>
            <a:ext cx="4299729" cy="975263"/>
          </a:xfrm>
          <a:prstGeom prst="rect">
            <a:avLst/>
          </a:prstGeom>
          <a:solidFill>
            <a:srgbClr val="A4D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5349" y="3433051"/>
            <a:ext cx="762129" cy="4775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76" b="1" i="0">
                <a:solidFill>
                  <a:srgbClr val="143722"/>
                </a:solidFill>
                <a:latin typeface="Arial"/>
              </a:rPr>
              <a:t>70%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5349" y="3934605"/>
            <a:ext cx="99333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Kredit investasi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5349" y="4097567"/>
            <a:ext cx="99333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27" b="1" i="0">
                <a:solidFill>
                  <a:srgbClr val="143722"/>
                </a:solidFill>
                <a:latin typeface="Arial"/>
              </a:rPr>
              <a:t>Rp32.264 jt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6277" y="4327860"/>
            <a:ext cx="6142616" cy="1321387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7685" y="4394848"/>
            <a:ext cx="59918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7685" y="4488540"/>
            <a:ext cx="599180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Modal awal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7685" y="4658236"/>
            <a:ext cx="5991804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173F2D"/>
                </a:solidFill>
                <a:latin typeface="Arial"/>
              </a:rPr>
              <a:t>Lima pendiri menanggung 100% dana awal Rp10.462 juta, masing-masing 20% saham.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86277" y="5746706"/>
            <a:ext cx="1476227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286277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Bunga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86277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11,5%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41702" y="5746706"/>
            <a:ext cx="1476341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41702" y="5814949"/>
            <a:ext cx="150834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Tenor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41702" y="5931807"/>
            <a:ext cx="1508345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5 tahun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397241" y="5746706"/>
            <a:ext cx="1476228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397241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Grace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7241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1 tahun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952666" y="5746706"/>
            <a:ext cx="1476228" cy="0"/>
          </a:xfrm>
          <a:prstGeom prst="line">
            <a:avLst/>
          </a:prstGeom>
          <a:ln w="7303">
            <a:solidFill>
              <a:srgbClr val="BBD0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952666" y="5814949"/>
            <a:ext cx="150823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0" i="0">
                <a:solidFill>
                  <a:srgbClr val="57725C"/>
                </a:solidFill>
                <a:latin typeface="Arial"/>
              </a:rPr>
              <a:t>D/E maks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2666" y="5931807"/>
            <a:ext cx="1508231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2" b="1" i="0">
                <a:solidFill>
                  <a:srgbClr val="1D4B32"/>
                </a:solidFill>
                <a:latin typeface="Arial"/>
              </a:rPr>
              <a:t>0,39×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RENCANA CAPEX &amp; OPEX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359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5" b="1" i="0">
                <a:solidFill>
                  <a:srgbClr val="153B29"/>
                </a:solidFill>
                <a:latin typeface="Arial Narrow"/>
              </a:rPr>
              <a:t>Belanja bangun, biaya jalan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4525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CAPEX dan OPEX tiap tahun awal ditampilkan terpisah dari agregat lima tahun berikutnya.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1938544"/>
            <a:ext cx="1110245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4C8053"/>
                </a:solidFill>
                <a:latin typeface="Arial"/>
              </a:rPr>
              <a:t>A / CAPITAL EXPENDITURE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774" y="2096828"/>
            <a:ext cx="11070450" cy="1903053"/>
          </a:xfrm>
          <a:prstGeom prst="rect">
            <a:avLst/>
          </a:prstGeom>
          <a:solidFill>
            <a:srgbClr val="FB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4426" y="2100480"/>
            <a:ext cx="11063146" cy="167070"/>
          </a:xfrm>
          <a:prstGeom prst="rect">
            <a:avLst/>
          </a:prstGeom>
          <a:solidFill>
            <a:srgbClr val="16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64426" y="210048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04587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4426" y="226755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64426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0458" y="2112576"/>
            <a:ext cx="11205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Komponen (Rp juta)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04587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79234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04587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04587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82952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79234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53881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179234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179234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57599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53881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328528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253881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253881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32246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28528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03175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328528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328528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06893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403175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477822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403175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403175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81540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77822" y="21004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552469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9477822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477822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356187" y="2112576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552469" y="210048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27573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0552469" y="226755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552469" y="2100480"/>
            <a:ext cx="0" cy="16707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1170189" y="2112576"/>
            <a:ext cx="43335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Y6–Y10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4426" y="226755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04587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64426" y="2555587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64426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20458" y="2340130"/>
            <a:ext cx="185594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Greenhouse (baru + penggantian)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04587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179234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4104587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104587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836425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5.066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179234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253881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5179234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179234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134058" y="2340130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253881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328528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6253881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253881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985719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2.461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328528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403175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7328528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7328528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060366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2.461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403175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477822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8403175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8403175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135012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3.091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477822" y="226755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552469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9477822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477822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0209659" y="234013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2.727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552469" y="226755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627573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0552469" y="2555587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0552469" y="2267550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221085" y="234013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23.911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64426" y="2555587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64426" y="2555587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104587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564426" y="2843624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64426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0458" y="2628167"/>
            <a:ext cx="145801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Cold storage &amp; kendaraan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104587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179234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4104587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104587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932055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650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5179234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253881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5179234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5179234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6134058" y="2628167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253881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7328528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6253881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6253881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7081349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7328528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8403175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7328528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7328528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8155996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8403175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9477822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8403175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8403175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9230643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9477822" y="2555587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0552469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9477822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9477822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0305290" y="262816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325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10552469" y="2555587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1627573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0552469" y="2843624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0552469" y="2555587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1284763" y="2628167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2.272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564426" y="2843624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4104587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564426" y="313166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564426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620458" y="2916204"/>
            <a:ext cx="143861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Renovasi &amp; deposit lokasi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4104587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5179234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4104587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104587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4932055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600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179234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6253881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5179234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179234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134058" y="2916204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53881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7328528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6253881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6253881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081349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292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7328528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8403175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7328528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7328528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8155996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287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8403175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9477822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8403175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8403175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230643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294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9477822" y="2843624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552469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9477822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9477822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10305290" y="2916204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301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10552469" y="2843624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1627573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10552469" y="313166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0552469" y="2843624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11284763" y="291620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2.039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64426" y="3131662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3" name="Connector 172"/>
          <p:cNvCxnSpPr/>
          <p:nvPr/>
        </p:nvCxnSpPr>
        <p:spPr>
          <a:xfrm>
            <a:off x="564426" y="313166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104587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564426" y="3419699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564426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620458" y="3204242"/>
            <a:ext cx="82774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Legal &amp; kantor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4104587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179234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4104587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104587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TextBox 181"/>
          <p:cNvSpPr txBox="1"/>
          <p:nvPr/>
        </p:nvSpPr>
        <p:spPr>
          <a:xfrm>
            <a:off x="4932055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351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5179234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6253881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5179234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5179234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TextBox 186"/>
          <p:cNvSpPr txBox="1"/>
          <p:nvPr/>
        </p:nvSpPr>
        <p:spPr>
          <a:xfrm>
            <a:off x="6070380" y="3204242"/>
            <a:ext cx="159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50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6253881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7328528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6253881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6253881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7081349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130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7328528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8403175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>
            <a:off x="7328528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7328528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8155996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132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8403175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9477822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>
            <a:off x="8403175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8403175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/>
          <p:cNvSpPr txBox="1"/>
          <p:nvPr/>
        </p:nvSpPr>
        <p:spPr>
          <a:xfrm>
            <a:off x="9230643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165</a:t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9477822" y="313166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0552469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9477822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9477822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TextBox 206"/>
          <p:cNvSpPr txBox="1"/>
          <p:nvPr/>
        </p:nvSpPr>
        <p:spPr>
          <a:xfrm>
            <a:off x="10305290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142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10552469" y="313166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1627573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10552469" y="3419699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10552469" y="3131662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TextBox 211"/>
          <p:cNvSpPr txBox="1"/>
          <p:nvPr/>
        </p:nvSpPr>
        <p:spPr>
          <a:xfrm>
            <a:off x="11380394" y="3204242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988</a:t>
            </a:r>
          </a:p>
        </p:txBody>
      </p:sp>
      <p:cxnSp>
        <p:nvCxnSpPr>
          <p:cNvPr id="213" name="Connector 212"/>
          <p:cNvCxnSpPr/>
          <p:nvPr/>
        </p:nvCxnSpPr>
        <p:spPr>
          <a:xfrm>
            <a:off x="564426" y="3419699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104587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564426" y="370773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564426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620458" y="3492279"/>
            <a:ext cx="145562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Modal kerja &amp; kontingensi</a:t>
            </a:r>
          </a:p>
        </p:txBody>
      </p:sp>
      <p:cxnSp>
        <p:nvCxnSpPr>
          <p:cNvPr id="218" name="Connector 217"/>
          <p:cNvCxnSpPr/>
          <p:nvPr/>
        </p:nvCxnSpPr>
        <p:spPr>
          <a:xfrm>
            <a:off x="4104587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5179234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4104587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4104587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TextBox 221"/>
          <p:cNvSpPr txBox="1"/>
          <p:nvPr/>
        </p:nvSpPr>
        <p:spPr>
          <a:xfrm>
            <a:off x="4932055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836</a:t>
            </a:r>
          </a:p>
        </p:txBody>
      </p:sp>
      <p:cxnSp>
        <p:nvCxnSpPr>
          <p:cNvPr id="223" name="Connector 222"/>
          <p:cNvCxnSpPr/>
          <p:nvPr/>
        </p:nvCxnSpPr>
        <p:spPr>
          <a:xfrm>
            <a:off x="5179234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6253881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5179234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5179234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6134058" y="3492279"/>
            <a:ext cx="9579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6253881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7328528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6253881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6253881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/>
          <p:cNvSpPr txBox="1"/>
          <p:nvPr/>
        </p:nvSpPr>
        <p:spPr>
          <a:xfrm>
            <a:off x="7081349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160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7328528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8403175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7328528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7328528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8155996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160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8403175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9477822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8403175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8403175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9230643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194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9477822" y="3419699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0552469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9477822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9477822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TextBox 246"/>
          <p:cNvSpPr txBox="1"/>
          <p:nvPr/>
        </p:nvSpPr>
        <p:spPr>
          <a:xfrm>
            <a:off x="10305290" y="3492279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175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10552469" y="3419699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1627573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>
            <a:off x="10552469" y="370773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10552469" y="3419699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/>
          <p:cNvSpPr txBox="1"/>
          <p:nvPr/>
        </p:nvSpPr>
        <p:spPr>
          <a:xfrm>
            <a:off x="11284763" y="3492279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2.359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64426" y="3707736"/>
            <a:ext cx="11063146" cy="288493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4" name="Connector 253"/>
          <p:cNvCxnSpPr/>
          <p:nvPr/>
        </p:nvCxnSpPr>
        <p:spPr>
          <a:xfrm>
            <a:off x="564426" y="370773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4104587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564426" y="399623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564426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620458" y="3780544"/>
            <a:ext cx="76406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Total CAPEX*</a:t>
            </a:r>
          </a:p>
        </p:txBody>
      </p:sp>
      <p:cxnSp>
        <p:nvCxnSpPr>
          <p:cNvPr id="259" name="Connector 258"/>
          <p:cNvCxnSpPr/>
          <p:nvPr/>
        </p:nvCxnSpPr>
        <p:spPr>
          <a:xfrm>
            <a:off x="4104587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5179234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4104587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4104587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TextBox 262"/>
          <p:cNvSpPr txBox="1"/>
          <p:nvPr/>
        </p:nvSpPr>
        <p:spPr>
          <a:xfrm>
            <a:off x="4836425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7.503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179234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6253881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>
            <a:off x="5179234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5179234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8" name="TextBox 267"/>
          <p:cNvSpPr txBox="1"/>
          <p:nvPr/>
        </p:nvSpPr>
        <p:spPr>
          <a:xfrm>
            <a:off x="6070380" y="3780544"/>
            <a:ext cx="1594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53</a:t>
            </a:r>
          </a:p>
        </p:txBody>
      </p:sp>
      <p:cxnSp>
        <p:nvCxnSpPr>
          <p:cNvPr id="269" name="Connector 268"/>
          <p:cNvCxnSpPr/>
          <p:nvPr/>
        </p:nvCxnSpPr>
        <p:spPr>
          <a:xfrm>
            <a:off x="6253881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7328528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>
            <a:off x="6253881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6253881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TextBox 272"/>
          <p:cNvSpPr txBox="1"/>
          <p:nvPr/>
        </p:nvSpPr>
        <p:spPr>
          <a:xfrm>
            <a:off x="6985719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3.368</a:t>
            </a:r>
          </a:p>
        </p:txBody>
      </p:sp>
      <p:cxnSp>
        <p:nvCxnSpPr>
          <p:cNvPr id="274" name="Connector 273"/>
          <p:cNvCxnSpPr/>
          <p:nvPr/>
        </p:nvCxnSpPr>
        <p:spPr>
          <a:xfrm>
            <a:off x="7328528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8403175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7328528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7328528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TextBox 277"/>
          <p:cNvSpPr txBox="1"/>
          <p:nvPr/>
        </p:nvSpPr>
        <p:spPr>
          <a:xfrm>
            <a:off x="8060366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3.365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8403175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9477822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8403175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8403175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/>
          <p:cNvSpPr txBox="1"/>
          <p:nvPr/>
        </p:nvSpPr>
        <p:spPr>
          <a:xfrm>
            <a:off x="9135012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4.069</a:t>
            </a:r>
          </a:p>
        </p:txBody>
      </p:sp>
      <p:cxnSp>
        <p:nvCxnSpPr>
          <p:cNvPr id="284" name="Connector 283"/>
          <p:cNvCxnSpPr/>
          <p:nvPr/>
        </p:nvCxnSpPr>
        <p:spPr>
          <a:xfrm>
            <a:off x="9477822" y="370773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0552469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9477822" y="399623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9477822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10209659" y="3780544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3.670</a:t>
            </a:r>
          </a:p>
        </p:txBody>
      </p:sp>
      <p:cxnSp>
        <p:nvCxnSpPr>
          <p:cNvPr id="289" name="Connector 288"/>
          <p:cNvCxnSpPr/>
          <p:nvPr/>
        </p:nvCxnSpPr>
        <p:spPr>
          <a:xfrm>
            <a:off x="10552469" y="370773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1627573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10552469" y="399623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10552469" y="3707736"/>
            <a:ext cx="0" cy="288494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1221085" y="3780544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31.569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60774" y="4079080"/>
            <a:ext cx="11102454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4C8053"/>
                </a:solidFill>
                <a:latin typeface="Arial"/>
              </a:rPr>
              <a:t>B / OPERATING EXPENDITURE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60774" y="4237364"/>
            <a:ext cx="11070450" cy="1903167"/>
          </a:xfrm>
          <a:prstGeom prst="rect">
            <a:avLst/>
          </a:prstGeom>
          <a:solidFill>
            <a:srgbClr val="FB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564426" y="4241015"/>
            <a:ext cx="11063146" cy="167070"/>
          </a:xfrm>
          <a:prstGeom prst="rect">
            <a:avLst/>
          </a:prstGeom>
          <a:solidFill>
            <a:srgbClr val="16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>
            <a:off x="564426" y="424101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4104587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>
            <a:off x="564426" y="440808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64426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TextBox 300"/>
          <p:cNvSpPr txBox="1"/>
          <p:nvPr/>
        </p:nvSpPr>
        <p:spPr>
          <a:xfrm>
            <a:off x="620458" y="4253112"/>
            <a:ext cx="11205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Komponen (Rp juta)</a:t>
            </a:r>
          </a:p>
        </p:txBody>
      </p:sp>
      <p:cxnSp>
        <p:nvCxnSpPr>
          <p:cNvPr id="302" name="Connector 301"/>
          <p:cNvCxnSpPr/>
          <p:nvPr/>
        </p:nvCxnSpPr>
        <p:spPr>
          <a:xfrm>
            <a:off x="4104587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5179234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>
            <a:off x="4104587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4104587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/>
          <p:cNvSpPr txBox="1"/>
          <p:nvPr/>
        </p:nvSpPr>
        <p:spPr>
          <a:xfrm>
            <a:off x="4982952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Y0</a:t>
            </a:r>
          </a:p>
        </p:txBody>
      </p:sp>
      <p:cxnSp>
        <p:nvCxnSpPr>
          <p:cNvPr id="307" name="Connector 306"/>
          <p:cNvCxnSpPr/>
          <p:nvPr/>
        </p:nvCxnSpPr>
        <p:spPr>
          <a:xfrm>
            <a:off x="5179234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6253881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5179234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5179234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6057599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Y1</a:t>
            </a:r>
          </a:p>
        </p:txBody>
      </p:sp>
      <p:cxnSp>
        <p:nvCxnSpPr>
          <p:cNvPr id="312" name="Connector 311"/>
          <p:cNvCxnSpPr/>
          <p:nvPr/>
        </p:nvCxnSpPr>
        <p:spPr>
          <a:xfrm>
            <a:off x="6253881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328528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>
            <a:off x="6253881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253881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7132246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Y2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7328528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8403175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7328528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7328528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TextBox 320"/>
          <p:cNvSpPr txBox="1"/>
          <p:nvPr/>
        </p:nvSpPr>
        <p:spPr>
          <a:xfrm>
            <a:off x="8206893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Y3</a:t>
            </a:r>
          </a:p>
        </p:txBody>
      </p:sp>
      <p:cxnSp>
        <p:nvCxnSpPr>
          <p:cNvPr id="322" name="Connector 321"/>
          <p:cNvCxnSpPr/>
          <p:nvPr/>
        </p:nvCxnSpPr>
        <p:spPr>
          <a:xfrm>
            <a:off x="8403175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477822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8403175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8403175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TextBox 325"/>
          <p:cNvSpPr txBox="1"/>
          <p:nvPr/>
        </p:nvSpPr>
        <p:spPr>
          <a:xfrm>
            <a:off x="9281540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Y4</a:t>
            </a:r>
          </a:p>
        </p:txBody>
      </p:sp>
      <p:cxnSp>
        <p:nvCxnSpPr>
          <p:cNvPr id="327" name="Connector 326"/>
          <p:cNvCxnSpPr/>
          <p:nvPr/>
        </p:nvCxnSpPr>
        <p:spPr>
          <a:xfrm>
            <a:off x="9477822" y="424101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552469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>
            <a:off x="9477822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9477822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TextBox 330"/>
          <p:cNvSpPr txBox="1"/>
          <p:nvPr/>
        </p:nvSpPr>
        <p:spPr>
          <a:xfrm>
            <a:off x="10356187" y="4253112"/>
            <a:ext cx="1722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Y5</a:t>
            </a:r>
          </a:p>
        </p:txBody>
      </p:sp>
      <p:cxnSp>
        <p:nvCxnSpPr>
          <p:cNvPr id="332" name="Connector 331"/>
          <p:cNvCxnSpPr/>
          <p:nvPr/>
        </p:nvCxnSpPr>
        <p:spPr>
          <a:xfrm>
            <a:off x="10552469" y="424101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1627573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H="1">
            <a:off x="10552469" y="440808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10552469" y="4241015"/>
            <a:ext cx="0" cy="167071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TextBox 335"/>
          <p:cNvSpPr txBox="1"/>
          <p:nvPr/>
        </p:nvSpPr>
        <p:spPr>
          <a:xfrm>
            <a:off x="11170189" y="4253112"/>
            <a:ext cx="43335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F3F8E9"/>
                </a:solidFill>
                <a:latin typeface="Arial"/>
              </a:rPr>
              <a:t>Y6–Y10</a:t>
            </a:r>
          </a:p>
        </p:txBody>
      </p:sp>
      <p:cxnSp>
        <p:nvCxnSpPr>
          <p:cNvPr id="337" name="Connector 336"/>
          <p:cNvCxnSpPr/>
          <p:nvPr/>
        </p:nvCxnSpPr>
        <p:spPr>
          <a:xfrm>
            <a:off x="564426" y="4408086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104587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H="1">
            <a:off x="564426" y="4696123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564426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TextBox 340"/>
          <p:cNvSpPr txBox="1"/>
          <p:nvPr/>
        </p:nvSpPr>
        <p:spPr>
          <a:xfrm>
            <a:off x="620458" y="4480666"/>
            <a:ext cx="933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Gaji &amp; tunjangan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4104587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5179234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4104587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4104587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TextBox 345"/>
          <p:cNvSpPr txBox="1"/>
          <p:nvPr/>
        </p:nvSpPr>
        <p:spPr>
          <a:xfrm>
            <a:off x="4836425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1.053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5179234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6253881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5179234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5179234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>
            <a:off x="5911072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1.073</a:t>
            </a:r>
          </a:p>
        </p:txBody>
      </p:sp>
      <p:cxnSp>
        <p:nvCxnSpPr>
          <p:cNvPr id="352" name="Connector 351"/>
          <p:cNvCxnSpPr/>
          <p:nvPr/>
        </p:nvCxnSpPr>
        <p:spPr>
          <a:xfrm>
            <a:off x="6253881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7328528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6253881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V="1">
            <a:off x="6253881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TextBox 355"/>
          <p:cNvSpPr txBox="1"/>
          <p:nvPr/>
        </p:nvSpPr>
        <p:spPr>
          <a:xfrm>
            <a:off x="6985719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1.187</a:t>
            </a:r>
          </a:p>
        </p:txBody>
      </p:sp>
      <p:cxnSp>
        <p:nvCxnSpPr>
          <p:cNvPr id="357" name="Connector 356"/>
          <p:cNvCxnSpPr/>
          <p:nvPr/>
        </p:nvCxnSpPr>
        <p:spPr>
          <a:xfrm>
            <a:off x="7328528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8403175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H="1">
            <a:off x="7328528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 flipV="1">
            <a:off x="7328528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Box 360"/>
          <p:cNvSpPr txBox="1"/>
          <p:nvPr/>
        </p:nvSpPr>
        <p:spPr>
          <a:xfrm>
            <a:off x="8060366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1.688</a:t>
            </a:r>
          </a:p>
        </p:txBody>
      </p:sp>
      <p:cxnSp>
        <p:nvCxnSpPr>
          <p:cNvPr id="362" name="Connector 361"/>
          <p:cNvCxnSpPr/>
          <p:nvPr/>
        </p:nvCxnSpPr>
        <p:spPr>
          <a:xfrm>
            <a:off x="8403175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9477822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8403175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8403175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TextBox 365"/>
          <p:cNvSpPr txBox="1"/>
          <p:nvPr/>
        </p:nvSpPr>
        <p:spPr>
          <a:xfrm>
            <a:off x="9135012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1.815</a:t>
            </a:r>
          </a:p>
        </p:txBody>
      </p:sp>
      <p:cxnSp>
        <p:nvCxnSpPr>
          <p:cNvPr id="367" name="Connector 366"/>
          <p:cNvCxnSpPr/>
          <p:nvPr/>
        </p:nvCxnSpPr>
        <p:spPr>
          <a:xfrm>
            <a:off x="9477822" y="4408086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0552469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H="1">
            <a:off x="9477822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9477822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1" name="TextBox 370"/>
          <p:cNvSpPr txBox="1"/>
          <p:nvPr/>
        </p:nvSpPr>
        <p:spPr>
          <a:xfrm>
            <a:off x="10209659" y="4480666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2.905</a:t>
            </a:r>
          </a:p>
        </p:txBody>
      </p:sp>
      <p:cxnSp>
        <p:nvCxnSpPr>
          <p:cNvPr id="372" name="Connector 371"/>
          <p:cNvCxnSpPr/>
          <p:nvPr/>
        </p:nvCxnSpPr>
        <p:spPr>
          <a:xfrm>
            <a:off x="10552469" y="4408086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11627573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10552469" y="4696123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10552469" y="4408086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11221085" y="4480666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28.979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564426" y="4696123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8" name="Connector 377"/>
          <p:cNvCxnSpPr/>
          <p:nvPr/>
        </p:nvCxnSpPr>
        <p:spPr>
          <a:xfrm>
            <a:off x="564426" y="4696123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4104587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564426" y="498416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564426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TextBox 381"/>
          <p:cNvSpPr txBox="1"/>
          <p:nvPr/>
        </p:nvSpPr>
        <p:spPr>
          <a:xfrm>
            <a:off x="620458" y="4768703"/>
            <a:ext cx="68532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Sewa lokasi</a:t>
            </a:r>
          </a:p>
        </p:txBody>
      </p:sp>
      <p:cxnSp>
        <p:nvCxnSpPr>
          <p:cNvPr id="383" name="Connector 382"/>
          <p:cNvCxnSpPr/>
          <p:nvPr/>
        </p:nvCxnSpPr>
        <p:spPr>
          <a:xfrm>
            <a:off x="4104587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5179234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H="1">
            <a:off x="4104587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4104587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TextBox 386"/>
          <p:cNvSpPr txBox="1"/>
          <p:nvPr/>
        </p:nvSpPr>
        <p:spPr>
          <a:xfrm>
            <a:off x="4836425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1.248</a:t>
            </a:r>
          </a:p>
        </p:txBody>
      </p:sp>
      <p:cxnSp>
        <p:nvCxnSpPr>
          <p:cNvPr id="388" name="Connector 387"/>
          <p:cNvCxnSpPr/>
          <p:nvPr/>
        </p:nvCxnSpPr>
        <p:spPr>
          <a:xfrm>
            <a:off x="5179234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6253881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H="1">
            <a:off x="5179234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5179234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TextBox 391"/>
          <p:cNvSpPr txBox="1"/>
          <p:nvPr/>
        </p:nvSpPr>
        <p:spPr>
          <a:xfrm>
            <a:off x="5911072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1.218</a:t>
            </a:r>
          </a:p>
        </p:txBody>
      </p:sp>
      <p:cxnSp>
        <p:nvCxnSpPr>
          <p:cNvPr id="393" name="Connector 392"/>
          <p:cNvCxnSpPr/>
          <p:nvPr/>
        </p:nvCxnSpPr>
        <p:spPr>
          <a:xfrm>
            <a:off x="6253881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7328528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6253881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6253881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396"/>
          <p:cNvSpPr txBox="1"/>
          <p:nvPr/>
        </p:nvSpPr>
        <p:spPr>
          <a:xfrm>
            <a:off x="6985719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1.776</a:t>
            </a:r>
          </a:p>
        </p:txBody>
      </p:sp>
      <p:cxnSp>
        <p:nvCxnSpPr>
          <p:cNvPr id="398" name="Connector 397"/>
          <p:cNvCxnSpPr/>
          <p:nvPr/>
        </p:nvCxnSpPr>
        <p:spPr>
          <a:xfrm>
            <a:off x="7328528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8403175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7328528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7328528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2" name="TextBox 401"/>
          <p:cNvSpPr txBox="1"/>
          <p:nvPr/>
        </p:nvSpPr>
        <p:spPr>
          <a:xfrm>
            <a:off x="8060366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2.284</a:t>
            </a:r>
          </a:p>
        </p:txBody>
      </p:sp>
      <p:cxnSp>
        <p:nvCxnSpPr>
          <p:cNvPr id="403" name="Connector 402"/>
          <p:cNvCxnSpPr/>
          <p:nvPr/>
        </p:nvCxnSpPr>
        <p:spPr>
          <a:xfrm>
            <a:off x="8403175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9477822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8403175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8403175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7" name="TextBox 406"/>
          <p:cNvSpPr txBox="1"/>
          <p:nvPr/>
        </p:nvSpPr>
        <p:spPr>
          <a:xfrm>
            <a:off x="9135012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2.995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9477822" y="4696123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10552469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9477822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9477822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2" name="TextBox 411"/>
          <p:cNvSpPr txBox="1"/>
          <p:nvPr/>
        </p:nvSpPr>
        <p:spPr>
          <a:xfrm>
            <a:off x="10209659" y="4768703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3.774</a:t>
            </a:r>
          </a:p>
        </p:txBody>
      </p:sp>
      <p:cxnSp>
        <p:nvCxnSpPr>
          <p:cNvPr id="413" name="Connector 412"/>
          <p:cNvCxnSpPr/>
          <p:nvPr/>
        </p:nvCxnSpPr>
        <p:spPr>
          <a:xfrm>
            <a:off x="10552469" y="4696123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11627573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10552469" y="498416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10552469" y="4696123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/>
          <p:cNvSpPr txBox="1"/>
          <p:nvPr/>
        </p:nvSpPr>
        <p:spPr>
          <a:xfrm>
            <a:off x="11221085" y="4768703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23.492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564426" y="498416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4104587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564426" y="5272198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564426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2" name="TextBox 421"/>
          <p:cNvSpPr txBox="1"/>
          <p:nvPr/>
        </p:nvSpPr>
        <p:spPr>
          <a:xfrm>
            <a:off x="620458" y="5056740"/>
            <a:ext cx="1113726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Logistik &amp; distribusi</a:t>
            </a:r>
          </a:p>
        </p:txBody>
      </p:sp>
      <p:cxnSp>
        <p:nvCxnSpPr>
          <p:cNvPr id="423" name="Connector 422"/>
          <p:cNvCxnSpPr/>
          <p:nvPr/>
        </p:nvCxnSpPr>
        <p:spPr>
          <a:xfrm>
            <a:off x="4104587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5179234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4104587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4104587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TextBox 426"/>
          <p:cNvSpPr txBox="1"/>
          <p:nvPr/>
        </p:nvSpPr>
        <p:spPr>
          <a:xfrm>
            <a:off x="4932055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163</a:t>
            </a:r>
          </a:p>
        </p:txBody>
      </p:sp>
      <p:cxnSp>
        <p:nvCxnSpPr>
          <p:cNvPr id="428" name="Connector 427"/>
          <p:cNvCxnSpPr/>
          <p:nvPr/>
        </p:nvCxnSpPr>
        <p:spPr>
          <a:xfrm>
            <a:off x="5179234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6253881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5179234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5179234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TextBox 431"/>
          <p:cNvSpPr txBox="1"/>
          <p:nvPr/>
        </p:nvSpPr>
        <p:spPr>
          <a:xfrm>
            <a:off x="6006702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351</a:t>
            </a:r>
          </a:p>
        </p:txBody>
      </p:sp>
      <p:cxnSp>
        <p:nvCxnSpPr>
          <p:cNvPr id="433" name="Connector 432"/>
          <p:cNvCxnSpPr/>
          <p:nvPr/>
        </p:nvCxnSpPr>
        <p:spPr>
          <a:xfrm>
            <a:off x="6253881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7328528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H="1">
            <a:off x="6253881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6253881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7" name="TextBox 436"/>
          <p:cNvSpPr txBox="1"/>
          <p:nvPr/>
        </p:nvSpPr>
        <p:spPr>
          <a:xfrm>
            <a:off x="7081349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607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328528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8403175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H="1">
            <a:off x="7328528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7328528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2" name="TextBox 441"/>
          <p:cNvSpPr txBox="1"/>
          <p:nvPr/>
        </p:nvSpPr>
        <p:spPr>
          <a:xfrm>
            <a:off x="8155996" y="5056740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879</a:t>
            </a:r>
          </a:p>
        </p:txBody>
      </p:sp>
      <p:cxnSp>
        <p:nvCxnSpPr>
          <p:cNvPr id="443" name="Connector 442"/>
          <p:cNvCxnSpPr/>
          <p:nvPr/>
        </p:nvCxnSpPr>
        <p:spPr>
          <a:xfrm>
            <a:off x="8403175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477822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H="1">
            <a:off x="8403175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8403175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TextBox 446"/>
          <p:cNvSpPr txBox="1"/>
          <p:nvPr/>
        </p:nvSpPr>
        <p:spPr>
          <a:xfrm>
            <a:off x="9135012" y="505674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1.206</a:t>
            </a:r>
          </a:p>
        </p:txBody>
      </p:sp>
      <p:cxnSp>
        <p:nvCxnSpPr>
          <p:cNvPr id="448" name="Connector 447"/>
          <p:cNvCxnSpPr/>
          <p:nvPr/>
        </p:nvCxnSpPr>
        <p:spPr>
          <a:xfrm>
            <a:off x="9477822" y="498416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0552469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H="1">
            <a:off x="9477822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9477822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TextBox 451"/>
          <p:cNvSpPr txBox="1"/>
          <p:nvPr/>
        </p:nvSpPr>
        <p:spPr>
          <a:xfrm>
            <a:off x="10209659" y="505674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1.581</a:t>
            </a:r>
          </a:p>
        </p:txBody>
      </p:sp>
      <p:cxnSp>
        <p:nvCxnSpPr>
          <p:cNvPr id="453" name="Connector 452"/>
          <p:cNvCxnSpPr/>
          <p:nvPr/>
        </p:nvCxnSpPr>
        <p:spPr>
          <a:xfrm>
            <a:off x="10552469" y="498416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1627573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H="1">
            <a:off x="10552469" y="5272198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10552469" y="4984160"/>
            <a:ext cx="0" cy="28803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TextBox 456"/>
          <p:cNvSpPr txBox="1"/>
          <p:nvPr/>
        </p:nvSpPr>
        <p:spPr>
          <a:xfrm>
            <a:off x="11221085" y="505674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16.766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564426" y="5272198"/>
            <a:ext cx="11063146" cy="288037"/>
          </a:xfrm>
          <a:prstGeom prst="rect">
            <a:avLst/>
          </a:prstGeom>
          <a:solidFill>
            <a:srgbClr val="F0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9" name="Connector 458"/>
          <p:cNvCxnSpPr/>
          <p:nvPr/>
        </p:nvCxnSpPr>
        <p:spPr>
          <a:xfrm>
            <a:off x="564426" y="5272198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4104587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H="1">
            <a:off x="564426" y="556023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564426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3" name="TextBox 462"/>
          <p:cNvSpPr txBox="1"/>
          <p:nvPr/>
        </p:nvSpPr>
        <p:spPr>
          <a:xfrm>
            <a:off x="620458" y="5344777"/>
            <a:ext cx="167027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Perawatan, admin &amp; overhead</a:t>
            </a:r>
          </a:p>
        </p:txBody>
      </p:sp>
      <p:cxnSp>
        <p:nvCxnSpPr>
          <p:cNvPr id="464" name="Connector 463"/>
          <p:cNvCxnSpPr/>
          <p:nvPr/>
        </p:nvCxnSpPr>
        <p:spPr>
          <a:xfrm>
            <a:off x="4104587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5179234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H="1">
            <a:off x="4104587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4104587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TextBox 467"/>
          <p:cNvSpPr txBox="1"/>
          <p:nvPr/>
        </p:nvSpPr>
        <p:spPr>
          <a:xfrm>
            <a:off x="4932055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166</a:t>
            </a:r>
          </a:p>
        </p:txBody>
      </p:sp>
      <p:cxnSp>
        <p:nvCxnSpPr>
          <p:cNvPr id="469" name="Connector 468"/>
          <p:cNvCxnSpPr/>
          <p:nvPr/>
        </p:nvCxnSpPr>
        <p:spPr>
          <a:xfrm>
            <a:off x="5179234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6253881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H="1">
            <a:off x="5179234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5179234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3" name="TextBox 472"/>
          <p:cNvSpPr txBox="1"/>
          <p:nvPr/>
        </p:nvSpPr>
        <p:spPr>
          <a:xfrm>
            <a:off x="6006702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399</a:t>
            </a:r>
          </a:p>
        </p:txBody>
      </p:sp>
      <p:cxnSp>
        <p:nvCxnSpPr>
          <p:cNvPr id="474" name="Connector 473"/>
          <p:cNvCxnSpPr/>
          <p:nvPr/>
        </p:nvCxnSpPr>
        <p:spPr>
          <a:xfrm>
            <a:off x="6253881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7328528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H="1">
            <a:off x="6253881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6253881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TextBox 477"/>
          <p:cNvSpPr txBox="1"/>
          <p:nvPr/>
        </p:nvSpPr>
        <p:spPr>
          <a:xfrm>
            <a:off x="7081349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564</a:t>
            </a:r>
          </a:p>
        </p:txBody>
      </p:sp>
      <p:cxnSp>
        <p:nvCxnSpPr>
          <p:cNvPr id="479" name="Connector 478"/>
          <p:cNvCxnSpPr/>
          <p:nvPr/>
        </p:nvCxnSpPr>
        <p:spPr>
          <a:xfrm>
            <a:off x="7328528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8403175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H="1">
            <a:off x="7328528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7328528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8155996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716</a:t>
            </a:r>
          </a:p>
        </p:txBody>
      </p:sp>
      <p:cxnSp>
        <p:nvCxnSpPr>
          <p:cNvPr id="484" name="Connector 483"/>
          <p:cNvCxnSpPr/>
          <p:nvPr/>
        </p:nvCxnSpPr>
        <p:spPr>
          <a:xfrm>
            <a:off x="8403175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477822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H="1">
            <a:off x="8403175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8403175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8" name="TextBox 487"/>
          <p:cNvSpPr txBox="1"/>
          <p:nvPr/>
        </p:nvSpPr>
        <p:spPr>
          <a:xfrm>
            <a:off x="9230643" y="5344777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903</a:t>
            </a:r>
          </a:p>
        </p:txBody>
      </p:sp>
      <p:cxnSp>
        <p:nvCxnSpPr>
          <p:cNvPr id="489" name="Connector 488"/>
          <p:cNvCxnSpPr/>
          <p:nvPr/>
        </p:nvCxnSpPr>
        <p:spPr>
          <a:xfrm>
            <a:off x="9477822" y="5272198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0552469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H="1">
            <a:off x="9477822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9477822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3" name="TextBox 492"/>
          <p:cNvSpPr txBox="1"/>
          <p:nvPr/>
        </p:nvSpPr>
        <p:spPr>
          <a:xfrm>
            <a:off x="10209659" y="5344777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1.124</a:t>
            </a:r>
          </a:p>
        </p:txBody>
      </p:sp>
      <p:cxnSp>
        <p:nvCxnSpPr>
          <p:cNvPr id="494" name="Connector 493"/>
          <p:cNvCxnSpPr/>
          <p:nvPr/>
        </p:nvCxnSpPr>
        <p:spPr>
          <a:xfrm>
            <a:off x="10552469" y="5272198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11627573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H="1">
            <a:off x="10552469" y="556023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10552469" y="5272198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497"/>
          <p:cNvSpPr txBox="1"/>
          <p:nvPr/>
        </p:nvSpPr>
        <p:spPr>
          <a:xfrm>
            <a:off x="11221085" y="5344777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15.398</a:t>
            </a:r>
          </a:p>
        </p:txBody>
      </p:sp>
      <p:cxnSp>
        <p:nvCxnSpPr>
          <p:cNvPr id="499" name="Connector 498"/>
          <p:cNvCxnSpPr/>
          <p:nvPr/>
        </p:nvCxnSpPr>
        <p:spPr>
          <a:xfrm>
            <a:off x="564426" y="5560235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4104587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H="1">
            <a:off x="564426" y="584827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564426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3" name="TextBox 502"/>
          <p:cNvSpPr txBox="1"/>
          <p:nvPr/>
        </p:nvSpPr>
        <p:spPr>
          <a:xfrm>
            <a:off x="620458" y="5632815"/>
            <a:ext cx="1324273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Pemasaran &amp; penjualan</a:t>
            </a:r>
          </a:p>
        </p:txBody>
      </p:sp>
      <p:cxnSp>
        <p:nvCxnSpPr>
          <p:cNvPr id="504" name="Connector 503"/>
          <p:cNvCxnSpPr/>
          <p:nvPr/>
        </p:nvCxnSpPr>
        <p:spPr>
          <a:xfrm>
            <a:off x="4104587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5179234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H="1">
            <a:off x="4104587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 flipV="1">
            <a:off x="4104587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TextBox 507"/>
          <p:cNvSpPr txBox="1"/>
          <p:nvPr/>
        </p:nvSpPr>
        <p:spPr>
          <a:xfrm>
            <a:off x="4932055" y="5632815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507</a:t>
            </a:r>
          </a:p>
        </p:txBody>
      </p:sp>
      <p:cxnSp>
        <p:nvCxnSpPr>
          <p:cNvPr id="509" name="Connector 508"/>
          <p:cNvCxnSpPr/>
          <p:nvPr/>
        </p:nvCxnSpPr>
        <p:spPr>
          <a:xfrm>
            <a:off x="5179234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6253881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 flipH="1">
            <a:off x="5179234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 flipV="1">
            <a:off x="5179234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3" name="TextBox 512"/>
          <p:cNvSpPr txBox="1"/>
          <p:nvPr/>
        </p:nvSpPr>
        <p:spPr>
          <a:xfrm>
            <a:off x="6006702" y="5632815"/>
            <a:ext cx="2231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768</a:t>
            </a:r>
          </a:p>
        </p:txBody>
      </p:sp>
      <p:cxnSp>
        <p:nvCxnSpPr>
          <p:cNvPr id="514" name="Connector 513"/>
          <p:cNvCxnSpPr/>
          <p:nvPr/>
        </p:nvCxnSpPr>
        <p:spPr>
          <a:xfrm>
            <a:off x="6253881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7328528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 flipH="1">
            <a:off x="6253881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V="1">
            <a:off x="6253881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8" name="TextBox 517"/>
          <p:cNvSpPr txBox="1"/>
          <p:nvPr/>
        </p:nvSpPr>
        <p:spPr>
          <a:xfrm>
            <a:off x="6985719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1.069</a:t>
            </a:r>
          </a:p>
        </p:txBody>
      </p:sp>
      <p:cxnSp>
        <p:nvCxnSpPr>
          <p:cNvPr id="519" name="Connector 518"/>
          <p:cNvCxnSpPr/>
          <p:nvPr/>
        </p:nvCxnSpPr>
        <p:spPr>
          <a:xfrm>
            <a:off x="7328528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8403175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 flipH="1">
            <a:off x="7328528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 flipV="1">
            <a:off x="7328528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3" name="TextBox 522"/>
          <p:cNvSpPr txBox="1"/>
          <p:nvPr/>
        </p:nvSpPr>
        <p:spPr>
          <a:xfrm>
            <a:off x="8060366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1.207</a:t>
            </a:r>
          </a:p>
        </p:txBody>
      </p:sp>
      <p:cxnSp>
        <p:nvCxnSpPr>
          <p:cNvPr id="524" name="Connector 523"/>
          <p:cNvCxnSpPr/>
          <p:nvPr/>
        </p:nvCxnSpPr>
        <p:spPr>
          <a:xfrm>
            <a:off x="8403175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9477822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>
            <a:off x="8403175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V="1">
            <a:off x="8403175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8" name="TextBox 527"/>
          <p:cNvSpPr txBox="1"/>
          <p:nvPr/>
        </p:nvSpPr>
        <p:spPr>
          <a:xfrm>
            <a:off x="9135012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1.649</a:t>
            </a:r>
          </a:p>
        </p:txBody>
      </p:sp>
      <p:cxnSp>
        <p:nvCxnSpPr>
          <p:cNvPr id="529" name="Connector 528"/>
          <p:cNvCxnSpPr/>
          <p:nvPr/>
        </p:nvCxnSpPr>
        <p:spPr>
          <a:xfrm>
            <a:off x="9477822" y="5560235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10552469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 flipH="1">
            <a:off x="9477822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V="1">
            <a:off x="9477822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3" name="TextBox 532"/>
          <p:cNvSpPr txBox="1"/>
          <p:nvPr/>
        </p:nvSpPr>
        <p:spPr>
          <a:xfrm>
            <a:off x="10209659" y="5632815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1.912</a:t>
            </a:r>
          </a:p>
        </p:txBody>
      </p:sp>
      <p:cxnSp>
        <p:nvCxnSpPr>
          <p:cNvPr id="534" name="Connector 533"/>
          <p:cNvCxnSpPr/>
          <p:nvPr/>
        </p:nvCxnSpPr>
        <p:spPr>
          <a:xfrm>
            <a:off x="10552469" y="5560235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1627573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H="1">
            <a:off x="10552469" y="584827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10552469" y="5560235"/>
            <a:ext cx="0" cy="288037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537"/>
          <p:cNvSpPr txBox="1"/>
          <p:nvPr/>
        </p:nvSpPr>
        <p:spPr>
          <a:xfrm>
            <a:off x="11221085" y="5632815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0" i="0">
                <a:solidFill>
                  <a:srgbClr val="254C35"/>
                </a:solidFill>
                <a:latin typeface="Arial"/>
              </a:rPr>
              <a:t>18.191</a:t>
            </a:r>
          </a:p>
        </p:txBody>
      </p:sp>
      <p:sp>
        <p:nvSpPr>
          <p:cNvPr id="539" name="Rectangle 538"/>
          <p:cNvSpPr/>
          <p:nvPr/>
        </p:nvSpPr>
        <p:spPr>
          <a:xfrm>
            <a:off x="564426" y="5848272"/>
            <a:ext cx="11063146" cy="288607"/>
          </a:xfrm>
          <a:prstGeom prst="rect">
            <a:avLst/>
          </a:prstGeom>
          <a:solidFill>
            <a:srgbClr val="DCE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0" name="Connector 539"/>
          <p:cNvCxnSpPr/>
          <p:nvPr/>
        </p:nvCxnSpPr>
        <p:spPr>
          <a:xfrm>
            <a:off x="564426" y="5848272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4104587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H="1">
            <a:off x="564426" y="6136880"/>
            <a:ext cx="3540161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564426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620458" y="5921080"/>
            <a:ext cx="64321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Total OPEX</a:t>
            </a:r>
          </a:p>
        </p:txBody>
      </p:sp>
      <p:cxnSp>
        <p:nvCxnSpPr>
          <p:cNvPr id="545" name="Connector 544"/>
          <p:cNvCxnSpPr/>
          <p:nvPr/>
        </p:nvCxnSpPr>
        <p:spPr>
          <a:xfrm>
            <a:off x="4104587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5179234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H="1">
            <a:off x="4104587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4104587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TextBox 548"/>
          <p:cNvSpPr txBox="1"/>
          <p:nvPr/>
        </p:nvSpPr>
        <p:spPr>
          <a:xfrm>
            <a:off x="4836425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3.137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5179234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>
            <a:off x="6253881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H="1">
            <a:off x="5179234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5179234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5911072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3.808</a:t>
            </a:r>
          </a:p>
        </p:txBody>
      </p:sp>
      <p:cxnSp>
        <p:nvCxnSpPr>
          <p:cNvPr id="555" name="Connector 554"/>
          <p:cNvCxnSpPr/>
          <p:nvPr/>
        </p:nvCxnSpPr>
        <p:spPr>
          <a:xfrm>
            <a:off x="6253881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328528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H="1">
            <a:off x="6253881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6253881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9" name="TextBox 558"/>
          <p:cNvSpPr txBox="1"/>
          <p:nvPr/>
        </p:nvSpPr>
        <p:spPr>
          <a:xfrm>
            <a:off x="6985719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5.202</a:t>
            </a:r>
          </a:p>
        </p:txBody>
      </p:sp>
      <p:cxnSp>
        <p:nvCxnSpPr>
          <p:cNvPr id="560" name="Connector 559"/>
          <p:cNvCxnSpPr/>
          <p:nvPr/>
        </p:nvCxnSpPr>
        <p:spPr>
          <a:xfrm>
            <a:off x="7328528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8403175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H="1">
            <a:off x="7328528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7328528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4" name="TextBox 563"/>
          <p:cNvSpPr txBox="1"/>
          <p:nvPr/>
        </p:nvSpPr>
        <p:spPr>
          <a:xfrm>
            <a:off x="8060366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6.774</a:t>
            </a:r>
          </a:p>
        </p:txBody>
      </p:sp>
      <p:cxnSp>
        <p:nvCxnSpPr>
          <p:cNvPr id="565" name="Connector 564"/>
          <p:cNvCxnSpPr/>
          <p:nvPr/>
        </p:nvCxnSpPr>
        <p:spPr>
          <a:xfrm>
            <a:off x="8403175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9477822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>
            <a:off x="8403175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8403175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TextBox 568"/>
          <p:cNvSpPr txBox="1"/>
          <p:nvPr/>
        </p:nvSpPr>
        <p:spPr>
          <a:xfrm>
            <a:off x="9135012" y="5921080"/>
            <a:ext cx="31878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8.567</a:t>
            </a:r>
          </a:p>
        </p:txBody>
      </p:sp>
      <p:cxnSp>
        <p:nvCxnSpPr>
          <p:cNvPr id="570" name="Connector 569"/>
          <p:cNvCxnSpPr/>
          <p:nvPr/>
        </p:nvCxnSpPr>
        <p:spPr>
          <a:xfrm>
            <a:off x="9477822" y="5848272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10552469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9477822" y="6136880"/>
            <a:ext cx="1074647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9477822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4" name="TextBox 573"/>
          <p:cNvSpPr txBox="1"/>
          <p:nvPr/>
        </p:nvSpPr>
        <p:spPr>
          <a:xfrm>
            <a:off x="10145982" y="5921080"/>
            <a:ext cx="382459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11.296</a:t>
            </a:r>
          </a:p>
        </p:txBody>
      </p:sp>
      <p:cxnSp>
        <p:nvCxnSpPr>
          <p:cNvPr id="575" name="Connector 574"/>
          <p:cNvCxnSpPr/>
          <p:nvPr/>
        </p:nvCxnSpPr>
        <p:spPr>
          <a:xfrm>
            <a:off x="10552469" y="5848272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11627573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H="1">
            <a:off x="10552469" y="6136880"/>
            <a:ext cx="1075104" cy="0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10552469" y="5848272"/>
            <a:ext cx="0" cy="288608"/>
          </a:xfrm>
          <a:prstGeom prst="line">
            <a:avLst/>
          </a:prstGeom>
          <a:ln w="7303">
            <a:solidFill>
              <a:srgbClr val="D9D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11157293" y="5921080"/>
            <a:ext cx="446251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2" b="1" i="0">
                <a:solidFill>
                  <a:srgbClr val="254C35"/>
                </a:solidFill>
                <a:latin typeface="Arial"/>
              </a:rPr>
              <a:t>102.827</a:t>
            </a:r>
          </a:p>
        </p:txBody>
      </p:sp>
      <p:sp>
        <p:nvSpPr>
          <p:cNvPr id="580" name="TextBox 579"/>
          <p:cNvSpPr txBox="1"/>
          <p:nvPr/>
        </p:nvSpPr>
        <p:spPr>
          <a:xfrm>
            <a:off x="560774" y="6219730"/>
            <a:ext cx="1110245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" b="0" i="0">
                <a:solidFill>
                  <a:srgbClr val="536D55"/>
                </a:solidFill>
                <a:latin typeface="Arial"/>
              </a:rPr>
              <a:t>*Y0 CAPEX Rp7.503 juta mencakup CAPEX Rp7.024 juta dan modal kerja praoperasi Rp479 juta. Total CAPEX Y0–Y10 Rp53,6 miliar.</a:t>
            </a:r>
          </a:p>
        </p:txBody>
      </p:sp>
      <p:cxnSp>
        <p:nvCxnSpPr>
          <p:cNvPr id="581" name="Connector 58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PROYEKSI LABA RUGI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Pendapatan tumbuh, laba positif sejak Y1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Proyeksi menaikkan pendapatan dari Rp3,5 miliar di Y0 ke Rp86,6 miliar di Y10.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774" y="2234684"/>
            <a:ext cx="162349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5725A"/>
                </a:solidFill>
                <a:latin typeface="Arial"/>
              </a:rPr>
              <a:t>PENDAPATAN / RP MILIAR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36036" y="2095915"/>
            <a:ext cx="112719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3,5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03724" y="2095915"/>
            <a:ext cx="26605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86A663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6036" y="2095915"/>
            <a:ext cx="112719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86,6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0774" y="239536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0774" y="249506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0774" y="259477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0774" y="269447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0774" y="279418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0774" y="289388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0774" y="299359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0774" y="3093296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0774" y="3193001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774" y="329270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774" y="3392410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774" y="349211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0774" y="3591819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774" y="369152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0774" y="379122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774" y="389093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0774" y="399063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774" y="409034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0774" y="419004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774" y="428975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0774" y="4389456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0774" y="4489161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0774" y="458886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0774" y="4688570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0774" y="4788275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0774" y="4887979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0774" y="4987684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0774" y="508738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0774" y="5187093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0774" y="5286798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0774" y="5386502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0774" y="5486207"/>
            <a:ext cx="11070450" cy="10116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560774" y="5585912"/>
            <a:ext cx="11070450" cy="0"/>
          </a:xfrm>
          <a:prstGeom prst="line">
            <a:avLst/>
          </a:prstGeom>
          <a:ln w="7303">
            <a:solidFill>
              <a:srgbClr val="8FA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89368" y="2639123"/>
            <a:ext cx="1640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3,5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7073" y="5278360"/>
            <a:ext cx="896623" cy="4720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7073" y="5281620"/>
            <a:ext cx="896623" cy="4720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7073" y="5284879"/>
            <a:ext cx="896623" cy="4720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7073" y="5288139"/>
            <a:ext cx="896623" cy="4720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7073" y="5291398"/>
            <a:ext cx="896623" cy="4720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7073" y="5294658"/>
            <a:ext cx="896623" cy="4720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7073" y="5297917"/>
            <a:ext cx="896623" cy="4720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7073" y="5301177"/>
            <a:ext cx="896623" cy="4720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07073" y="5304436"/>
            <a:ext cx="896623" cy="4720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07073" y="5307696"/>
            <a:ext cx="896623" cy="4720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7073" y="5310955"/>
            <a:ext cx="896623" cy="4720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7073" y="5314215"/>
            <a:ext cx="896623" cy="4720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07073" y="5317474"/>
            <a:ext cx="896623" cy="4720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7073" y="5320734"/>
            <a:ext cx="896623" cy="4720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7073" y="5323993"/>
            <a:ext cx="896623" cy="4720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7073" y="5327253"/>
            <a:ext cx="896623" cy="4720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7073" y="5330513"/>
            <a:ext cx="896623" cy="4720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7073" y="5333772"/>
            <a:ext cx="896623" cy="4720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7073" y="5337032"/>
            <a:ext cx="896623" cy="4720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7073" y="5340291"/>
            <a:ext cx="896623" cy="4720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7073" y="5343551"/>
            <a:ext cx="896623" cy="4720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07073" y="5346810"/>
            <a:ext cx="896623" cy="4720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07073" y="5350070"/>
            <a:ext cx="896623" cy="4720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07073" y="5353329"/>
            <a:ext cx="896623" cy="4720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7073" y="5356589"/>
            <a:ext cx="896623" cy="4720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7073" y="5359848"/>
            <a:ext cx="896623" cy="4720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7073" y="5363108"/>
            <a:ext cx="896623" cy="4720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07073" y="5366367"/>
            <a:ext cx="896623" cy="4720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07073" y="5369627"/>
            <a:ext cx="896623" cy="4720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7073" y="5372886"/>
            <a:ext cx="896623" cy="4720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7073" y="5376146"/>
            <a:ext cx="896623" cy="4720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07073" y="5379406"/>
            <a:ext cx="896623" cy="4720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97242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77399" y="2639123"/>
            <a:ext cx="16403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7,4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95105" y="5161730"/>
            <a:ext cx="896737" cy="836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95105" y="5168634"/>
            <a:ext cx="896737" cy="836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95105" y="5175538"/>
            <a:ext cx="896737" cy="836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95105" y="5182443"/>
            <a:ext cx="896737" cy="836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695105" y="5189347"/>
            <a:ext cx="896737" cy="836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95105" y="5196251"/>
            <a:ext cx="896737" cy="836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95105" y="5203155"/>
            <a:ext cx="896737" cy="836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695105" y="5210060"/>
            <a:ext cx="896737" cy="836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95105" y="5216964"/>
            <a:ext cx="896737" cy="836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695105" y="5223868"/>
            <a:ext cx="896737" cy="836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695105" y="5230772"/>
            <a:ext cx="896737" cy="836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95105" y="5237676"/>
            <a:ext cx="896737" cy="836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95105" y="5244581"/>
            <a:ext cx="896737" cy="836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95105" y="5251485"/>
            <a:ext cx="896737" cy="836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95105" y="5258389"/>
            <a:ext cx="896737" cy="836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95105" y="5265293"/>
            <a:ext cx="896737" cy="836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695105" y="5272198"/>
            <a:ext cx="896737" cy="836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695105" y="5279102"/>
            <a:ext cx="896737" cy="836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695105" y="5286006"/>
            <a:ext cx="896737" cy="836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95105" y="5292910"/>
            <a:ext cx="896737" cy="836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695105" y="5299814"/>
            <a:ext cx="896737" cy="836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95105" y="5306719"/>
            <a:ext cx="896737" cy="836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95105" y="5313623"/>
            <a:ext cx="896737" cy="836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695105" y="5320527"/>
            <a:ext cx="896737" cy="836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95105" y="5327431"/>
            <a:ext cx="896737" cy="836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695105" y="5334336"/>
            <a:ext cx="896737" cy="836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695105" y="5341240"/>
            <a:ext cx="896737" cy="836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695105" y="5348144"/>
            <a:ext cx="896737" cy="836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695105" y="5355048"/>
            <a:ext cx="896737" cy="836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695105" y="5361952"/>
            <a:ext cx="896737" cy="836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95105" y="5368857"/>
            <a:ext cx="896737" cy="836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95105" y="5375761"/>
            <a:ext cx="896737" cy="836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5388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39070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13,2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683251" y="4988953"/>
            <a:ext cx="896623" cy="1376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683251" y="5001257"/>
            <a:ext cx="896623" cy="1376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683251" y="5013560"/>
            <a:ext cx="896623" cy="1376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83251" y="5025864"/>
            <a:ext cx="896623" cy="1376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683251" y="5038167"/>
            <a:ext cx="896623" cy="1376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683251" y="5050471"/>
            <a:ext cx="896623" cy="1376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683251" y="5062774"/>
            <a:ext cx="896623" cy="1376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83251" y="5075078"/>
            <a:ext cx="896623" cy="1376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683251" y="5087381"/>
            <a:ext cx="896623" cy="1376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683251" y="5099685"/>
            <a:ext cx="896623" cy="1376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83251" y="5111988"/>
            <a:ext cx="896623" cy="1376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683251" y="5124292"/>
            <a:ext cx="896623" cy="1376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683251" y="5136595"/>
            <a:ext cx="896623" cy="1376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683251" y="5148899"/>
            <a:ext cx="896623" cy="1376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83251" y="5161202"/>
            <a:ext cx="896623" cy="1376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83251" y="5173506"/>
            <a:ext cx="896623" cy="1376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83251" y="5185809"/>
            <a:ext cx="896623" cy="1376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83251" y="5198113"/>
            <a:ext cx="896623" cy="1376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83251" y="5210416"/>
            <a:ext cx="896623" cy="1376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83251" y="5222720"/>
            <a:ext cx="896623" cy="1376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83251" y="5235023"/>
            <a:ext cx="896623" cy="1376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683251" y="5247327"/>
            <a:ext cx="896623" cy="1376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83251" y="5259630"/>
            <a:ext cx="896623" cy="1376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683251" y="5271934"/>
            <a:ext cx="896623" cy="1376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683251" y="5284237"/>
            <a:ext cx="896623" cy="1376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83251" y="5296541"/>
            <a:ext cx="896623" cy="1376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83251" y="5308844"/>
            <a:ext cx="896623" cy="1376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83251" y="5321148"/>
            <a:ext cx="896623" cy="1376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83251" y="5333451"/>
            <a:ext cx="896623" cy="1376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683251" y="5345755"/>
            <a:ext cx="896623" cy="1376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83251" y="5358058"/>
            <a:ext cx="896623" cy="1376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83251" y="5370362"/>
            <a:ext cx="896623" cy="1376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073419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027215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19,1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71282" y="4812639"/>
            <a:ext cx="896737" cy="1927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671282" y="4830452"/>
            <a:ext cx="896737" cy="1927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671282" y="4848266"/>
            <a:ext cx="896737" cy="1927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671282" y="4866079"/>
            <a:ext cx="896737" cy="1927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71282" y="4883892"/>
            <a:ext cx="896737" cy="1927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671282" y="4901706"/>
            <a:ext cx="896737" cy="1927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71282" y="4919519"/>
            <a:ext cx="896737" cy="1927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671282" y="4937332"/>
            <a:ext cx="896737" cy="1927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671282" y="4955146"/>
            <a:ext cx="896737" cy="1927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3671282" y="4972959"/>
            <a:ext cx="896737" cy="1927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671282" y="4990772"/>
            <a:ext cx="896737" cy="1927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671282" y="5008586"/>
            <a:ext cx="896737" cy="1927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671282" y="5026399"/>
            <a:ext cx="896737" cy="1927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71282" y="5044212"/>
            <a:ext cx="896737" cy="1927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71282" y="5062025"/>
            <a:ext cx="896737" cy="1927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71282" y="5079839"/>
            <a:ext cx="896737" cy="1927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71282" y="5097652"/>
            <a:ext cx="896737" cy="1927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71282" y="5115465"/>
            <a:ext cx="896737" cy="1927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671282" y="5133279"/>
            <a:ext cx="896737" cy="1927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71282" y="5151092"/>
            <a:ext cx="896737" cy="1927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671282" y="5168905"/>
            <a:ext cx="896737" cy="1927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671282" y="5186719"/>
            <a:ext cx="896737" cy="1927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671282" y="5204532"/>
            <a:ext cx="896737" cy="1927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671282" y="5222345"/>
            <a:ext cx="896737" cy="1927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671282" y="5240159"/>
            <a:ext cx="896737" cy="1927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71282" y="5257972"/>
            <a:ext cx="896737" cy="1927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71282" y="5275785"/>
            <a:ext cx="896737" cy="1927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671282" y="5293598"/>
            <a:ext cx="896737" cy="1927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671282" y="5311412"/>
            <a:ext cx="896737" cy="1927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671282" y="5329225"/>
            <a:ext cx="896737" cy="1927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671282" y="5347038"/>
            <a:ext cx="896737" cy="1927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671282" y="5364852"/>
            <a:ext cx="896737" cy="1927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061565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015247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25,4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659428" y="4624799"/>
            <a:ext cx="896623" cy="2514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659428" y="4648482"/>
            <a:ext cx="896623" cy="2514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659428" y="4672165"/>
            <a:ext cx="896623" cy="2514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659428" y="4695849"/>
            <a:ext cx="896623" cy="2514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659428" y="4719532"/>
            <a:ext cx="896623" cy="2514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659428" y="4743215"/>
            <a:ext cx="896623" cy="2514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659428" y="4766899"/>
            <a:ext cx="896623" cy="2514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659428" y="4790582"/>
            <a:ext cx="896623" cy="2514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59428" y="4814265"/>
            <a:ext cx="896623" cy="2514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659428" y="4837949"/>
            <a:ext cx="896623" cy="2514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659428" y="4861632"/>
            <a:ext cx="896623" cy="2514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659428" y="4885315"/>
            <a:ext cx="896623" cy="2514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659428" y="4908999"/>
            <a:ext cx="896623" cy="2514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659428" y="4932682"/>
            <a:ext cx="896623" cy="2514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59428" y="4956365"/>
            <a:ext cx="896623" cy="2514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659428" y="4980049"/>
            <a:ext cx="896623" cy="2514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659428" y="5003732"/>
            <a:ext cx="896623" cy="2514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659428" y="5027415"/>
            <a:ext cx="896623" cy="2514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659428" y="5051099"/>
            <a:ext cx="896623" cy="2514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659428" y="5074782"/>
            <a:ext cx="896623" cy="2514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659428" y="5098465"/>
            <a:ext cx="896623" cy="2514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659428" y="5122148"/>
            <a:ext cx="896623" cy="2514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659428" y="5145832"/>
            <a:ext cx="896623" cy="2514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659428" y="5169515"/>
            <a:ext cx="896623" cy="2514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659428" y="5193198"/>
            <a:ext cx="896623" cy="2514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659428" y="5216882"/>
            <a:ext cx="896623" cy="2514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59428" y="5240565"/>
            <a:ext cx="896623" cy="2514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659428" y="5264248"/>
            <a:ext cx="896623" cy="2514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659428" y="5287932"/>
            <a:ext cx="896623" cy="2514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659428" y="5311615"/>
            <a:ext cx="896623" cy="2514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659428" y="5335298"/>
            <a:ext cx="896623" cy="2514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659428" y="5358982"/>
            <a:ext cx="896623" cy="2514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049596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Y4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003393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32,3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5647459" y="4418813"/>
            <a:ext cx="896737" cy="31581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647459" y="4448934"/>
            <a:ext cx="896737" cy="31581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647459" y="4479054"/>
            <a:ext cx="896737" cy="31581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647459" y="4509174"/>
            <a:ext cx="896737" cy="31581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647459" y="4539295"/>
            <a:ext cx="896737" cy="31581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647459" y="4569415"/>
            <a:ext cx="896737" cy="31581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647459" y="4599536"/>
            <a:ext cx="896737" cy="31581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47459" y="4629656"/>
            <a:ext cx="896737" cy="31581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647459" y="4659776"/>
            <a:ext cx="896737" cy="31581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647459" y="4689897"/>
            <a:ext cx="896737" cy="31581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5647459" y="4720017"/>
            <a:ext cx="896737" cy="31581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5647459" y="4750137"/>
            <a:ext cx="896737" cy="31581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5647459" y="4780258"/>
            <a:ext cx="896737" cy="31581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647459" y="4810378"/>
            <a:ext cx="896737" cy="31581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647459" y="4840498"/>
            <a:ext cx="896737" cy="31581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47459" y="4870619"/>
            <a:ext cx="896737" cy="31581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47459" y="4900739"/>
            <a:ext cx="896737" cy="31581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647459" y="4930860"/>
            <a:ext cx="896737" cy="31581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647459" y="4960980"/>
            <a:ext cx="896737" cy="31581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647459" y="4991100"/>
            <a:ext cx="896737" cy="31581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647459" y="5021221"/>
            <a:ext cx="896737" cy="31581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647459" y="5051341"/>
            <a:ext cx="896737" cy="31581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47459" y="5081461"/>
            <a:ext cx="896737" cy="31581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647459" y="5111582"/>
            <a:ext cx="896737" cy="31581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647459" y="5141702"/>
            <a:ext cx="896737" cy="31581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647459" y="5171822"/>
            <a:ext cx="896737" cy="31581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647459" y="5201943"/>
            <a:ext cx="896737" cy="31581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5647459" y="5232063"/>
            <a:ext cx="896737" cy="31581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647459" y="5262184"/>
            <a:ext cx="896737" cy="31581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647459" y="5292304"/>
            <a:ext cx="896737" cy="31581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647459" y="5322424"/>
            <a:ext cx="896737" cy="31581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5647459" y="5352545"/>
            <a:ext cx="896737" cy="31581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037742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Y5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6991539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40,3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6635605" y="4180076"/>
            <a:ext cx="896737" cy="39041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6635605" y="4217657"/>
            <a:ext cx="896737" cy="39041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6635605" y="4255238"/>
            <a:ext cx="896737" cy="39041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6635605" y="4292818"/>
            <a:ext cx="896737" cy="39041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6635605" y="4330399"/>
            <a:ext cx="896737" cy="39041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6635605" y="4367980"/>
            <a:ext cx="896737" cy="39041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6635605" y="4405561"/>
            <a:ext cx="896737" cy="39041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6635605" y="4443142"/>
            <a:ext cx="896737" cy="39041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6635605" y="4480723"/>
            <a:ext cx="896737" cy="39041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635605" y="4518304"/>
            <a:ext cx="896737" cy="39041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635605" y="4555885"/>
            <a:ext cx="896737" cy="39041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635605" y="4593466"/>
            <a:ext cx="896737" cy="39041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635605" y="4631047"/>
            <a:ext cx="896737" cy="39041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6635605" y="4668628"/>
            <a:ext cx="896737" cy="39041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635605" y="4706209"/>
            <a:ext cx="896737" cy="39041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635605" y="4743789"/>
            <a:ext cx="896737" cy="39041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635605" y="4781370"/>
            <a:ext cx="896737" cy="39041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35605" y="4818951"/>
            <a:ext cx="896737" cy="39041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35605" y="4856532"/>
            <a:ext cx="896737" cy="39041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635605" y="4894113"/>
            <a:ext cx="896737" cy="39041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635605" y="4931694"/>
            <a:ext cx="896737" cy="39041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635605" y="4969275"/>
            <a:ext cx="896737" cy="39041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635605" y="5006856"/>
            <a:ext cx="896737" cy="39041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635605" y="5044437"/>
            <a:ext cx="896737" cy="39041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635605" y="5082018"/>
            <a:ext cx="896737" cy="39041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635605" y="5119599"/>
            <a:ext cx="896737" cy="39041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635605" y="5157180"/>
            <a:ext cx="896737" cy="39041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635605" y="5194760"/>
            <a:ext cx="896737" cy="39041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635605" y="5232341"/>
            <a:ext cx="896737" cy="39041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635605" y="5269922"/>
            <a:ext cx="896737" cy="39041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635605" y="5307503"/>
            <a:ext cx="896737" cy="39041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6635605" y="5345084"/>
            <a:ext cx="896737" cy="39041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7025888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Y6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979684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48,1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7623751" y="3947501"/>
            <a:ext cx="896737" cy="46309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7623751" y="3992349"/>
            <a:ext cx="896737" cy="46309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623751" y="4037198"/>
            <a:ext cx="896737" cy="46309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7623751" y="4082047"/>
            <a:ext cx="896737" cy="46309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7623751" y="4126896"/>
            <a:ext cx="896737" cy="46309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7623751" y="4171745"/>
            <a:ext cx="896737" cy="46309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7623751" y="4216594"/>
            <a:ext cx="896737" cy="46309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623751" y="4261443"/>
            <a:ext cx="896737" cy="46309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623751" y="4306292"/>
            <a:ext cx="896737" cy="46309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623751" y="4351141"/>
            <a:ext cx="896737" cy="46309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623751" y="4395989"/>
            <a:ext cx="896737" cy="46309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623751" y="4440838"/>
            <a:ext cx="896737" cy="46309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623751" y="4485687"/>
            <a:ext cx="896737" cy="46309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7623751" y="4530536"/>
            <a:ext cx="896737" cy="46309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7623751" y="4575385"/>
            <a:ext cx="896737" cy="46309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623751" y="4620234"/>
            <a:ext cx="896737" cy="46309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623751" y="4665083"/>
            <a:ext cx="896737" cy="46309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623751" y="4709932"/>
            <a:ext cx="896737" cy="46309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7623751" y="4754781"/>
            <a:ext cx="896737" cy="46309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7623751" y="4799629"/>
            <a:ext cx="896737" cy="46309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7623751" y="4844478"/>
            <a:ext cx="896737" cy="46309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7623751" y="4889327"/>
            <a:ext cx="896737" cy="46309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7623751" y="4934176"/>
            <a:ext cx="896737" cy="46309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7623751" y="4979025"/>
            <a:ext cx="896737" cy="46309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7623751" y="5023874"/>
            <a:ext cx="896737" cy="46309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7623751" y="5068723"/>
            <a:ext cx="896737" cy="46309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623751" y="5113572"/>
            <a:ext cx="896737" cy="46309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623751" y="5158421"/>
            <a:ext cx="896737" cy="46309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623751" y="5203269"/>
            <a:ext cx="896737" cy="46309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623751" y="5248118"/>
            <a:ext cx="896737" cy="46309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7623751" y="5292967"/>
            <a:ext cx="896737" cy="46309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7623751" y="5337816"/>
            <a:ext cx="896737" cy="46309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014034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Y7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967830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58,3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8611897" y="3643144"/>
            <a:ext cx="896737" cy="55820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611897" y="3697504"/>
            <a:ext cx="896737" cy="55820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611897" y="3751864"/>
            <a:ext cx="896737" cy="55820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8611897" y="3806224"/>
            <a:ext cx="896737" cy="55820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8611897" y="3860584"/>
            <a:ext cx="896737" cy="55820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8611897" y="3914944"/>
            <a:ext cx="896737" cy="55820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8611897" y="3969305"/>
            <a:ext cx="896737" cy="55820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611897" y="4023665"/>
            <a:ext cx="896737" cy="55820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8611897" y="4078025"/>
            <a:ext cx="896737" cy="55820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8611897" y="4132385"/>
            <a:ext cx="896737" cy="55820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8611897" y="4186745"/>
            <a:ext cx="896737" cy="55820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611897" y="4241105"/>
            <a:ext cx="896737" cy="55820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611897" y="4295465"/>
            <a:ext cx="896737" cy="55820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611897" y="4349825"/>
            <a:ext cx="896737" cy="55820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611897" y="4404185"/>
            <a:ext cx="896737" cy="55820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11897" y="4458545"/>
            <a:ext cx="896737" cy="55820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611897" y="4512905"/>
            <a:ext cx="896737" cy="55820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8611897" y="4567265"/>
            <a:ext cx="896737" cy="55820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8611897" y="4621625"/>
            <a:ext cx="896737" cy="55820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611897" y="4675985"/>
            <a:ext cx="896737" cy="55820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611897" y="4730345"/>
            <a:ext cx="896737" cy="55820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8611897" y="4784705"/>
            <a:ext cx="896737" cy="55820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611897" y="4839065"/>
            <a:ext cx="896737" cy="55820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8611897" y="4893425"/>
            <a:ext cx="896737" cy="55820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8611897" y="4947785"/>
            <a:ext cx="896737" cy="55820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8611897" y="5002145"/>
            <a:ext cx="896737" cy="55820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8611897" y="5056505"/>
            <a:ext cx="896737" cy="55820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8611897" y="5110865"/>
            <a:ext cx="896737" cy="55820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8611897" y="5165225"/>
            <a:ext cx="896737" cy="55820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8611897" y="5219585"/>
            <a:ext cx="896737" cy="55820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8611897" y="5273945"/>
            <a:ext cx="896737" cy="55820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8611897" y="5328305"/>
            <a:ext cx="896737" cy="55820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9002179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Y8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9955976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73,0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00042" y="3204356"/>
            <a:ext cx="896737" cy="69532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9600042" y="3272428"/>
            <a:ext cx="896737" cy="69532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9600042" y="3340500"/>
            <a:ext cx="896737" cy="69532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600042" y="3408572"/>
            <a:ext cx="896737" cy="69532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9600042" y="3476644"/>
            <a:ext cx="896737" cy="69532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600042" y="3544716"/>
            <a:ext cx="896737" cy="69532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600042" y="3612789"/>
            <a:ext cx="896737" cy="69532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9600042" y="3680861"/>
            <a:ext cx="896737" cy="69532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9600042" y="3748933"/>
            <a:ext cx="896737" cy="69532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9600042" y="3817005"/>
            <a:ext cx="896737" cy="69532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9600042" y="3885077"/>
            <a:ext cx="896737" cy="69532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9600042" y="3953149"/>
            <a:ext cx="896737" cy="69532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600042" y="4021222"/>
            <a:ext cx="896737" cy="69532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9600042" y="4089294"/>
            <a:ext cx="896737" cy="69532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9600042" y="4157366"/>
            <a:ext cx="896737" cy="69532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600042" y="4225438"/>
            <a:ext cx="896737" cy="69532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9600042" y="4293510"/>
            <a:ext cx="896737" cy="69532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9600042" y="4361583"/>
            <a:ext cx="896737" cy="69532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9600042" y="4429655"/>
            <a:ext cx="896737" cy="69532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9600042" y="4497727"/>
            <a:ext cx="896737" cy="69532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9600042" y="4565799"/>
            <a:ext cx="896737" cy="69532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9600042" y="4633871"/>
            <a:ext cx="896737" cy="69532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9600042" y="4701943"/>
            <a:ext cx="896737" cy="69532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9600042" y="4770016"/>
            <a:ext cx="896737" cy="69532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9600042" y="4838088"/>
            <a:ext cx="896737" cy="69532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600042" y="4906160"/>
            <a:ext cx="896737" cy="69532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9600042" y="4974232"/>
            <a:ext cx="896737" cy="69532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9600042" y="5042304"/>
            <a:ext cx="896737" cy="69532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9600042" y="5110376"/>
            <a:ext cx="896737" cy="69532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9600042" y="5178449"/>
            <a:ext cx="896737" cy="69532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9600042" y="5246521"/>
            <a:ext cx="896737" cy="69532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9600042" y="5314593"/>
            <a:ext cx="896737" cy="69532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9990325" y="5425232"/>
            <a:ext cx="1481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Y9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0944121" y="2639123"/>
            <a:ext cx="21687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2B603D"/>
                </a:solidFill>
                <a:latin typeface="Arial"/>
              </a:rPr>
              <a:t>86,6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10588188" y="2798547"/>
            <a:ext cx="896737" cy="82214"/>
          </a:xfrm>
          <a:prstGeom prst="rect">
            <a:avLst/>
          </a:prstGeom>
          <a:solidFill>
            <a:srgbClr val="BBE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0588188" y="2879301"/>
            <a:ext cx="896737" cy="82214"/>
          </a:xfrm>
          <a:prstGeom prst="rect">
            <a:avLst/>
          </a:prstGeom>
          <a:solidFill>
            <a:srgbClr val="B6D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10588188" y="2960055"/>
            <a:ext cx="896737" cy="82214"/>
          </a:xfrm>
          <a:prstGeom prst="rect">
            <a:avLst/>
          </a:prstGeom>
          <a:solidFill>
            <a:srgbClr val="B1D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10588188" y="3040808"/>
            <a:ext cx="896737" cy="82214"/>
          </a:xfrm>
          <a:prstGeom prst="rect">
            <a:avLst/>
          </a:prstGeom>
          <a:solidFill>
            <a:srgbClr val="ADD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0588188" y="3121562"/>
            <a:ext cx="896737" cy="82214"/>
          </a:xfrm>
          <a:prstGeom prst="rect">
            <a:avLst/>
          </a:prstGeom>
          <a:solidFill>
            <a:srgbClr val="A8D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10588188" y="3202316"/>
            <a:ext cx="896737" cy="82214"/>
          </a:xfrm>
          <a:prstGeom prst="rect">
            <a:avLst/>
          </a:prstGeom>
          <a:solidFill>
            <a:srgbClr val="A3C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10588188" y="3283069"/>
            <a:ext cx="896737" cy="82214"/>
          </a:xfrm>
          <a:prstGeom prst="rect">
            <a:avLst/>
          </a:prstGeom>
          <a:solidFill>
            <a:srgbClr val="9F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10588188" y="3363823"/>
            <a:ext cx="896737" cy="82214"/>
          </a:xfrm>
          <a:prstGeom prst="rect">
            <a:avLst/>
          </a:prstGeom>
          <a:solidFill>
            <a:srgbClr val="9A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10588188" y="3444577"/>
            <a:ext cx="896737" cy="82214"/>
          </a:xfrm>
          <a:prstGeom prst="rect">
            <a:avLst/>
          </a:prstGeom>
          <a:solidFill>
            <a:srgbClr val="95C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588188" y="3525330"/>
            <a:ext cx="896737" cy="82214"/>
          </a:xfrm>
          <a:prstGeom prst="rect">
            <a:avLst/>
          </a:prstGeom>
          <a:solidFill>
            <a:srgbClr val="90BC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0588188" y="3606084"/>
            <a:ext cx="896737" cy="82214"/>
          </a:xfrm>
          <a:prstGeom prst="rect">
            <a:avLst/>
          </a:prstGeom>
          <a:solidFill>
            <a:srgbClr val="8C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0588188" y="3686838"/>
            <a:ext cx="896737" cy="82214"/>
          </a:xfrm>
          <a:prstGeom prst="rect">
            <a:avLst/>
          </a:prstGeom>
          <a:solidFill>
            <a:srgbClr val="87B4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0588188" y="3767591"/>
            <a:ext cx="896737" cy="82214"/>
          </a:xfrm>
          <a:prstGeom prst="rect">
            <a:avLst/>
          </a:prstGeom>
          <a:solidFill>
            <a:srgbClr val="82B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0588188" y="3848345"/>
            <a:ext cx="896737" cy="82214"/>
          </a:xfrm>
          <a:prstGeom prst="rect">
            <a:avLst/>
          </a:prstGeom>
          <a:solidFill>
            <a:srgbClr val="7EA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0588188" y="3929099"/>
            <a:ext cx="896737" cy="82214"/>
          </a:xfrm>
          <a:prstGeom prst="rect">
            <a:avLst/>
          </a:prstGeom>
          <a:solidFill>
            <a:srgbClr val="79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0588188" y="4009853"/>
            <a:ext cx="896737" cy="82214"/>
          </a:xfrm>
          <a:prstGeom prst="rect">
            <a:avLst/>
          </a:prstGeom>
          <a:solidFill>
            <a:srgbClr val="74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0588188" y="4090606"/>
            <a:ext cx="896737" cy="82214"/>
          </a:xfrm>
          <a:prstGeom prst="rect">
            <a:avLst/>
          </a:prstGeom>
          <a:solidFill>
            <a:srgbClr val="70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0588188" y="4171360"/>
            <a:ext cx="896737" cy="82214"/>
          </a:xfrm>
          <a:prstGeom prst="rect">
            <a:avLst/>
          </a:prstGeom>
          <a:solidFill>
            <a:srgbClr val="6B9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0588188" y="4252114"/>
            <a:ext cx="896737" cy="82214"/>
          </a:xfrm>
          <a:prstGeom prst="rect">
            <a:avLst/>
          </a:prstGeom>
          <a:solidFill>
            <a:srgbClr val="669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10588188" y="4332867"/>
            <a:ext cx="896737" cy="82214"/>
          </a:xfrm>
          <a:prstGeom prst="rect">
            <a:avLst/>
          </a:prstGeom>
          <a:solidFill>
            <a:srgbClr val="629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10588188" y="4413621"/>
            <a:ext cx="896737" cy="82214"/>
          </a:xfrm>
          <a:prstGeom prst="rect">
            <a:avLst/>
          </a:prstGeom>
          <a:solidFill>
            <a:srgbClr val="5D9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10588188" y="4494375"/>
            <a:ext cx="896737" cy="82214"/>
          </a:xfrm>
          <a:prstGeom prst="rect">
            <a:avLst/>
          </a:prstGeom>
          <a:solidFill>
            <a:srgbClr val="588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588188" y="4575128"/>
            <a:ext cx="896737" cy="82214"/>
          </a:xfrm>
          <a:prstGeom prst="rect">
            <a:avLst/>
          </a:prstGeom>
          <a:solidFill>
            <a:srgbClr val="54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0588188" y="4655882"/>
            <a:ext cx="896737" cy="82214"/>
          </a:xfrm>
          <a:prstGeom prst="rect">
            <a:avLst/>
          </a:prstGeom>
          <a:solidFill>
            <a:srgbClr val="4F84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588188" y="4736636"/>
            <a:ext cx="896737" cy="82214"/>
          </a:xfrm>
          <a:prstGeom prst="rect">
            <a:avLst/>
          </a:prstGeom>
          <a:solidFill>
            <a:srgbClr val="4A8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0588188" y="4817389"/>
            <a:ext cx="896737" cy="82214"/>
          </a:xfrm>
          <a:prstGeom prst="rect">
            <a:avLst/>
          </a:prstGeom>
          <a:solidFill>
            <a:srgbClr val="457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0588188" y="4898143"/>
            <a:ext cx="896737" cy="82214"/>
          </a:xfrm>
          <a:prstGeom prst="rect">
            <a:avLst/>
          </a:prstGeom>
          <a:solidFill>
            <a:srgbClr val="417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0588188" y="4978897"/>
            <a:ext cx="896737" cy="82214"/>
          </a:xfrm>
          <a:prstGeom prst="rect">
            <a:avLst/>
          </a:prstGeom>
          <a:solidFill>
            <a:srgbClr val="3C7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0588188" y="5059650"/>
            <a:ext cx="896737" cy="82214"/>
          </a:xfrm>
          <a:prstGeom prst="rect">
            <a:avLst/>
          </a:prstGeom>
          <a:solidFill>
            <a:srgbClr val="377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0588188" y="5140404"/>
            <a:ext cx="896737" cy="82214"/>
          </a:xfrm>
          <a:prstGeom prst="rect">
            <a:avLst/>
          </a:prstGeom>
          <a:solidFill>
            <a:srgbClr val="336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10588188" y="5221158"/>
            <a:ext cx="896737" cy="82214"/>
          </a:xfrm>
          <a:prstGeom prst="rect">
            <a:avLst/>
          </a:prstGeom>
          <a:solidFill>
            <a:srgbClr val="2E6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10588188" y="5301911"/>
            <a:ext cx="896737" cy="82214"/>
          </a:xfrm>
          <a:prstGeom prst="rect">
            <a:avLst/>
          </a:prstGeom>
          <a:solidFill>
            <a:srgbClr val="296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10951996" y="5425232"/>
            <a:ext cx="2010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66A4F"/>
                </a:solidFill>
                <a:latin typeface="Arial"/>
              </a:rPr>
              <a:t>Y10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560774" y="5730957"/>
            <a:ext cx="1271893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1" i="0">
                <a:solidFill>
                  <a:srgbClr val="44684C"/>
                </a:solidFill>
                <a:latin typeface="Arial"/>
              </a:rPr>
              <a:t>LABA BERSIH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861603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A85B34"/>
                </a:solidFill>
                <a:latin typeface="Arial"/>
              </a:rPr>
              <a:t>-1,3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757998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0,1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3654507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2,0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4550902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3,8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5447411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5,3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6343806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6,4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7240315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6,5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8136710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9,0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9033219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11,9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929614" y="5720002"/>
            <a:ext cx="83710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14,9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0826124" y="5720002"/>
            <a:ext cx="8369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275D39"/>
                </a:solidFill>
                <a:latin typeface="Arial"/>
              </a:rPr>
              <a:t>19,6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560774" y="5985557"/>
            <a:ext cx="11070450" cy="323870"/>
          </a:xfrm>
          <a:prstGeom prst="rect">
            <a:avLst/>
          </a:prstGeom>
          <a:solidFill>
            <a:srgbClr val="DC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707073" y="6070804"/>
            <a:ext cx="183894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31583B"/>
                </a:solidFill>
                <a:latin typeface="Arial"/>
              </a:rPr>
              <a:t>Y1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560774" y="6078108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31583B"/>
                </a:solidFill>
                <a:latin typeface="Arial"/>
              </a:rPr>
              <a:t>laba bersih mulai positif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350825" y="6078108"/>
            <a:ext cx="6658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8CA886"/>
                </a:solidFill>
                <a:latin typeface="Arial"/>
              </a:rPr>
              <a:t>·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529648" y="6070804"/>
            <a:ext cx="801842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1" i="0">
                <a:solidFill>
                  <a:srgbClr val="31583B"/>
                </a:solidFill>
                <a:latin typeface="Arial"/>
              </a:rPr>
              <a:t>Rp78,3 miliar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560774" y="6078108"/>
            <a:ext cx="1110245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31583B"/>
                </a:solidFill>
                <a:latin typeface="Arial"/>
              </a:rPr>
              <a:t>kumulatif Y0–Y10</a:t>
            </a:r>
          </a:p>
        </p:txBody>
      </p:sp>
      <p:cxnSp>
        <p:nvCxnSpPr>
          <p:cNvPr id="437" name="Connector 43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8" name="TextBox 43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822914"/>
            <a:ext cx="11102454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6A893E"/>
                </a:solidFill>
                <a:latin typeface="Arial"/>
              </a:rPr>
              <a:t>NERACA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076259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Aset dan ekuitas bertumbuh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699008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Neraca memproyeksikan aset Rp81,6 miliar dan ekuitas Rp65,5 miliar pada Tahun 10.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0223" y="2148866"/>
            <a:ext cx="64590" cy="64591"/>
          </a:xfrm>
          <a:prstGeom prst="rect">
            <a:avLst/>
          </a:prstGeom>
          <a:solidFill>
            <a:srgbClr val="2F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223" y="2126385"/>
            <a:ext cx="5375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aset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7642" y="2148866"/>
            <a:ext cx="64590" cy="64591"/>
          </a:xfrm>
          <a:prstGeom prst="rect">
            <a:avLst/>
          </a:prstGeom>
          <a:solidFill>
            <a:srgbClr val="CBA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07642" y="2126385"/>
            <a:ext cx="69947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liabilitas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6995" y="2148866"/>
            <a:ext cx="64590" cy="64591"/>
          </a:xfrm>
          <a:prstGeom prst="rect">
            <a:avLst/>
          </a:prstGeom>
          <a:solidFill>
            <a:srgbClr val="9CC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6995" y="2126385"/>
            <a:ext cx="660907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0" i="0">
                <a:solidFill>
                  <a:srgbClr val="42634B"/>
                </a:solidFill>
                <a:latin typeface="Arial"/>
              </a:rPr>
              <a:t>Total ekuitas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7759" y="2122733"/>
            <a:ext cx="43655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8" b="1" i="0">
                <a:solidFill>
                  <a:srgbClr val="42634B"/>
                </a:solidFill>
                <a:latin typeface="Arial"/>
              </a:rPr>
              <a:t>Rp miliar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774" y="2455505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0774" y="3658094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774" y="4860797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774" y="6063387"/>
            <a:ext cx="12021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3" b="0" i="0">
                <a:solidFill>
                  <a:srgbClr val="68806A"/>
                </a:solidFill>
                <a:latin typeface="Arial"/>
              </a:rPr>
              <a:t>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0223" y="232141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0223" y="244566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0223" y="256990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0223" y="269415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0223" y="281840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0223" y="294265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0223" y="306689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0223" y="319114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0223" y="331539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0223" y="3439641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0223" y="356388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0223" y="368813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0223" y="381238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0223" y="3936631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0223" y="4060878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0223" y="4185126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0223" y="430937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0223" y="443362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223" y="4557868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0223" y="468211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0223" y="4806363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0223" y="493061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223" y="505485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0223" y="5179105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0223" y="530335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80223" y="5427600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223" y="555184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0223" y="567609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0223" y="5800342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0223" y="5924589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0223" y="6048837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0223" y="6173084"/>
            <a:ext cx="6932083" cy="125708"/>
          </a:xfrm>
          <a:prstGeom prst="rect">
            <a:avLst/>
          </a:prstGeom>
          <a:solidFill>
            <a:srgbClr val="CB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H="1">
            <a:off x="780223" y="6297331"/>
            <a:ext cx="6932083" cy="0"/>
          </a:xfrm>
          <a:prstGeom prst="line">
            <a:avLst/>
          </a:prstGeom>
          <a:ln w="7303">
            <a:solidFill>
              <a:srgbClr val="9BAD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816740" y="5735750"/>
            <a:ext cx="347602" cy="386407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135" y="5589449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78950" y="6111089"/>
            <a:ext cx="347716" cy="11069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9344" y="5964788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0,3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41274" y="5746934"/>
            <a:ext cx="347602" cy="375224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61668" y="5600633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96149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74123" y="5535128"/>
            <a:ext cx="347602" cy="587029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73177" y="5388827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14,2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36333" y="6003360"/>
            <a:ext cx="347716" cy="118798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56727" y="5857059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2,9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98656" y="5654041"/>
            <a:ext cx="347602" cy="468117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97711" y="5507740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11,3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53531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31505" y="5111632"/>
            <a:ext cx="347602" cy="1010526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30559" y="496533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24,5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93715" y="5839827"/>
            <a:ext cx="347716" cy="282331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14109" y="5693526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6,8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856039" y="5390311"/>
            <a:ext cx="347602" cy="731847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955093" y="5244010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17,7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0914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88887" y="4635982"/>
            <a:ext cx="347602" cy="1486175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7942" y="448968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36,0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51097" y="5739516"/>
            <a:ext cx="347716" cy="382642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71492" y="5593215"/>
            <a:ext cx="13870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9,3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13421" y="5018739"/>
            <a:ext cx="347602" cy="1103419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12475" y="4872438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26,7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68296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46270" y="3915205"/>
            <a:ext cx="347602" cy="2206953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45324" y="376890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53,5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08480" y="5624370"/>
            <a:ext cx="347716" cy="497788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07534" y="5478069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12,1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0804" y="4416759"/>
            <a:ext cx="347602" cy="1705398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69858" y="4270458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41,3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25679" y="6168377"/>
            <a:ext cx="14532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03652" y="2752215"/>
            <a:ext cx="347602" cy="3369943"/>
          </a:xfrm>
          <a:prstGeom prst="rect">
            <a:avLst/>
          </a:prstGeom>
          <a:solidFill>
            <a:srgbClr val="327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702706" y="260591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81,6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65862" y="5457185"/>
            <a:ext cx="347716" cy="664973"/>
          </a:xfrm>
          <a:prstGeom prst="rect">
            <a:avLst/>
          </a:prstGeom>
          <a:solidFill>
            <a:srgbClr val="CD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64916" y="5310884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16,1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28186" y="3417302"/>
            <a:ext cx="347602" cy="2704855"/>
          </a:xfrm>
          <a:prstGeom prst="rect">
            <a:avLst/>
          </a:prstGeom>
          <a:solidFill>
            <a:srgbClr val="9E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27240" y="3271001"/>
            <a:ext cx="181384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24543A"/>
                </a:solidFill>
                <a:latin typeface="Arial"/>
              </a:rPr>
              <a:t>65,5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57270" y="6168377"/>
            <a:ext cx="19679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9" b="1" i="0">
                <a:solidFill>
                  <a:srgbClr val="416149"/>
                </a:solidFill>
                <a:latin typeface="Arial"/>
              </a:rPr>
              <a:t>Y10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07219" y="2041023"/>
            <a:ext cx="3723890" cy="1378104"/>
          </a:xfrm>
          <a:prstGeom prst="rect">
            <a:avLst/>
          </a:prstGeom>
          <a:solidFill>
            <a:srgbClr val="124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7907219" y="2041023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1631110" y="2041023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907219" y="3419128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907219" y="2041023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8036401" y="2145785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C9E996"/>
                </a:solidFill>
                <a:latin typeface="Arial"/>
              </a:rPr>
              <a:t>01 / TOTAL ASET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36401" y="2256595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D4F29E"/>
                </a:solidFill>
                <a:latin typeface="Arial"/>
              </a:rPr>
              <a:t>Rp9,4 → 81,6 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36401" y="2547941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E1EFE0"/>
                </a:solidFill>
                <a:latin typeface="Arial"/>
              </a:rPr>
              <a:t>Didorong kas (Rp39,6 M di Y10) dan greenhouse baru di 3 kota.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907219" y="3486116"/>
            <a:ext cx="3723890" cy="137810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7907219" y="3486116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1631110" y="3486116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7907219" y="4864221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907219" y="3486116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036401" y="3590878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7BA55B"/>
                </a:solidFill>
                <a:latin typeface="Arial"/>
              </a:rPr>
              <a:t>02 / TOTAL EKUITAS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36401" y="3701688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7452E"/>
                </a:solidFill>
                <a:latin typeface="Arial"/>
              </a:rPr>
              <a:t>Rp9,1 → 65,5 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36401" y="3993034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5705A"/>
                </a:solidFill>
                <a:latin typeface="Arial"/>
              </a:rPr>
              <a:t>Tumbuh dari laba ditahan, setelah dividen 30% mulai Y3.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07219" y="4931209"/>
            <a:ext cx="3723890" cy="1378104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7907219" y="4931209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631110" y="4931209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7907219" y="6309314"/>
            <a:ext cx="3723891" cy="0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7907219" y="4931209"/>
            <a:ext cx="0" cy="1378105"/>
          </a:xfrm>
          <a:prstGeom prst="line">
            <a:avLst/>
          </a:prstGeom>
          <a:ln w="7303">
            <a:solidFill>
              <a:srgbClr val="6C9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036401" y="5035971"/>
            <a:ext cx="3497532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1" i="0">
                <a:solidFill>
                  <a:srgbClr val="7BA55B"/>
                </a:solidFill>
                <a:latin typeface="Arial"/>
              </a:rPr>
              <a:t>03 / TOTAL LIABILITAS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36401" y="5146780"/>
            <a:ext cx="3497532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17452E"/>
                </a:solidFill>
                <a:latin typeface="Arial"/>
              </a:rPr>
              <a:t>maks 28% aset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036401" y="5438127"/>
            <a:ext cx="349753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8" b="0" i="0">
                <a:solidFill>
                  <a:srgbClr val="55705A"/>
                </a:solidFill>
                <a:latin typeface="Arial"/>
              </a:rPr>
              <a:t>Sebagian besar kredit investasi bank untuk ekspansi.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Cashflow &amp; Payback Period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Arus kas bebas kumulatif melewati nol di Y6; payback diperkirakan sekitar 5,4 tahun.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937517"/>
            <a:ext cx="2654087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5725A"/>
                </a:solidFill>
                <a:latin typeface="Arial"/>
              </a:rPr>
              <a:t>ARUS KAS BEBAS KUMULATIF / RP MILIAR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83478" y="1798748"/>
            <a:ext cx="1291521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A4830"/>
                </a:solidFill>
                <a:latin typeface="Arial"/>
              </a:rPr>
              <a:t>Balik modal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52549" y="1798748"/>
            <a:ext cx="310679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86A663"/>
                </a:solidFill>
                <a:latin typeface="Arial"/>
              </a:rPr>
              <a:t>Y6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0774" y="2146926"/>
            <a:ext cx="2165270" cy="216598"/>
          </a:xfrm>
          <a:prstGeom prst="rect">
            <a:avLst/>
          </a:prstGeom>
          <a:solidFill>
            <a:srgbClr val="174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60774" y="2146926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26045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0774" y="2363525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60774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9017" y="2207752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F7F9ED"/>
                </a:solidFill>
                <a:latin typeface="Arial"/>
              </a:rPr>
              <a:t>Y0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4288" y="2193144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F7F9ED"/>
                </a:solidFill>
                <a:latin typeface="Arial"/>
              </a:rPr>
              <a:t>−8,8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6984" y="2146926"/>
            <a:ext cx="2165384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2786984" y="2146926"/>
            <a:ext cx="2165384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952368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786984" y="2363525"/>
            <a:ext cx="2165384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786984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855226" y="2207752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0611" y="2193144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−9,8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13307" y="2146926"/>
            <a:ext cx="2165270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13307" y="2146926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78578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5013307" y="2363525"/>
            <a:ext cx="2165271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013307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81549" y="2207752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6821" y="2193144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−1,5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39516" y="2146926"/>
            <a:ext cx="2165384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7239516" y="2146926"/>
            <a:ext cx="2165385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04901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239516" y="2363525"/>
            <a:ext cx="2165385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239516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307759" y="2207752"/>
            <a:ext cx="133454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23144" y="2193144"/>
            <a:ext cx="2455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+2,0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5840" y="2146926"/>
            <a:ext cx="2165270" cy="216598"/>
          </a:xfrm>
          <a:prstGeom prst="rect">
            <a:avLst/>
          </a:prstGeom>
          <a:solidFill>
            <a:srgbClr val="ED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9465840" y="2146926"/>
            <a:ext cx="2165270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31110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9465840" y="2363525"/>
            <a:ext cx="2165270" cy="0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9465840" y="2146926"/>
            <a:ext cx="0" cy="216599"/>
          </a:xfrm>
          <a:prstGeom prst="line">
            <a:avLst/>
          </a:prstGeom>
          <a:ln w="7303">
            <a:solidFill>
              <a:srgbClr val="BFD2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34082" y="2207752"/>
            <a:ext cx="179558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2" b="1" i="0">
                <a:solidFill>
                  <a:srgbClr val="16432E"/>
                </a:solidFill>
                <a:latin typeface="Arial"/>
              </a:rPr>
              <a:t>Y10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89670" y="2193144"/>
            <a:ext cx="30520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4" b="1" i="0">
                <a:solidFill>
                  <a:srgbClr val="16432E"/>
                </a:solidFill>
                <a:latin typeface="Arial"/>
              </a:rPr>
              <a:t>+43,3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1612209" y="4873337"/>
            <a:ext cx="258639" cy="208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870848" y="4871256"/>
            <a:ext cx="258639" cy="208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29487" y="4869175"/>
            <a:ext cx="258639" cy="208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388126" y="4869175"/>
            <a:ext cx="258452" cy="651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46578" y="4875687"/>
            <a:ext cx="258302" cy="1336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04880" y="4889048"/>
            <a:ext cx="258302" cy="1336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163182" y="4902409"/>
            <a:ext cx="258295" cy="1033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421477" y="4898195"/>
            <a:ext cx="258239" cy="1454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679716" y="4883650"/>
            <a:ext cx="258238" cy="1454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937954" y="4869106"/>
            <a:ext cx="258238" cy="1454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196192" y="4846019"/>
            <a:ext cx="257541" cy="23087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453733" y="4818527"/>
            <a:ext cx="257182" cy="2749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710915" y="4791034"/>
            <a:ext cx="257183" cy="2749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68098" y="4759302"/>
            <a:ext cx="256547" cy="31732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224645" y="4710262"/>
            <a:ext cx="253956" cy="49040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478601" y="4661221"/>
            <a:ext cx="253956" cy="4904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732557" y="4612180"/>
            <a:ext cx="253956" cy="49041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986513" y="4570601"/>
            <a:ext cx="255233" cy="4157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241746" y="4532377"/>
            <a:ext cx="255807" cy="3822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97553" y="4494152"/>
            <a:ext cx="255808" cy="3822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753361" y="4448194"/>
            <a:ext cx="254062" cy="4595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007423" y="4372828"/>
            <a:ext cx="247424" cy="7536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254847" y="4297462"/>
            <a:ext cx="247424" cy="7536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502271" y="4222097"/>
            <a:ext cx="247423" cy="7536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749694" y="4142202"/>
            <a:ext cx="245971" cy="79895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995665" y="4059396"/>
            <a:ext cx="245034" cy="8280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240699" y="3976590"/>
            <a:ext cx="245035" cy="8280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485734" y="3893784"/>
            <a:ext cx="245034" cy="82806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730768" y="3799931"/>
            <a:ext cx="241012" cy="9385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971780" y="3705783"/>
            <a:ext cx="240904" cy="9414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9212684" y="3611635"/>
            <a:ext cx="240904" cy="94148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9453588" y="3501066"/>
            <a:ext cx="231853" cy="110569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685441" y="3347643"/>
            <a:ext cx="208232" cy="15342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893673" y="3194219"/>
            <a:ext cx="208232" cy="153424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0101905" y="3040796"/>
            <a:ext cx="208231" cy="15342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310136" y="2887373"/>
            <a:ext cx="208232" cy="153423"/>
          </a:xfrm>
          <a:prstGeom prst="line">
            <a:avLst/>
          </a:prstGeom>
          <a:ln w="29214">
            <a:solidFill>
              <a:srgbClr val="2E7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474241" y="4606779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17062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64857" y="4599148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407678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55473" y="4644935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-9,8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98294" y="5031340"/>
            <a:ext cx="22107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46088" y="4595332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-8,5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88910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36704" y="4499941"/>
            <a:ext cx="307940" cy="21459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-6,0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79526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27320" y="4328237"/>
            <a:ext cx="30794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-1,5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70142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49204" y="4194689"/>
            <a:ext cx="245404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2,0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60757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739819" y="4241129"/>
            <a:ext cx="245405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9,1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51374" y="5031340"/>
            <a:ext cx="221069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87756" y="3939692"/>
            <a:ext cx="330764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17,0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41989" y="5031340"/>
            <a:ext cx="22107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478372" y="3592468"/>
            <a:ext cx="330763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26,1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32604" y="5031340"/>
            <a:ext cx="221071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68988" y="2936177"/>
            <a:ext cx="330764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43,3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380541" y="5031340"/>
            <a:ext cx="306430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193C2B"/>
                </a:solidFill>
                <a:latin typeface="Arial"/>
              </a:rPr>
              <a:t>Y10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0774" y="5380839"/>
            <a:ext cx="11070450" cy="390059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9972" y="5532047"/>
            <a:ext cx="54405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25168" y="5494045"/>
            <a:ext cx="161687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Y0 · investasi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83185" y="5520978"/>
            <a:ext cx="8700845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73F2D"/>
                </a:solidFill>
                <a:latin typeface="Arial"/>
              </a:rPr>
              <a:t>FCF kumulatif −Rp8,8 miliar setelah modal awal dan masa trial.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60774" y="5825676"/>
            <a:ext cx="3527609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60774" y="5881709"/>
            <a:ext cx="35596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PAYBACK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0774" y="6036340"/>
            <a:ext cx="355961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±5,4 tahun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332138" y="5825676"/>
            <a:ext cx="3527723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4332138" y="5881709"/>
            <a:ext cx="355972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DISCOUNTED PAYBACK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332138" y="6036340"/>
            <a:ext cx="355972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Tahun 7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103616" y="5825676"/>
            <a:ext cx="3527608" cy="0"/>
          </a:xfrm>
          <a:prstGeom prst="line">
            <a:avLst/>
          </a:prstGeom>
          <a:ln w="7303">
            <a:solidFill>
              <a:srgbClr val="A9BE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8103616" y="5881709"/>
            <a:ext cx="35596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KAS AKHIR Y10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103616" y="6036340"/>
            <a:ext cx="3559612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E4C31"/>
                </a:solidFill>
                <a:latin typeface="Arial"/>
              </a:rPr>
              <a:t>Rp39,64 M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Break Even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Y1: produksi baru 3,3% di atas volume titik impas; bantalan membesar mulai Y2.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774" y="1798748"/>
            <a:ext cx="1919511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C7C60"/>
                </a:solidFill>
                <a:latin typeface="Arial"/>
              </a:rPr>
              <a:t>VOLUME PANEN VS TITIK IMPAS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4540" y="1806052"/>
            <a:ext cx="115868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C7C60"/>
                </a:solidFill>
                <a:latin typeface="Arial"/>
              </a:rPr>
              <a:t>SAFETY MARGIN 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60774" y="1952124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0774" y="2126271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774" y="2454934"/>
            <a:ext cx="323346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3,3%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5518" y="2104930"/>
            <a:ext cx="2705960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0764" y="2167353"/>
            <a:ext cx="67939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97.251 kg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35518" y="2380757"/>
            <a:ext cx="2792347" cy="241590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0764" y="2443066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100.548 kg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0774" y="2767963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0774" y="2942224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774" y="3270887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29,7%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35518" y="2920769"/>
            <a:ext cx="3166539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20764" y="2983192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114.044 kg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35518" y="3196596"/>
            <a:ext cx="4509934" cy="241704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0764" y="3259019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162.313 kg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774" y="3583916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774" y="3758063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0774" y="4086726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37,3%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35518" y="3736722"/>
            <a:ext cx="3886166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20764" y="3799145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140.040 kg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518" y="4012549"/>
            <a:ext cx="6208348" cy="241590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20764" y="4074858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223.360 kg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0774" y="4399755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0774" y="4574016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0774" y="4902679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39,2%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35518" y="4552561"/>
            <a:ext cx="4807439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20764" y="4614984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172.935 kg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35518" y="4828388"/>
            <a:ext cx="7897177" cy="241704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20764" y="4890811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284.407 kg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0774" y="5215708"/>
            <a:ext cx="11070450" cy="0"/>
          </a:xfrm>
          <a:prstGeom prst="line">
            <a:avLst/>
          </a:prstGeom>
          <a:ln w="7303">
            <a:solidFill>
              <a:srgbClr val="25502B">
                <a:alpha val="14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0774" y="5389969"/>
            <a:ext cx="1360448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1" i="0">
                <a:solidFill>
                  <a:srgbClr val="194D31"/>
                </a:solidFill>
                <a:latin typeface="Arial"/>
              </a:rPr>
              <a:t>Y5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774" y="5718632"/>
            <a:ext cx="391132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047"/>
                </a:solidFill>
                <a:latin typeface="Arial"/>
              </a:rPr>
              <a:t>37,5%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35518" y="5368514"/>
            <a:ext cx="5997230" cy="241704"/>
          </a:xfrm>
          <a:prstGeom prst="rect">
            <a:avLst/>
          </a:prstGeom>
          <a:solidFill>
            <a:srgbClr val="DE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0764" y="5430938"/>
            <a:ext cx="73223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426342"/>
                </a:solidFill>
                <a:latin typeface="Arial"/>
              </a:rPr>
              <a:t>BEP 215.986 kg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518" y="5644341"/>
            <a:ext cx="9595706" cy="241704"/>
          </a:xfrm>
          <a:prstGeom prst="rect">
            <a:avLst/>
          </a:prstGeom>
          <a:solidFill>
            <a:srgbClr val="509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20764" y="5706764"/>
            <a:ext cx="86403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FFFFFF"/>
                </a:solidFill>
                <a:latin typeface="Arial"/>
              </a:rPr>
              <a:t>PANEN 345.454 kg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0774" y="6031662"/>
            <a:ext cx="11070450" cy="277766"/>
          </a:xfrm>
          <a:prstGeom prst="rect">
            <a:avLst/>
          </a:prstGeom>
          <a:solidFill>
            <a:srgbClr val="E6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0774" y="6104812"/>
            <a:ext cx="111024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376042"/>
                </a:solidFill>
                <a:latin typeface="Arial"/>
              </a:rPr>
              <a:t>Y0 adalah masa trial dua siklus dan belum mencapai BEP.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Indikator Kelayakan Bisnis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NPV dengan nilai likuidasi Y10, IRR, payback, dan profitability index mendukung keputusan 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0774" y="1798748"/>
            <a:ext cx="6569075" cy="2472280"/>
          </a:xfrm>
          <a:prstGeom prst="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591" y="1981567"/>
            <a:ext cx="6235445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NPV / NILAI LIKUIDASI Y10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591" y="3445490"/>
            <a:ext cx="6235445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D0EF9B"/>
                </a:solidFill>
                <a:latin typeface="Arial"/>
              </a:rPr>
              <a:t>Rp23,5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5696" y="3774153"/>
            <a:ext cx="621536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2" b="1" i="0">
                <a:solidFill>
                  <a:srgbClr val="D0EF9B"/>
                </a:solidFill>
                <a:latin typeface="Arial"/>
              </a:rPr>
              <a:t>miliar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51727" y="1798748"/>
            <a:ext cx="4379497" cy="2472280"/>
          </a:xfrm>
          <a:prstGeom prst="rect">
            <a:avLst/>
          </a:prstGeom>
          <a:solidFill>
            <a:srgbClr val="27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34544" y="1981567"/>
            <a:ext cx="404586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IRR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4544" y="2684314"/>
            <a:ext cx="4045868" cy="7258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D0EF9B"/>
                </a:solidFill>
                <a:latin typeface="Arial"/>
              </a:rPr>
              <a:t>26,1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7968" y="3012978"/>
            <a:ext cx="267543" cy="32414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2" b="1" i="0">
                <a:solidFill>
                  <a:srgbClr val="D0EF9B"/>
                </a:solidFill>
                <a:latin typeface="Arial"/>
              </a:rPr>
              <a:t>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4544" y="3956744"/>
            <a:ext cx="404586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C9E6C1"/>
                </a:solidFill>
                <a:latin typeface="Arial"/>
              </a:rPr>
              <a:t>Di atas WACC 12,77%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0774" y="4392908"/>
            <a:ext cx="2676176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231" y="449767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PAYBACK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231" y="464499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5,4 tahun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58828" y="4392908"/>
            <a:ext cx="2676175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56284" y="449767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PROFITABILITY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284" y="464499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4,14×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56881" y="4392908"/>
            <a:ext cx="2676176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254338" y="4497670"/>
            <a:ext cx="251326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MIRR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338" y="4644998"/>
            <a:ext cx="251326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21,9%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54935" y="4392908"/>
            <a:ext cx="2676289" cy="0"/>
          </a:xfrm>
          <a:prstGeom prst="line">
            <a:avLst/>
          </a:prstGeom>
          <a:ln w="7303">
            <a:solidFill>
              <a:srgbClr val="A6B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52391" y="4497670"/>
            <a:ext cx="251338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6C876E"/>
                </a:solidFill>
                <a:latin typeface="Arial"/>
              </a:rPr>
              <a:t>DISCOUNTED PAYBACK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91" y="4644998"/>
            <a:ext cx="2513380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9" b="1" i="0">
                <a:solidFill>
                  <a:srgbClr val="1E4C31"/>
                </a:solidFill>
                <a:latin typeface="Arial"/>
              </a:rPr>
              <a:t>Y7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0774" y="6076853"/>
            <a:ext cx="1110245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C7253"/>
                </a:solidFill>
                <a:latin typeface="Arial"/>
              </a:rPr>
              <a:t>LAYAK INVESTASI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72020" y="5975743"/>
            <a:ext cx="574697" cy="333684"/>
          </a:xfrm>
          <a:prstGeom prst="rect">
            <a:avLst/>
          </a:prstGeom>
          <a:solidFill>
            <a:srgbClr val="D0E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72020" y="6036683"/>
            <a:ext cx="606701" cy="23650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4" b="1" i="0">
                <a:solidFill>
                  <a:srgbClr val="1B4A2D"/>
                </a:solidFill>
                <a:latin typeface="Arial"/>
              </a:rPr>
              <a:t>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6258" y="6084156"/>
            <a:ext cx="263697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4C7253"/>
                </a:solidFill>
                <a:latin typeface="Arial"/>
              </a:rPr>
              <a:t>berdasarkan skenario most likely pada materi keuangan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Sensitivitas &amp; Skenario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Skenario pesimis menghasilkan NPV negatif; expected NPV berbobot tetap positif.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0774" y="1798748"/>
            <a:ext cx="2721822" cy="1523949"/>
          </a:xfrm>
          <a:prstGeom prst="rect">
            <a:avLst/>
          </a:prstGeom>
          <a:solidFill>
            <a:srgbClr val="F1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0774" y="1798748"/>
            <a:ext cx="2721823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82597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560774" y="3322697"/>
            <a:ext cx="2721823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60774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65534" y="1891299"/>
            <a:ext cx="254430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Pesimis · 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534" y="2442039"/>
            <a:ext cx="2544306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9F5A37"/>
                </a:solidFill>
                <a:latin typeface="Arial"/>
              </a:rPr>
              <a:t>−Rp19,9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5534" y="3108267"/>
            <a:ext cx="2512302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5534" y="3108267"/>
            <a:ext cx="934510" cy="121879"/>
          </a:xfrm>
          <a:prstGeom prst="rect">
            <a:avLst/>
          </a:prstGeom>
          <a:solidFill>
            <a:srgbClr val="B67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3536" y="1798748"/>
            <a:ext cx="2721936" cy="1523949"/>
          </a:xfrm>
          <a:prstGeom prst="rect">
            <a:avLst/>
          </a:prstGeom>
          <a:solidFill>
            <a:srgbClr val="174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43536" y="1798748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65473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343536" y="3322697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343536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48296" y="1891299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C9E4BD"/>
                </a:solidFill>
                <a:latin typeface="Arial"/>
              </a:rPr>
              <a:t>Most likely · 55%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8296" y="2442039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D2F09D"/>
                </a:solidFill>
                <a:latin typeface="Arial"/>
              </a:rPr>
              <a:t>+Rp23,5 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48296" y="3108267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48296" y="3108267"/>
            <a:ext cx="1102948" cy="121879"/>
          </a:xfrm>
          <a:prstGeom prst="rect">
            <a:avLst/>
          </a:prstGeom>
          <a:solidFill>
            <a:srgbClr val="C7E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12" y="1798748"/>
            <a:ext cx="2721936" cy="1523949"/>
          </a:xfrm>
          <a:prstGeom prst="rect">
            <a:avLst/>
          </a:prstGeom>
          <a:solidFill>
            <a:srgbClr val="E5E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126412" y="1798748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848349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126412" y="3322697"/>
            <a:ext cx="2721937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126412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31172" y="1891299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Optimis ·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1172" y="2442039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255938"/>
                </a:solidFill>
                <a:latin typeface="Arial"/>
              </a:rPr>
              <a:t>+Rp53,5 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172" y="3108267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172" y="3108267"/>
            <a:ext cx="2512416" cy="121879"/>
          </a:xfrm>
          <a:prstGeom prst="rect">
            <a:avLst/>
          </a:prstGeom>
          <a:solidFill>
            <a:srgbClr val="6FA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09288" y="1798748"/>
            <a:ext cx="2721936" cy="1523949"/>
          </a:xfrm>
          <a:prstGeom prst="rect">
            <a:avLst/>
          </a:prstGeom>
          <a:solidFill>
            <a:srgbClr val="E5E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909288" y="1798748"/>
            <a:ext cx="2721936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31224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909288" y="3322697"/>
            <a:ext cx="2721936" cy="0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909288" y="1798748"/>
            <a:ext cx="0" cy="1523949"/>
          </a:xfrm>
          <a:prstGeom prst="line">
            <a:avLst/>
          </a:prstGeom>
          <a:ln w="7303">
            <a:solidFill>
              <a:srgbClr val="CFDF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014048" y="1891299"/>
            <a:ext cx="254442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5" b="1" i="0">
                <a:solidFill>
                  <a:srgbClr val="57705A"/>
                </a:solidFill>
                <a:latin typeface="Arial"/>
              </a:rPr>
              <a:t>Expected NPV · bobot 25/55/20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14048" y="2442039"/>
            <a:ext cx="2544420" cy="27302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3" b="1" i="0">
                <a:solidFill>
                  <a:srgbClr val="255938"/>
                </a:solidFill>
                <a:latin typeface="Arial"/>
              </a:rPr>
              <a:t>+Rp18,7 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14048" y="3108267"/>
            <a:ext cx="2512416" cy="121879"/>
          </a:xfrm>
          <a:prstGeom prst="rect">
            <a:avLst/>
          </a:prstGeom>
          <a:solidFill>
            <a:srgbClr val="275936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14048" y="3108267"/>
            <a:ext cx="879277" cy="121879"/>
          </a:xfrm>
          <a:prstGeom prst="rect">
            <a:avLst/>
          </a:prstGeom>
          <a:solidFill>
            <a:srgbClr val="6FA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0774" y="3377475"/>
            <a:ext cx="11070450" cy="2365122"/>
          </a:xfrm>
          <a:prstGeom prst="rect">
            <a:avLst/>
          </a:prstGeom>
          <a:solidFill>
            <a:srgbClr val="F7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60774" y="3377475"/>
            <a:ext cx="11070450" cy="0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631224" y="3377475"/>
            <a:ext cx="0" cy="2365122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60774" y="5742597"/>
            <a:ext cx="11070450" cy="0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60774" y="3377475"/>
            <a:ext cx="0" cy="2365122"/>
          </a:xfrm>
          <a:prstGeom prst="line">
            <a:avLst/>
          </a:prstGeom>
          <a:ln w="7303">
            <a:solidFill>
              <a:srgbClr val="BBD0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568078" y="3384778"/>
            <a:ext cx="11055843" cy="185101"/>
          </a:xfrm>
          <a:prstGeom prst="rect">
            <a:avLst/>
          </a:prstGeom>
          <a:solidFill>
            <a:srgbClr val="184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7275" y="3433507"/>
            <a:ext cx="2819330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UJI SATU VARIABEL · NPV RP MILIAR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1120" y="3433507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−25%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98650" y="3433507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BASE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26180" y="3433507"/>
            <a:ext cx="2023016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+25%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53711" y="3433507"/>
            <a:ext cx="202290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95" b="1" i="0">
                <a:solidFill>
                  <a:srgbClr val="F4FAEE"/>
                </a:solidFill>
                <a:latin typeface="Arial"/>
              </a:rPr>
              <a:t>NPV = 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8078" y="3569880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47275" y="3868644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Pendapatan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1120" y="3875948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−11,195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98650" y="3875948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26180" y="3875948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57,793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3711" y="3875948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turun 14,4%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8078" y="4291684"/>
            <a:ext cx="11055843" cy="721804"/>
          </a:xfrm>
          <a:prstGeom prst="rect">
            <a:avLst/>
          </a:prstGeom>
          <a:solidFill>
            <a:srgbClr val="E9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568078" y="4291684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47275" y="4590449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OPEX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71120" y="4597752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36,485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98650" y="4597752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6180" y="4597752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10,447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53711" y="4597752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naik 35,9%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68078" y="5013489"/>
            <a:ext cx="11055843" cy="0"/>
          </a:xfrm>
          <a:prstGeom prst="line">
            <a:avLst/>
          </a:prstGeom>
          <a:ln w="7303">
            <a:solidFill>
              <a:srgbClr val="C7D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47275" y="5312253"/>
            <a:ext cx="281933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2" b="1" i="0">
                <a:solidFill>
                  <a:srgbClr val="193C2B"/>
                </a:solidFill>
                <a:latin typeface="Arial"/>
              </a:rPr>
              <a:t>WACC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1120" y="531955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9A5B3B"/>
                </a:solidFill>
                <a:latin typeface="Arial"/>
              </a:rPr>
              <a:t>32,597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98650" y="531955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23,547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26180" y="5319557"/>
            <a:ext cx="2023016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16,723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53711" y="5319557"/>
            <a:ext cx="202290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193C2B"/>
                </a:solidFill>
                <a:latin typeface="Arial"/>
              </a:rPr>
              <a:t>29,3% WACC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0774" y="5797375"/>
            <a:ext cx="6112946" cy="512053"/>
          </a:xfrm>
          <a:prstGeom prst="rect">
            <a:avLst/>
          </a:prstGeom>
          <a:solidFill>
            <a:srgbClr val="DF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2183" y="5864363"/>
            <a:ext cx="5962133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4" b="1" i="0">
                <a:solidFill>
                  <a:srgbClr val="5F8758"/>
                </a:solidFill>
                <a:latin typeface="Arial"/>
              </a:rPr>
              <a:t>01 / 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2183" y="5958055"/>
            <a:ext cx="5962133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7" b="1" i="0">
                <a:solidFill>
                  <a:srgbClr val="173F2D"/>
                </a:solidFill>
                <a:latin typeface="Arial"/>
              </a:rPr>
              <a:t>Pesimis · 25%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2183" y="6127750"/>
            <a:ext cx="5962133" cy="1342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1" b="0" i="0">
                <a:solidFill>
                  <a:srgbClr val="527258"/>
                </a:solidFill>
                <a:latin typeface="Arial"/>
              </a:rPr>
              <a:t>Pendapatan turun 25% dan OPEX naik 15% menghasilkan NPV negatif Rp19,9 miliar.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40708" y="5797375"/>
            <a:ext cx="4890516" cy="512053"/>
          </a:xfrm>
          <a:prstGeom prst="rect">
            <a:avLst/>
          </a:prstGeom>
          <a:solidFill>
            <a:srgbClr val="E6F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40708" y="5996741"/>
            <a:ext cx="4922520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4F6F53"/>
                </a:solidFill>
                <a:latin typeface="Arial"/>
              </a:rPr>
              <a:t>Pendapatan paling sensitif. Pesimis: pendapatan −25% dan OPEX +15%; nilai NPV mencakup likuidasi Y10.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789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73304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315643"/>
                </a:solidFill>
                <a:latin typeface="Arial"/>
              </a:rPr>
              <a:t>MELOOLOO / KEUANGAN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774" y="779092"/>
            <a:ext cx="11102454" cy="5943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88" b="1" i="0">
                <a:solidFill>
                  <a:srgbClr val="153B29"/>
                </a:solidFill>
                <a:latin typeface="Arial Narrow"/>
              </a:rPr>
              <a:t>Keputusan Investasi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774" y="1401841"/>
            <a:ext cx="10023242" cy="19998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92" b="0" i="0">
                <a:solidFill>
                  <a:srgbClr val="496452"/>
                </a:solidFill>
                <a:latin typeface="Arial"/>
              </a:rPr>
              <a:t>Keputusan investasi GO bergantung pada penerimaan harga, ketahanan produksi, dan disiplin penagihan.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0774" y="1798748"/>
            <a:ext cx="11070450" cy="1190949"/>
          </a:xfrm>
          <a:prstGeom prst="rect">
            <a:avLst/>
          </a:prstGeom>
          <a:solidFill>
            <a:srgbClr val="143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801" y="1952353"/>
            <a:ext cx="1023116" cy="9084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0" b="1" i="0">
                <a:solidFill>
                  <a:srgbClr val="D0ED9E"/>
                </a:solidFill>
                <a:latin typeface="Arial"/>
              </a:rPr>
              <a:t>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820" y="2120336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NPV Rp23,5 M · IRR 26,1% &gt; WACC 12,77%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820" y="2317534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MIRR 21,9% · PI 4,14×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820" y="2514733"/>
            <a:ext cx="52503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5" b="0" i="0">
                <a:solidFill>
                  <a:srgbClr val="E3F0DF"/>
                </a:solidFill>
                <a:latin typeface="Arial"/>
              </a:rPr>
              <a:t>Payback ±5,4 tahun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0774" y="3111577"/>
            <a:ext cx="3616962" cy="3197851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60774" y="3111577"/>
            <a:ext cx="3616963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7737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60774" y="6309428"/>
            <a:ext cx="3616963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0774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4377" y="3265181"/>
            <a:ext cx="334176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01 / RISIKO TINGGI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377" y="3528340"/>
            <a:ext cx="334176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Harga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377" y="3961766"/>
            <a:ext cx="3341761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Kontrak pra-jual B2B, bukti Brix dan label per buah; Grade A tanpa diskon.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87404" y="3111577"/>
            <a:ext cx="3617076" cy="3197851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287404" y="3111577"/>
            <a:ext cx="3617077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04481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287404" y="6309428"/>
            <a:ext cx="3617077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287404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441006" y="3265181"/>
            <a:ext cx="334187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02 / RISIKO TINGGI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1006" y="3528340"/>
            <a:ext cx="3341875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IoT / gagal panen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1006" y="3961766"/>
            <a:ext cx="3341875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Sensor multi-vendor, SOP manual cadangan, dua lokasi sejak Y1, IPM hama.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4148" y="3111577"/>
            <a:ext cx="3616962" cy="3197851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8014148" y="3111577"/>
            <a:ext cx="3616962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631110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014148" y="6309428"/>
            <a:ext cx="3616962" cy="0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014148" y="3111577"/>
            <a:ext cx="0" cy="3197851"/>
          </a:xfrm>
          <a:prstGeom prst="line">
            <a:avLst/>
          </a:prstGeom>
          <a:ln w="7303">
            <a:solidFill>
              <a:srgbClr val="194527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167750" y="3265181"/>
            <a:ext cx="334176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9A05D"/>
                </a:solidFill>
                <a:latin typeface="Arial"/>
              </a:rPr>
              <a:t>03 / RISIKO TINGGI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7750" y="3528340"/>
            <a:ext cx="3341761" cy="3533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27" b="1" i="0">
                <a:solidFill>
                  <a:srgbClr val="1B4B2E"/>
                </a:solidFill>
                <a:latin typeface="Arial"/>
              </a:rPr>
              <a:t>Piutang B2B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67750" y="3961766"/>
            <a:ext cx="3341761" cy="351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7" b="0" i="0">
                <a:solidFill>
                  <a:srgbClr val="58725D"/>
                </a:solidFill>
                <a:latin typeface="Arial"/>
              </a:rPr>
              <a:t>SOP penagihan otomatis, invoice financing siaga, kas minimal 4,5 bulan biaya.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264E37">
                <a:alpha val="2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627C65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PASAR &amp; MEREK</a:t>
            </a:r>
          </a:p>
        </p:txBody>
      </p:sp>
      <p:pic>
        <p:nvPicPr>
          <p:cNvPr id="5" name="Picture 4" descr="picture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PASAR &amp; MEREK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05451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Tiga sasaran pemasaran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2438843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Meningkatkan penjualan, membangun merek, dan meningkatkan kepuasan pelanggan.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231339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234539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234539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Rp 7,4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234539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pendapatan Y1 menurut model keuangan baru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203285" y="5550192"/>
            <a:ext cx="231351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203285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3285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20 outlet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3285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B2B aktif Tahun 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97182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797182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182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10%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7182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aided brand awareness Tahun 1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91079" y="5550192"/>
            <a:ext cx="2313509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91079" y="5642743"/>
            <a:ext cx="234551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1079" y="5742597"/>
            <a:ext cx="234551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≥80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079" y="6103899"/>
            <a:ext cx="234551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Customer Satisfaction Index Tahun 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Enam segmen, dua jalur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Prioritas B2B adalah ritel premium dan HoReCa; B2C melayani keluarga premium, gifting, dan komunitas.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3823795"/>
            <a:ext cx="7163970" cy="2215169"/>
          </a:xfrm>
          <a:prstGeom prst="rect">
            <a:avLst/>
          </a:prstGeom>
          <a:solidFill>
            <a:srgbClr val="1C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3823795"/>
            <a:ext cx="7163971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8951" y="4074858"/>
            <a:ext cx="303490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1F6E7"/>
                </a:solidFill>
                <a:latin typeface="Arial"/>
              </a:rPr>
              <a:t>B2B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951" y="4225952"/>
            <a:ext cx="6708463" cy="13393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1F6E7"/>
                </a:solidFill>
                <a:latin typeface="Arial"/>
              </a:rPr>
              <a:t>65%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951" y="5572788"/>
            <a:ext cx="32505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F1F6E7"/>
                </a:solidFill>
                <a:latin typeface="Arial"/>
              </a:rPr>
              <a:t>Ritel premium · HoReCa · pembelian institusi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49166" y="3823795"/>
            <a:ext cx="3857522" cy="2215169"/>
          </a:xfrm>
          <a:prstGeom prst="rect">
            <a:avLst/>
          </a:prstGeom>
          <a:solidFill>
            <a:srgbClr val="DF9D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749166" y="3823795"/>
            <a:ext cx="3857523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92922" y="4074858"/>
            <a:ext cx="307484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40291E"/>
                </a:solidFill>
                <a:latin typeface="Arial"/>
              </a:rPr>
              <a:t>B2C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922" y="4225952"/>
            <a:ext cx="3402015" cy="133935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40291E"/>
                </a:solidFill>
                <a:latin typeface="Arial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2922" y="5572788"/>
            <a:ext cx="3250581" cy="1853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40291E"/>
                </a:solidFill>
                <a:latin typeface="Arial"/>
              </a:rPr>
              <a:t>Keluarga premium · gifting · komunitas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195" y="6160845"/>
            <a:ext cx="7163970" cy="182819"/>
          </a:xfrm>
          <a:prstGeom prst="rect">
            <a:avLst/>
          </a:prstGeom>
          <a:solidFill>
            <a:srgbClr val="1C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49166" y="6160845"/>
            <a:ext cx="3857522" cy="182819"/>
          </a:xfrm>
          <a:prstGeom prst="rect">
            <a:avLst/>
          </a:prstGeom>
          <a:solidFill>
            <a:srgbClr val="DF9D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Dari TAM ke SOM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61203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Estimasi pasar disusun top-down dari konsumsi dan bottom-up dari pintu distribusi.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1814" y="2194856"/>
            <a:ext cx="5198748" cy="4142645"/>
          </a:xfrm>
          <a:prstGeom prst="rect">
            <a:avLst/>
          </a:prstGeom>
          <a:solidFill>
            <a:srgbClr val="234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631" y="5069293"/>
            <a:ext cx="4865119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EF6E8"/>
                </a:solidFill>
                <a:latin typeface="Arial"/>
              </a:rPr>
              <a:t>01 / TOTAL ADDRESSABLE 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631" y="5302667"/>
            <a:ext cx="4865119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EEF6E8"/>
                </a:solidFill>
                <a:latin typeface="Arial"/>
              </a:rPr>
              <a:t>16.800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2055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EEF6E8"/>
                </a:solidFill>
                <a:latin typeface="Arial"/>
              </a:rPr>
              <a:t>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631" y="5996285"/>
            <a:ext cx="4865119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EF6E8"/>
                </a:solidFill>
                <a:latin typeface="Arial"/>
              </a:rPr>
              <a:t>Jabodetabek · tahunan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8020" y="3313454"/>
            <a:ext cx="3327217" cy="3024047"/>
          </a:xfrm>
          <a:prstGeom prst="rect">
            <a:avLst/>
          </a:prstGeom>
          <a:solidFill>
            <a:srgbClr val="79A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0836" y="5069293"/>
            <a:ext cx="2993588" cy="14155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EF6E8"/>
                </a:solidFill>
                <a:latin typeface="Arial"/>
              </a:rPr>
              <a:t>02 / SERVICEABLE AVAILABLE MARKET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0836" y="5302667"/>
            <a:ext cx="2993588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EEF6E8"/>
                </a:solidFill>
                <a:latin typeface="Arial"/>
              </a:rPr>
              <a:t>236,9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6931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EEF6E8"/>
                </a:solidFill>
                <a:latin typeface="Arial"/>
              </a:rPr>
              <a:t>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0836" y="5996285"/>
            <a:ext cx="2993588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EEF6E8"/>
                </a:solidFill>
                <a:latin typeface="Arial"/>
              </a:rPr>
              <a:t>Saluran yang dapat dilayani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12694" y="4224811"/>
            <a:ext cx="2287490" cy="2112690"/>
          </a:xfrm>
          <a:prstGeom prst="rect">
            <a:avLst/>
          </a:prstGeom>
          <a:solidFill>
            <a:srgbClr val="DC9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95511" y="4950495"/>
            <a:ext cx="1953861" cy="2603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D3124"/>
                </a:solidFill>
                <a:latin typeface="Arial"/>
              </a:rPr>
              <a:t>03 / SERVICEABLE OBTAINABLE 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95511" y="5302667"/>
            <a:ext cx="1953861" cy="70393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16" b="1" i="0">
                <a:solidFill>
                  <a:srgbClr val="4D3124"/>
                </a:solidFill>
                <a:latin typeface="Arial"/>
              </a:rPr>
              <a:t>90,5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90389" y="5645938"/>
            <a:ext cx="354500" cy="28032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32" b="1" i="0">
                <a:solidFill>
                  <a:srgbClr val="4D3124"/>
                </a:solidFill>
                <a:latin typeface="Arial"/>
              </a:rPr>
              <a:t>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5511" y="5996285"/>
            <a:ext cx="1953861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D3124"/>
                </a:solidFill>
                <a:latin typeface="Arial"/>
              </a:rPr>
              <a:t>Target Tahun 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298124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Apa yang setara. Apa yang berbeda.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298124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Standar premium menjadi titik kesetaraan; kesegaran urban, konsistensi, dan kedekatan lokasi menjadi pembeda.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238107"/>
            <a:ext cx="5413290" cy="4105556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195" y="2238107"/>
            <a:ext cx="5413291" cy="0"/>
          </a:xfrm>
          <a:prstGeom prst="line">
            <a:avLst/>
          </a:prstGeom>
          <a:ln w="65731">
            <a:solidFill>
              <a:srgbClr val="6E9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53372" y="2572021"/>
            <a:ext cx="49089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01 / PARITY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372" y="2801058"/>
            <a:ext cx="4695426" cy="72356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4C2F25"/>
                </a:solidFill>
                <a:latin typeface="Arial"/>
              </a:rPr>
              <a:t>Layak dibandingkan sebagai melon 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372" y="4810813"/>
            <a:ext cx="4908940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4C2F25"/>
                </a:solidFill>
                <a:latin typeface="Arial"/>
              </a:rPr>
              <a:t>Point of parity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372" y="5503175"/>
            <a:ext cx="490894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4C2F25"/>
                </a:solidFill>
                <a:latin typeface="Arial"/>
              </a:rPr>
              <a:t>syarat untuk masuk pasar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3372" y="5793038"/>
            <a:ext cx="48769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53372" y="5885589"/>
            <a:ext cx="602136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4C2F25"/>
                </a:solidFill>
                <a:latin typeface="Arial"/>
              </a:rPr>
              <a:t>Standar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282" y="5929411"/>
            <a:ext cx="106203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4C2F25"/>
                </a:solidFill>
                <a:latin typeface="Arial"/>
              </a:rPr>
              <a:t>syarat dasar kategori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3513" y="2238107"/>
            <a:ext cx="5413290" cy="4105556"/>
          </a:xfrm>
          <a:prstGeom prst="rect">
            <a:avLst/>
          </a:prstGeom>
          <a:solidFill>
            <a:srgbClr val="E3E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193513" y="2238107"/>
            <a:ext cx="5413290" cy="0"/>
          </a:xfrm>
          <a:prstGeom prst="line">
            <a:avLst/>
          </a:prstGeom>
          <a:ln w="65731">
            <a:solidFill>
              <a:srgbClr val="D494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61690" y="2572021"/>
            <a:ext cx="49089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02 / DIFFERENCE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90" y="2801058"/>
            <a:ext cx="4695426" cy="39718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8" b="1" i="0">
                <a:solidFill>
                  <a:srgbClr val="4C2F25"/>
                </a:solidFill>
                <a:latin typeface="Arial"/>
              </a:rPr>
              <a:t>Alasan memilih Melooloo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90" y="4810813"/>
            <a:ext cx="4908940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1" i="0">
                <a:solidFill>
                  <a:srgbClr val="4C2F25"/>
                </a:solidFill>
                <a:latin typeface="Arial"/>
              </a:rPr>
              <a:t>Point of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90" y="5503175"/>
            <a:ext cx="4908940" cy="19268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0" i="0">
                <a:solidFill>
                  <a:srgbClr val="4C2F25"/>
                </a:solidFill>
                <a:latin typeface="Arial"/>
              </a:rPr>
              <a:t>alasan dipilih pelanggan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61690" y="5793038"/>
            <a:ext cx="48769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61690" y="5885589"/>
            <a:ext cx="475123" cy="21459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 i="0">
                <a:solidFill>
                  <a:srgbClr val="4C2F25"/>
                </a:solidFill>
                <a:latin typeface="Arial"/>
              </a:rPr>
              <a:t>Urban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4658" y="5929411"/>
            <a:ext cx="1295972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4C2F25"/>
                </a:solidFill>
                <a:latin typeface="Arial"/>
              </a:rPr>
              <a:t>kesegaran dan kedekatan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3475393" cy="579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44" b="1" i="0">
                <a:solidFill>
                  <a:srgbClr val="4C2F25"/>
                </a:solidFill>
                <a:latin typeface="Arial Narrow"/>
              </a:rPr>
              <a:t>Peta kompetitif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1719321"/>
            <a:ext cx="3475393" cy="3736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766054"/>
                </a:solidFill>
                <a:latin typeface="Arial"/>
              </a:rPr>
              <a:t>Posisi pemain dilihat dari dua sumbu yang disusun dari sumber publik di dalam deck.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814" y="5238532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5318986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09" y="5297076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509" y="5567082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pemain dipetakan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1814" y="5848957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1814" y="5929411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509" y="5907500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09" y="6177506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ruang strategi yang dituju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0396" y="814811"/>
            <a:ext cx="6899788" cy="5522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700396" y="81481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00184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00396" y="633750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00396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344168"/>
            <a:ext cx="4443984" cy="4425696"/>
          </a:xfrm>
          <a:prstGeom prst="rect">
            <a:avLst/>
          </a:prstGeom>
          <a:solidFill>
            <a:srgbClr val="FFFFFF"/>
          </a:solidFill>
          <a:ln w="8890">
            <a:solidFill>
              <a:srgbClr val="B2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74920" y="1344168"/>
            <a:ext cx="2088672" cy="4425696"/>
          </a:xfrm>
          <a:prstGeom prst="rect">
            <a:avLst/>
          </a:prstGeom>
          <a:solidFill>
            <a:srgbClr val="DEEFDF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963716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74920" y="2229307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2513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74920" y="3114446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41310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74920" y="3999585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630107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74920" y="4884724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074920" y="5769864"/>
            <a:ext cx="4443984" cy="0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074920" y="1344168"/>
            <a:ext cx="0" cy="4425696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5-Point Star 37"/>
          <p:cNvSpPr/>
          <p:nvPr/>
        </p:nvSpPr>
        <p:spPr>
          <a:xfrm>
            <a:off x="5139659" y="1895185"/>
            <a:ext cx="137160" cy="137160"/>
          </a:xfrm>
          <a:prstGeom prst="star5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81391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</a:t>
            </a:r>
          </a:p>
        </p:txBody>
      </p:sp>
      <p:sp>
        <p:nvSpPr>
          <p:cNvPr id="40" name="Oval 39"/>
          <p:cNvSpPr/>
          <p:nvPr/>
        </p:nvSpPr>
        <p:spPr>
          <a:xfrm>
            <a:off x="9646920" y="153161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2" y="15087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3E27"/>
                </a:solidFill>
                <a:latin typeface="Arial"/>
              </a:rPr>
              <a:t>01  Melooloo</a:t>
            </a:r>
          </a:p>
        </p:txBody>
      </p:sp>
      <p:sp>
        <p:nvSpPr>
          <p:cNvPr id="42" name="Oval 41"/>
          <p:cNvSpPr/>
          <p:nvPr/>
        </p:nvSpPr>
        <p:spPr>
          <a:xfrm>
            <a:off x="6517294" y="3045866"/>
            <a:ext cx="137160" cy="137160"/>
          </a:xfrm>
          <a:prstGeom prst="ellipse">
            <a:avLst/>
          </a:prstGeom>
          <a:solidFill>
            <a:srgbClr val="3072A0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9026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2</a:t>
            </a:r>
          </a:p>
        </p:txBody>
      </p:sp>
      <p:sp>
        <p:nvSpPr>
          <p:cNvPr id="44" name="Oval 43"/>
          <p:cNvSpPr/>
          <p:nvPr/>
        </p:nvSpPr>
        <p:spPr>
          <a:xfrm>
            <a:off x="9646920" y="1897379"/>
            <a:ext cx="100584" cy="100584"/>
          </a:xfrm>
          <a:prstGeom prst="ellipse">
            <a:avLst/>
          </a:prstGeom>
          <a:solidFill>
            <a:srgbClr val="307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1874519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02  Ir. Yoga Purnomo</a:t>
            </a:r>
          </a:p>
        </p:txBody>
      </p:sp>
      <p:sp>
        <p:nvSpPr>
          <p:cNvPr id="46" name="Oval 45"/>
          <p:cNvSpPr/>
          <p:nvPr/>
        </p:nvSpPr>
        <p:spPr>
          <a:xfrm>
            <a:off x="7095012" y="3045866"/>
            <a:ext cx="137160" cy="137160"/>
          </a:xfrm>
          <a:prstGeom prst="ellipse">
            <a:avLst/>
          </a:prstGeom>
          <a:solidFill>
            <a:srgbClr val="BE5341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36744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3</a:t>
            </a:r>
          </a:p>
        </p:txBody>
      </p:sp>
      <p:sp>
        <p:nvSpPr>
          <p:cNvPr id="48" name="Oval 47"/>
          <p:cNvSpPr/>
          <p:nvPr/>
        </p:nvSpPr>
        <p:spPr>
          <a:xfrm>
            <a:off x="9646920" y="2263140"/>
            <a:ext cx="100584" cy="100584"/>
          </a:xfrm>
          <a:prstGeom prst="ellipse">
            <a:avLst/>
          </a:prstGeom>
          <a:solidFill>
            <a:srgbClr val="BE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11512" y="22402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03  Sweet Greens</a:t>
            </a:r>
          </a:p>
        </p:txBody>
      </p:sp>
      <p:sp>
        <p:nvSpPr>
          <p:cNvPr id="50" name="Oval 49"/>
          <p:cNvSpPr/>
          <p:nvPr/>
        </p:nvSpPr>
        <p:spPr>
          <a:xfrm>
            <a:off x="8072688" y="3045866"/>
            <a:ext cx="137160" cy="137160"/>
          </a:xfrm>
          <a:prstGeom prst="ellipse">
            <a:avLst/>
          </a:prstGeom>
          <a:solidFill>
            <a:srgbClr val="CF7C2E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4420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9646920" y="2628900"/>
            <a:ext cx="100584" cy="100584"/>
          </a:xfrm>
          <a:prstGeom prst="ellipse">
            <a:avLst/>
          </a:prstGeom>
          <a:solidFill>
            <a:srgbClr val="CF7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11512" y="26060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04  Wohsae</a:t>
            </a:r>
          </a:p>
        </p:txBody>
      </p:sp>
      <p:sp>
        <p:nvSpPr>
          <p:cNvPr id="54" name="Oval 53"/>
          <p:cNvSpPr/>
          <p:nvPr/>
        </p:nvSpPr>
        <p:spPr>
          <a:xfrm>
            <a:off x="7539410" y="1895185"/>
            <a:ext cx="137160" cy="137160"/>
          </a:xfrm>
          <a:prstGeom prst="ellipse">
            <a:avLst/>
          </a:prstGeom>
          <a:solidFill>
            <a:srgbClr val="954EA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1142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5</a:t>
            </a:r>
          </a:p>
        </p:txBody>
      </p:sp>
      <p:sp>
        <p:nvSpPr>
          <p:cNvPr id="56" name="Oval 55"/>
          <p:cNvSpPr/>
          <p:nvPr/>
        </p:nvSpPr>
        <p:spPr>
          <a:xfrm>
            <a:off x="9646920" y="2994660"/>
            <a:ext cx="100584" cy="100584"/>
          </a:xfrm>
          <a:prstGeom prst="ellipse">
            <a:avLst/>
          </a:prstGeom>
          <a:solidFill>
            <a:srgbClr val="95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11512" y="29718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05  Sunpride</a:t>
            </a:r>
          </a:p>
        </p:txBody>
      </p:sp>
      <p:sp>
        <p:nvSpPr>
          <p:cNvPr id="58" name="Oval 57"/>
          <p:cNvSpPr/>
          <p:nvPr/>
        </p:nvSpPr>
        <p:spPr>
          <a:xfrm>
            <a:off x="7850489" y="1895185"/>
            <a:ext cx="137160" cy="137160"/>
          </a:xfrm>
          <a:prstGeom prst="ellipse">
            <a:avLst/>
          </a:prstGeom>
          <a:solidFill>
            <a:srgbClr val="C44F3C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92221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9646920" y="3360420"/>
            <a:ext cx="100584" cy="100584"/>
          </a:xfrm>
          <a:prstGeom prst="ellipse">
            <a:avLst/>
          </a:prstGeom>
          <a:solidFill>
            <a:srgbClr val="C44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11512" y="33375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06  Urbana Farm</a:t>
            </a:r>
          </a:p>
        </p:txBody>
      </p:sp>
      <p:sp>
        <p:nvSpPr>
          <p:cNvPr id="62" name="Oval 61"/>
          <p:cNvSpPr/>
          <p:nvPr/>
        </p:nvSpPr>
        <p:spPr>
          <a:xfrm>
            <a:off x="9183684" y="1895185"/>
            <a:ext cx="137160" cy="137160"/>
          </a:xfrm>
          <a:prstGeom prst="ellipse">
            <a:avLst/>
          </a:prstGeom>
          <a:solidFill>
            <a:srgbClr val="964DA3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5416" y="187232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7</a:t>
            </a:r>
          </a:p>
        </p:txBody>
      </p:sp>
      <p:sp>
        <p:nvSpPr>
          <p:cNvPr id="64" name="Oval 63"/>
          <p:cNvSpPr/>
          <p:nvPr/>
        </p:nvSpPr>
        <p:spPr>
          <a:xfrm>
            <a:off x="9646920" y="3726180"/>
            <a:ext cx="100584" cy="100584"/>
          </a:xfrm>
          <a:prstGeom prst="ellipse">
            <a:avLst/>
          </a:prstGeom>
          <a:solidFill>
            <a:srgbClr val="964D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11512" y="370332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07  Crown Melon</a:t>
            </a:r>
          </a:p>
        </p:txBody>
      </p:sp>
      <p:sp>
        <p:nvSpPr>
          <p:cNvPr id="66" name="Oval 65"/>
          <p:cNvSpPr/>
          <p:nvPr/>
        </p:nvSpPr>
        <p:spPr>
          <a:xfrm>
            <a:off x="7806049" y="4063776"/>
            <a:ext cx="137160" cy="137160"/>
          </a:xfrm>
          <a:prstGeom prst="ellipse">
            <a:avLst/>
          </a:prstGeom>
          <a:solidFill>
            <a:srgbClr val="DC842D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7781" y="404091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8</a:t>
            </a:r>
          </a:p>
        </p:txBody>
      </p:sp>
      <p:sp>
        <p:nvSpPr>
          <p:cNvPr id="68" name="Oval 67"/>
          <p:cNvSpPr/>
          <p:nvPr/>
        </p:nvSpPr>
        <p:spPr>
          <a:xfrm>
            <a:off x="9646920" y="4091940"/>
            <a:ext cx="100584" cy="100584"/>
          </a:xfrm>
          <a:prstGeom prst="ellipse">
            <a:avLst/>
          </a:prstGeom>
          <a:solidFill>
            <a:srgbClr val="DC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11512" y="40690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08  Kabul Pamudji</a:t>
            </a:r>
          </a:p>
        </p:txBody>
      </p:sp>
      <p:sp>
        <p:nvSpPr>
          <p:cNvPr id="70" name="Oval 69"/>
          <p:cNvSpPr/>
          <p:nvPr/>
        </p:nvSpPr>
        <p:spPr>
          <a:xfrm>
            <a:off x="6650614" y="5081686"/>
            <a:ext cx="137160" cy="137160"/>
          </a:xfrm>
          <a:prstGeom prst="ellipse">
            <a:avLst/>
          </a:prstGeom>
          <a:solidFill>
            <a:srgbClr val="7A898E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92346" y="505882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9</a:t>
            </a:r>
          </a:p>
        </p:txBody>
      </p:sp>
      <p:sp>
        <p:nvSpPr>
          <p:cNvPr id="72" name="Oval 71"/>
          <p:cNvSpPr/>
          <p:nvPr/>
        </p:nvSpPr>
        <p:spPr>
          <a:xfrm>
            <a:off x="9646920" y="4457700"/>
            <a:ext cx="100584" cy="100584"/>
          </a:xfrm>
          <a:prstGeom prst="ellipse">
            <a:avLst/>
          </a:prstGeom>
          <a:solidFill>
            <a:srgbClr val="7A89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1512" y="44348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09  Akaruku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5907024"/>
            <a:ext cx="4018788" cy="3246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93E27"/>
                </a:solidFill>
                <a:latin typeface="Arial"/>
              </a:rPr>
              <a:t>Jarak produksi ke konsumen Jakarta (km, skala logaritmik)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1999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0" y="6858000"/>
            <a:ext cx="12191999" cy="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0" y="0"/>
            <a:ext cx="0" cy="6858000"/>
          </a:xfrm>
          <a:prstGeom prst="line">
            <a:avLst/>
          </a:prstGeom>
          <a:ln w="7303">
            <a:solidFill>
              <a:srgbClr val="274A30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7393" y="350688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7393" y="328891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814" y="1068156"/>
            <a:ext cx="3475393" cy="104572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44" b="1" i="0">
                <a:solidFill>
                  <a:srgbClr val="4C2F25"/>
                </a:solidFill>
                <a:latin typeface="Arial Narrow"/>
              </a:rPr>
              <a:t>Ruang menuju titik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814" y="2185270"/>
            <a:ext cx="3475393" cy="37367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5" b="0" i="0">
                <a:solidFill>
                  <a:srgbClr val="766054"/>
                </a:solidFill>
                <a:latin typeface="Arial"/>
              </a:rPr>
              <a:t>Posisi Melooloo dibandingkan dengan merek yang dapat ditemui konsumen Jakarta.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814" y="5238532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1814" y="5318986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09" y="5297076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509" y="5567082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merek dalam peta positioning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1814" y="5848957"/>
            <a:ext cx="3742835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1814" y="5929411"/>
            <a:ext cx="27575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509" y="5907500"/>
            <a:ext cx="3470144" cy="29493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7" b="1" i="0">
                <a:solidFill>
                  <a:srgbClr val="4C2F25"/>
                </a:solidFill>
                <a:latin typeface="Arial"/>
              </a:rPr>
              <a:t>Jakarta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09" y="6177506"/>
            <a:ext cx="3470144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4C2F25">
                    <a:alpha val="83000"/>
                  </a:srgbClr>
                </a:solidFill>
                <a:latin typeface="Arial"/>
              </a:rPr>
              <a:t>fokus pasar awal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0396" y="814811"/>
            <a:ext cx="6899788" cy="5522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700396" y="81481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600184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00396" y="6337501"/>
            <a:ext cx="689978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00396" y="814811"/>
            <a:ext cx="0" cy="552269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67393" y="6359640"/>
            <a:ext cx="11057213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7393" y="6537324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344168"/>
            <a:ext cx="4443984" cy="4425696"/>
          </a:xfrm>
          <a:prstGeom prst="rect">
            <a:avLst/>
          </a:prstGeom>
          <a:solidFill>
            <a:srgbClr val="FFFFFF"/>
          </a:solidFill>
          <a:ln w="8890">
            <a:solidFill>
              <a:srgbClr val="B2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96912" y="1344168"/>
            <a:ext cx="2221992" cy="2212848"/>
          </a:xfrm>
          <a:prstGeom prst="rect">
            <a:avLst/>
          </a:prstGeom>
          <a:solidFill>
            <a:srgbClr val="DDF1D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5963716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74920" y="2229307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2513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74920" y="3114446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41310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74920" y="3999585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630107" y="1344168"/>
            <a:ext cx="0" cy="4425696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74920" y="4884724"/>
            <a:ext cx="4443984" cy="0"/>
          </a:xfrm>
          <a:prstGeom prst="line">
            <a:avLst/>
          </a:prstGeom>
          <a:ln w="5080">
            <a:solidFill>
              <a:srgbClr val="CDD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074920" y="5769864"/>
            <a:ext cx="4443984" cy="0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074920" y="1344168"/>
            <a:ext cx="0" cy="4425696"/>
          </a:xfrm>
          <a:prstGeom prst="line">
            <a:avLst/>
          </a:prstGeom>
          <a:ln w="12700">
            <a:solidFill>
              <a:srgbClr val="384E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5-Point Star 37"/>
          <p:cNvSpPr/>
          <p:nvPr/>
        </p:nvSpPr>
        <p:spPr>
          <a:xfrm>
            <a:off x="8383767" y="2426268"/>
            <a:ext cx="137160" cy="137160"/>
          </a:xfrm>
          <a:prstGeom prst="star5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25499" y="2403408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</a:t>
            </a:r>
          </a:p>
        </p:txBody>
      </p:sp>
      <p:sp>
        <p:nvSpPr>
          <p:cNvPr id="40" name="Oval 39"/>
          <p:cNvSpPr/>
          <p:nvPr/>
        </p:nvSpPr>
        <p:spPr>
          <a:xfrm>
            <a:off x="9646920" y="153161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2" y="15087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3E27"/>
                </a:solidFill>
                <a:latin typeface="Arial"/>
              </a:rPr>
              <a:t>01  Melooloo</a:t>
            </a:r>
          </a:p>
        </p:txBody>
      </p:sp>
      <p:sp>
        <p:nvSpPr>
          <p:cNvPr id="42" name="Oval 41"/>
          <p:cNvSpPr/>
          <p:nvPr/>
        </p:nvSpPr>
        <p:spPr>
          <a:xfrm>
            <a:off x="8250448" y="2160727"/>
            <a:ext cx="137160" cy="137160"/>
          </a:xfrm>
          <a:prstGeom prst="ellipse">
            <a:avLst/>
          </a:prstGeom>
          <a:solidFill>
            <a:srgbClr val="21844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92180" y="213786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2</a:t>
            </a:r>
          </a:p>
        </p:txBody>
      </p:sp>
      <p:sp>
        <p:nvSpPr>
          <p:cNvPr id="44" name="Oval 43"/>
          <p:cNvSpPr/>
          <p:nvPr/>
        </p:nvSpPr>
        <p:spPr>
          <a:xfrm>
            <a:off x="9646920" y="1897379"/>
            <a:ext cx="100584" cy="100584"/>
          </a:xfrm>
          <a:prstGeom prst="ellipse">
            <a:avLst/>
          </a:prstGeom>
          <a:solidFill>
            <a:srgbClr val="218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1874519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02  Titik ideal</a:t>
            </a:r>
          </a:p>
        </p:txBody>
      </p:sp>
      <p:sp>
        <p:nvSpPr>
          <p:cNvPr id="46" name="Oval 45"/>
          <p:cNvSpPr/>
          <p:nvPr/>
        </p:nvSpPr>
        <p:spPr>
          <a:xfrm>
            <a:off x="6783933" y="2027956"/>
            <a:ext cx="137160" cy="137160"/>
          </a:xfrm>
          <a:prstGeom prst="ellipse">
            <a:avLst/>
          </a:prstGeom>
          <a:solidFill>
            <a:srgbClr val="854A9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25665" y="200509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3</a:t>
            </a:r>
          </a:p>
        </p:txBody>
      </p:sp>
      <p:sp>
        <p:nvSpPr>
          <p:cNvPr id="48" name="Oval 47"/>
          <p:cNvSpPr/>
          <p:nvPr/>
        </p:nvSpPr>
        <p:spPr>
          <a:xfrm>
            <a:off x="9646920" y="2263140"/>
            <a:ext cx="100584" cy="100584"/>
          </a:xfrm>
          <a:prstGeom prst="ellipse">
            <a:avLst/>
          </a:prstGeom>
          <a:solidFill>
            <a:srgbClr val="854A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11512" y="22402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03  Crown Melon</a:t>
            </a:r>
          </a:p>
        </p:txBody>
      </p:sp>
      <p:sp>
        <p:nvSpPr>
          <p:cNvPr id="50" name="Oval 49"/>
          <p:cNvSpPr/>
          <p:nvPr/>
        </p:nvSpPr>
        <p:spPr>
          <a:xfrm>
            <a:off x="7406091" y="2824581"/>
            <a:ext cx="137160" cy="137160"/>
          </a:xfrm>
          <a:prstGeom prst="ellipse">
            <a:avLst/>
          </a:prstGeom>
          <a:solidFill>
            <a:srgbClr val="C95042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47823" y="280172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9646920" y="2628900"/>
            <a:ext cx="100584" cy="100584"/>
          </a:xfrm>
          <a:prstGeom prst="ellipse">
            <a:avLst/>
          </a:prstGeom>
          <a:solidFill>
            <a:srgbClr val="C9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11512" y="26060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04  Urbana Farm</a:t>
            </a:r>
          </a:p>
        </p:txBody>
      </p:sp>
      <p:sp>
        <p:nvSpPr>
          <p:cNvPr id="54" name="Oval 53"/>
          <p:cNvSpPr/>
          <p:nvPr/>
        </p:nvSpPr>
        <p:spPr>
          <a:xfrm>
            <a:off x="7717170" y="2736067"/>
            <a:ext cx="137160" cy="137160"/>
          </a:xfrm>
          <a:prstGeom prst="ellipse">
            <a:avLst/>
          </a:prstGeom>
          <a:solidFill>
            <a:srgbClr val="BD4B3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58902" y="271320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5</a:t>
            </a:r>
          </a:p>
        </p:txBody>
      </p:sp>
      <p:sp>
        <p:nvSpPr>
          <p:cNvPr id="56" name="Oval 55"/>
          <p:cNvSpPr/>
          <p:nvPr/>
        </p:nvSpPr>
        <p:spPr>
          <a:xfrm>
            <a:off x="9646920" y="2994660"/>
            <a:ext cx="100584" cy="100584"/>
          </a:xfrm>
          <a:prstGeom prst="ellipse">
            <a:avLst/>
          </a:prstGeom>
          <a:solidFill>
            <a:srgbClr val="BD4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11512" y="29718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05  Dang Sweet Melon</a:t>
            </a:r>
          </a:p>
        </p:txBody>
      </p:sp>
      <p:sp>
        <p:nvSpPr>
          <p:cNvPr id="58" name="Oval 57"/>
          <p:cNvSpPr/>
          <p:nvPr/>
        </p:nvSpPr>
        <p:spPr>
          <a:xfrm>
            <a:off x="7228332" y="3045866"/>
            <a:ext cx="137160" cy="137160"/>
          </a:xfrm>
          <a:prstGeom prst="ellipse">
            <a:avLst/>
          </a:prstGeom>
          <a:solidFill>
            <a:srgbClr val="D28B31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3023006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9646920" y="3360420"/>
            <a:ext cx="100584" cy="100584"/>
          </a:xfrm>
          <a:prstGeom prst="ellipse">
            <a:avLst/>
          </a:prstGeom>
          <a:solidFill>
            <a:srgbClr val="D28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11512" y="33375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06  Wohsae</a:t>
            </a:r>
          </a:p>
        </p:txBody>
      </p:sp>
      <p:sp>
        <p:nvSpPr>
          <p:cNvPr id="62" name="Oval 61"/>
          <p:cNvSpPr/>
          <p:nvPr/>
        </p:nvSpPr>
        <p:spPr>
          <a:xfrm>
            <a:off x="7494971" y="3267151"/>
            <a:ext cx="137160" cy="137160"/>
          </a:xfrm>
          <a:prstGeom prst="ellipse">
            <a:avLst/>
          </a:prstGeom>
          <a:solidFill>
            <a:srgbClr val="CE8029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36703" y="324429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7</a:t>
            </a:r>
          </a:p>
        </p:txBody>
      </p:sp>
      <p:sp>
        <p:nvSpPr>
          <p:cNvPr id="64" name="Oval 63"/>
          <p:cNvSpPr/>
          <p:nvPr/>
        </p:nvSpPr>
        <p:spPr>
          <a:xfrm>
            <a:off x="9646920" y="3726180"/>
            <a:ext cx="100584" cy="100584"/>
          </a:xfrm>
          <a:prstGeom prst="ellipse">
            <a:avLst/>
          </a:prstGeom>
          <a:solidFill>
            <a:srgbClr val="CE8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11512" y="370332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07  Mirai Melon</a:t>
            </a:r>
          </a:p>
        </p:txBody>
      </p:sp>
      <p:sp>
        <p:nvSpPr>
          <p:cNvPr id="66" name="Oval 65"/>
          <p:cNvSpPr/>
          <p:nvPr/>
        </p:nvSpPr>
        <p:spPr>
          <a:xfrm>
            <a:off x="7894929" y="3488435"/>
            <a:ext cx="137160" cy="137160"/>
          </a:xfrm>
          <a:prstGeom prst="ellipse">
            <a:avLst/>
          </a:prstGeom>
          <a:solidFill>
            <a:srgbClr val="D38E3B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36661" y="3465575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8</a:t>
            </a:r>
          </a:p>
        </p:txBody>
      </p:sp>
      <p:sp>
        <p:nvSpPr>
          <p:cNvPr id="68" name="Oval 67"/>
          <p:cNvSpPr/>
          <p:nvPr/>
        </p:nvSpPr>
        <p:spPr>
          <a:xfrm>
            <a:off x="9646920" y="4091940"/>
            <a:ext cx="100584" cy="100584"/>
          </a:xfrm>
          <a:prstGeom prst="ellipse">
            <a:avLst/>
          </a:prstGeom>
          <a:solidFill>
            <a:srgbClr val="D38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11512" y="406908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08  Akaruku</a:t>
            </a:r>
          </a:p>
        </p:txBody>
      </p:sp>
      <p:sp>
        <p:nvSpPr>
          <p:cNvPr id="70" name="Oval 69"/>
          <p:cNvSpPr/>
          <p:nvPr/>
        </p:nvSpPr>
        <p:spPr>
          <a:xfrm>
            <a:off x="7361651" y="3842491"/>
            <a:ext cx="137160" cy="137160"/>
          </a:xfrm>
          <a:prstGeom prst="ellipse">
            <a:avLst/>
          </a:prstGeom>
          <a:solidFill>
            <a:srgbClr val="327CAA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03383" y="3819631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9</a:t>
            </a:r>
          </a:p>
        </p:txBody>
      </p:sp>
      <p:sp>
        <p:nvSpPr>
          <p:cNvPr id="72" name="Oval 71"/>
          <p:cNvSpPr/>
          <p:nvPr/>
        </p:nvSpPr>
        <p:spPr>
          <a:xfrm>
            <a:off x="9646920" y="4457700"/>
            <a:ext cx="100584" cy="100584"/>
          </a:xfrm>
          <a:prstGeom prst="ellipse">
            <a:avLst/>
          </a:prstGeom>
          <a:solidFill>
            <a:srgbClr val="327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1512" y="443484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09  Sunpride</a:t>
            </a:r>
          </a:p>
        </p:txBody>
      </p:sp>
      <p:sp>
        <p:nvSpPr>
          <p:cNvPr id="74" name="Oval 73"/>
          <p:cNvSpPr/>
          <p:nvPr/>
        </p:nvSpPr>
        <p:spPr>
          <a:xfrm>
            <a:off x="7628290" y="3753977"/>
            <a:ext cx="137160" cy="137160"/>
          </a:xfrm>
          <a:prstGeom prst="ellipse">
            <a:avLst/>
          </a:prstGeom>
          <a:solidFill>
            <a:srgbClr val="259D83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0022" y="3731117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10</a:t>
            </a:r>
          </a:p>
        </p:txBody>
      </p:sp>
      <p:sp>
        <p:nvSpPr>
          <p:cNvPr id="76" name="Oval 75"/>
          <p:cNvSpPr/>
          <p:nvPr/>
        </p:nvSpPr>
        <p:spPr>
          <a:xfrm>
            <a:off x="9646920" y="4823460"/>
            <a:ext cx="100584" cy="100584"/>
          </a:xfrm>
          <a:prstGeom prst="ellipse">
            <a:avLst/>
          </a:prstGeom>
          <a:solidFill>
            <a:srgbClr val="259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1512" y="480060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10  Mama Melon</a:t>
            </a:r>
          </a:p>
        </p:txBody>
      </p:sp>
      <p:sp>
        <p:nvSpPr>
          <p:cNvPr id="78" name="Oval 77"/>
          <p:cNvSpPr/>
          <p:nvPr/>
        </p:nvSpPr>
        <p:spPr>
          <a:xfrm>
            <a:off x="6339535" y="4683373"/>
            <a:ext cx="137160" cy="137160"/>
          </a:xfrm>
          <a:prstGeom prst="ellipse">
            <a:avLst/>
          </a:prstGeom>
          <a:solidFill>
            <a:srgbClr val="678088"/>
          </a:solidFill>
          <a:ln w="7620">
            <a:solidFill>
              <a:srgbClr val="2942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81267" y="4660513"/>
            <a:ext cx="196596" cy="1965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93E27"/>
                </a:solidFill>
                <a:latin typeface="Arial"/>
              </a:rPr>
              <a:t>11</a:t>
            </a:r>
          </a:p>
        </p:txBody>
      </p:sp>
      <p:sp>
        <p:nvSpPr>
          <p:cNvPr id="80" name="Oval 79"/>
          <p:cNvSpPr/>
          <p:nvPr/>
        </p:nvSpPr>
        <p:spPr>
          <a:xfrm>
            <a:off x="9646920" y="5189220"/>
            <a:ext cx="100584" cy="100584"/>
          </a:xfrm>
          <a:prstGeom prst="ellipse">
            <a:avLst/>
          </a:prstGeom>
          <a:solidFill>
            <a:srgbClr val="678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1512" y="5166360"/>
            <a:ext cx="1586484" cy="3611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3E27"/>
                </a:solidFill>
                <a:latin typeface="Arial"/>
              </a:rPr>
              <a:t>11  Melon tanpa merek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03520" y="5907024"/>
            <a:ext cx="4018788" cy="3246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93E27"/>
                </a:solidFill>
                <a:latin typeface="Arial"/>
              </a:rPr>
              <a:t>Persepsi kesegaran &amp; kejelasan asal produk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PASAR &amp; MEREK</a:t>
            </a:r>
          </a:p>
        </p:txBody>
      </p:sp>
      <p:pic>
        <p:nvPicPr>
          <p:cNvPr id="5" name="Picture 4" descr="picture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165842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PASAR &amp; MEREK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331544"/>
            <a:ext cx="7603261" cy="182071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15" b="1" i="0">
                <a:solidFill>
                  <a:srgbClr val="F7F8EF"/>
                </a:solidFill>
                <a:latin typeface="Arial Narrow"/>
              </a:rPr>
              <a:t>Posisi merek: kebun di kota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3205040"/>
            <a:ext cx="6145064" cy="5417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Janji merek bertumpu pada asal yang dekat, kesegaran, kualitas konsisten, dan pengalaman smart farming.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9502" y="5550192"/>
            <a:ext cx="317806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02" y="5642743"/>
            <a:ext cx="32100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02" y="5742597"/>
            <a:ext cx="321006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Lokal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502" y="6103899"/>
            <a:ext cx="321006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asal yang dekat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7955" y="5550192"/>
            <a:ext cx="3178180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067955" y="5642743"/>
            <a:ext cx="321018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55" y="5742597"/>
            <a:ext cx="321018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67955" y="6103899"/>
            <a:ext cx="321018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rasa dan penampilan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26523" y="5550192"/>
            <a:ext cx="3178065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26523" y="5642743"/>
            <a:ext cx="321006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26523" y="5742597"/>
            <a:ext cx="321006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Terukur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26523" y="6103899"/>
            <a:ext cx="321006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budidaya presisi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Produk dan harga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Tiga lini produk melayani meja makan, hadiah, dan kebutuhan HoReCa.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128325"/>
            <a:ext cx="5425500" cy="3699177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128325"/>
            <a:ext cx="5425500" cy="3699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5605198"/>
            <a:ext cx="52137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5912749"/>
            <a:ext cx="545750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4C2F25"/>
                </a:solidFill>
                <a:latin typeface="Arial"/>
              </a:rPr>
              <a:t>Signature Pack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195" y="6197591"/>
            <a:ext cx="545750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766054"/>
                </a:solidFill>
                <a:latin typeface="Arial"/>
              </a:rPr>
              <a:t>Rp 75.000/kg · jalur B2B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02" y="2128325"/>
            <a:ext cx="5425500" cy="3699177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02" y="2128325"/>
            <a:ext cx="5425500" cy="36991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3180" y="5605198"/>
            <a:ext cx="521374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02" y="5912749"/>
            <a:ext cx="5457504" cy="30954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3" b="1" i="0">
                <a:solidFill>
                  <a:srgbClr val="4C2F25"/>
                </a:solidFill>
                <a:latin typeface="Arial"/>
              </a:rPr>
              <a:t>Gift Edition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02" y="6197591"/>
            <a:ext cx="5457504" cy="1780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766054"/>
                </a:solidFill>
                <a:latin typeface="Arial"/>
              </a:rPr>
              <a:t>Rp 535.000 · kotak tiga buah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Lima kanal distribusi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Harga, marjin perantara, dan dukungan channel dirancang per kanal dalam sumber deck.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3113403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4485117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Ritel 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597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494" y="3401097"/>
            <a:ext cx="213896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494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Hotel &amp; restoran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010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3907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3907" y="3625228"/>
            <a:ext cx="1866789" cy="62120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Direct to consumer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9309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8206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8206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3608" y="3772099"/>
            <a:ext cx="300294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11" b="0" i="0">
                <a:solidFill>
                  <a:srgbClr val="82A968"/>
                </a:solidFill>
                <a:latin typeface="Arial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2505" y="3401097"/>
            <a:ext cx="213884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6" b="1" i="0">
                <a:solidFill>
                  <a:srgbClr val="766054"/>
                </a:solidFill>
                <a:latin typeface="Arial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2505" y="3625228"/>
            <a:ext cx="1866789" cy="3460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4" b="1" i="0">
                <a:solidFill>
                  <a:srgbClr val="4C2F25"/>
                </a:solidFill>
                <a:latin typeface="Arial"/>
              </a:rPr>
              <a:t>Marketplace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5195" y="5653014"/>
            <a:ext cx="3441792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5195" y="5745564"/>
            <a:ext cx="347379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195" y="5845419"/>
            <a:ext cx="3473795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C2F25"/>
                </a:solidFill>
                <a:latin typeface="Arial"/>
              </a:rPr>
              <a:t>Ritel premium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195" y="6206721"/>
            <a:ext cx="34737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C2F25">
                    <a:alpha val="83000"/>
                  </a:srgbClr>
                </a:solidFill>
                <a:latin typeface="Arial"/>
              </a:rPr>
              <a:t>B2B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07375" y="5653014"/>
            <a:ext cx="3441791" cy="0"/>
          </a:xfrm>
          <a:prstGeom prst="line">
            <a:avLst/>
          </a:prstGeom>
          <a:ln w="7303">
            <a:solidFill>
              <a:srgbClr val="4C2F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07375" y="5745564"/>
            <a:ext cx="3473795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4C2F25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7375" y="5845419"/>
            <a:ext cx="3473795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C2F25"/>
                </a:solidFill>
                <a:latin typeface="Arial"/>
              </a:rPr>
              <a:t>Hotel &amp; restoran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07375" y="6206721"/>
            <a:ext cx="3473795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C2F25">
                    <a:alpha val="83000"/>
                  </a:srgbClr>
                </a:solidFill>
                <a:latin typeface="Arial"/>
              </a:rPr>
              <a:t>HoReCa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Komunikasi yang terukur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IMC Tahun 1 menggabungkan digital, personal selling, sampling, event, PR, dan materi di titik jual.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2189264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3307177"/>
            <a:ext cx="11021608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2890642"/>
            <a:ext cx="3594418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1" i="0">
                <a:solidFill>
                  <a:srgbClr val="4C2F25"/>
                </a:solidFill>
                <a:latin typeface="Arial"/>
              </a:rPr>
              <a:t>ANGGARAN PEMASARAN &amp; PENJUALAN Y1 · MODEL BARU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5162" y="2350173"/>
            <a:ext cx="2333645" cy="8207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183" b="1" i="0">
                <a:solidFill>
                  <a:srgbClr val="4C2F25"/>
                </a:solidFill>
                <a:latin typeface="Arial"/>
              </a:rPr>
              <a:t>Rp 768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8258" y="2817605"/>
            <a:ext cx="360549" cy="24380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4C2F25"/>
                </a:solidFill>
                <a:latin typeface="Arial"/>
              </a:rPr>
              <a:t>juta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195" y="3429057"/>
            <a:ext cx="7629799" cy="2724598"/>
          </a:xfrm>
          <a:prstGeom prst="rect">
            <a:avLst/>
          </a:prstGeom>
          <a:solidFill>
            <a:srgbClr val="264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33" y="3495018"/>
            <a:ext cx="7247327" cy="9595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3" b="1" i="0">
                <a:solidFill>
                  <a:srgbClr val="F5F8ED"/>
                </a:solidFill>
                <a:latin typeface="Arial"/>
              </a:rP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33" y="4355705"/>
            <a:ext cx="724732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F5F8ED"/>
                </a:solidFill>
                <a:latin typeface="Arial"/>
              </a:rPr>
              <a:t>MEMBANGUN KESADARAN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33" y="5909896"/>
            <a:ext cx="7215323" cy="97457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873" y="3429057"/>
            <a:ext cx="3269930" cy="2724598"/>
          </a:xfrm>
          <a:prstGeom prst="rect">
            <a:avLst/>
          </a:prstGeom>
          <a:solidFill>
            <a:srgbClr val="DB9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4111" y="3495018"/>
            <a:ext cx="2887458" cy="9595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43" b="1" i="0">
                <a:solidFill>
                  <a:srgbClr val="452B20"/>
                </a:solidFill>
                <a:latin typeface="Arial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4111" y="4355705"/>
            <a:ext cx="2887458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452B20"/>
                </a:solidFill>
                <a:latin typeface="Arial"/>
              </a:rPr>
              <a:t>KONVERSI PROSPEK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4111" y="5909896"/>
            <a:ext cx="2855454" cy="97457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766054"/>
                </a:solidFill>
                <a:latin typeface="Arial"/>
              </a:rPr>
              <a:t>Pembagian 70/30 berasal dari materi Canva dan perlu dibaca sebagai rencana alokasi, bukan realisasi.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Brand di titik temu pelanggan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Materi produk, kemasan, rak ritel, halaman digital, dan booth menjadi satu pengalaman merek.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195" y="2116114"/>
            <a:ext cx="3383249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95" y="2116114"/>
            <a:ext cx="3383249" cy="42275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7073" y="6121359"/>
            <a:ext cx="3171497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7073" y="2237993"/>
            <a:ext cx="998644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073" y="2298933"/>
            <a:ext cx="1030648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01 · UJI MANIS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5901" y="2116114"/>
            <a:ext cx="4060081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cture-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901" y="2116114"/>
            <a:ext cx="4060081" cy="42275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87779" y="6121359"/>
            <a:ext cx="384833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87779" y="2237993"/>
            <a:ext cx="1011311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779" y="2298933"/>
            <a:ext cx="1043315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02 · RAK RITEL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3440" y="2116114"/>
            <a:ext cx="3383363" cy="4227549"/>
          </a:xfrm>
          <a:prstGeom prst="rect">
            <a:avLst/>
          </a:prstGeom>
          <a:solidFill>
            <a:srgbClr val="CED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icture-0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3440" y="2116114"/>
            <a:ext cx="3383363" cy="422754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45318" y="6121359"/>
            <a:ext cx="3171611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FFFFF"/>
                </a:solidFill>
                <a:latin typeface="Arial"/>
              </a:rPr>
              <a:t>VISUALISASI KONSEP · BUKAN FOTO FASILITAS TERPASANG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45318" y="2237993"/>
            <a:ext cx="1586008" cy="238737"/>
          </a:xfrm>
          <a:prstGeom prst="rect">
            <a:avLst/>
          </a:prstGeom>
          <a:solidFill>
            <a:srgbClr val="F4E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5318" y="2298933"/>
            <a:ext cx="1618012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3D392D"/>
                </a:solidFill>
                <a:latin typeface="Arial"/>
              </a:rPr>
              <a:t>03 · KOMUNITAS PILATES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DD9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2051089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766054"/>
                </a:solidFill>
                <a:latin typeface="Arial"/>
              </a:rPr>
              <a:t>MELOOLOO / PASAR &amp; MEREK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195" y="1062564"/>
            <a:ext cx="8840640" cy="6235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79" b="1" i="0">
                <a:solidFill>
                  <a:srgbClr val="4C2F25"/>
                </a:solidFill>
                <a:latin typeface="Arial Narrow"/>
              </a:rPr>
              <a:t>Ekonomi pemasaran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195" y="1755611"/>
            <a:ext cx="8942319" cy="20729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6054"/>
                </a:solidFill>
                <a:latin typeface="Arial"/>
              </a:rPr>
              <a:t>Deck mengukur kontribusi pemasaran melalui NMC, MROS, dan MROI sepanjang horizon.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195" y="4867188"/>
            <a:ext cx="3576337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85195" y="5983047"/>
            <a:ext cx="35763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85195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01 / NMC kumulatif Y0–Y10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195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Rp 83.712 Jt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07831" y="4867188"/>
            <a:ext cx="3576337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307831" y="5983047"/>
            <a:ext cx="3576337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07831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02 / MROS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7831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52–59%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30467" y="4867188"/>
            <a:ext cx="3576336" cy="0"/>
          </a:xfrm>
          <a:prstGeom prst="line">
            <a:avLst/>
          </a:prstGeom>
          <a:ln w="36517">
            <a:solidFill>
              <a:srgbClr val="DD97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030467" y="5983047"/>
            <a:ext cx="3576336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30467" y="5074315"/>
            <a:ext cx="353519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7" b="1" i="0">
                <a:solidFill>
                  <a:srgbClr val="4C2F25"/>
                </a:solidFill>
                <a:latin typeface="Arial"/>
              </a:rPr>
              <a:t>03 / MROI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0467" y="5403435"/>
            <a:ext cx="3535191" cy="47022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75" b="1" i="0">
                <a:solidFill>
                  <a:srgbClr val="4C2F25"/>
                </a:solidFill>
                <a:latin typeface="Arial"/>
              </a:rPr>
              <a:t>780–904%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195" y="6226806"/>
            <a:ext cx="11053611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6" b="0" i="0">
                <a:solidFill>
                  <a:srgbClr val="766054"/>
                </a:solidFill>
                <a:latin typeface="Arial"/>
              </a:rPr>
              <a:t>Ukuran NMC, MROS, dan MROI sesuai halaman pemasaran Canva; periksa kesesuaian dengan model keuangan terbaru sebelum mengutipnya.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D9C5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766054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307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PENUTUP</a:t>
            </a:r>
          </a:p>
        </p:txBody>
      </p:sp>
      <p:pic>
        <p:nvPicPr>
          <p:cNvPr id="5" name="Picture 4" descr="picture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C14">
              <a:alpha val="96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C14">
              <a:alpha val="95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C14">
              <a:alpha val="94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C14">
              <a:alpha val="94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C14">
              <a:alpha val="93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C14">
              <a:alpha val="92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C14">
              <a:alpha val="91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C14">
              <a:alpha val="90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C14">
              <a:alpha val="89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C14">
              <a:alpha val="88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C14">
              <a:alpha val="88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C14">
              <a:alpha val="8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C14">
              <a:alpha val="86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C14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C14">
              <a:alpha val="84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C14">
              <a:alpha val="8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C14">
              <a:alpha val="83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C14">
              <a:alpha val="82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C14">
              <a:alpha val="81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C14">
              <a:alpha val="80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C14">
              <a:alpha val="79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C14">
              <a:alpha val="78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C14">
              <a:alpha val="78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C14">
              <a:alpha val="77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C14">
              <a:alpha val="76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C14">
              <a:alpha val="75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C14">
              <a:alpha val="74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C14">
              <a:alpha val="73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C14">
              <a:alpha val="72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C14">
              <a:alpha val="72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C14">
              <a:alpha val="71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C14">
              <a:alpha val="70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502" y="1097257"/>
            <a:ext cx="11004997" cy="1634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1" i="0">
                <a:solidFill>
                  <a:srgbClr val="D2EE9C"/>
                </a:solidFill>
                <a:latin typeface="Arial"/>
              </a:rPr>
              <a:t>KEPUTUSAN INVESTASI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02" y="1228722"/>
            <a:ext cx="10127089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PENUTUP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1474763"/>
            <a:ext cx="9541665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92" b="1" i="0">
                <a:solidFill>
                  <a:srgbClr val="F7F8EF"/>
                </a:solidFill>
                <a:latin typeface="Arial Narrow"/>
              </a:rPr>
              <a:t>Dari peluang ke keputusan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502" y="2288548"/>
            <a:ext cx="6176675" cy="40471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1" b="0" i="0">
                <a:solidFill>
                  <a:srgbClr val="E0EBE0"/>
                </a:solidFill>
                <a:latin typeface="Arial"/>
              </a:rPr>
              <a:t>Melooloo membangun pasokan melon premium melalui smart greenhouse; model keuangan terbaru mendukung investasi dengan mitigasi terukur.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3185868"/>
            <a:ext cx="11004997" cy="16315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D0F09D"/>
                </a:solidFill>
                <a:latin typeface="Arial"/>
              </a:rPr>
              <a:t>GO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41255" y="3901625"/>
            <a:ext cx="507532" cy="75506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99" b="0" i="0">
                <a:solidFill>
                  <a:srgbClr val="D0F09D"/>
                </a:solidFill>
                <a:latin typeface="Arial"/>
              </a:rPr>
              <a:t>↗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9502" y="5299586"/>
            <a:ext cx="9546408" cy="0"/>
          </a:xfrm>
          <a:prstGeom prst="line">
            <a:avLst/>
          </a:prstGeom>
          <a:ln w="7303">
            <a:solidFill>
              <a:srgbClr val="EEFBE6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9502" y="5428769"/>
            <a:ext cx="2176226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09502" y="5521320"/>
            <a:ext cx="2208229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502" y="5621174"/>
            <a:ext cx="2208229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35 → 237 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02" y="5982476"/>
            <a:ext cx="2208229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kapasitas Y0–Y10 dalam model baru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066116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066116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6116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IoT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6116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kendali budidaya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522843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522843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22843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Rp23,5 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22843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NPV skenario most likely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79570" y="5428769"/>
            <a:ext cx="2176340" cy="0"/>
          </a:xfrm>
          <a:prstGeom prst="line">
            <a:avLst/>
          </a:prstGeom>
          <a:ln w="7303">
            <a:solidFill>
              <a:srgbClr val="F1FCE5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79570" y="5521320"/>
            <a:ext cx="2208343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3F8EE">
                    <a:alpha val="65000"/>
                  </a:srgbClr>
                </a:solidFill>
                <a:latin typeface="Arial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79570" y="5621174"/>
            <a:ext cx="2208343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9F"/>
                </a:solidFill>
                <a:latin typeface="Arial"/>
              </a:rPr>
              <a:t>GO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79570" y="5982476"/>
            <a:ext cx="2208343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3F8EE">
                    <a:alpha val="83000"/>
                  </a:srgbClr>
                </a:solidFill>
                <a:latin typeface="Arial"/>
              </a:rPr>
              <a:t>dengan mitigasi risiko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502" y="6192570"/>
            <a:ext cx="11004997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E5EFE3"/>
                </a:solidFill>
                <a:latin typeface="Arial"/>
              </a:rPr>
              <a:t>Dengan mitigasi penerimaan harga, ketahanan produksi, dan piutang B2B · memakai model keuangan Mery.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92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0774" y="344069"/>
            <a:ext cx="73149" cy="73150"/>
          </a:xfrm>
          <a:prstGeom prst="ellipse">
            <a:avLst/>
          </a:prstGeom>
          <a:solidFill>
            <a:srgbClr val="B7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0774" y="322272"/>
            <a:ext cx="1630793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7" b="1" i="0">
                <a:solidFill>
                  <a:srgbClr val="E1EEE2"/>
                </a:solidFill>
                <a:latin typeface="Arial"/>
              </a:rPr>
              <a:t>MELOOLOO / PENUTUP</a:t>
            </a:r>
          </a:p>
        </p:txBody>
      </p:sp>
      <p:pic>
        <p:nvPicPr>
          <p:cNvPr id="5" name="Picture 4" descr="picture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39" y="-51435"/>
            <a:ext cx="12374880" cy="696086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382460" cy="6858000"/>
          </a:xfrm>
          <a:prstGeom prst="rect">
            <a:avLst/>
          </a:prstGeom>
          <a:solidFill>
            <a:srgbClr val="031A12">
              <a:alpha val="957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999" y="0"/>
            <a:ext cx="382460" cy="6858000"/>
          </a:xfrm>
          <a:prstGeom prst="rect">
            <a:avLst/>
          </a:prstGeom>
          <a:solidFill>
            <a:srgbClr val="031A12">
              <a:alpha val="951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1999" y="0"/>
            <a:ext cx="382460" cy="6858000"/>
          </a:xfrm>
          <a:prstGeom prst="rect">
            <a:avLst/>
          </a:prstGeom>
          <a:solidFill>
            <a:srgbClr val="031A12">
              <a:alpha val="945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999" y="0"/>
            <a:ext cx="382460" cy="6858000"/>
          </a:xfrm>
          <a:prstGeom prst="rect">
            <a:avLst/>
          </a:prstGeom>
          <a:solidFill>
            <a:srgbClr val="031A12">
              <a:alpha val="939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3999" y="0"/>
            <a:ext cx="382460" cy="6858000"/>
          </a:xfrm>
          <a:prstGeom prst="rect">
            <a:avLst/>
          </a:prstGeom>
          <a:solidFill>
            <a:srgbClr val="031A12">
              <a:alpha val="933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04999" y="0"/>
            <a:ext cx="382460" cy="6858000"/>
          </a:xfrm>
          <a:prstGeom prst="rect">
            <a:avLst/>
          </a:prstGeom>
          <a:solidFill>
            <a:srgbClr val="031A12">
              <a:alpha val="927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5999" y="0"/>
            <a:ext cx="382460" cy="6858000"/>
          </a:xfrm>
          <a:prstGeom prst="rect">
            <a:avLst/>
          </a:prstGeom>
          <a:solidFill>
            <a:srgbClr val="031A12">
              <a:alpha val="921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6999" y="0"/>
            <a:ext cx="382460" cy="6858000"/>
          </a:xfrm>
          <a:prstGeom prst="rect">
            <a:avLst/>
          </a:prstGeom>
          <a:solidFill>
            <a:srgbClr val="031A12">
              <a:alpha val="915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47999" y="0"/>
            <a:ext cx="382460" cy="6858000"/>
          </a:xfrm>
          <a:prstGeom prst="rect">
            <a:avLst/>
          </a:prstGeom>
          <a:solidFill>
            <a:srgbClr val="031A12">
              <a:alpha val="909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0"/>
            <a:ext cx="382460" cy="6858000"/>
          </a:xfrm>
          <a:prstGeom prst="rect">
            <a:avLst/>
          </a:prstGeom>
          <a:solidFill>
            <a:srgbClr val="031A12">
              <a:alpha val="903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9999" y="0"/>
            <a:ext cx="382460" cy="6858000"/>
          </a:xfrm>
          <a:prstGeom prst="rect">
            <a:avLst/>
          </a:prstGeom>
          <a:solidFill>
            <a:srgbClr val="031A12">
              <a:alpha val="897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90999" y="0"/>
            <a:ext cx="382460" cy="6858000"/>
          </a:xfrm>
          <a:prstGeom prst="rect">
            <a:avLst/>
          </a:prstGeom>
          <a:solidFill>
            <a:srgbClr val="031A12">
              <a:alpha val="891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1999" y="0"/>
            <a:ext cx="382460" cy="6858000"/>
          </a:xfrm>
          <a:prstGeom prst="rect">
            <a:avLst/>
          </a:prstGeom>
          <a:solidFill>
            <a:srgbClr val="031A12">
              <a:alpha val="885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2999" y="0"/>
            <a:ext cx="382460" cy="6858000"/>
          </a:xfrm>
          <a:prstGeom prst="rect">
            <a:avLst/>
          </a:prstGeom>
          <a:solidFill>
            <a:srgbClr val="031A12">
              <a:alpha val="879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3999" y="0"/>
            <a:ext cx="382460" cy="6858000"/>
          </a:xfrm>
          <a:prstGeom prst="rect">
            <a:avLst/>
          </a:prstGeom>
          <a:solidFill>
            <a:srgbClr val="031A12">
              <a:alpha val="873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4999" y="0"/>
            <a:ext cx="382460" cy="6858000"/>
          </a:xfrm>
          <a:prstGeom prst="rect">
            <a:avLst/>
          </a:prstGeom>
          <a:solidFill>
            <a:srgbClr val="031A12">
              <a:alpha val="867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5999" y="0"/>
            <a:ext cx="382460" cy="6858000"/>
          </a:xfrm>
          <a:prstGeom prst="rect">
            <a:avLst/>
          </a:prstGeom>
          <a:solidFill>
            <a:srgbClr val="031A12">
              <a:alpha val="8620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6999" y="0"/>
            <a:ext cx="382460" cy="6858000"/>
          </a:xfrm>
          <a:prstGeom prst="rect">
            <a:avLst/>
          </a:prstGeom>
          <a:solidFill>
            <a:srgbClr val="031A12">
              <a:alpha val="8560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7999" y="0"/>
            <a:ext cx="382460" cy="6858000"/>
          </a:xfrm>
          <a:prstGeom prst="rect">
            <a:avLst/>
          </a:prstGeom>
          <a:solidFill>
            <a:srgbClr val="031A12">
              <a:alpha val="8501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8999" y="0"/>
            <a:ext cx="382460" cy="6858000"/>
          </a:xfrm>
          <a:prstGeom prst="rect">
            <a:avLst/>
          </a:prstGeom>
          <a:solidFill>
            <a:srgbClr val="031A12">
              <a:alpha val="8442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19999" y="0"/>
            <a:ext cx="382460" cy="6858000"/>
          </a:xfrm>
          <a:prstGeom prst="rect">
            <a:avLst/>
          </a:prstGeom>
          <a:solidFill>
            <a:srgbClr val="031A12">
              <a:alpha val="8382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9" y="0"/>
            <a:ext cx="382460" cy="6858000"/>
          </a:xfrm>
          <a:prstGeom prst="rect">
            <a:avLst/>
          </a:prstGeom>
          <a:solidFill>
            <a:srgbClr val="031A12">
              <a:alpha val="8323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1999" y="0"/>
            <a:ext cx="382460" cy="6858000"/>
          </a:xfrm>
          <a:prstGeom prst="rect">
            <a:avLst/>
          </a:prstGeom>
          <a:solidFill>
            <a:srgbClr val="031A12">
              <a:alpha val="8264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62999" y="0"/>
            <a:ext cx="382460" cy="6858000"/>
          </a:xfrm>
          <a:prstGeom prst="rect">
            <a:avLst/>
          </a:prstGeom>
          <a:solidFill>
            <a:srgbClr val="031A12">
              <a:alpha val="8204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0"/>
            <a:ext cx="382460" cy="6858000"/>
          </a:xfrm>
          <a:prstGeom prst="rect">
            <a:avLst/>
          </a:prstGeom>
          <a:solidFill>
            <a:srgbClr val="031A12">
              <a:alpha val="814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4999" y="0"/>
            <a:ext cx="382460" cy="6858000"/>
          </a:xfrm>
          <a:prstGeom prst="rect">
            <a:avLst/>
          </a:prstGeom>
          <a:solidFill>
            <a:srgbClr val="031A12">
              <a:alpha val="8085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05999" y="0"/>
            <a:ext cx="382460" cy="6858000"/>
          </a:xfrm>
          <a:prstGeom prst="rect">
            <a:avLst/>
          </a:prstGeom>
          <a:solidFill>
            <a:srgbClr val="031A12">
              <a:alpha val="8026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86999" y="0"/>
            <a:ext cx="382460" cy="6858000"/>
          </a:xfrm>
          <a:prstGeom prst="rect">
            <a:avLst/>
          </a:prstGeom>
          <a:solidFill>
            <a:srgbClr val="031A12">
              <a:alpha val="79672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67999" y="0"/>
            <a:ext cx="382460" cy="6858000"/>
          </a:xfrm>
          <a:prstGeom prst="rect">
            <a:avLst/>
          </a:prstGeom>
          <a:solidFill>
            <a:srgbClr val="031A12">
              <a:alpha val="79078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48999" y="0"/>
            <a:ext cx="382460" cy="6858000"/>
          </a:xfrm>
          <a:prstGeom prst="rect">
            <a:avLst/>
          </a:prstGeom>
          <a:solidFill>
            <a:srgbClr val="031A12">
              <a:alpha val="7848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29999" y="0"/>
            <a:ext cx="382460" cy="6858000"/>
          </a:xfrm>
          <a:prstGeom prst="rect">
            <a:avLst/>
          </a:prstGeom>
          <a:solidFill>
            <a:srgbClr val="031A12">
              <a:alpha val="77891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10999" y="0"/>
            <a:ext cx="382460" cy="6858000"/>
          </a:xfrm>
          <a:prstGeom prst="rect">
            <a:avLst/>
          </a:prstGeom>
          <a:solidFill>
            <a:srgbClr val="031A12">
              <a:alpha val="77297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4360" y="1327778"/>
            <a:ext cx="2230140" cy="44100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60" b="0" i="0">
                <a:solidFill>
                  <a:srgbClr val="F8FAEF">
                    <a:alpha val="75000"/>
                  </a:srgbClr>
                </a:solidFill>
                <a:latin typeface="Arial"/>
              </a:rPr>
              <a:t>TERIMA KASIH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4360" y="1787450"/>
            <a:ext cx="2230140" cy="14886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7" b="0" i="0">
                <a:solidFill>
                  <a:srgbClr val="F8FAEF"/>
                </a:solidFill>
                <a:latin typeface="Arial"/>
              </a:rPr>
              <a:t>MELOOLOO / JAKARTA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502" y="1714414"/>
            <a:ext cx="7603261" cy="17077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20" b="1" i="0">
                <a:solidFill>
                  <a:srgbClr val="D0ED9A"/>
                </a:solidFill>
                <a:latin typeface="Arial"/>
              </a:rPr>
              <a:t>PENUTUP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502" y="1850901"/>
            <a:ext cx="7603261" cy="128822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7F8EF"/>
                </a:solidFill>
                <a:latin typeface="Arial Narrow"/>
              </a:rPr>
              <a:t>Terima kasih.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02" y="3163387"/>
            <a:ext cx="6145064" cy="265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2" b="0" i="0">
                <a:solidFill>
                  <a:srgbClr val="E0EBE0"/>
                </a:solidFill>
                <a:latin typeface="Arial"/>
              </a:rPr>
              <a:t>PT Melooloo Segar Indonesia · Sidang business plan.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02" y="5550192"/>
            <a:ext cx="4907293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09502" y="5642743"/>
            <a:ext cx="4939296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502" y="5742597"/>
            <a:ext cx="4939296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01–66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502" y="6103899"/>
            <a:ext cx="4939296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sumber presentasi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797182" y="5550192"/>
            <a:ext cx="4907406" cy="0"/>
          </a:xfrm>
          <a:prstGeom prst="line">
            <a:avLst/>
          </a:prstGeom>
          <a:ln w="7303">
            <a:solidFill>
              <a:srgbClr val="ECFADF">
                <a:alpha val="4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797182" y="5642743"/>
            <a:ext cx="4939410" cy="126951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2" b="1" i="0">
                <a:solidFill>
                  <a:srgbClr val="F2F9E9">
                    <a:alpha val="65000"/>
                  </a:srgbClr>
                </a:solidFill>
                <a:latin typeface="Arial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97182" y="5742597"/>
            <a:ext cx="4939410" cy="38257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2F0A0"/>
                </a:solidFill>
                <a:latin typeface="Arial"/>
              </a:rPr>
              <a:t>3D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97182" y="6103899"/>
            <a:ext cx="4939410" cy="15616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F2F9E9">
                    <a:alpha val="83000"/>
                  </a:srgbClr>
                </a:solidFill>
                <a:latin typeface="Arial"/>
              </a:rPr>
              <a:t>walkthrough greenhouse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59043" y="685742"/>
            <a:ext cx="2623453" cy="197198"/>
          </a:xfrm>
          <a:prstGeom prst="rect">
            <a:avLst/>
          </a:prstGeom>
          <a:solidFill>
            <a:srgbClr val="062218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59043" y="740520"/>
            <a:ext cx="2655457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F0F6ED"/>
                </a:solidFill>
                <a:latin typeface="Arial"/>
              </a:rPr>
              <a:t>VISUALISASI KONSEP · BUKAN FOTO FASILITAS TERPASANG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60774" y="6366145"/>
            <a:ext cx="11070450" cy="0"/>
          </a:xfrm>
          <a:prstGeom prst="line">
            <a:avLst/>
          </a:prstGeom>
          <a:ln w="7303">
            <a:solidFill>
              <a:srgbClr val="E6F9E0">
                <a:alpha val="4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60774" y="6544057"/>
            <a:ext cx="1530142" cy="11964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5" b="1" i="0">
                <a:solidFill>
                  <a:srgbClr val="E1EEE2"/>
                </a:solidFill>
                <a:latin typeface="Arial"/>
              </a:rPr>
              <a:t>PT MELOOLOO SEGAR INDONESIA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Melooloo — Presentasi Sidang Akhir (Editable)</dc:title>
  <dc:subject>PowerPoint objects rebuilt from the 64-slide web deck</dc:subject>
  <dc:creator>Melooloo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