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1/66 · source slide 1</a:t>
            </a:r>
          </a:p>
          <a:p>
            <a:r>
              <a:t>Melooloo</a:t>
            </a:r>
          </a:p>
          <a:p>
            <a:r>
              <a:t>Interactive web version: https://mthoriqzi383.github.io/melooloo-project-hub/Melooloo_Final_Presentation_Web_20Oct2026/index.html#slide=1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2/66 · source slide 2</a:t>
            </a:r>
          </a:p>
          <a:p>
            <a:r>
              <a:t>Our Shareholders</a:t>
            </a:r>
          </a:p>
          <a:p>
            <a:r>
              <a:t>Interactive web version: https://mthoriqzi383.github.io/melooloo-project-hub/Melooloo_Final_Presentation_Web_20Oct2026/index.html#slide=2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3/66 · source slide 3</a:t>
            </a:r>
          </a:p>
          <a:p>
            <a:r>
              <a:t>Peluang di pasar premium</a:t>
            </a:r>
          </a:p>
          <a:p>
            <a:r>
              <a:t>Interactive web version: https://mthoriqzi383.github.io/melooloo-project-hub/Melooloo_Final_Presentation_Web_20Oct2026/index.html#slide=3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4/66 · source slide 4</a:t>
            </a:r>
          </a:p>
          <a:p>
            <a:r>
              <a:t>Dua masalah. Satu model.</a:t>
            </a:r>
          </a:p>
          <a:p>
            <a:r>
              <a:t>Interactive web version: https://mthoriqzi383.github.io/melooloo-project-hub/Melooloo_Final_Presentation_Web_20Oct2026/index.html#slide=4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5/66 · source slide 5</a:t>
            </a:r>
          </a:p>
          <a:p>
            <a:r>
              <a:t>Struktur industri membuka ruang</a:t>
            </a:r>
          </a:p>
          <a:p>
            <a:r>
              <a:t>Interactive web version: https://mthoriqzi383.github.io/melooloo-project-hub/Melooloo_Final_Presentation_Web_20Oct2026/index.html#slide=5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6/66 · source slide 6</a:t>
            </a:r>
          </a:p>
          <a:p>
            <a:r>
              <a:t>Visi dan standar produk</a:t>
            </a:r>
          </a:p>
          <a:p>
            <a:r>
              <a:t>Interactive web version: https://mthoriqzi383.github.io/melooloo-project-hub/Melooloo_Final_Presentation_Web_20Oct2026/index.html#slide=6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7/66 · source slide 7</a:t>
            </a:r>
          </a:p>
          <a:p>
            <a:r>
              <a:t>Business Model Canvas</a:t>
            </a:r>
          </a:p>
          <a:p>
            <a:r>
              <a:t>Interactive web version: https://mthoriqzi383.github.io/melooloo-project-hub/Melooloo_Final_Presentation_Web_20Oct2026/index.html#slide=7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8/66 · source slide 20</a:t>
            </a:r>
          </a:p>
          <a:p>
            <a:r>
              <a:t>Operasi: mutu yang berulang</a:t>
            </a:r>
          </a:p>
          <a:p>
            <a:r>
              <a:t>Interactive web version: https://mthoriqzi383.github.io/melooloo-project-hub/Melooloo_Final_Presentation_Web_20Oct2026/index.html#slide=20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9/66 · source slide 21</a:t>
            </a:r>
          </a:p>
          <a:p>
            <a:r>
              <a:t>Lokasi dan rantai pasok</a:t>
            </a:r>
          </a:p>
          <a:p>
            <a:r>
              <a:t>Interactive web version: https://mthoriqzi383.github.io/melooloo-project-hub/Melooloo_Final_Presentation_Web_20Oct2026/index.html#slide=21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10/66 · source slide 22</a:t>
            </a:r>
          </a:p>
          <a:p>
            <a:r>
              <a:t>Rooftop sebagai lokasi konsep</a:t>
            </a:r>
          </a:p>
          <a:p>
            <a:r>
              <a:t>Interactive web version: https://mthoriqzi383.github.io/melooloo-project-hub/Melooloo_Final_Presentation_Web_20Oct2026/index.html#slide=22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11/66 · source slide 23</a:t>
            </a:r>
          </a:p>
          <a:p>
            <a:r>
              <a:t>Kinerja dan biaya operasi</a:t>
            </a:r>
          </a:p>
          <a:p>
            <a:r>
              <a:t>Interactive web version: https://mthoriqzi383.github.io/melooloo-project-hub/Melooloo_Final_Presentation_Web_20Oct2026/index.html#slide=23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12/66 · source slide 24</a:t>
            </a:r>
          </a:p>
          <a:p>
            <a:r>
              <a:t>Lima prioritas operasi</a:t>
            </a:r>
          </a:p>
          <a:p>
            <a:r>
              <a:t>Interactive web version: https://mthoriqzi383.github.io/melooloo-project-hub/Melooloo_Final_Presentation_Web_20Oct2026/index.html#slide=24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13/66 · source slide 25</a:t>
            </a:r>
          </a:p>
          <a:p>
            <a:r>
              <a:t>Tiga divisi operasional</a:t>
            </a:r>
          </a:p>
          <a:p>
            <a:r>
              <a:t>Interactive web version: https://mthoriqzi383.github.io/melooloo-project-hub/Melooloo_Final_Presentation_Web_20Oct2026/index.html#slide=25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14/66 · source slide 26</a:t>
            </a:r>
          </a:p>
          <a:p>
            <a:r>
              <a:t>Risiko rantai pasok</a:t>
            </a:r>
          </a:p>
          <a:p>
            <a:r>
              <a:t>Interactive web version: https://mthoriqzi383.github.io/melooloo-project-hub/Melooloo_Final_Presentation_Web_20Oct2026/index.html#slide=26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15/66 · source slide 27</a:t>
            </a:r>
          </a:p>
          <a:p>
            <a:r>
              <a:t>Strategi operasi</a:t>
            </a:r>
          </a:p>
          <a:p>
            <a:r>
              <a:t>Interactive web version: https://mthoriqzi383.github.io/melooloo-project-hub/Melooloo_Final_Presentation_Web_20Oct2026/index.html#slide=27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16/66 · source slide 28</a:t>
            </a:r>
          </a:p>
          <a:p>
            <a:r>
              <a:t>Enam pertanyaan operasional</a:t>
            </a:r>
          </a:p>
          <a:p>
            <a:r>
              <a:t>Interactive web version: https://mthoriqzi383.github.io/melooloo-project-hub/Melooloo_Final_Presentation_Web_20Oct2026/index.html#slide=28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17/66 · source slide 29</a:t>
            </a:r>
          </a:p>
          <a:p>
            <a:r>
              <a:t>Di dalam satu greenhouse</a:t>
            </a:r>
          </a:p>
          <a:p>
            <a:r>
              <a:t>Interactive web version: https://mthoriqzi383.github.io/melooloo-project-hub/Melooloo_Final_Presentation_Web_20Oct2026/index.html#slide=29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18/66 · source slide 30</a:t>
            </a:r>
          </a:p>
          <a:p>
            <a:r>
              <a:t>Teknologi produksi</a:t>
            </a:r>
          </a:p>
          <a:p>
            <a:r>
              <a:t>Interactive web version: https://mthoriqzi383.github.io/melooloo-project-hub/Melooloo_Final_Presentation_Web_20Oct2026/index.html#slide=30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19/66 · source slide 31</a:t>
            </a:r>
          </a:p>
          <a:p>
            <a:r>
              <a:t>Sensor → keputusan → aktuator</a:t>
            </a:r>
          </a:p>
          <a:p>
            <a:r>
              <a:t>Interactive web version: https://mthoriqzi383.github.io/melooloo-project-hub/Melooloo_Final_Presentation_Web_20Oct2026/index.html#slide=31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20/66 · source slide 32</a:t>
            </a:r>
          </a:p>
          <a:p>
            <a:r>
              <a:t>Mengapa memilih DFT</a:t>
            </a:r>
          </a:p>
          <a:p>
            <a:r>
              <a:t>Interactive web version: https://mthoriqzi383.github.io/melooloo-project-hub/Melooloo_Final_Presentation_Web_20Oct2026/index.html#slide=32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21/66 · source slide 33</a:t>
            </a:r>
          </a:p>
          <a:p>
            <a:r>
              <a:t>Produksi tahun demi tahun</a:t>
            </a:r>
          </a:p>
          <a:p>
            <a:r>
              <a:t>Interactive web version: https://mthoriqzi383.github.io/melooloo-project-hub/Melooloo_Final_Presentation_Web_20Oct2026/index.html#slide=33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22/66 · source slide 34</a:t>
            </a:r>
          </a:p>
          <a:p>
            <a:r>
              <a:t>Pertumbuhan dari unit yang sama</a:t>
            </a:r>
          </a:p>
          <a:p>
            <a:r>
              <a:t>Interactive web version: https://mthoriqzi383.github.io/melooloo-project-hub/Melooloo_Final_Presentation_Web_20Oct2026/index.html#slide=34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23/66 · source slide 35</a:t>
            </a:r>
          </a:p>
          <a:p>
            <a:r>
              <a:t>Banyak. Seragam. Aman.</a:t>
            </a:r>
          </a:p>
          <a:p>
            <a:r>
              <a:t>Interactive web version: https://mthoriqzi383.github.io/melooloo-project-hub/Melooloo_Final_Presentation_Web_20Oct2026/index.html#slide=35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24/66 · source slide 36</a:t>
            </a:r>
          </a:p>
          <a:p>
            <a:r>
              <a:t>Kemanisan dibangun per fase</a:t>
            </a:r>
          </a:p>
          <a:p>
            <a:r>
              <a:t>Interactive web version: https://mthoriqzi383.github.io/melooloo-project-hub/Melooloo_Final_Presentation_Web_20Oct2026/index.html#slide=36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25/66 · source slide 37</a:t>
            </a:r>
          </a:p>
          <a:p>
            <a:r>
              <a:t>Kapan petani bertindak</a:t>
            </a:r>
          </a:p>
          <a:p>
            <a:r>
              <a:t>Interactive web version: https://mthoriqzi383.github.io/melooloo-project-hub/Melooloo_Final_Presentation_Web_20Oct2026/index.html#slide=37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26/66 · source slide 38</a:t>
            </a:r>
          </a:p>
          <a:p>
            <a:r>
              <a:t>Nursery berjalan paralel</a:t>
            </a:r>
          </a:p>
          <a:p>
            <a:r>
              <a:t>Interactive web version: https://mthoriqzi383.github.io/melooloo-project-hub/Melooloo_Final_Presentation_Web_20Oct2026/index.html#slide=38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27/66 · source slide 39</a:t>
            </a:r>
          </a:p>
          <a:p>
            <a:r>
              <a:t>Delapan tahap kerja</a:t>
            </a:r>
          </a:p>
          <a:p>
            <a:r>
              <a:t>Interactive web version: https://mthoriqzi383.github.io/melooloo-project-hub/Melooloo_Final_Presentation_Web_20Oct2026/index.html#slide=39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28/66 · source slide 40</a:t>
            </a:r>
          </a:p>
          <a:p>
            <a:r>
              <a:t>Apakah tenaga kerja cukup?</a:t>
            </a:r>
          </a:p>
          <a:p>
            <a:r>
              <a:t>Interactive web version: https://mthoriqzi383.github.io/melooloo-project-hub/Melooloo_Final_Presentation_Web_20Oct2026/index.html#slide=40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29/66 · source slide 41</a:t>
            </a:r>
          </a:p>
          <a:p>
            <a:r>
              <a:t>Lima panen dari slot 73 hari</a:t>
            </a:r>
          </a:p>
          <a:p>
            <a:r>
              <a:t>Interactive web version: https://mthoriqzi383.github.io/melooloo-project-hub/Melooloo_Final_Presentation_Web_20Oct2026/index.html#slide=41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30/66 · source slide 42</a:t>
            </a:r>
          </a:p>
          <a:p>
            <a:r>
              <a:t>Benih dapat ditiru. Sistem tidak.</a:t>
            </a:r>
          </a:p>
          <a:p>
            <a:r>
              <a:t>Interactive web version: https://mthoriqzi383.github.io/melooloo-project-hub/Melooloo_Final_Presentation_Web_20Oct2026/index.html#slide=42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31/66 · source slide 43</a:t>
            </a:r>
          </a:p>
          <a:p>
            <a:r>
              <a:t>Investasi benih bertahap</a:t>
            </a:r>
          </a:p>
          <a:p>
            <a:r>
              <a:t>Interactive web version: https://mthoriqzi383.github.io/melooloo-project-hub/Melooloo_Final_Presentation_Web_20Oct2026/index.html#slide=43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32/66 · source slide 44</a:t>
            </a:r>
          </a:p>
          <a:p>
            <a:r>
              <a:t>Apa yang sukar disalin</a:t>
            </a:r>
          </a:p>
          <a:p>
            <a:r>
              <a:t>Interactive web version: https://mthoriqzi383.github.io/melooloo-project-hub/Melooloo_Final_Presentation_Web_20Oct2026/index.html#slide=44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33/66 · source slide 45</a:t>
            </a:r>
          </a:p>
          <a:p>
            <a:r>
              <a:t>Dasar angka kapasitas</a:t>
            </a:r>
          </a:p>
          <a:p>
            <a:r>
              <a:t>Interactive web version: https://mthoriqzi383.github.io/melooloo-project-hub/Melooloo_Final_Presentation_Web_20Oct2026/index.html#slide=45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34/66 · source slide 46</a:t>
            </a:r>
          </a:p>
          <a:p>
            <a:r>
              <a:t>Jika asumsi meleset</a:t>
            </a:r>
          </a:p>
          <a:p>
            <a:r>
              <a:t>Interactive web version: https://mthoriqzi383.github.io/melooloo-project-hub/Melooloo_Final_Presentation_Web_20Oct2026/index.html#slide=46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35/66 · source slide 47</a:t>
            </a:r>
          </a:p>
          <a:p>
            <a:r>
              <a:t>Empat angka inti</a:t>
            </a:r>
          </a:p>
          <a:p>
            <a:r>
              <a:t>Interactive web version: https://mthoriqzi383.github.io/melooloo-project-hub/Melooloo_Final_Presentation_Web_20Oct2026/index.html#slide=47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36/66 · source slide 48</a:t>
            </a:r>
          </a:p>
          <a:p>
            <a:r>
              <a:t>Manusia menjaga hasil</a:t>
            </a:r>
          </a:p>
          <a:p>
            <a:r>
              <a:t>Interactive web version: https://mthoriqzi383.github.io/melooloo-project-hub/Melooloo_Final_Presentation_Web_20Oct2026/index.html#slide=48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37/66 · source slide 49</a:t>
            </a:r>
          </a:p>
          <a:p>
            <a:r>
              <a:t>Bangun tim, uji kompetensi</a:t>
            </a:r>
          </a:p>
          <a:p>
            <a:r>
              <a:t>Interactive web version: https://mthoriqzi383.github.io/melooloo-project-hub/Melooloo_Final_Presentation_Web_20Oct2026/index.html#slide=49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38/66 · source slide 50</a:t>
            </a:r>
          </a:p>
          <a:p>
            <a:r>
              <a:t>Siapa menjaga apa?</a:t>
            </a:r>
          </a:p>
          <a:p>
            <a:r>
              <a:t>Interactive web version: https://mthoriqzi383.github.io/melooloo-project-hub/Melooloo_Final_Presentation_Web_20Oct2026/index.html#slide=50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39/66 · source slide 51</a:t>
            </a:r>
          </a:p>
          <a:p>
            <a:r>
              <a:t>Tim tumbuh bersama unit</a:t>
            </a:r>
          </a:p>
          <a:p>
            <a:r>
              <a:t>Interactive web version: https://mthoriqzi383.github.io/melooloo-project-hub/Melooloo_Final_Presentation_Web_20Oct2026/index.html#slide=51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40/66 · source slide 52</a:t>
            </a:r>
          </a:p>
          <a:p>
            <a:r>
              <a:t>Biaya orang, tahun demi tahun</a:t>
            </a:r>
          </a:p>
          <a:p>
            <a:r>
              <a:t>Interactive web version: https://mthoriqzi383.github.io/melooloo-project-hub/Melooloo_Final_Presentation_Web_20Oct2026/index.html#slide=52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41/66 · source slide 53</a:t>
            </a:r>
          </a:p>
          <a:p>
            <a:r>
              <a:t>Rencana keuangan Melooloo</a:t>
            </a:r>
          </a:p>
          <a:p>
            <a:r>
              <a:t>Interactive web version: https://mthoriqzi383.github.io/melooloo-project-hub/Melooloo_Final_Presentation_Web_20Oct2026/index.html#slide=53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42/66 · source slide 54</a:t>
            </a:r>
          </a:p>
          <a:p>
            <a:r>
              <a:t>Asumsi yang menggerakkan model</a:t>
            </a:r>
          </a:p>
          <a:p>
            <a:r>
              <a:t>Interactive web version: https://mthoriqzi383.github.io/melooloo-project-hub/Melooloo_Final_Presentation_Web_20Oct2026/index.html#slide=54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43/66 · source slide 55</a:t>
            </a:r>
          </a:p>
          <a:p>
            <a:r>
              <a:t>Rp10.462 juta untuk memulai</a:t>
            </a:r>
          </a:p>
          <a:p>
            <a:r>
              <a:t>Interactive web version: https://mthoriqzi383.github.io/melooloo-project-hub/Melooloo_Final_Presentation_Web_20Oct2026/index.html#slide=55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44/66 · source slide 56</a:t>
            </a:r>
          </a:p>
          <a:p>
            <a:r>
              <a:t>Pendanaan sesuai fase pertumbuhan</a:t>
            </a:r>
          </a:p>
          <a:p>
            <a:r>
              <a:t>Interactive web version: https://mthoriqzi383.github.io/melooloo-project-hub/Melooloo_Final_Presentation_Web_20Oct2026/index.html#slide=56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45/66 · source slide 57</a:t>
            </a:r>
          </a:p>
          <a:p>
            <a:r>
              <a:t>Belanja bangun, biaya jalan</a:t>
            </a:r>
          </a:p>
          <a:p>
            <a:r>
              <a:t>Interactive web version: https://mthoriqzi383.github.io/melooloo-project-hub/Melooloo_Final_Presentation_Web_20Oct2026/index.html#slide=57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46/66 · source slide 58</a:t>
            </a:r>
          </a:p>
          <a:p>
            <a:r>
              <a:t>Pendapatan tumbuh, laba positif sejak Y1</a:t>
            </a:r>
          </a:p>
          <a:p>
            <a:r>
              <a:t>Interactive web version: https://mthoriqzi383.github.io/melooloo-project-hub/Melooloo_Final_Presentation_Web_20Oct2026/index.html#slide=58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47/66 · source slide 59</a:t>
            </a:r>
          </a:p>
          <a:p>
            <a:r>
              <a:t>Aset dan ekuitas bertumbuh</a:t>
            </a:r>
          </a:p>
          <a:p>
            <a:r>
              <a:t>Interactive web version: https://mthoriqzi383.github.io/melooloo-project-hub/Melooloo_Final_Presentation_Web_20Oct2026/index.html#slide=59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48/66 · source slide 60</a:t>
            </a:r>
          </a:p>
          <a:p>
            <a:r>
              <a:t>Kas kembali pada Tahun 6</a:t>
            </a:r>
          </a:p>
          <a:p>
            <a:r>
              <a:t>Interactive web version: https://mthoriqzi383.github.io/melooloo-project-hub/Melooloo_Final_Presentation_Web_20Oct2026/index.html#slide=60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49/66 · source slide 61</a:t>
            </a:r>
          </a:p>
          <a:p>
            <a:r>
              <a:t>Tahun 1 adalah titik kritis</a:t>
            </a:r>
          </a:p>
          <a:p>
            <a:r>
              <a:t>Interactive web version: https://mthoriqzi383.github.io/melooloo-project-hub/Melooloo_Final_Presentation_Web_20Oct2026/index.html#slide=61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50/66 · source slide 62</a:t>
            </a:r>
          </a:p>
          <a:p>
            <a:r>
              <a:t>Indikator kelayakan melewati ambang</a:t>
            </a:r>
          </a:p>
          <a:p>
            <a:r>
              <a:t>Interactive web version: https://mthoriqzi383.github.io/melooloo-project-hub/Melooloo_Final_Presentation_Web_20Oct2026/index.html#slide=62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51/66 · source slide 63</a:t>
            </a:r>
          </a:p>
          <a:p>
            <a:r>
              <a:t>Pendapatan adalah variabel paling peka</a:t>
            </a:r>
          </a:p>
          <a:p>
            <a:r>
              <a:t>Interactive web version: https://mthoriqzi383.github.io/melooloo-project-hub/Melooloo_Final_Presentation_Web_20Oct2026/index.html#slide=63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52/66 · source slide 64</a:t>
            </a:r>
          </a:p>
          <a:p>
            <a:r>
              <a:t>Layak, dengan tiga risiko yang dikawal</a:t>
            </a:r>
          </a:p>
          <a:p>
            <a:r>
              <a:t>Interactive web version: https://mthoriqzi383.github.io/melooloo-project-hub/Melooloo_Final_Presentation_Web_20Oct2026/index.html#slide=64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53/66 · source slide 8</a:t>
            </a:r>
          </a:p>
          <a:p>
            <a:r>
              <a:t>Tiga sasaran pemasaran</a:t>
            </a:r>
          </a:p>
          <a:p>
            <a:r>
              <a:t>Interactive web version: https://mthoriqzi383.github.io/melooloo-project-hub/Melooloo_Final_Presentation_Web_20Oct2026/index.html#slide=8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54/66 · source slide 9</a:t>
            </a:r>
          </a:p>
          <a:p>
            <a:r>
              <a:t>Enam segmen, dua jalur</a:t>
            </a:r>
          </a:p>
          <a:p>
            <a:r>
              <a:t>Interactive web version: https://mthoriqzi383.github.io/melooloo-project-hub/Melooloo_Final_Presentation_Web_20Oct2026/index.html#slide=9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55/66 · source slide 10</a:t>
            </a:r>
          </a:p>
          <a:p>
            <a:r>
              <a:t>Dari TAM ke SOM</a:t>
            </a:r>
          </a:p>
          <a:p>
            <a:r>
              <a:t>Interactive web version: https://mthoriqzi383.github.io/melooloo-project-hub/Melooloo_Final_Presentation_Web_20Oct2026/index.html#slide=10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56/66 · source slide 11</a:t>
            </a:r>
          </a:p>
          <a:p>
            <a:r>
              <a:t>Apa yang setara. Apa yang berbeda.</a:t>
            </a:r>
          </a:p>
          <a:p>
            <a:r>
              <a:t>Interactive web version: https://mthoriqzi383.github.io/melooloo-project-hub/Melooloo_Final_Presentation_Web_20Oct2026/index.html#slide=11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57/66 · source slide 12</a:t>
            </a:r>
          </a:p>
          <a:p>
            <a:r>
              <a:t>Peta kompetitif</a:t>
            </a:r>
          </a:p>
          <a:p>
            <a:r>
              <a:t>Interactive web version: https://mthoriqzi383.github.io/melooloo-project-hub/Melooloo_Final_Presentation_Web_20Oct2026/index.html#slide=12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58/66 · source slide 13</a:t>
            </a:r>
          </a:p>
          <a:p>
            <a:r>
              <a:t>Ruang menuju titik ideal</a:t>
            </a:r>
          </a:p>
          <a:p>
            <a:r>
              <a:t>Interactive web version: https://mthoriqzi383.github.io/melooloo-project-hub/Melooloo_Final_Presentation_Web_20Oct2026/index.html#slide=13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59/66 · source slide 14</a:t>
            </a:r>
          </a:p>
          <a:p>
            <a:r>
              <a:t>Posisi merek: kebun di kota</a:t>
            </a:r>
          </a:p>
          <a:p>
            <a:r>
              <a:t>Interactive web version: https://mthoriqzi383.github.io/melooloo-project-hub/Melooloo_Final_Presentation_Web_20Oct2026/index.html#slide=14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60/66 · source slide 15</a:t>
            </a:r>
          </a:p>
          <a:p>
            <a:r>
              <a:t>Produk dan harga</a:t>
            </a:r>
          </a:p>
          <a:p>
            <a:r>
              <a:t>Interactive web version: https://mthoriqzi383.github.io/melooloo-project-hub/Melooloo_Final_Presentation_Web_20Oct2026/index.html#slide=15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61/66 · source slide 16</a:t>
            </a:r>
          </a:p>
          <a:p>
            <a:r>
              <a:t>Lima kanal distribusi</a:t>
            </a:r>
          </a:p>
          <a:p>
            <a:r>
              <a:t>Interactive web version: https://mthoriqzi383.github.io/melooloo-project-hub/Melooloo_Final_Presentation_Web_20Oct2026/index.html#slide=16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62/66 · source slide 17</a:t>
            </a:r>
          </a:p>
          <a:p>
            <a:r>
              <a:t>Komunikasi yang terukur</a:t>
            </a:r>
          </a:p>
          <a:p>
            <a:r>
              <a:t>Interactive web version: https://mthoriqzi383.github.io/melooloo-project-hub/Melooloo_Final_Presentation_Web_20Oct2026/index.html#slide=17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63/66 · source slide 18</a:t>
            </a:r>
          </a:p>
          <a:p>
            <a:r>
              <a:t>Brand di titik temu pelanggan</a:t>
            </a:r>
          </a:p>
          <a:p>
            <a:r>
              <a:t>Interactive web version: https://mthoriqzi383.github.io/melooloo-project-hub/Melooloo_Final_Presentation_Web_20Oct2026/index.html#slide=18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64/66 · source slide 19</a:t>
            </a:r>
          </a:p>
          <a:p>
            <a:r>
              <a:t>Ekonomi pemasaran</a:t>
            </a:r>
          </a:p>
          <a:p>
            <a:r>
              <a:t>Interactive web version: https://mthoriqzi383.github.io/melooloo-project-hub/Melooloo_Final_Presentation_Web_20Oct2026/index.html#slide=19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65/66 · source slide 65</a:t>
            </a:r>
          </a:p>
          <a:p>
            <a:r>
              <a:t>Dari peluang ke keputusan</a:t>
            </a:r>
          </a:p>
          <a:p>
            <a:r>
              <a:t>Interactive web version: https://mthoriqzi383.github.io/melooloo-project-hub/Melooloo_Final_Presentation_Web_20Oct2026/index.html#slide=65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66/66 · source slide 66</a:t>
            </a:r>
          </a:p>
          <a:p>
            <a:r>
              <a:t>Terima kasih.</a:t>
            </a:r>
          </a:p>
          <a:p>
            <a:r>
              <a:t>Interactive web version: https://mthoriqzi383.github.io/melooloo-project-hub/Melooloo_Final_Presentation_Web_20Oct2026/index.html#slide=66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PELUANG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PRESENTASI 01 / 66 · ASLI 01</a:t>
            </a:r>
          </a:p>
        </p:txBody>
      </p:sp>
      <p:pic>
        <p:nvPicPr>
          <p:cNvPr id="6" name="Picture 5" descr="picture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PELUANG &amp;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331544"/>
            <a:ext cx="7603261" cy="10545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Melooloo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2438843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Produsen melon premium berbasis urban farming dengan sistem smart greenhouse adaptif untuk segmen B2B2C di Jakarta.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02" y="5550192"/>
            <a:ext cx="4907293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9502" y="5642743"/>
            <a:ext cx="493929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5742597"/>
            <a:ext cx="4939296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Sidang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02" y="6103899"/>
            <a:ext cx="493929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Business plan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797182" y="5550192"/>
            <a:ext cx="490740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797182" y="5642743"/>
            <a:ext cx="493941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7182" y="5742597"/>
            <a:ext cx="4939410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Kelompok 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97182" y="6103899"/>
            <a:ext cx="493941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Prasetiya Mulya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SUMBER: PDF SIDANG AKHIR · HALAMAN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ictur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05" y="233145"/>
            <a:ext cx="579033" cy="579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5136" y="331174"/>
            <a:ext cx="1944845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1" i="0">
                <a:solidFill>
                  <a:srgbClr val="123665"/>
                </a:solidFill>
                <a:latin typeface="Arial"/>
              </a:rPr>
              <a:t>UNIVERSITAS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136" y="466862"/>
            <a:ext cx="1944845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23665"/>
                </a:solidFill>
                <a:latin typeface="Arial"/>
              </a:rPr>
              <a:t>PRASETIYA MULYA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3420"/>
            <a:ext cx="12191999" cy="86461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55" b="1" i="0">
                <a:solidFill>
                  <a:srgbClr val="050505"/>
                </a:solidFill>
                <a:latin typeface="Arial"/>
              </a:rPr>
              <a:t>Our Shareholders</a:t>
            </a:r>
          </a:p>
        </p:txBody>
      </p:sp>
      <p:sp>
        <p:nvSpPr>
          <p:cNvPr id="7" name="Oval 6"/>
          <p:cNvSpPr/>
          <p:nvPr/>
        </p:nvSpPr>
        <p:spPr>
          <a:xfrm>
            <a:off x="426686" y="1714414"/>
            <a:ext cx="2072606" cy="2072634"/>
          </a:xfrm>
          <a:prstGeom prst="ellipse">
            <a:avLst/>
          </a:prstGeom>
          <a:solidFill>
            <a:srgbClr val="FBF5E7"/>
          </a:solidFill>
          <a:ln w="7303">
            <a:solidFill>
              <a:srgbClr val="D4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2625" y="3899228"/>
            <a:ext cx="1012617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Carlos</a:t>
            </a:r>
          </a:p>
        </p:txBody>
      </p:sp>
      <p:sp>
        <p:nvSpPr>
          <p:cNvPr id="9" name="Oval 8"/>
          <p:cNvSpPr/>
          <p:nvPr/>
        </p:nvSpPr>
        <p:spPr>
          <a:xfrm>
            <a:off x="5059639" y="1714414"/>
            <a:ext cx="2072606" cy="2072634"/>
          </a:xfrm>
          <a:prstGeom prst="ellipse">
            <a:avLst/>
          </a:prstGeom>
          <a:solidFill>
            <a:srgbClr val="FB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cture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639" y="1714414"/>
            <a:ext cx="2072606" cy="20726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05921" y="3899228"/>
            <a:ext cx="1011933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Nindio</a:t>
            </a:r>
          </a:p>
        </p:txBody>
      </p:sp>
      <p:sp>
        <p:nvSpPr>
          <p:cNvPr id="12" name="Oval 11"/>
          <p:cNvSpPr/>
          <p:nvPr/>
        </p:nvSpPr>
        <p:spPr>
          <a:xfrm>
            <a:off x="9692592" y="1714414"/>
            <a:ext cx="2072606" cy="2072634"/>
          </a:xfrm>
          <a:prstGeom prst="ellipse">
            <a:avLst/>
          </a:prstGeom>
          <a:solidFill>
            <a:srgbClr val="FB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icture-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592" y="1714414"/>
            <a:ext cx="2072606" cy="20726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07573" y="3899228"/>
            <a:ext cx="874535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Emily</a:t>
            </a:r>
          </a:p>
        </p:txBody>
      </p:sp>
      <p:sp>
        <p:nvSpPr>
          <p:cNvPr id="15" name="Oval 14"/>
          <p:cNvSpPr/>
          <p:nvPr/>
        </p:nvSpPr>
        <p:spPr>
          <a:xfrm>
            <a:off x="2743162" y="3840457"/>
            <a:ext cx="2072606" cy="2072634"/>
          </a:xfrm>
          <a:prstGeom prst="ellipse">
            <a:avLst/>
          </a:prstGeom>
          <a:solidFill>
            <a:srgbClr val="FBF5E7"/>
          </a:solidFill>
          <a:ln w="7303">
            <a:solidFill>
              <a:srgbClr val="D4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8241" y="6025271"/>
            <a:ext cx="774340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Mery</a:t>
            </a:r>
          </a:p>
        </p:txBody>
      </p:sp>
      <p:sp>
        <p:nvSpPr>
          <p:cNvPr id="17" name="Oval 16"/>
          <p:cNvSpPr/>
          <p:nvPr/>
        </p:nvSpPr>
        <p:spPr>
          <a:xfrm>
            <a:off x="7376115" y="3840457"/>
            <a:ext cx="2072606" cy="2072634"/>
          </a:xfrm>
          <a:prstGeom prst="ellipse">
            <a:avLst/>
          </a:prstGeom>
          <a:solidFill>
            <a:srgbClr val="FBF5E7"/>
          </a:solidFill>
          <a:ln w="7303">
            <a:solidFill>
              <a:srgbClr val="D4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2397" y="6025271"/>
            <a:ext cx="1011933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Thoriq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MELOOLOO / PELUANG &amp;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PRESENTASI 03 / 66 · ASLI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68156"/>
            <a:ext cx="6416778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143E2B"/>
                </a:solidFill>
                <a:latin typeface="Arial Narrow"/>
              </a:rPr>
              <a:t>Peluang di pasar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761203"/>
            <a:ext cx="641677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715E"/>
                </a:solidFill>
                <a:latin typeface="Arial"/>
              </a:rPr>
              <a:t>Estimasi permintaan premium DKI lebih besar daripada pasokan bermerek dari produsen lokal.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91814" y="3336163"/>
            <a:ext cx="1100837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1814" y="3164528"/>
            <a:ext cx="8153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5115" y="3164528"/>
            <a:ext cx="18047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7241" y="3164528"/>
            <a:ext cx="25464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1.100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3658" y="3164528"/>
            <a:ext cx="25464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1.650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9960" y="3164528"/>
            <a:ext cx="46222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2.200 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814" y="4018255"/>
            <a:ext cx="201343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43E2B"/>
                </a:solidFill>
                <a:latin typeface="Arial"/>
              </a:rPr>
              <a:t>PERMINTAAN 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997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32255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7513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62771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78029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93288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08546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3804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39062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320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69579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84837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00095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15353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30611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45870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1128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76386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91644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06902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22161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37419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52677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67935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83193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98452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3710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28968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44226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59484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74743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90001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0722" y="3815807"/>
            <a:ext cx="72709" cy="536360"/>
          </a:xfrm>
          <a:prstGeom prst="rect">
            <a:avLst/>
          </a:prstGeom>
          <a:solidFill>
            <a:srgbClr val="B7D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61971" y="3815807"/>
            <a:ext cx="72709" cy="536360"/>
          </a:xfrm>
          <a:prstGeom prst="rect">
            <a:avLst/>
          </a:prstGeom>
          <a:solidFill>
            <a:srgbClr val="B4D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33220" y="3815807"/>
            <a:ext cx="72709" cy="536360"/>
          </a:xfrm>
          <a:prstGeom prst="rect">
            <a:avLst/>
          </a:prstGeom>
          <a:solidFill>
            <a:srgbClr val="B0D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04469" y="3815807"/>
            <a:ext cx="72709" cy="536360"/>
          </a:xfrm>
          <a:prstGeom prst="rect">
            <a:avLst/>
          </a:prstGeom>
          <a:solidFill>
            <a:srgbClr val="ADD6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75717" y="3815807"/>
            <a:ext cx="72709" cy="536360"/>
          </a:xfrm>
          <a:prstGeom prst="rect">
            <a:avLst/>
          </a:prstGeom>
          <a:solidFill>
            <a:srgbClr val="A9D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46966" y="3815807"/>
            <a:ext cx="72709" cy="536360"/>
          </a:xfrm>
          <a:prstGeom prst="rect">
            <a:avLst/>
          </a:prstGeom>
          <a:solidFill>
            <a:srgbClr val="A6D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18215" y="3815807"/>
            <a:ext cx="72709" cy="536360"/>
          </a:xfrm>
          <a:prstGeom prst="rect">
            <a:avLst/>
          </a:prstGeom>
          <a:solidFill>
            <a:srgbClr val="A2C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89463" y="3815807"/>
            <a:ext cx="72709" cy="536360"/>
          </a:xfrm>
          <a:prstGeom prst="rect">
            <a:avLst/>
          </a:prstGeom>
          <a:solidFill>
            <a:srgbClr val="9FC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60712" y="3815807"/>
            <a:ext cx="72709" cy="536360"/>
          </a:xfrm>
          <a:prstGeom prst="rect">
            <a:avLst/>
          </a:prstGeom>
          <a:solidFill>
            <a:srgbClr val="9CC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31961" y="3815807"/>
            <a:ext cx="72709" cy="536360"/>
          </a:xfrm>
          <a:prstGeom prst="rect">
            <a:avLst/>
          </a:prstGeom>
          <a:solidFill>
            <a:srgbClr val="98C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03210" y="3815807"/>
            <a:ext cx="72709" cy="536360"/>
          </a:xfrm>
          <a:prstGeom prst="rect">
            <a:avLst/>
          </a:prstGeom>
          <a:solidFill>
            <a:srgbClr val="95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74458" y="3815807"/>
            <a:ext cx="72709" cy="536360"/>
          </a:xfrm>
          <a:prstGeom prst="rect">
            <a:avLst/>
          </a:prstGeom>
          <a:solidFill>
            <a:srgbClr val="91C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45707" y="3815807"/>
            <a:ext cx="72709" cy="536360"/>
          </a:xfrm>
          <a:prstGeom prst="rect">
            <a:avLst/>
          </a:prstGeom>
          <a:solidFill>
            <a:srgbClr val="8E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316956" y="3815807"/>
            <a:ext cx="72709" cy="536360"/>
          </a:xfrm>
          <a:prstGeom prst="rect">
            <a:avLst/>
          </a:prstGeom>
          <a:solidFill>
            <a:srgbClr val="8A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88204" y="3815807"/>
            <a:ext cx="72709" cy="536360"/>
          </a:xfrm>
          <a:prstGeom prst="rect">
            <a:avLst/>
          </a:prstGeom>
          <a:solidFill>
            <a:srgbClr val="87B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59453" y="3815807"/>
            <a:ext cx="72709" cy="536360"/>
          </a:xfrm>
          <a:prstGeom prst="rect">
            <a:avLst/>
          </a:prstGeom>
          <a:solidFill>
            <a:srgbClr val="83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530702" y="3815807"/>
            <a:ext cx="72709" cy="536360"/>
          </a:xfrm>
          <a:prstGeom prst="rect">
            <a:avLst/>
          </a:prstGeom>
          <a:solidFill>
            <a:srgbClr val="80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601951" y="3815807"/>
            <a:ext cx="72709" cy="536360"/>
          </a:xfrm>
          <a:prstGeom prst="rect">
            <a:avLst/>
          </a:prstGeom>
          <a:solidFill>
            <a:srgbClr val="7CB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73199" y="3815807"/>
            <a:ext cx="72709" cy="536360"/>
          </a:xfrm>
          <a:prstGeom prst="rect">
            <a:avLst/>
          </a:prstGeom>
          <a:solidFill>
            <a:srgbClr val="79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44448" y="3815807"/>
            <a:ext cx="72709" cy="536360"/>
          </a:xfrm>
          <a:prstGeom prst="rect">
            <a:avLst/>
          </a:prstGeom>
          <a:solidFill>
            <a:srgbClr val="75A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15697" y="3815807"/>
            <a:ext cx="72709" cy="536360"/>
          </a:xfrm>
          <a:prstGeom prst="rect">
            <a:avLst/>
          </a:prstGeom>
          <a:solidFill>
            <a:srgbClr val="72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886945" y="3815807"/>
            <a:ext cx="72709" cy="536360"/>
          </a:xfrm>
          <a:prstGeom prst="rect">
            <a:avLst/>
          </a:prstGeom>
          <a:solidFill>
            <a:srgbClr val="6EA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58194" y="3815807"/>
            <a:ext cx="72709" cy="536360"/>
          </a:xfrm>
          <a:prstGeom prst="rect">
            <a:avLst/>
          </a:prstGeom>
          <a:solidFill>
            <a:srgbClr val="6BA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29443" y="3815807"/>
            <a:ext cx="72709" cy="536360"/>
          </a:xfrm>
          <a:prstGeom prst="rect">
            <a:avLst/>
          </a:prstGeom>
          <a:solidFill>
            <a:srgbClr val="67A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00692" y="3815807"/>
            <a:ext cx="72709" cy="536360"/>
          </a:xfrm>
          <a:prstGeom prst="rect">
            <a:avLst/>
          </a:prstGeom>
          <a:solidFill>
            <a:srgbClr val="64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71940" y="3815807"/>
            <a:ext cx="72709" cy="536360"/>
          </a:xfrm>
          <a:prstGeom prst="rect">
            <a:avLst/>
          </a:prstGeom>
          <a:solidFill>
            <a:srgbClr val="61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43189" y="3815807"/>
            <a:ext cx="72709" cy="536360"/>
          </a:xfrm>
          <a:prstGeom prst="rect">
            <a:avLst/>
          </a:prstGeom>
          <a:solidFill>
            <a:srgbClr val="5D9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14438" y="3815807"/>
            <a:ext cx="72709" cy="536360"/>
          </a:xfrm>
          <a:prstGeom prst="rect">
            <a:avLst/>
          </a:prstGeom>
          <a:solidFill>
            <a:srgbClr val="5A9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385686" y="3815807"/>
            <a:ext cx="72709" cy="536360"/>
          </a:xfrm>
          <a:prstGeom prst="rect">
            <a:avLst/>
          </a:prstGeom>
          <a:solidFill>
            <a:srgbClr val="569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456935" y="3815807"/>
            <a:ext cx="72709" cy="536360"/>
          </a:xfrm>
          <a:prstGeom prst="rect">
            <a:avLst/>
          </a:prstGeom>
          <a:solidFill>
            <a:srgbClr val="53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28184" y="3815807"/>
            <a:ext cx="72709" cy="536360"/>
          </a:xfrm>
          <a:prstGeom prst="rect">
            <a:avLst/>
          </a:prstGeom>
          <a:solidFill>
            <a:srgbClr val="4F8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99433" y="3815807"/>
            <a:ext cx="72709" cy="536360"/>
          </a:xfrm>
          <a:prstGeom prst="rect">
            <a:avLst/>
          </a:prstGeom>
          <a:solidFill>
            <a:srgbClr val="4C8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49015" y="3959825"/>
            <a:ext cx="1683173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164630"/>
                </a:solidFill>
                <a:latin typeface="Arial"/>
              </a:rPr>
              <a:t>1.460–2.190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1814" y="5034373"/>
            <a:ext cx="201343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43E2B"/>
                </a:solidFill>
                <a:latin typeface="Arial"/>
              </a:rPr>
              <a:t>PASOKAN BERMEREK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816997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32255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47513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462771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678029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93288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08546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23804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539062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754320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969579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184837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00095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615353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830611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045870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261128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76386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91644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906902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22161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337419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552677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767935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983193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198452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413710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8968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844226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059484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274743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490001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070580" y="4831925"/>
            <a:ext cx="79599" cy="536360"/>
          </a:xfrm>
          <a:prstGeom prst="rect">
            <a:avLst/>
          </a:prstGeom>
          <a:solidFill>
            <a:srgbClr val="AD9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148719" y="4831925"/>
            <a:ext cx="79599" cy="536360"/>
          </a:xfrm>
          <a:prstGeom prst="rect">
            <a:avLst/>
          </a:prstGeom>
          <a:solidFill>
            <a:srgbClr val="AC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226857" y="4831925"/>
            <a:ext cx="79599" cy="536360"/>
          </a:xfrm>
          <a:prstGeom prst="rect">
            <a:avLst/>
          </a:prstGeom>
          <a:solidFill>
            <a:srgbClr val="AB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304996" y="4831925"/>
            <a:ext cx="79599" cy="536360"/>
          </a:xfrm>
          <a:prstGeom prst="rect">
            <a:avLst/>
          </a:prstGeom>
          <a:solidFill>
            <a:srgbClr val="AA9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383134" y="4831925"/>
            <a:ext cx="79599" cy="536360"/>
          </a:xfrm>
          <a:prstGeom prst="rect">
            <a:avLst/>
          </a:prstGeom>
          <a:solidFill>
            <a:srgbClr val="A99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461273" y="4831925"/>
            <a:ext cx="79599" cy="536360"/>
          </a:xfrm>
          <a:prstGeom prst="rect">
            <a:avLst/>
          </a:prstGeom>
          <a:solidFill>
            <a:srgbClr val="A99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539412" y="4831925"/>
            <a:ext cx="79599" cy="536360"/>
          </a:xfrm>
          <a:prstGeom prst="rect">
            <a:avLst/>
          </a:prstGeom>
          <a:solidFill>
            <a:srgbClr val="A89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617550" y="4831925"/>
            <a:ext cx="79599" cy="536360"/>
          </a:xfrm>
          <a:prstGeom prst="rect">
            <a:avLst/>
          </a:prstGeom>
          <a:solidFill>
            <a:srgbClr val="A79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695689" y="4831925"/>
            <a:ext cx="79599" cy="536360"/>
          </a:xfrm>
          <a:prstGeom prst="rect">
            <a:avLst/>
          </a:prstGeom>
          <a:solidFill>
            <a:srgbClr val="A69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773827" y="4831925"/>
            <a:ext cx="79599" cy="536360"/>
          </a:xfrm>
          <a:prstGeom prst="rect">
            <a:avLst/>
          </a:prstGeom>
          <a:solidFill>
            <a:srgbClr val="A69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851966" y="4831925"/>
            <a:ext cx="79599" cy="536360"/>
          </a:xfrm>
          <a:prstGeom prst="rect">
            <a:avLst/>
          </a:prstGeom>
          <a:solidFill>
            <a:srgbClr val="A59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30104" y="4831925"/>
            <a:ext cx="79599" cy="536360"/>
          </a:xfrm>
          <a:prstGeom prst="rect">
            <a:avLst/>
          </a:prstGeom>
          <a:solidFill>
            <a:srgbClr val="A49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008243" y="4831925"/>
            <a:ext cx="79599" cy="536360"/>
          </a:xfrm>
          <a:prstGeom prst="rect">
            <a:avLst/>
          </a:prstGeom>
          <a:solidFill>
            <a:srgbClr val="A3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086382" y="4831925"/>
            <a:ext cx="79599" cy="536360"/>
          </a:xfrm>
          <a:prstGeom prst="rect">
            <a:avLst/>
          </a:prstGeom>
          <a:solidFill>
            <a:srgbClr val="A29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164520" y="4831925"/>
            <a:ext cx="79599" cy="536360"/>
          </a:xfrm>
          <a:prstGeom prst="rect">
            <a:avLst/>
          </a:prstGeom>
          <a:solidFill>
            <a:srgbClr val="A28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242659" y="4831925"/>
            <a:ext cx="79599" cy="536360"/>
          </a:xfrm>
          <a:prstGeom prst="rect">
            <a:avLst/>
          </a:prstGeom>
          <a:solidFill>
            <a:srgbClr val="A18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320797" y="4831925"/>
            <a:ext cx="79599" cy="536360"/>
          </a:xfrm>
          <a:prstGeom prst="rect">
            <a:avLst/>
          </a:prstGeom>
          <a:solidFill>
            <a:srgbClr val="A08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398936" y="4831925"/>
            <a:ext cx="79599" cy="536360"/>
          </a:xfrm>
          <a:prstGeom prst="rect">
            <a:avLst/>
          </a:prstGeom>
          <a:solidFill>
            <a:srgbClr val="9F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477075" y="4831925"/>
            <a:ext cx="79599" cy="536360"/>
          </a:xfrm>
          <a:prstGeom prst="rect">
            <a:avLst/>
          </a:prstGeom>
          <a:solidFill>
            <a:srgbClr val="9F8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555213" y="4831925"/>
            <a:ext cx="79599" cy="536360"/>
          </a:xfrm>
          <a:prstGeom prst="rect">
            <a:avLst/>
          </a:prstGeom>
          <a:solidFill>
            <a:srgbClr val="9E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633352" y="4831925"/>
            <a:ext cx="79599" cy="536360"/>
          </a:xfrm>
          <a:prstGeom prst="rect">
            <a:avLst/>
          </a:prstGeom>
          <a:solidFill>
            <a:srgbClr val="9D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711490" y="4831925"/>
            <a:ext cx="79599" cy="536360"/>
          </a:xfrm>
          <a:prstGeom prst="rect">
            <a:avLst/>
          </a:prstGeom>
          <a:solidFill>
            <a:srgbClr val="9C8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789629" y="4831925"/>
            <a:ext cx="79599" cy="536360"/>
          </a:xfrm>
          <a:prstGeom prst="rect">
            <a:avLst/>
          </a:prstGeom>
          <a:solidFill>
            <a:srgbClr val="9B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867767" y="4831925"/>
            <a:ext cx="79599" cy="536360"/>
          </a:xfrm>
          <a:prstGeom prst="rect">
            <a:avLst/>
          </a:prstGeom>
          <a:solidFill>
            <a:srgbClr val="9B8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945906" y="4831925"/>
            <a:ext cx="79599" cy="536360"/>
          </a:xfrm>
          <a:prstGeom prst="rect">
            <a:avLst/>
          </a:prstGeom>
          <a:solidFill>
            <a:srgbClr val="9A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024045" y="4831925"/>
            <a:ext cx="79599" cy="536360"/>
          </a:xfrm>
          <a:prstGeom prst="rect">
            <a:avLst/>
          </a:prstGeom>
          <a:solidFill>
            <a:srgbClr val="998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102183" y="4831925"/>
            <a:ext cx="79599" cy="536360"/>
          </a:xfrm>
          <a:prstGeom prst="rect">
            <a:avLst/>
          </a:prstGeom>
          <a:solidFill>
            <a:srgbClr val="988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180322" y="4831925"/>
            <a:ext cx="79599" cy="536360"/>
          </a:xfrm>
          <a:prstGeom prst="rect">
            <a:avLst/>
          </a:prstGeom>
          <a:solidFill>
            <a:srgbClr val="988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58460" y="4831925"/>
            <a:ext cx="79599" cy="536360"/>
          </a:xfrm>
          <a:prstGeom prst="rect">
            <a:avLst/>
          </a:prstGeom>
          <a:solidFill>
            <a:srgbClr val="978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336599" y="4831925"/>
            <a:ext cx="79599" cy="536360"/>
          </a:xfrm>
          <a:prstGeom prst="rect">
            <a:avLst/>
          </a:prstGeom>
          <a:solidFill>
            <a:srgbClr val="968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414737" y="4831925"/>
            <a:ext cx="79599" cy="536360"/>
          </a:xfrm>
          <a:prstGeom prst="rect">
            <a:avLst/>
          </a:prstGeom>
          <a:solidFill>
            <a:srgbClr val="9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492876" y="4831925"/>
            <a:ext cx="79599" cy="536360"/>
          </a:xfrm>
          <a:prstGeom prst="rect">
            <a:avLst/>
          </a:prstGeom>
          <a:solidFill>
            <a:srgbClr val="94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949015" y="4975944"/>
            <a:ext cx="1683173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143E2B"/>
                </a:solidFill>
                <a:latin typeface="Arial"/>
              </a:rPr>
              <a:t>400–1.200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689068" y="2305324"/>
            <a:ext cx="94312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143E2B"/>
                </a:solidFill>
                <a:latin typeface="Arial"/>
              </a:rPr>
              <a:t>CELAH ESTIMASI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529403" y="2356449"/>
            <a:ext cx="2102784" cy="6601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127" b="1" i="0">
                <a:solidFill>
                  <a:srgbClr val="143E2B"/>
                </a:solidFill>
                <a:latin typeface="Arial"/>
              </a:rPr>
              <a:t>260–1.790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870744" y="2939142"/>
            <a:ext cx="76144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ton per tahun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077597" y="5279844"/>
            <a:ext cx="3522587" cy="1057657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42155" y="5407771"/>
            <a:ext cx="4328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1" i="0">
                <a:solidFill>
                  <a:srgbClr val="C5E99C"/>
                </a:solidFill>
                <a:latin typeface="Arial"/>
              </a:rPr>
              <a:t>01 / 03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728297" y="5462549"/>
            <a:ext cx="2707329" cy="7303"/>
          </a:xfrm>
          <a:prstGeom prst="rect">
            <a:avLst/>
          </a:prstGeom>
          <a:solidFill>
            <a:srgbClr val="D2ED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242155" y="5587966"/>
            <a:ext cx="3225475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EEF6E6"/>
                </a:solidFill>
                <a:latin typeface="Arial"/>
              </a:rPr>
              <a:t>Permintaan premium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42155" y="5863678"/>
            <a:ext cx="3225475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EEE0"/>
                </a:solidFill>
                <a:latin typeface="Arial"/>
              </a:rPr>
              <a:t>Estimasi kebutuhan di DKI: 1.460–2.190 ton per tahun.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242155" y="6107323"/>
            <a:ext cx="3225475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B9D994"/>
                </a:solidFill>
                <a:latin typeface="Arial"/>
              </a:rPr>
              <a:t>KLIK ELEMEN ATAU TEKAN →</a:t>
            </a:r>
          </a:p>
        </p:txBody>
      </p:sp>
      <p:cxnSp>
        <p:nvCxnSpPr>
          <p:cNvPr id="159" name="Connector 158"/>
          <p:cNvCxnSpPr/>
          <p:nvPr/>
        </p:nvCxnSpPr>
        <p:spPr>
          <a:xfrm flipH="1">
            <a:off x="591814" y="6337501"/>
            <a:ext cx="2364406" cy="0"/>
          </a:xfrm>
          <a:prstGeom prst="line">
            <a:avLst/>
          </a:prstGeom>
          <a:ln w="7303">
            <a:solidFill>
              <a:srgbClr val="143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591814" y="6075712"/>
            <a:ext cx="239640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143E2B"/>
                </a:solidFill>
                <a:latin typeface="Arial"/>
              </a:rPr>
              <a:t>LIHAT DATA PADA HALAMAN ASLI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774316" y="6042845"/>
            <a:ext cx="213907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143E2B"/>
                </a:solidFill>
                <a:latin typeface="Arial"/>
              </a:rPr>
              <a:t>↗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682550" y="6537324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SUMBER: PDF SIDANG AKHIR · HALAMAN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MELOOLOO / PELUANG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PRESENTASI 04 / 66 · ASLI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7804336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99" b="1" i="0">
                <a:solidFill>
                  <a:srgbClr val="143E2B"/>
                </a:solidFill>
                <a:latin typeface="Arial Narrow"/>
              </a:rPr>
              <a:t>Dua masalah. Satu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16385"/>
            <a:ext cx="784096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59715E"/>
                </a:solidFill>
                <a:latin typeface="Arial"/>
              </a:rPr>
              <a:t>Kesenjangan lokasi dan kualitas bertemu dengan inefisiensi budidaya konvensional.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09786"/>
            <a:ext cx="3085972" cy="3301243"/>
          </a:xfrm>
          <a:prstGeom prst="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1909786"/>
            <a:ext cx="3085973" cy="0"/>
          </a:xfrm>
          <a:prstGeom prst="line">
            <a:avLst/>
          </a:prstGeom>
          <a:ln w="43821">
            <a:solidFill>
              <a:srgbClr val="B99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7543" y="2075487"/>
            <a:ext cx="281328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37454"/>
                </a:solidFill>
                <a:latin typeface="Arial"/>
              </a:rPr>
              <a:t>01 / KESENJANGAN PASAR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543" y="2271659"/>
            <a:ext cx="2813282" cy="8207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183" b="1" i="0">
                <a:solidFill>
                  <a:srgbClr val="583B2D"/>
                </a:solidFill>
                <a:latin typeface="Arial"/>
              </a:rPr>
              <a:t>1,46%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543" y="3038312"/>
            <a:ext cx="2592236" cy="3364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Produksi di wilayah konsumsi tinggi Jabodetabek.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543" y="4547996"/>
            <a:ext cx="2781278" cy="7303"/>
          </a:xfrm>
          <a:prstGeom prst="rect">
            <a:avLst/>
          </a:prstGeom>
          <a:solidFill>
            <a:srgbClr val="B9A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543" y="4587025"/>
            <a:ext cx="2813282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74533D"/>
                </a:solidFill>
                <a:latin typeface="Arial"/>
              </a:rPr>
              <a:t>30–40%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543" y="4951408"/>
            <a:ext cx="281328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0" i="0">
                <a:solidFill>
                  <a:srgbClr val="143E2B"/>
                </a:solidFill>
                <a:latin typeface="Arial"/>
              </a:rPr>
              <a:t>risiko gagal panen konvensional · hanya 1–2 panen/tahun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2576" y="1909786"/>
            <a:ext cx="3526809" cy="3301243"/>
          </a:xfrm>
          <a:prstGeom prst="rect">
            <a:avLst/>
          </a:prstGeom>
          <a:solidFill>
            <a:srgbClr val="DCE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762576" y="1909786"/>
            <a:ext cx="3526810" cy="0"/>
          </a:xfrm>
          <a:prstGeom prst="line">
            <a:avLst/>
          </a:prstGeom>
          <a:ln w="43821">
            <a:solidFill>
              <a:srgbClr val="538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4924" y="2075487"/>
            <a:ext cx="325411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37454"/>
                </a:solidFill>
                <a:latin typeface="Arial"/>
              </a:rPr>
              <a:t>02 / TARGET HIDROPONIK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914924" y="3156197"/>
            <a:ext cx="3222115" cy="0"/>
          </a:xfrm>
          <a:prstGeom prst="line">
            <a:avLst/>
          </a:prstGeom>
          <a:ln w="7303">
            <a:solidFill>
              <a:srgbClr val="35673F">
                <a:alpha val="2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14924" y="2760546"/>
            <a:ext cx="13530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E2B"/>
                </a:solidFill>
                <a:latin typeface="Arial"/>
              </a:rPr>
              <a:t>&lt;10%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6890" y="2921226"/>
            <a:ext cx="187215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E2B"/>
                </a:solidFill>
                <a:latin typeface="Arial"/>
              </a:rPr>
              <a:t>risiko gagal panen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914924" y="3640748"/>
            <a:ext cx="3222115" cy="0"/>
          </a:xfrm>
          <a:prstGeom prst="line">
            <a:avLst/>
          </a:prstGeom>
          <a:ln w="7303">
            <a:solidFill>
              <a:srgbClr val="35673F">
                <a:alpha val="2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14924" y="3245096"/>
            <a:ext cx="13530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E2B"/>
                </a:solidFill>
                <a:latin typeface="Arial"/>
              </a:rPr>
              <a:t>4–5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6890" y="3405776"/>
            <a:ext cx="187215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E2B"/>
                </a:solidFill>
                <a:latin typeface="Arial"/>
              </a:rPr>
              <a:t>panen per tahun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914924" y="4125298"/>
            <a:ext cx="3222115" cy="0"/>
          </a:xfrm>
          <a:prstGeom prst="line">
            <a:avLst/>
          </a:prstGeom>
          <a:ln w="7303">
            <a:solidFill>
              <a:srgbClr val="35673F">
                <a:alpha val="2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14924" y="3729647"/>
            <a:ext cx="13530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E2B"/>
                </a:solidFill>
                <a:latin typeface="Arial"/>
              </a:rPr>
              <a:t>80–85%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6890" y="3890327"/>
            <a:ext cx="187215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E2B"/>
                </a:solidFill>
                <a:latin typeface="Arial"/>
              </a:rPr>
              <a:t>hemat 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4924" y="4214197"/>
            <a:ext cx="13530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E2B"/>
                </a:solidFill>
                <a:latin typeface="Arial"/>
              </a:rPr>
              <a:t>2×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890" y="4374877"/>
            <a:ext cx="187215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E2B"/>
                </a:solidFill>
                <a:latin typeface="Arial"/>
              </a:rPr>
              <a:t>produktivitas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0794" y="1909786"/>
            <a:ext cx="4226009" cy="3301243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380794" y="1909786"/>
            <a:ext cx="4226009" cy="0"/>
          </a:xfrm>
          <a:prstGeom prst="line">
            <a:avLst/>
          </a:prstGeom>
          <a:ln w="43821">
            <a:solidFill>
              <a:srgbClr val="B9E3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33141" y="2075487"/>
            <a:ext cx="395331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B9E390"/>
                </a:solidFill>
                <a:latin typeface="Arial"/>
              </a:rPr>
              <a:t>03 / MODEL B2B2C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33141" y="2821029"/>
            <a:ext cx="3921315" cy="0"/>
          </a:xfrm>
          <a:prstGeom prst="line">
            <a:avLst/>
          </a:prstGeom>
          <a:ln w="7303">
            <a:solidFill>
              <a:srgbClr val="E8F8D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33141" y="2913580"/>
            <a:ext cx="395331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E0C6"/>
                </a:solidFill>
                <a:latin typeface="Arial"/>
              </a:rPr>
              <a:t>B2B UTAMA · RITEL / HORECA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3141" y="3010923"/>
            <a:ext cx="3953318" cy="46291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48" b="1" i="0">
                <a:solidFill>
                  <a:srgbClr val="F7FAEC"/>
                </a:solidFill>
                <a:latin typeface="Arial"/>
              </a:rPr>
              <a:t>Rp75.000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442" y="3230032"/>
            <a:ext cx="240725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7FAEC"/>
                </a:solidFill>
                <a:latin typeface="Arial"/>
              </a:rPr>
              <a:t>/kg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33141" y="3492393"/>
            <a:ext cx="3921315" cy="0"/>
          </a:xfrm>
          <a:prstGeom prst="line">
            <a:avLst/>
          </a:prstGeom>
          <a:ln w="7303">
            <a:solidFill>
              <a:srgbClr val="E8F8D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533141" y="3584944"/>
            <a:ext cx="395331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E0C6"/>
                </a:solidFill>
                <a:latin typeface="Arial"/>
              </a:rPr>
              <a:t>B2C PENDUKUNG · LANGSUNG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3141" y="3682287"/>
            <a:ext cx="3953318" cy="46291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48" b="1" i="0">
                <a:solidFill>
                  <a:srgbClr val="F7FAEC"/>
                </a:solidFill>
                <a:latin typeface="Arial"/>
              </a:rPr>
              <a:t>Rp99.000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37442" y="3901396"/>
            <a:ext cx="240725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7FAEC"/>
                </a:solidFill>
                <a:latin typeface="Arial"/>
              </a:rPr>
              <a:t>/kg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33141" y="4799744"/>
            <a:ext cx="3953318" cy="3081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DCEFD6"/>
                </a:solidFill>
                <a:latin typeface="Arial"/>
              </a:rPr>
              <a:t>Porsi B2C tumbuh bertahap · konsep rooftop Jakarta: panen dan kirim di hari yang sama.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195" y="5290228"/>
            <a:ext cx="2950514" cy="877805"/>
          </a:xfrm>
          <a:prstGeom prst="rect">
            <a:avLst/>
          </a:prstGeom>
          <a:solidFill>
            <a:srgbClr val="DCE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85195" y="5290228"/>
            <a:ext cx="2950515" cy="0"/>
          </a:xfrm>
          <a:prstGeom prst="line">
            <a:avLst/>
          </a:prstGeom>
          <a:ln w="7303">
            <a:solidFill>
              <a:srgbClr val="577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64393" y="5441665"/>
            <a:ext cx="2824123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E2B"/>
                </a:solidFill>
                <a:latin typeface="Arial"/>
              </a:rPr>
              <a:t>253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393" y="5757319"/>
            <a:ext cx="282412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responden survei primer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393" y="5876003"/>
            <a:ext cx="282412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Mei–Agustus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4908" y="5290228"/>
            <a:ext cx="2611128" cy="877805"/>
          </a:xfrm>
          <a:prstGeom prst="rect">
            <a:avLst/>
          </a:prstGeom>
          <a:solidFill>
            <a:srgbClr val="FFFF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614908" y="5290228"/>
            <a:ext cx="2611129" cy="0"/>
          </a:xfrm>
          <a:prstGeom prst="line">
            <a:avLst/>
          </a:prstGeom>
          <a:ln w="7303">
            <a:solidFill>
              <a:srgbClr val="AE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94106" y="5501007"/>
            <a:ext cx="2484737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E2B"/>
                </a:solidFill>
                <a:latin typeface="Arial"/>
              </a:rPr>
              <a:t>94,5%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94106" y="5816661"/>
            <a:ext cx="24847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rasa manis faktor utama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5234" y="5290228"/>
            <a:ext cx="2611128" cy="877805"/>
          </a:xfrm>
          <a:prstGeom prst="rect">
            <a:avLst/>
          </a:prstGeom>
          <a:solidFill>
            <a:srgbClr val="FFFF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6305234" y="5290228"/>
            <a:ext cx="2611129" cy="0"/>
          </a:xfrm>
          <a:prstGeom prst="line">
            <a:avLst/>
          </a:prstGeom>
          <a:ln w="7303">
            <a:solidFill>
              <a:srgbClr val="AE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384432" y="5501007"/>
            <a:ext cx="2484737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E2B"/>
                </a:solidFill>
                <a:latin typeface="Arial"/>
              </a:rPr>
              <a:t>45,8%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4432" y="5816661"/>
            <a:ext cx="24847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bersedia ≥Rp100.000/buah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95561" y="5290228"/>
            <a:ext cx="2611128" cy="877805"/>
          </a:xfrm>
          <a:prstGeom prst="rect">
            <a:avLst/>
          </a:prstGeom>
          <a:solidFill>
            <a:srgbClr val="FFFF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8995561" y="5290228"/>
            <a:ext cx="2611128" cy="0"/>
          </a:xfrm>
          <a:prstGeom prst="line">
            <a:avLst/>
          </a:prstGeom>
          <a:ln w="7303">
            <a:solidFill>
              <a:srgbClr val="AE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074758" y="5501007"/>
            <a:ext cx="2484737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E2B"/>
                </a:solidFill>
                <a:latin typeface="Arial"/>
              </a:rPr>
              <a:t>78,7%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4758" y="5816661"/>
            <a:ext cx="24847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tertarik memberi melon sebagai hadiah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195" y="6239929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697565"/>
                </a:solidFill>
                <a:latin typeface="Arial"/>
              </a:rPr>
              <a:t>Perbandingan budidaya mengikuti asumsi materi awal. Harga strategi per kg; kesediaan bayar survei per buah.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SUMBER: PDF SIDANG AKHIR · HALAMAN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MELOOLOO / PELUANG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PRESENTASI 05 / 66 · ASLI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143E2B"/>
                </a:solidFill>
                <a:latin typeface="Arial Narrow"/>
              </a:rPr>
              <a:t>Struktur industri membuka ruang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715E"/>
                </a:solidFill>
                <a:latin typeface="Arial"/>
              </a:rPr>
              <a:t>Lima kekuatan persaingan memperlihatkan daya tawar pembeli tinggi; empat kekuatan lainnya dinilai sedang.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5611048" y="3538328"/>
            <a:ext cx="705384" cy="246237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905666" y="3292090"/>
            <a:ext cx="705382" cy="246238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200283" y="3045853"/>
            <a:ext cx="705383" cy="246237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494900" y="2799616"/>
            <a:ext cx="705383" cy="246237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89517" y="2553379"/>
            <a:ext cx="705383" cy="246237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316432" y="3531847"/>
            <a:ext cx="727425" cy="252718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043857" y="3279131"/>
            <a:ext cx="727427" cy="252716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71284" y="3026413"/>
            <a:ext cx="727427" cy="252718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498711" y="2773697"/>
            <a:ext cx="727425" cy="252716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226136" y="2520980"/>
            <a:ext cx="727426" cy="252717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269379" y="3768365"/>
            <a:ext cx="1047053" cy="162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222326" y="3752165"/>
            <a:ext cx="1047053" cy="162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175273" y="3735965"/>
            <a:ext cx="1047053" cy="162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128220" y="3719765"/>
            <a:ext cx="1047053" cy="162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16432" y="3784565"/>
            <a:ext cx="991944" cy="24299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8376" y="3808864"/>
            <a:ext cx="991945" cy="243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00321" y="3833164"/>
            <a:ext cx="991945" cy="243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92266" y="3857464"/>
            <a:ext cx="991944" cy="24299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279693" y="3784565"/>
            <a:ext cx="36739" cy="377995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242954" y="4162560"/>
            <a:ext cx="36739" cy="377995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206215" y="4540555"/>
            <a:ext cx="36739" cy="377996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655105" y="3071749"/>
            <a:ext cx="1341111" cy="1341130"/>
          </a:xfrm>
          <a:prstGeom prst="ellipse">
            <a:avLst/>
          </a:prstGeom>
          <a:solidFill>
            <a:srgbClr val="14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1534" y="3327947"/>
            <a:ext cx="48025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4F7EC"/>
                </a:solidFill>
                <a:latin typeface="Arial"/>
              </a:rPr>
              <a:t>PORTER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6196" y="3379072"/>
            <a:ext cx="370933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F4F7EC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23" y="4047127"/>
            <a:ext cx="48527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4F7EC"/>
                </a:solidFill>
                <a:latin typeface="Arial"/>
              </a:rPr>
              <a:t>FORCES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6869" y="2294140"/>
            <a:ext cx="2645135" cy="527573"/>
          </a:xfrm>
          <a:prstGeom prst="rect">
            <a:avLst/>
          </a:prstGeom>
          <a:solidFill>
            <a:srgbClr val="C5E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466869" y="2294140"/>
            <a:ext cx="2645136" cy="0"/>
          </a:xfrm>
          <a:prstGeom prst="line">
            <a:avLst/>
          </a:prstGeom>
          <a:ln w="14607">
            <a:solidFill>
              <a:srgbClr val="143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576536" y="2431768"/>
            <a:ext cx="179021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01 / Pendatang baru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7898" y="2387946"/>
            <a:ext cx="626443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Sedang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6536" y="2621662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CAPEX + teknis · skor 2,825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90232" y="2196910"/>
            <a:ext cx="2645135" cy="527573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190232" y="2196910"/>
            <a:ext cx="2645135" cy="0"/>
          </a:xfrm>
          <a:prstGeom prst="line">
            <a:avLst/>
          </a:prstGeom>
          <a:ln w="14607">
            <a:solidFill>
              <a:srgbClr val="91B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99899" y="2334538"/>
            <a:ext cx="1900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02 / Pembeli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498" y="2290716"/>
            <a:ext cx="516205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Tinggi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9899" y="2524433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Alternatif lokal &amp; impor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319" y="3460553"/>
            <a:ext cx="2645135" cy="527573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95319" y="3460553"/>
            <a:ext cx="2645136" cy="0"/>
          </a:xfrm>
          <a:prstGeom prst="line">
            <a:avLst/>
          </a:prstGeom>
          <a:ln w="14607">
            <a:solidFill>
              <a:srgbClr val="91B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4986" y="3598181"/>
            <a:ext cx="179021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03 / Pemasok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36348" y="3554360"/>
            <a:ext cx="626443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Sedang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986" y="3788076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Diversifikasi pemasok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668" y="3654899"/>
            <a:ext cx="2645135" cy="527573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8961668" y="3654899"/>
            <a:ext cx="2645135" cy="0"/>
          </a:xfrm>
          <a:prstGeom prst="line">
            <a:avLst/>
          </a:prstGeom>
          <a:ln w="14607">
            <a:solidFill>
              <a:srgbClr val="91B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071335" y="3792527"/>
            <a:ext cx="179021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04 / Substitusi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02697" y="3748705"/>
            <a:ext cx="626443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Sedang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1335" y="3982421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Impor &amp; buah premium lokal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080" y="4391082"/>
            <a:ext cx="2645135" cy="527573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4663080" y="4391082"/>
            <a:ext cx="2645135" cy="0"/>
          </a:xfrm>
          <a:prstGeom prst="line">
            <a:avLst/>
          </a:prstGeom>
          <a:ln w="14607">
            <a:solidFill>
              <a:srgbClr val="91B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772747" y="4528710"/>
            <a:ext cx="179021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05 / Rivalitas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4109" y="4484888"/>
            <a:ext cx="626443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Sedang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72747" y="4718605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Persaingan melon premium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41192" y="4895946"/>
            <a:ext cx="2865611" cy="1447717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05750" y="5023874"/>
            <a:ext cx="4328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1" i="0">
                <a:solidFill>
                  <a:srgbClr val="C5E99C"/>
                </a:solidFill>
                <a:latin typeface="Arial"/>
              </a:rPr>
              <a:t>01 / 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91892" y="5078651"/>
            <a:ext cx="2050353" cy="7303"/>
          </a:xfrm>
          <a:prstGeom prst="rect">
            <a:avLst/>
          </a:prstGeom>
          <a:solidFill>
            <a:srgbClr val="D2ED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05750" y="5252911"/>
            <a:ext cx="256849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EEF6E6"/>
                </a:solidFill>
                <a:latin typeface="Arial"/>
              </a:rPr>
              <a:t>Pendatang baru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05750" y="5553045"/>
            <a:ext cx="2568499" cy="49487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EEE0"/>
                </a:solidFill>
                <a:latin typeface="Arial"/>
              </a:rPr>
              <a:t>Sedang · skor 2,825 pada slide sumber. Hambatan: investasi, teknis, standar ritel, dan benih.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05750" y="6113485"/>
            <a:ext cx="256849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B9D994"/>
                </a:solidFill>
                <a:latin typeface="Arial"/>
              </a:rPr>
              <a:t>KLIK ELEMEN ATAU TEKAN →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SUMBER: PDF SIDANG AKHIR · HALAMAN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MELOOLOO / PELUANG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PRESENTASI 06 / 66 · ASLI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7804336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99" b="1" i="0">
                <a:solidFill>
                  <a:srgbClr val="143E2B"/>
                </a:solidFill>
                <a:latin typeface="Arial Narrow"/>
              </a:rPr>
              <a:t>Visi dan standar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16385"/>
            <a:ext cx="784096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59715E"/>
                </a:solidFill>
                <a:latin typeface="Arial"/>
              </a:rPr>
              <a:t>PT Melooloo Segar Indonesia menggabungkan greenhouse IoT, hidroponik presisi, dan analitik untuk kualitas premium.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03738"/>
            <a:ext cx="2645135" cy="3970096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ctur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1903738"/>
            <a:ext cx="2645135" cy="39700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7073" y="5551105"/>
            <a:ext cx="2433384" cy="2273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209" y="1903738"/>
            <a:ext cx="8254594" cy="751818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6297" y="2013407"/>
            <a:ext cx="621946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3" b="1" i="0">
                <a:solidFill>
                  <a:srgbClr val="C2E397"/>
                </a:solidFill>
                <a:latin typeface="Arial"/>
              </a:rPr>
              <a:t>VISI · RINGKASAN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6297" y="2137568"/>
            <a:ext cx="6219469" cy="4370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2" b="1" i="0">
                <a:solidFill>
                  <a:srgbClr val="F7FAEF"/>
                </a:solidFill>
                <a:latin typeface="Arial"/>
              </a:rPr>
              <a:t>Standar baru kualitas dan efisiensi melon premium Indonesia, dengan daya saing global.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5640" y="2067956"/>
            <a:ext cx="1709078" cy="3387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C9EBA3"/>
                </a:solidFill>
                <a:latin typeface="Arial"/>
              </a:rPr>
              <a:t>18 → 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5640" y="2374708"/>
            <a:ext cx="170907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F7FAEF"/>
                </a:solidFill>
                <a:latin typeface="Arial"/>
              </a:rPr>
              <a:t>karyawan · Y0 ke Y5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2209" y="2722544"/>
            <a:ext cx="2706873" cy="542066"/>
          </a:xfrm>
          <a:prstGeom prst="rect">
            <a:avLst/>
          </a:prstGeom>
          <a:solidFill>
            <a:srgbClr val="DB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352209" y="2722544"/>
            <a:ext cx="2706873" cy="0"/>
          </a:xfrm>
          <a:prstGeom prst="line">
            <a:avLst/>
          </a:prstGeom>
          <a:ln w="36517">
            <a:solidFill>
              <a:srgbClr val="5B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55828" y="2800487"/>
            <a:ext cx="2531639" cy="3022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76" b="1" i="0">
                <a:solidFill>
                  <a:srgbClr val="143E2B"/>
                </a:solidFill>
                <a:latin typeface="Arial"/>
              </a:rPr>
              <a:t>≥15°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5828" y="3084416"/>
            <a:ext cx="25316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E2B"/>
                </a:solidFill>
                <a:latin typeface="Arial"/>
              </a:rPr>
              <a:t>Brix · target rasa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069" y="2722544"/>
            <a:ext cx="2706873" cy="542066"/>
          </a:xfrm>
          <a:prstGeom prst="rect">
            <a:avLst/>
          </a:prstGeom>
          <a:solidFill>
            <a:srgbClr val="DB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126069" y="2722544"/>
            <a:ext cx="2706874" cy="0"/>
          </a:xfrm>
          <a:prstGeom prst="line">
            <a:avLst/>
          </a:prstGeom>
          <a:ln w="36517">
            <a:solidFill>
              <a:srgbClr val="5B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29688" y="2800487"/>
            <a:ext cx="2531639" cy="3022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76" b="1" i="0">
                <a:solidFill>
                  <a:srgbClr val="143E2B"/>
                </a:solidFill>
                <a:latin typeface="Arial"/>
              </a:rPr>
              <a:t>≥1,5–2,0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9688" y="3084416"/>
            <a:ext cx="25316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E2B"/>
                </a:solidFill>
                <a:latin typeface="Arial"/>
              </a:rPr>
              <a:t>ukuran buah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9930" y="2722544"/>
            <a:ext cx="2706873" cy="542066"/>
          </a:xfrm>
          <a:prstGeom prst="rect">
            <a:avLst/>
          </a:prstGeom>
          <a:solidFill>
            <a:srgbClr val="DB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899930" y="2722544"/>
            <a:ext cx="2706873" cy="0"/>
          </a:xfrm>
          <a:prstGeom prst="line">
            <a:avLst/>
          </a:prstGeom>
          <a:ln w="36517">
            <a:solidFill>
              <a:srgbClr val="5B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03549" y="2800487"/>
            <a:ext cx="2531639" cy="3022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76" b="1" i="0">
                <a:solidFill>
                  <a:srgbClr val="143E2B"/>
                </a:solidFill>
                <a:latin typeface="Arial"/>
              </a:rPr>
              <a:t>4–5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3549" y="3084416"/>
            <a:ext cx="25316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E2B"/>
                </a:solidFill>
                <a:latin typeface="Arial"/>
              </a:rPr>
              <a:t>panen per tahun</a:t>
            </a:r>
          </a:p>
        </p:txBody>
      </p:sp>
      <p:pic>
        <p:nvPicPr>
          <p:cNvPr id="28" name="Picture 27" descr="picture-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09" y="3331599"/>
            <a:ext cx="2706873" cy="254223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352209" y="3331599"/>
            <a:ext cx="2706873" cy="80905"/>
          </a:xfrm>
          <a:prstGeom prst="rect">
            <a:avLst/>
          </a:prstGeom>
          <a:solidFill>
            <a:srgbClr val="052216">
              <a:alpha val="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209" y="3411044"/>
            <a:ext cx="2706873" cy="80905"/>
          </a:xfrm>
          <a:prstGeom prst="rect">
            <a:avLst/>
          </a:prstGeom>
          <a:solidFill>
            <a:srgbClr val="052216">
              <a:alpha val="1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52209" y="3490488"/>
            <a:ext cx="2706873" cy="80905"/>
          </a:xfrm>
          <a:prstGeom prst="rect">
            <a:avLst/>
          </a:prstGeom>
          <a:solidFill>
            <a:srgbClr val="052216">
              <a:alpha val="1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209" y="3569933"/>
            <a:ext cx="2706873" cy="80905"/>
          </a:xfrm>
          <a:prstGeom prst="rect">
            <a:avLst/>
          </a:prstGeom>
          <a:solidFill>
            <a:srgbClr val="052216">
              <a:alpha val="1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52209" y="3649378"/>
            <a:ext cx="2706873" cy="80905"/>
          </a:xfrm>
          <a:prstGeom prst="rect">
            <a:avLst/>
          </a:prstGeom>
          <a:solidFill>
            <a:srgbClr val="052216">
              <a:alpha val="2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52209" y="3728823"/>
            <a:ext cx="2706873" cy="80905"/>
          </a:xfrm>
          <a:prstGeom prst="rect">
            <a:avLst/>
          </a:prstGeom>
          <a:solidFill>
            <a:srgbClr val="052216">
              <a:alpha val="2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52209" y="3808268"/>
            <a:ext cx="2706873" cy="80905"/>
          </a:xfrm>
          <a:prstGeom prst="rect">
            <a:avLst/>
          </a:prstGeom>
          <a:solidFill>
            <a:srgbClr val="052216">
              <a:alpha val="2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52209" y="3887713"/>
            <a:ext cx="2706873" cy="80905"/>
          </a:xfrm>
          <a:prstGeom prst="rect">
            <a:avLst/>
          </a:prstGeom>
          <a:solidFill>
            <a:srgbClr val="052216">
              <a:alpha val="2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52209" y="3967158"/>
            <a:ext cx="2706873" cy="80905"/>
          </a:xfrm>
          <a:prstGeom prst="rect">
            <a:avLst/>
          </a:prstGeom>
          <a:solidFill>
            <a:srgbClr val="052216">
              <a:alpha val="31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52209" y="4046603"/>
            <a:ext cx="2706873" cy="80905"/>
          </a:xfrm>
          <a:prstGeom prst="rect">
            <a:avLst/>
          </a:prstGeom>
          <a:solidFill>
            <a:srgbClr val="052216">
              <a:alpha val="34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52209" y="4126047"/>
            <a:ext cx="2706873" cy="80905"/>
          </a:xfrm>
          <a:prstGeom prst="rect">
            <a:avLst/>
          </a:prstGeom>
          <a:solidFill>
            <a:srgbClr val="052216">
              <a:alpha val="36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52209" y="4205492"/>
            <a:ext cx="2706873" cy="80905"/>
          </a:xfrm>
          <a:prstGeom prst="rect">
            <a:avLst/>
          </a:prstGeom>
          <a:solidFill>
            <a:srgbClr val="052216">
              <a:alpha val="39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52209" y="4284937"/>
            <a:ext cx="2706873" cy="80905"/>
          </a:xfrm>
          <a:prstGeom prst="rect">
            <a:avLst/>
          </a:prstGeom>
          <a:solidFill>
            <a:srgbClr val="052216">
              <a:alpha val="42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2209" y="4364382"/>
            <a:ext cx="2706873" cy="80905"/>
          </a:xfrm>
          <a:prstGeom prst="rect">
            <a:avLst/>
          </a:prstGeom>
          <a:solidFill>
            <a:srgbClr val="052216">
              <a:alpha val="45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52209" y="4443827"/>
            <a:ext cx="2706873" cy="80905"/>
          </a:xfrm>
          <a:prstGeom prst="rect">
            <a:avLst/>
          </a:prstGeom>
          <a:solidFill>
            <a:srgbClr val="052216">
              <a:alpha val="47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52209" y="4523272"/>
            <a:ext cx="2706873" cy="80905"/>
          </a:xfrm>
          <a:prstGeom prst="rect">
            <a:avLst/>
          </a:prstGeom>
          <a:solidFill>
            <a:srgbClr val="052216">
              <a:alpha val="50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52209" y="4602717"/>
            <a:ext cx="2706873" cy="80905"/>
          </a:xfrm>
          <a:prstGeom prst="rect">
            <a:avLst/>
          </a:prstGeom>
          <a:solidFill>
            <a:srgbClr val="052216">
              <a:alpha val="5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52209" y="4682161"/>
            <a:ext cx="2706873" cy="80905"/>
          </a:xfrm>
          <a:prstGeom prst="rect">
            <a:avLst/>
          </a:prstGeom>
          <a:solidFill>
            <a:srgbClr val="052216">
              <a:alpha val="5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209" y="4761606"/>
            <a:ext cx="2706873" cy="80905"/>
          </a:xfrm>
          <a:prstGeom prst="rect">
            <a:avLst/>
          </a:prstGeom>
          <a:solidFill>
            <a:srgbClr val="052216">
              <a:alpha val="5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52209" y="4841051"/>
            <a:ext cx="2706873" cy="80905"/>
          </a:xfrm>
          <a:prstGeom prst="rect">
            <a:avLst/>
          </a:prstGeom>
          <a:solidFill>
            <a:srgbClr val="052216">
              <a:alpha val="6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52209" y="4920496"/>
            <a:ext cx="2706873" cy="80905"/>
          </a:xfrm>
          <a:prstGeom prst="rect">
            <a:avLst/>
          </a:prstGeom>
          <a:solidFill>
            <a:srgbClr val="052216">
              <a:alpha val="6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52209" y="4999941"/>
            <a:ext cx="2706873" cy="80905"/>
          </a:xfrm>
          <a:prstGeom prst="rect">
            <a:avLst/>
          </a:prstGeom>
          <a:solidFill>
            <a:srgbClr val="052216">
              <a:alpha val="6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52209" y="5079386"/>
            <a:ext cx="2706873" cy="80905"/>
          </a:xfrm>
          <a:prstGeom prst="rect">
            <a:avLst/>
          </a:prstGeom>
          <a:solidFill>
            <a:srgbClr val="052216">
              <a:alpha val="6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52209" y="5158831"/>
            <a:ext cx="2706873" cy="80905"/>
          </a:xfrm>
          <a:prstGeom prst="rect">
            <a:avLst/>
          </a:prstGeom>
          <a:solidFill>
            <a:srgbClr val="052216">
              <a:alpha val="7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52209" y="5238276"/>
            <a:ext cx="2706873" cy="80905"/>
          </a:xfrm>
          <a:prstGeom prst="rect">
            <a:avLst/>
          </a:prstGeom>
          <a:solidFill>
            <a:srgbClr val="052216">
              <a:alpha val="7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52209" y="5317720"/>
            <a:ext cx="2706873" cy="80905"/>
          </a:xfrm>
          <a:prstGeom prst="rect">
            <a:avLst/>
          </a:prstGeom>
          <a:solidFill>
            <a:srgbClr val="052216">
              <a:alpha val="7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52209" y="5397165"/>
            <a:ext cx="2706873" cy="80905"/>
          </a:xfrm>
          <a:prstGeom prst="rect">
            <a:avLst/>
          </a:prstGeom>
          <a:solidFill>
            <a:srgbClr val="052216">
              <a:alpha val="8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52209" y="5476610"/>
            <a:ext cx="2706873" cy="80905"/>
          </a:xfrm>
          <a:prstGeom prst="rect">
            <a:avLst/>
          </a:prstGeom>
          <a:solidFill>
            <a:srgbClr val="052216">
              <a:alpha val="8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52209" y="5556055"/>
            <a:ext cx="2706873" cy="80905"/>
          </a:xfrm>
          <a:prstGeom prst="rect">
            <a:avLst/>
          </a:prstGeom>
          <a:solidFill>
            <a:srgbClr val="052216">
              <a:alpha val="8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52209" y="5635500"/>
            <a:ext cx="2706873" cy="80905"/>
          </a:xfrm>
          <a:prstGeom prst="rect">
            <a:avLst/>
          </a:prstGeom>
          <a:solidFill>
            <a:srgbClr val="052216">
              <a:alpha val="8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52209" y="5714945"/>
            <a:ext cx="2706873" cy="80905"/>
          </a:xfrm>
          <a:prstGeom prst="rect">
            <a:avLst/>
          </a:prstGeom>
          <a:solidFill>
            <a:srgbClr val="052216">
              <a:alpha val="9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52209" y="5794390"/>
            <a:ext cx="2706873" cy="80905"/>
          </a:xfrm>
          <a:prstGeom prst="rect">
            <a:avLst/>
          </a:prstGeom>
          <a:solidFill>
            <a:srgbClr val="052216">
              <a:alpha val="9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352209" y="3331599"/>
            <a:ext cx="2706873" cy="0"/>
          </a:xfrm>
          <a:prstGeom prst="line">
            <a:avLst/>
          </a:prstGeom>
          <a:ln w="36517">
            <a:solidFill>
              <a:srgbClr val="B7DE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461876" y="3453364"/>
            <a:ext cx="655035" cy="170494"/>
          </a:xfrm>
          <a:prstGeom prst="rect">
            <a:avLst/>
          </a:prstGeom>
          <a:solidFill>
            <a:srgbClr val="062418">
              <a:alpha val="8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61876" y="3483834"/>
            <a:ext cx="6870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D7F1B3"/>
                </a:solidFill>
                <a:latin typeface="Arial"/>
              </a:rPr>
              <a:t>1–2 TAHUN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61876" y="5309971"/>
            <a:ext cx="2519543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FFFF"/>
                </a:solidFill>
                <a:latin typeface="Arial"/>
              </a:rPr>
              <a:t>100 ton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1876" y="5668648"/>
            <a:ext cx="25195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EFF8E9"/>
                </a:solidFill>
                <a:latin typeface="Arial"/>
              </a:rPr>
              <a:t>per tahun · GH IoT ±7.000 m² · target gagal panen &lt;6%</a:t>
            </a:r>
          </a:p>
        </p:txBody>
      </p:sp>
      <p:pic>
        <p:nvPicPr>
          <p:cNvPr id="66" name="Picture 65" descr="picture-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069" y="3331599"/>
            <a:ext cx="2706873" cy="2542235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6126069" y="3331599"/>
            <a:ext cx="2706873" cy="80905"/>
          </a:xfrm>
          <a:prstGeom prst="rect">
            <a:avLst/>
          </a:prstGeom>
          <a:solidFill>
            <a:srgbClr val="052216">
              <a:alpha val="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26069" y="3411044"/>
            <a:ext cx="2706873" cy="80905"/>
          </a:xfrm>
          <a:prstGeom prst="rect">
            <a:avLst/>
          </a:prstGeom>
          <a:solidFill>
            <a:srgbClr val="052216">
              <a:alpha val="1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26069" y="3490488"/>
            <a:ext cx="2706873" cy="80905"/>
          </a:xfrm>
          <a:prstGeom prst="rect">
            <a:avLst/>
          </a:prstGeom>
          <a:solidFill>
            <a:srgbClr val="052216">
              <a:alpha val="1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26069" y="3569933"/>
            <a:ext cx="2706873" cy="80905"/>
          </a:xfrm>
          <a:prstGeom prst="rect">
            <a:avLst/>
          </a:prstGeom>
          <a:solidFill>
            <a:srgbClr val="052216">
              <a:alpha val="1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6069" y="3649378"/>
            <a:ext cx="2706873" cy="80905"/>
          </a:xfrm>
          <a:prstGeom prst="rect">
            <a:avLst/>
          </a:prstGeom>
          <a:solidFill>
            <a:srgbClr val="052216">
              <a:alpha val="2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6069" y="3728823"/>
            <a:ext cx="2706873" cy="80905"/>
          </a:xfrm>
          <a:prstGeom prst="rect">
            <a:avLst/>
          </a:prstGeom>
          <a:solidFill>
            <a:srgbClr val="052216">
              <a:alpha val="2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069" y="3808268"/>
            <a:ext cx="2706873" cy="80905"/>
          </a:xfrm>
          <a:prstGeom prst="rect">
            <a:avLst/>
          </a:prstGeom>
          <a:solidFill>
            <a:srgbClr val="052216">
              <a:alpha val="2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6069" y="3887713"/>
            <a:ext cx="2706873" cy="80905"/>
          </a:xfrm>
          <a:prstGeom prst="rect">
            <a:avLst/>
          </a:prstGeom>
          <a:solidFill>
            <a:srgbClr val="052216">
              <a:alpha val="2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26069" y="3967158"/>
            <a:ext cx="2706873" cy="80905"/>
          </a:xfrm>
          <a:prstGeom prst="rect">
            <a:avLst/>
          </a:prstGeom>
          <a:solidFill>
            <a:srgbClr val="052216">
              <a:alpha val="31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6069" y="4046603"/>
            <a:ext cx="2706873" cy="80905"/>
          </a:xfrm>
          <a:prstGeom prst="rect">
            <a:avLst/>
          </a:prstGeom>
          <a:solidFill>
            <a:srgbClr val="052216">
              <a:alpha val="34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26069" y="4126047"/>
            <a:ext cx="2706873" cy="80905"/>
          </a:xfrm>
          <a:prstGeom prst="rect">
            <a:avLst/>
          </a:prstGeom>
          <a:solidFill>
            <a:srgbClr val="052216">
              <a:alpha val="36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26069" y="4205492"/>
            <a:ext cx="2706873" cy="80905"/>
          </a:xfrm>
          <a:prstGeom prst="rect">
            <a:avLst/>
          </a:prstGeom>
          <a:solidFill>
            <a:srgbClr val="052216">
              <a:alpha val="39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26069" y="4284937"/>
            <a:ext cx="2706873" cy="80905"/>
          </a:xfrm>
          <a:prstGeom prst="rect">
            <a:avLst/>
          </a:prstGeom>
          <a:solidFill>
            <a:srgbClr val="052216">
              <a:alpha val="42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26069" y="4364382"/>
            <a:ext cx="2706873" cy="80905"/>
          </a:xfrm>
          <a:prstGeom prst="rect">
            <a:avLst/>
          </a:prstGeom>
          <a:solidFill>
            <a:srgbClr val="052216">
              <a:alpha val="45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26069" y="4443827"/>
            <a:ext cx="2706873" cy="80905"/>
          </a:xfrm>
          <a:prstGeom prst="rect">
            <a:avLst/>
          </a:prstGeom>
          <a:solidFill>
            <a:srgbClr val="052216">
              <a:alpha val="47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26069" y="4523272"/>
            <a:ext cx="2706873" cy="80905"/>
          </a:xfrm>
          <a:prstGeom prst="rect">
            <a:avLst/>
          </a:prstGeom>
          <a:solidFill>
            <a:srgbClr val="052216">
              <a:alpha val="50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26069" y="4602717"/>
            <a:ext cx="2706873" cy="80905"/>
          </a:xfrm>
          <a:prstGeom prst="rect">
            <a:avLst/>
          </a:prstGeom>
          <a:solidFill>
            <a:srgbClr val="052216">
              <a:alpha val="5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26069" y="4682161"/>
            <a:ext cx="2706873" cy="80905"/>
          </a:xfrm>
          <a:prstGeom prst="rect">
            <a:avLst/>
          </a:prstGeom>
          <a:solidFill>
            <a:srgbClr val="052216">
              <a:alpha val="5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26069" y="4761606"/>
            <a:ext cx="2706873" cy="80905"/>
          </a:xfrm>
          <a:prstGeom prst="rect">
            <a:avLst/>
          </a:prstGeom>
          <a:solidFill>
            <a:srgbClr val="052216">
              <a:alpha val="5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126069" y="4841051"/>
            <a:ext cx="2706873" cy="80905"/>
          </a:xfrm>
          <a:prstGeom prst="rect">
            <a:avLst/>
          </a:prstGeom>
          <a:solidFill>
            <a:srgbClr val="052216">
              <a:alpha val="6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26069" y="4920496"/>
            <a:ext cx="2706873" cy="80905"/>
          </a:xfrm>
          <a:prstGeom prst="rect">
            <a:avLst/>
          </a:prstGeom>
          <a:solidFill>
            <a:srgbClr val="052216">
              <a:alpha val="6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26069" y="4999941"/>
            <a:ext cx="2706873" cy="80905"/>
          </a:xfrm>
          <a:prstGeom prst="rect">
            <a:avLst/>
          </a:prstGeom>
          <a:solidFill>
            <a:srgbClr val="052216">
              <a:alpha val="6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26069" y="5079386"/>
            <a:ext cx="2706873" cy="80905"/>
          </a:xfrm>
          <a:prstGeom prst="rect">
            <a:avLst/>
          </a:prstGeom>
          <a:solidFill>
            <a:srgbClr val="052216">
              <a:alpha val="6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126069" y="5158831"/>
            <a:ext cx="2706873" cy="80905"/>
          </a:xfrm>
          <a:prstGeom prst="rect">
            <a:avLst/>
          </a:prstGeom>
          <a:solidFill>
            <a:srgbClr val="052216">
              <a:alpha val="7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26069" y="5238276"/>
            <a:ext cx="2706873" cy="80905"/>
          </a:xfrm>
          <a:prstGeom prst="rect">
            <a:avLst/>
          </a:prstGeom>
          <a:solidFill>
            <a:srgbClr val="052216">
              <a:alpha val="7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26069" y="5317720"/>
            <a:ext cx="2706873" cy="80905"/>
          </a:xfrm>
          <a:prstGeom prst="rect">
            <a:avLst/>
          </a:prstGeom>
          <a:solidFill>
            <a:srgbClr val="052216">
              <a:alpha val="7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26069" y="5397165"/>
            <a:ext cx="2706873" cy="80905"/>
          </a:xfrm>
          <a:prstGeom prst="rect">
            <a:avLst/>
          </a:prstGeom>
          <a:solidFill>
            <a:srgbClr val="052216">
              <a:alpha val="8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26069" y="5476610"/>
            <a:ext cx="2706873" cy="80905"/>
          </a:xfrm>
          <a:prstGeom prst="rect">
            <a:avLst/>
          </a:prstGeom>
          <a:solidFill>
            <a:srgbClr val="052216">
              <a:alpha val="8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26069" y="5556055"/>
            <a:ext cx="2706873" cy="80905"/>
          </a:xfrm>
          <a:prstGeom prst="rect">
            <a:avLst/>
          </a:prstGeom>
          <a:solidFill>
            <a:srgbClr val="052216">
              <a:alpha val="8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26069" y="5635500"/>
            <a:ext cx="2706873" cy="80905"/>
          </a:xfrm>
          <a:prstGeom prst="rect">
            <a:avLst/>
          </a:prstGeom>
          <a:solidFill>
            <a:srgbClr val="052216">
              <a:alpha val="8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26069" y="5714945"/>
            <a:ext cx="2706873" cy="80905"/>
          </a:xfrm>
          <a:prstGeom prst="rect">
            <a:avLst/>
          </a:prstGeom>
          <a:solidFill>
            <a:srgbClr val="052216">
              <a:alpha val="9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26069" y="5794390"/>
            <a:ext cx="2706873" cy="80905"/>
          </a:xfrm>
          <a:prstGeom prst="rect">
            <a:avLst/>
          </a:prstGeom>
          <a:solidFill>
            <a:srgbClr val="052216">
              <a:alpha val="9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6126069" y="3331599"/>
            <a:ext cx="2706874" cy="0"/>
          </a:xfrm>
          <a:prstGeom prst="line">
            <a:avLst/>
          </a:prstGeom>
          <a:ln w="36517">
            <a:solidFill>
              <a:srgbClr val="B7DE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6235737" y="3453364"/>
            <a:ext cx="655035" cy="170494"/>
          </a:xfrm>
          <a:prstGeom prst="rect">
            <a:avLst/>
          </a:prstGeom>
          <a:solidFill>
            <a:srgbClr val="062418">
              <a:alpha val="8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35737" y="3483834"/>
            <a:ext cx="6870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D7F1B3"/>
                </a:solidFill>
                <a:latin typeface="Arial"/>
              </a:rPr>
              <a:t>3–5 TAHUN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35737" y="5309971"/>
            <a:ext cx="2519543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FFFF"/>
                </a:solidFill>
                <a:latin typeface="Arial"/>
              </a:rPr>
              <a:t>+34 GH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35737" y="5668648"/>
            <a:ext cx="25195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EFF8E9"/>
                </a:solidFill>
                <a:latin typeface="Arial"/>
              </a:rPr>
              <a:t>operational excellence · pertumbuhan B2C</a:t>
            </a:r>
          </a:p>
        </p:txBody>
      </p:sp>
      <p:pic>
        <p:nvPicPr>
          <p:cNvPr id="104" name="Picture 103" descr="picture-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9930" y="3331599"/>
            <a:ext cx="2706873" cy="2542235"/>
          </a:xfrm>
          <a:prstGeom prst="rect">
            <a:avLst/>
          </a:prstGeom>
        </p:spPr>
      </p:pic>
      <p:sp>
        <p:nvSpPr>
          <p:cNvPr id="105" name="Rectangle 104"/>
          <p:cNvSpPr/>
          <p:nvPr/>
        </p:nvSpPr>
        <p:spPr>
          <a:xfrm>
            <a:off x="8899930" y="3331599"/>
            <a:ext cx="2706873" cy="80905"/>
          </a:xfrm>
          <a:prstGeom prst="rect">
            <a:avLst/>
          </a:prstGeom>
          <a:solidFill>
            <a:srgbClr val="052216">
              <a:alpha val="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899930" y="3411044"/>
            <a:ext cx="2706873" cy="80905"/>
          </a:xfrm>
          <a:prstGeom prst="rect">
            <a:avLst/>
          </a:prstGeom>
          <a:solidFill>
            <a:srgbClr val="052216">
              <a:alpha val="1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899930" y="3490488"/>
            <a:ext cx="2706873" cy="80905"/>
          </a:xfrm>
          <a:prstGeom prst="rect">
            <a:avLst/>
          </a:prstGeom>
          <a:solidFill>
            <a:srgbClr val="052216">
              <a:alpha val="1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899930" y="3569933"/>
            <a:ext cx="2706873" cy="80905"/>
          </a:xfrm>
          <a:prstGeom prst="rect">
            <a:avLst/>
          </a:prstGeom>
          <a:solidFill>
            <a:srgbClr val="052216">
              <a:alpha val="1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899930" y="3649378"/>
            <a:ext cx="2706873" cy="80905"/>
          </a:xfrm>
          <a:prstGeom prst="rect">
            <a:avLst/>
          </a:prstGeom>
          <a:solidFill>
            <a:srgbClr val="052216">
              <a:alpha val="2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899930" y="3728823"/>
            <a:ext cx="2706873" cy="80905"/>
          </a:xfrm>
          <a:prstGeom prst="rect">
            <a:avLst/>
          </a:prstGeom>
          <a:solidFill>
            <a:srgbClr val="052216">
              <a:alpha val="2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99930" y="3808268"/>
            <a:ext cx="2706873" cy="80905"/>
          </a:xfrm>
          <a:prstGeom prst="rect">
            <a:avLst/>
          </a:prstGeom>
          <a:solidFill>
            <a:srgbClr val="052216">
              <a:alpha val="2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899930" y="3887713"/>
            <a:ext cx="2706873" cy="80905"/>
          </a:xfrm>
          <a:prstGeom prst="rect">
            <a:avLst/>
          </a:prstGeom>
          <a:solidFill>
            <a:srgbClr val="052216">
              <a:alpha val="2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899930" y="3967158"/>
            <a:ext cx="2706873" cy="80905"/>
          </a:xfrm>
          <a:prstGeom prst="rect">
            <a:avLst/>
          </a:prstGeom>
          <a:solidFill>
            <a:srgbClr val="052216">
              <a:alpha val="31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899930" y="4046603"/>
            <a:ext cx="2706873" cy="80905"/>
          </a:xfrm>
          <a:prstGeom prst="rect">
            <a:avLst/>
          </a:prstGeom>
          <a:solidFill>
            <a:srgbClr val="052216">
              <a:alpha val="34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899930" y="4126047"/>
            <a:ext cx="2706873" cy="80905"/>
          </a:xfrm>
          <a:prstGeom prst="rect">
            <a:avLst/>
          </a:prstGeom>
          <a:solidFill>
            <a:srgbClr val="052216">
              <a:alpha val="36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899930" y="4205492"/>
            <a:ext cx="2706873" cy="80905"/>
          </a:xfrm>
          <a:prstGeom prst="rect">
            <a:avLst/>
          </a:prstGeom>
          <a:solidFill>
            <a:srgbClr val="052216">
              <a:alpha val="39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899930" y="4284937"/>
            <a:ext cx="2706873" cy="80905"/>
          </a:xfrm>
          <a:prstGeom prst="rect">
            <a:avLst/>
          </a:prstGeom>
          <a:solidFill>
            <a:srgbClr val="052216">
              <a:alpha val="42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899930" y="4364382"/>
            <a:ext cx="2706873" cy="80905"/>
          </a:xfrm>
          <a:prstGeom prst="rect">
            <a:avLst/>
          </a:prstGeom>
          <a:solidFill>
            <a:srgbClr val="052216">
              <a:alpha val="45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99930" y="4443827"/>
            <a:ext cx="2706873" cy="80905"/>
          </a:xfrm>
          <a:prstGeom prst="rect">
            <a:avLst/>
          </a:prstGeom>
          <a:solidFill>
            <a:srgbClr val="052216">
              <a:alpha val="47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899930" y="4523272"/>
            <a:ext cx="2706873" cy="80905"/>
          </a:xfrm>
          <a:prstGeom prst="rect">
            <a:avLst/>
          </a:prstGeom>
          <a:solidFill>
            <a:srgbClr val="052216">
              <a:alpha val="50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899930" y="4602717"/>
            <a:ext cx="2706873" cy="80905"/>
          </a:xfrm>
          <a:prstGeom prst="rect">
            <a:avLst/>
          </a:prstGeom>
          <a:solidFill>
            <a:srgbClr val="052216">
              <a:alpha val="5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899930" y="4682161"/>
            <a:ext cx="2706873" cy="80905"/>
          </a:xfrm>
          <a:prstGeom prst="rect">
            <a:avLst/>
          </a:prstGeom>
          <a:solidFill>
            <a:srgbClr val="052216">
              <a:alpha val="5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899930" y="4761606"/>
            <a:ext cx="2706873" cy="80905"/>
          </a:xfrm>
          <a:prstGeom prst="rect">
            <a:avLst/>
          </a:prstGeom>
          <a:solidFill>
            <a:srgbClr val="052216">
              <a:alpha val="5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899930" y="4841051"/>
            <a:ext cx="2706873" cy="80905"/>
          </a:xfrm>
          <a:prstGeom prst="rect">
            <a:avLst/>
          </a:prstGeom>
          <a:solidFill>
            <a:srgbClr val="052216">
              <a:alpha val="6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899930" y="4920496"/>
            <a:ext cx="2706873" cy="80905"/>
          </a:xfrm>
          <a:prstGeom prst="rect">
            <a:avLst/>
          </a:prstGeom>
          <a:solidFill>
            <a:srgbClr val="052216">
              <a:alpha val="6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899930" y="4999941"/>
            <a:ext cx="2706873" cy="80905"/>
          </a:xfrm>
          <a:prstGeom prst="rect">
            <a:avLst/>
          </a:prstGeom>
          <a:solidFill>
            <a:srgbClr val="052216">
              <a:alpha val="6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899930" y="5079386"/>
            <a:ext cx="2706873" cy="80905"/>
          </a:xfrm>
          <a:prstGeom prst="rect">
            <a:avLst/>
          </a:prstGeom>
          <a:solidFill>
            <a:srgbClr val="052216">
              <a:alpha val="6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99930" y="5158831"/>
            <a:ext cx="2706873" cy="80905"/>
          </a:xfrm>
          <a:prstGeom prst="rect">
            <a:avLst/>
          </a:prstGeom>
          <a:solidFill>
            <a:srgbClr val="052216">
              <a:alpha val="7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899930" y="5238276"/>
            <a:ext cx="2706873" cy="80905"/>
          </a:xfrm>
          <a:prstGeom prst="rect">
            <a:avLst/>
          </a:prstGeom>
          <a:solidFill>
            <a:srgbClr val="052216">
              <a:alpha val="7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899930" y="5317720"/>
            <a:ext cx="2706873" cy="80905"/>
          </a:xfrm>
          <a:prstGeom prst="rect">
            <a:avLst/>
          </a:prstGeom>
          <a:solidFill>
            <a:srgbClr val="052216">
              <a:alpha val="7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899930" y="5397165"/>
            <a:ext cx="2706873" cy="80905"/>
          </a:xfrm>
          <a:prstGeom prst="rect">
            <a:avLst/>
          </a:prstGeom>
          <a:solidFill>
            <a:srgbClr val="052216">
              <a:alpha val="8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899930" y="5476610"/>
            <a:ext cx="2706873" cy="80905"/>
          </a:xfrm>
          <a:prstGeom prst="rect">
            <a:avLst/>
          </a:prstGeom>
          <a:solidFill>
            <a:srgbClr val="052216">
              <a:alpha val="8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899930" y="5556055"/>
            <a:ext cx="2706873" cy="80905"/>
          </a:xfrm>
          <a:prstGeom prst="rect">
            <a:avLst/>
          </a:prstGeom>
          <a:solidFill>
            <a:srgbClr val="052216">
              <a:alpha val="8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899930" y="5635500"/>
            <a:ext cx="2706873" cy="80905"/>
          </a:xfrm>
          <a:prstGeom prst="rect">
            <a:avLst/>
          </a:prstGeom>
          <a:solidFill>
            <a:srgbClr val="052216">
              <a:alpha val="8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899930" y="5714945"/>
            <a:ext cx="2706873" cy="80905"/>
          </a:xfrm>
          <a:prstGeom prst="rect">
            <a:avLst/>
          </a:prstGeom>
          <a:solidFill>
            <a:srgbClr val="052216">
              <a:alpha val="9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899930" y="5794390"/>
            <a:ext cx="2706873" cy="80905"/>
          </a:xfrm>
          <a:prstGeom prst="rect">
            <a:avLst/>
          </a:prstGeom>
          <a:solidFill>
            <a:srgbClr val="052216">
              <a:alpha val="9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8899930" y="3331599"/>
            <a:ext cx="2706873" cy="0"/>
          </a:xfrm>
          <a:prstGeom prst="line">
            <a:avLst/>
          </a:prstGeom>
          <a:ln w="36517">
            <a:solidFill>
              <a:srgbClr val="B7DE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9009597" y="3453364"/>
            <a:ext cx="606193" cy="170494"/>
          </a:xfrm>
          <a:prstGeom prst="rect">
            <a:avLst/>
          </a:prstGeom>
          <a:solidFill>
            <a:srgbClr val="062418">
              <a:alpha val="8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009597" y="3483834"/>
            <a:ext cx="63819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D7F1B3"/>
                </a:solidFill>
                <a:latin typeface="Arial"/>
              </a:rPr>
              <a:t>&gt;5 TAHUN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009597" y="5309971"/>
            <a:ext cx="2519543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FFFF"/>
                </a:solidFill>
                <a:latin typeface="Arial"/>
              </a:rPr>
              <a:t>≥2 kota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009597" y="5668648"/>
            <a:ext cx="25195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EFF8E9"/>
                </a:solidFill>
                <a:latin typeface="Arial"/>
              </a:rPr>
              <a:t>target: sekitar 300 ton/tahun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585195" y="5944474"/>
            <a:ext cx="2150664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85195" y="5990807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M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2789" y="6005414"/>
            <a:ext cx="190250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Modern Precision Farming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2802846" y="5944474"/>
            <a:ext cx="2150777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2802846" y="5990807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040439" y="6005414"/>
            <a:ext cx="190262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Excellence in Premium Quality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020611" y="5944474"/>
            <a:ext cx="2150663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5020611" y="5990807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L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258204" y="6005414"/>
            <a:ext cx="190250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Long-Term Partnership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7238261" y="5944474"/>
            <a:ext cx="2150778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238261" y="5990807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475854" y="6005414"/>
            <a:ext cx="190262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Original Local Mastery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9456026" y="5944474"/>
            <a:ext cx="2150663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9456026" y="5990807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O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93619" y="6005414"/>
            <a:ext cx="190250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Operational Efficiency &amp; Scalability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85195" y="6244266"/>
            <a:ext cx="1105361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87B68"/>
                </a:solidFill>
                <a:latin typeface="Arial"/>
              </a:rPr>
              <a:t>Profil sumber: PT Melooloo Segar Indonesia · IoT, hidroponik presisi dan AI analitik sebagai rancangan teknologi · netting rapi, tekstur renyah.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SUMBER: PDF SIDANG AKHIR · HALAMAN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51672" y="325924"/>
            <a:ext cx="36054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477459"/>
                </a:solidFill>
                <a:latin typeface="Arial"/>
              </a:rPr>
              <a:t>01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1762" y="440386"/>
            <a:ext cx="2576944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492F"/>
                </a:solidFill>
                <a:latin typeface="Arial"/>
              </a:rPr>
              <a:t>Customer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1762" y="656071"/>
            <a:ext cx="257694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365843"/>
                </a:solidFill>
                <a:latin typeface="Arial"/>
              </a:rPr>
              <a:t>B2B supermarket premium · B2C konsumen urban.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1762" y="795525"/>
            <a:ext cx="25769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8568"/>
                </a:solidFill>
                <a:latin typeface="Arial"/>
              </a:rPr>
              <a:t>TEKAN → ATAU KLIK BLOK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19" y="243840"/>
            <a:ext cx="7103363" cy="5440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1" b="1" i="0">
                <a:solidFill>
                  <a:srgbClr val="193E27"/>
                </a:solidFill>
                <a:latin typeface="Arial"/>
              </a:rPr>
              <a:t>BUSINESS MODEL CANVAS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39" y="1219200"/>
            <a:ext cx="213359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559" y="1328928"/>
            <a:ext cx="192176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Key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51" y="17068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Supplier benih 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751" y="20116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Supplier kebutuhan perkebunan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751" y="23164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Mitra greenhouse &amp; IoT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751" y="26212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Retailer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751" y="29260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Institusi riset pertanian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4159" y="1219200"/>
            <a:ext cx="2072639" cy="1743456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79" y="1328928"/>
            <a:ext cx="186080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Key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8271" y="1658112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Automasi IoT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8271" y="1914144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QC &amp; packaging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8271" y="2170175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Distribusi &amp; logistik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8271" y="2426208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Branding &amp; pemasaran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38271" y="2682240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R&amp;D dan inovasi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04159" y="3084576"/>
            <a:ext cx="2072639" cy="1792223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194304"/>
            <a:ext cx="186080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Key 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8271" y="3572255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Greenhouse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8271" y="38770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Sensor IoT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8271" y="41818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Benih melon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8271" y="44866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Tim agronomis &amp; teknisi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98719" y="1219200"/>
            <a:ext cx="219455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39" y="1328928"/>
            <a:ext cx="198272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Value Propositions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2831" y="17068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Melon premium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2831" y="20116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Rasa manis konsisten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2831" y="23164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Visual buah yang estetis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2831" y="26212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Kemasan konsisten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2831" y="29260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Urban smart farming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2831" y="32308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Kemampuan supply konsisten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199" y="1219200"/>
            <a:ext cx="2072639" cy="1743456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37119" y="1328928"/>
            <a:ext cx="186080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Customer Relationships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9311" y="1706880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Account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9311" y="2011680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Storytelling brand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9311" y="2316480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Social media engagement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9311" y="2621280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Community building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199" y="3084576"/>
            <a:ext cx="2072639" cy="1792223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37119" y="3194304"/>
            <a:ext cx="186080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Channels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49311" y="3572255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Distribusi B2B supermarket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9311" y="38770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Event &amp; HoReCa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49311" y="41818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Marketplace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49311" y="44866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Online delivery &amp; e-commerce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59" y="1219200"/>
            <a:ext cx="213359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31679" y="1328928"/>
            <a:ext cx="192176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Customer Segments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3871" y="17068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B2B: supermarket premium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3871" y="20116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B2C: konsumen urban menengah atas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3871" y="23164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Health conscious customers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3871" y="26212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Gen Z &amp; Millennial lifestyle &amp; foodie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39" y="5010912"/>
            <a:ext cx="5486399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0559" y="5120640"/>
            <a:ext cx="527456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Cost Structure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2751" y="5498592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Konstruksi &amp; operasi greenhouse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2751" y="5754624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Benih &amp; nutrisi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2751" y="6010656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Tenaga kerja &amp; teknisi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25951" y="5498592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Pemasaran &amp; branding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5951" y="5754624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R&amp;D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5951" y="6010656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Utilitas dasar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56959" y="5010912"/>
            <a:ext cx="5486399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78879" y="5120640"/>
            <a:ext cx="527456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Revenue Streams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1071" y="5535168"/>
            <a:ext cx="2531363" cy="5196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3" b="0" i="0">
                <a:solidFill>
                  <a:srgbClr val="243827"/>
                </a:solidFill>
                <a:latin typeface="Arial"/>
              </a:rPr>
              <a:t>• Kontrak penjualan B2B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4271" y="5535168"/>
            <a:ext cx="2531363" cy="5196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3" b="0" i="0">
                <a:solidFill>
                  <a:srgbClr val="243827"/>
                </a:solidFill>
                <a:latin typeface="Arial"/>
              </a:rPr>
              <a:t>• Penjualan langsung B2C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PRESENTASI 08 / 66 · ASLI 20</a:t>
            </a:r>
          </a:p>
        </p:txBody>
      </p:sp>
      <p:pic>
        <p:nvPicPr>
          <p:cNvPr id="6" name="Picture 5" descr="pictur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OPERASI &amp; TEKNOLOGI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331544"/>
            <a:ext cx="7603261" cy="18207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Operasi: mutu yang berulang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3205040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Satu modul yang terukur, lalu direplikasi dari Jakarta ke tiga kota dalam skenario operasi terbaru.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02" y="5550192"/>
            <a:ext cx="231339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9502" y="5642743"/>
            <a:ext cx="23453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5742597"/>
            <a:ext cx="234539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420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02" y="6103899"/>
            <a:ext cx="234539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tanaman per GH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3285" y="5550192"/>
            <a:ext cx="2313510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3285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3285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3285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siklus mulai Y2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797182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797182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7182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35 → 237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7182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GH Y0–Y10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91079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391079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1079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50,3 → 816,6 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1079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panen Y0–Y10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36902" y="6544057"/>
            <a:ext cx="202632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SUMBER: PDF ASLI + CATATAN · HALAMAN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09 / 66 · ASLI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Lokasi dan rantai pasok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Dua lokasi awal, pemasok berlapis, dan target kirim B2B kurang dari 12 jam setelah panen.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814" y="1950184"/>
            <a:ext cx="5455399" cy="84732"/>
          </a:xfrm>
          <a:prstGeom prst="rect">
            <a:avLst/>
          </a:prstGeom>
          <a:solidFill>
            <a:srgbClr val="10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4" y="2033456"/>
            <a:ext cx="5455399" cy="84732"/>
          </a:xfrm>
          <a:prstGeom prst="rect">
            <a:avLst/>
          </a:prstGeom>
          <a:solidFill>
            <a:srgbClr val="10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1814" y="2116727"/>
            <a:ext cx="5455399" cy="84732"/>
          </a:xfrm>
          <a:prstGeom prst="rect">
            <a:avLst/>
          </a:prstGeom>
          <a:solidFill>
            <a:srgbClr val="10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4" y="2199999"/>
            <a:ext cx="5455399" cy="84732"/>
          </a:xfrm>
          <a:prstGeom prst="rect">
            <a:avLst/>
          </a:prstGeom>
          <a:solidFill>
            <a:srgbClr val="0F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1814" y="2283270"/>
            <a:ext cx="5455399" cy="84732"/>
          </a:xfrm>
          <a:prstGeom prst="rect">
            <a:avLst/>
          </a:prstGeom>
          <a:solidFill>
            <a:srgbClr val="0F3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814" y="2366542"/>
            <a:ext cx="5455399" cy="84732"/>
          </a:xfrm>
          <a:prstGeom prst="rect">
            <a:avLst/>
          </a:prstGeom>
          <a:solidFill>
            <a:srgbClr val="0F3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1814" y="2449813"/>
            <a:ext cx="5455399" cy="84732"/>
          </a:xfrm>
          <a:prstGeom prst="rect">
            <a:avLst/>
          </a:prstGeom>
          <a:solidFill>
            <a:srgbClr val="0F3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4" y="2533084"/>
            <a:ext cx="5455399" cy="84732"/>
          </a:xfrm>
          <a:prstGeom prst="rect">
            <a:avLst/>
          </a:prstGeom>
          <a:solidFill>
            <a:srgbClr val="0F3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4" y="2616356"/>
            <a:ext cx="5455399" cy="84732"/>
          </a:xfrm>
          <a:prstGeom prst="rect">
            <a:avLst/>
          </a:prstGeom>
          <a:solidFill>
            <a:srgbClr val="0E3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4" y="2699627"/>
            <a:ext cx="5455399" cy="84732"/>
          </a:xfrm>
          <a:prstGeom prst="rect">
            <a:avLst/>
          </a:prstGeom>
          <a:solidFill>
            <a:srgbClr val="0E3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4" y="2782899"/>
            <a:ext cx="5455399" cy="84732"/>
          </a:xfrm>
          <a:prstGeom prst="rect">
            <a:avLst/>
          </a:prstGeom>
          <a:solidFill>
            <a:srgbClr val="0E3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814" y="2866170"/>
            <a:ext cx="5455399" cy="84732"/>
          </a:xfrm>
          <a:prstGeom prst="rect">
            <a:avLst/>
          </a:prstGeom>
          <a:solidFill>
            <a:srgbClr val="0E3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1814" y="2949442"/>
            <a:ext cx="5455399" cy="84732"/>
          </a:xfrm>
          <a:prstGeom prst="rect">
            <a:avLst/>
          </a:prstGeom>
          <a:solidFill>
            <a:srgbClr val="0E3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1814" y="3032713"/>
            <a:ext cx="5455399" cy="84732"/>
          </a:xfrm>
          <a:prstGeom prst="rect">
            <a:avLst/>
          </a:prstGeom>
          <a:solidFill>
            <a:srgbClr val="0D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4" y="3115984"/>
            <a:ext cx="5455399" cy="84732"/>
          </a:xfrm>
          <a:prstGeom prst="rect">
            <a:avLst/>
          </a:prstGeom>
          <a:solidFill>
            <a:srgbClr val="0D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4" y="3199256"/>
            <a:ext cx="5455399" cy="84732"/>
          </a:xfrm>
          <a:prstGeom prst="rect">
            <a:avLst/>
          </a:prstGeom>
          <a:solidFill>
            <a:srgbClr val="0D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814" y="3282527"/>
            <a:ext cx="5455399" cy="84732"/>
          </a:xfrm>
          <a:prstGeom prst="rect">
            <a:avLst/>
          </a:prstGeom>
          <a:solidFill>
            <a:srgbClr val="0D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1814" y="3365799"/>
            <a:ext cx="5455399" cy="84732"/>
          </a:xfrm>
          <a:prstGeom prst="rect">
            <a:avLst/>
          </a:prstGeom>
          <a:solidFill>
            <a:srgbClr val="0D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1814" y="3449070"/>
            <a:ext cx="5455399" cy="84732"/>
          </a:xfrm>
          <a:prstGeom prst="rect">
            <a:avLst/>
          </a:prstGeom>
          <a:solidFill>
            <a:srgbClr val="0D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1814" y="3532342"/>
            <a:ext cx="5455399" cy="84732"/>
          </a:xfrm>
          <a:prstGeom prst="rect">
            <a:avLst/>
          </a:prstGeom>
          <a:solidFill>
            <a:srgbClr val="0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4" y="3615613"/>
            <a:ext cx="5455399" cy="84732"/>
          </a:xfrm>
          <a:prstGeom prst="rect">
            <a:avLst/>
          </a:prstGeom>
          <a:solidFill>
            <a:srgbClr val="0C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1814" y="3698885"/>
            <a:ext cx="5455399" cy="84732"/>
          </a:xfrm>
          <a:prstGeom prst="rect">
            <a:avLst/>
          </a:prstGeom>
          <a:solidFill>
            <a:srgbClr val="0C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4" y="3782156"/>
            <a:ext cx="5455399" cy="84732"/>
          </a:xfrm>
          <a:prstGeom prst="rect">
            <a:avLst/>
          </a:prstGeom>
          <a:solidFill>
            <a:srgbClr val="0C2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1814" y="3865427"/>
            <a:ext cx="5455399" cy="84732"/>
          </a:xfrm>
          <a:prstGeom prst="rect">
            <a:avLst/>
          </a:prstGeom>
          <a:solidFill>
            <a:srgbClr val="0C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1814" y="3948699"/>
            <a:ext cx="5455399" cy="84732"/>
          </a:xfrm>
          <a:prstGeom prst="rect">
            <a:avLst/>
          </a:prstGeom>
          <a:solidFill>
            <a:srgbClr val="0B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1814" y="4031970"/>
            <a:ext cx="5455399" cy="84732"/>
          </a:xfrm>
          <a:prstGeom prst="rect">
            <a:avLst/>
          </a:prstGeom>
          <a:solidFill>
            <a:srgbClr val="0B2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1814" y="4115242"/>
            <a:ext cx="5455399" cy="84732"/>
          </a:xfrm>
          <a:prstGeom prst="rect">
            <a:avLst/>
          </a:prstGeom>
          <a:solidFill>
            <a:srgbClr val="0B2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1814" y="4198513"/>
            <a:ext cx="5455399" cy="84732"/>
          </a:xfrm>
          <a:prstGeom prst="rect">
            <a:avLst/>
          </a:prstGeom>
          <a:solidFill>
            <a:srgbClr val="0B2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814" y="4281785"/>
            <a:ext cx="5455399" cy="84732"/>
          </a:xfrm>
          <a:prstGeom prst="rect">
            <a:avLst/>
          </a:prstGeom>
          <a:solidFill>
            <a:srgbClr val="0B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1814" y="4365056"/>
            <a:ext cx="5455399" cy="84732"/>
          </a:xfrm>
          <a:prstGeom prst="rect">
            <a:avLst/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1814" y="4448327"/>
            <a:ext cx="5455399" cy="84732"/>
          </a:xfrm>
          <a:prstGeom prst="rect">
            <a:avLst/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1814" y="4531599"/>
            <a:ext cx="5455399" cy="84732"/>
          </a:xfrm>
          <a:prstGeom prst="rect">
            <a:avLst/>
          </a:prstGeom>
          <a:solidFill>
            <a:srgbClr val="0A2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420" y="2084275"/>
            <a:ext cx="514619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D4EDAA"/>
                </a:solidFill>
                <a:latin typeface="Arial"/>
              </a:rPr>
              <a:t>LOKASI A · USULAN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4972" y="2506782"/>
            <a:ext cx="4389083" cy="1743211"/>
          </a:xfrm>
          <a:prstGeom prst="rect">
            <a:avLst/>
          </a:prstGeom>
          <a:solidFill>
            <a:srgbClr val="DEF7D7">
              <a:alpha val="55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124972" y="2506782"/>
            <a:ext cx="4389084" cy="0"/>
          </a:xfrm>
          <a:prstGeom prst="line">
            <a:avLst/>
          </a:prstGeom>
          <a:ln w="7303">
            <a:solidFill>
              <a:srgbClr val="DAF1C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14056" y="2506782"/>
            <a:ext cx="0" cy="1743211"/>
          </a:xfrm>
          <a:prstGeom prst="line">
            <a:avLst/>
          </a:prstGeom>
          <a:ln w="7303">
            <a:solidFill>
              <a:srgbClr val="DAF1C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124972" y="4249993"/>
            <a:ext cx="4389084" cy="0"/>
          </a:xfrm>
          <a:prstGeom prst="line">
            <a:avLst/>
          </a:prstGeom>
          <a:ln w="7303">
            <a:solidFill>
              <a:srgbClr val="DAF1C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24972" y="2506782"/>
            <a:ext cx="0" cy="1743211"/>
          </a:xfrm>
          <a:prstGeom prst="line">
            <a:avLst/>
          </a:prstGeom>
          <a:ln w="7303">
            <a:solidFill>
              <a:srgbClr val="DAF1C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388242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427513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66784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06054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45325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84596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23867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63138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02408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741679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780950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820221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859491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98762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938033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977304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016575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055845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095116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134387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73658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12928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252199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91470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30741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370012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09282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48553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487824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527095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566365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05636" y="3039203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1388242" y="3039203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644907" y="3039203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388242" y="3474298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388242" y="3039203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691125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30395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69666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08937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48208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887479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926749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966020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005291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044562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083832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123103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162374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201645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240916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280186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19457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358728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397999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437269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476540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515811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555082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594352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633623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672894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712165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751436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790706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829977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869248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908519" y="285609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2691125" y="2856092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947789" y="2856092"/>
            <a:ext cx="0" cy="435096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2691125" y="3291188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2691125" y="2856092"/>
            <a:ext cx="0" cy="435096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3994007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033278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72549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111819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51090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90361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29632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68903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08173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47444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86715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25986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465256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504527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3798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583069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22340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661610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700881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740152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779423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818693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857964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897235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936506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975777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015047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054318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093589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132860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172130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211401" y="267298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3994007" y="2672982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250672" y="2672982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3994007" y="3108077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3994007" y="2672982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1388242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427513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466784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506054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545325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584596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623867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663138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702408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741679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780950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820221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859491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898762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938033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977304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016575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055845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095116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134387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173658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212928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2252199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2291470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330741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370012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2409282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448553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487824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2527095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2566365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605636" y="3343902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1388242" y="3343902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2644907" y="3343902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>
            <a:off x="1388242" y="3778997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388242" y="3343902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le 193"/>
          <p:cNvSpPr/>
          <p:nvPr/>
        </p:nvSpPr>
        <p:spPr>
          <a:xfrm>
            <a:off x="2691125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2730395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769666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2808937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2848208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887479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926749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966020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3005291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044562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3083832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3123103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162374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201645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3240916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280186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319457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358728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397999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437269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3476540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3515811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555082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594352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3633623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3672894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3712165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751436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790706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829977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3869248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908519" y="3160791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>
            <a:off x="2691125" y="3160791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3947789" y="3160791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H="1">
            <a:off x="2691125" y="3595886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2691125" y="3160791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/>
          <p:cNvSpPr/>
          <p:nvPr/>
        </p:nvSpPr>
        <p:spPr>
          <a:xfrm>
            <a:off x="3994007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033278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072549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111819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151090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190361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229632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268903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308173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347444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386715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4425986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4465256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4504527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543798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583069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4622340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661610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700881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740152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779423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18693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57964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97235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936506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4975777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5015047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5054318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5093589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5132860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5172130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5211401" y="297768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2" name="Connector 261"/>
          <p:cNvCxnSpPr/>
          <p:nvPr/>
        </p:nvCxnSpPr>
        <p:spPr>
          <a:xfrm>
            <a:off x="3994007" y="2977680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5250672" y="2977680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>
            <a:off x="3994007" y="3412775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3994007" y="2977680"/>
            <a:ext cx="0" cy="435095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Rectangle 265"/>
          <p:cNvSpPr/>
          <p:nvPr/>
        </p:nvSpPr>
        <p:spPr>
          <a:xfrm>
            <a:off x="1388242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427513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466784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506054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545325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584596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623867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663138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702408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741679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780950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820221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859491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898762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938033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977304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2016575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2055845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2095116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2134387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2173658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212928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2252199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291470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2330741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2370012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2409282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448553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2487824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527095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566365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605636" y="3648600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Connector 297"/>
          <p:cNvCxnSpPr/>
          <p:nvPr/>
        </p:nvCxnSpPr>
        <p:spPr>
          <a:xfrm>
            <a:off x="1388242" y="3648600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2644907" y="3648600"/>
            <a:ext cx="0" cy="435096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>
            <a:off x="1388242" y="4083696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1388242" y="3648600"/>
            <a:ext cx="0" cy="435096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ctangle 301"/>
          <p:cNvSpPr/>
          <p:nvPr/>
        </p:nvSpPr>
        <p:spPr>
          <a:xfrm>
            <a:off x="2691125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2730395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2769666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2808937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2848208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2887479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2926749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2966020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005291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3044562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3083832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123103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3162374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3201645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3240916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3280186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3319457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3358728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3397999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3437269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3476540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515811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3555082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3594352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633623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3672894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3712165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751436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790706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829977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869248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908519" y="3465489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2691125" y="3465489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3947789" y="3465489"/>
            <a:ext cx="0" cy="435096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H="1">
            <a:off x="2691125" y="3900585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2691125" y="3465489"/>
            <a:ext cx="0" cy="435096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Rectangle 337"/>
          <p:cNvSpPr/>
          <p:nvPr/>
        </p:nvSpPr>
        <p:spPr>
          <a:xfrm>
            <a:off x="3994007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4033278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4072549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4111819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4151090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4190361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229632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4268903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4308173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347444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4386715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4425986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4465256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4504527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4543798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583069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4622340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4661610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4700881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4740152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779423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818693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4857964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4897235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4936506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4975777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015047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5054318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5093589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132860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5172130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5211401" y="3282378"/>
            <a:ext cx="40731" cy="435095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0" name="Connector 369"/>
          <p:cNvCxnSpPr/>
          <p:nvPr/>
        </p:nvCxnSpPr>
        <p:spPr>
          <a:xfrm>
            <a:off x="3994007" y="3282378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5250672" y="3282378"/>
            <a:ext cx="0" cy="435096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H="1">
            <a:off x="3994007" y="3717474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3994007" y="3282378"/>
            <a:ext cx="0" cy="435096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TextBox 373"/>
          <p:cNvSpPr txBox="1"/>
          <p:nvPr/>
        </p:nvSpPr>
        <p:spPr>
          <a:xfrm>
            <a:off x="762420" y="3996344"/>
            <a:ext cx="5146191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F6FAED"/>
                </a:solidFill>
                <a:latin typeface="Arial"/>
              </a:rPr>
              <a:t>Rooftop Jakarta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762420" y="4349315"/>
            <a:ext cx="3309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F6FAED"/>
                </a:solidFill>
                <a:latin typeface="Arial"/>
              </a:rPr>
              <a:t>modul greenhouse · bagian dari 35 unit awal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6144671" y="1950184"/>
            <a:ext cx="5455513" cy="84732"/>
          </a:xfrm>
          <a:prstGeom prst="rect">
            <a:avLst/>
          </a:prstGeom>
          <a:solidFill>
            <a:srgbClr val="1B5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6144671" y="2033456"/>
            <a:ext cx="5455513" cy="84732"/>
          </a:xfrm>
          <a:prstGeom prst="rect">
            <a:avLst/>
          </a:prstGeom>
          <a:solidFill>
            <a:srgbClr val="1A5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6144671" y="2116727"/>
            <a:ext cx="5455513" cy="84732"/>
          </a:xfrm>
          <a:prstGeom prst="rect">
            <a:avLst/>
          </a:prstGeom>
          <a:solidFill>
            <a:srgbClr val="1A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6144671" y="2199999"/>
            <a:ext cx="5455513" cy="84732"/>
          </a:xfrm>
          <a:prstGeom prst="rect">
            <a:avLst/>
          </a:prstGeom>
          <a:solidFill>
            <a:srgbClr val="1A5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6144671" y="2283270"/>
            <a:ext cx="5455513" cy="84732"/>
          </a:xfrm>
          <a:prstGeom prst="rect">
            <a:avLst/>
          </a:prstGeom>
          <a:solidFill>
            <a:srgbClr val="195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6144671" y="2366542"/>
            <a:ext cx="5455513" cy="84732"/>
          </a:xfrm>
          <a:prstGeom prst="rect">
            <a:avLst/>
          </a:prstGeom>
          <a:solidFill>
            <a:srgbClr val="19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6144671" y="2449813"/>
            <a:ext cx="5455513" cy="84732"/>
          </a:xfrm>
          <a:prstGeom prst="rect">
            <a:avLst/>
          </a:prstGeom>
          <a:solidFill>
            <a:srgbClr val="194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6144671" y="2533084"/>
            <a:ext cx="5455513" cy="84732"/>
          </a:xfrm>
          <a:prstGeom prst="rect">
            <a:avLst/>
          </a:prstGeom>
          <a:solidFill>
            <a:srgbClr val="18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6144671" y="2616356"/>
            <a:ext cx="5455513" cy="84732"/>
          </a:xfrm>
          <a:prstGeom prst="rect">
            <a:avLst/>
          </a:prstGeom>
          <a:solidFill>
            <a:srgbClr val="18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6144671" y="2699627"/>
            <a:ext cx="5455513" cy="84732"/>
          </a:xfrm>
          <a:prstGeom prst="rect">
            <a:avLst/>
          </a:prstGeom>
          <a:solidFill>
            <a:srgbClr val="184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6144671" y="2782899"/>
            <a:ext cx="5455513" cy="84732"/>
          </a:xfrm>
          <a:prstGeom prst="rect">
            <a:avLst/>
          </a:prstGeom>
          <a:solidFill>
            <a:srgbClr val="174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6144671" y="2866170"/>
            <a:ext cx="5455513" cy="84732"/>
          </a:xfrm>
          <a:prstGeom prst="rect">
            <a:avLst/>
          </a:prstGeom>
          <a:solidFill>
            <a:srgbClr val="17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6144671" y="2949442"/>
            <a:ext cx="5455513" cy="84732"/>
          </a:xfrm>
          <a:prstGeom prst="rect">
            <a:avLst/>
          </a:prstGeom>
          <a:solidFill>
            <a:srgbClr val="17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6144671" y="3032713"/>
            <a:ext cx="5455513" cy="84732"/>
          </a:xfrm>
          <a:prstGeom prst="rect">
            <a:avLst/>
          </a:prstGeom>
          <a:solidFill>
            <a:srgbClr val="164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6144671" y="3115984"/>
            <a:ext cx="5455513" cy="84732"/>
          </a:xfrm>
          <a:prstGeom prst="rect">
            <a:avLst/>
          </a:prstGeom>
          <a:solidFill>
            <a:srgbClr val="16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6144671" y="3199256"/>
            <a:ext cx="5455513" cy="84732"/>
          </a:xfrm>
          <a:prstGeom prst="rect">
            <a:avLst/>
          </a:prstGeom>
          <a:solidFill>
            <a:srgbClr val="164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6144671" y="3282527"/>
            <a:ext cx="5455513" cy="84732"/>
          </a:xfrm>
          <a:prstGeom prst="rect">
            <a:avLst/>
          </a:prstGeom>
          <a:solidFill>
            <a:srgbClr val="15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6144671" y="3365799"/>
            <a:ext cx="5455513" cy="84732"/>
          </a:xfrm>
          <a:prstGeom prst="rect">
            <a:avLst/>
          </a:prstGeom>
          <a:solidFill>
            <a:srgbClr val="154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144671" y="3449070"/>
            <a:ext cx="5455513" cy="84732"/>
          </a:xfrm>
          <a:prstGeom prst="rect">
            <a:avLst/>
          </a:prstGeom>
          <a:solidFill>
            <a:srgbClr val="15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6144671" y="3532342"/>
            <a:ext cx="5455513" cy="84732"/>
          </a:xfrm>
          <a:prstGeom prst="rect">
            <a:avLst/>
          </a:prstGeom>
          <a:solidFill>
            <a:srgbClr val="14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6144671" y="3615613"/>
            <a:ext cx="5455513" cy="84732"/>
          </a:xfrm>
          <a:prstGeom prst="rect">
            <a:avLst/>
          </a:prstGeom>
          <a:solidFill>
            <a:srgbClr val="144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6144671" y="3698885"/>
            <a:ext cx="5455513" cy="84732"/>
          </a:xfrm>
          <a:prstGeom prst="rect">
            <a:avLst/>
          </a:prstGeom>
          <a:solidFill>
            <a:srgbClr val="14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6144671" y="3782156"/>
            <a:ext cx="5455513" cy="84732"/>
          </a:xfrm>
          <a:prstGeom prst="rect">
            <a:avLst/>
          </a:prstGeom>
          <a:solidFill>
            <a:srgbClr val="13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6144671" y="3865427"/>
            <a:ext cx="5455513" cy="84732"/>
          </a:xfrm>
          <a:prstGeom prst="rect">
            <a:avLst/>
          </a:prstGeom>
          <a:solidFill>
            <a:srgbClr val="133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6144671" y="3948699"/>
            <a:ext cx="5455513" cy="84732"/>
          </a:xfrm>
          <a:prstGeom prst="rect">
            <a:avLst/>
          </a:prstGeom>
          <a:solidFill>
            <a:srgbClr val="13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6144671" y="4031970"/>
            <a:ext cx="5455513" cy="84732"/>
          </a:xfrm>
          <a:prstGeom prst="rect">
            <a:avLst/>
          </a:prstGeom>
          <a:solidFill>
            <a:srgbClr val="12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6144671" y="4115242"/>
            <a:ext cx="5455513" cy="84732"/>
          </a:xfrm>
          <a:prstGeom prst="rect">
            <a:avLst/>
          </a:prstGeom>
          <a:solidFill>
            <a:srgbClr val="123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6144671" y="4198513"/>
            <a:ext cx="5455513" cy="84732"/>
          </a:xfrm>
          <a:prstGeom prst="rect">
            <a:avLst/>
          </a:prstGeom>
          <a:solidFill>
            <a:srgbClr val="12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6144671" y="4281785"/>
            <a:ext cx="5455513" cy="84732"/>
          </a:xfrm>
          <a:prstGeom prst="rect">
            <a:avLst/>
          </a:prstGeom>
          <a:solidFill>
            <a:srgbClr val="11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6144671" y="4365056"/>
            <a:ext cx="5455513" cy="84732"/>
          </a:xfrm>
          <a:prstGeom prst="rect">
            <a:avLst/>
          </a:prstGeom>
          <a:solidFill>
            <a:srgbClr val="11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6144671" y="4448327"/>
            <a:ext cx="5455513" cy="84732"/>
          </a:xfrm>
          <a:prstGeom prst="rect">
            <a:avLst/>
          </a:prstGeom>
          <a:solidFill>
            <a:srgbClr val="11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6144671" y="4531599"/>
            <a:ext cx="5455513" cy="84732"/>
          </a:xfrm>
          <a:prstGeom prst="rect">
            <a:avLst/>
          </a:prstGeom>
          <a:solidFill>
            <a:srgbClr val="103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6315277" y="2084275"/>
            <a:ext cx="514630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D4EDAA"/>
                </a:solidFill>
                <a:latin typeface="Arial"/>
              </a:rPr>
              <a:t>LOKASI B · USULAN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6677829" y="2545749"/>
            <a:ext cx="4389083" cy="1665276"/>
          </a:xfrm>
          <a:prstGeom prst="rect">
            <a:avLst/>
          </a:prstGeom>
          <a:solidFill>
            <a:srgbClr val="DEF7D7">
              <a:alpha val="55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0" name="Connector 409"/>
          <p:cNvCxnSpPr/>
          <p:nvPr/>
        </p:nvCxnSpPr>
        <p:spPr>
          <a:xfrm>
            <a:off x="6677829" y="2545749"/>
            <a:ext cx="4389083" cy="0"/>
          </a:xfrm>
          <a:prstGeom prst="line">
            <a:avLst/>
          </a:prstGeom>
          <a:ln w="7303">
            <a:solidFill>
              <a:srgbClr val="DAF1C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11066912" y="2545749"/>
            <a:ext cx="0" cy="1665277"/>
          </a:xfrm>
          <a:prstGeom prst="line">
            <a:avLst/>
          </a:prstGeom>
          <a:ln w="7303">
            <a:solidFill>
              <a:srgbClr val="DAF1C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H="1">
            <a:off x="6677829" y="4211026"/>
            <a:ext cx="4389083" cy="0"/>
          </a:xfrm>
          <a:prstGeom prst="line">
            <a:avLst/>
          </a:prstGeom>
          <a:ln w="7303">
            <a:solidFill>
              <a:srgbClr val="DAF1C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6677829" y="2545749"/>
            <a:ext cx="0" cy="1665277"/>
          </a:xfrm>
          <a:prstGeom prst="line">
            <a:avLst/>
          </a:prstGeom>
          <a:ln w="7303">
            <a:solidFill>
              <a:srgbClr val="DAF1C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Rectangle 413"/>
          <p:cNvSpPr/>
          <p:nvPr/>
        </p:nvSpPr>
        <p:spPr>
          <a:xfrm>
            <a:off x="6941098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6980369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7019640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7058911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7098182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7137452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7176723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7215994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7255265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7294535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7333806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7373077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7412348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7451619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7490889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7530160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7569431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7608702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7647972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7687243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7726514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7765785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7805056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7844326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7883597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7922868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7962139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8001409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8040680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8079951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8119222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8158493" y="2707258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6" name="Connector 445"/>
          <p:cNvCxnSpPr/>
          <p:nvPr/>
        </p:nvCxnSpPr>
        <p:spPr>
          <a:xfrm>
            <a:off x="6941098" y="2707258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8197763" y="2707258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>
            <a:off x="6941098" y="3120040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6941098" y="2707258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Rectangle 449"/>
          <p:cNvSpPr/>
          <p:nvPr/>
        </p:nvSpPr>
        <p:spPr>
          <a:xfrm>
            <a:off x="8243981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8283252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8322523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8361793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8401064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8440335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8479606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8518876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8558147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8597418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8636689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8675960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8715230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8754501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8793772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8833043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8872313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8911584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8950855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8990126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9029397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9068667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9107938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9147209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9186480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9225750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9265021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9304292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9343563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9382833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9422104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9461375" y="2867234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>
            <a:off x="8243981" y="2867234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9500646" y="2867234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H="1">
            <a:off x="8243981" y="3280016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8243981" y="2867234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Rectangle 485"/>
          <p:cNvSpPr/>
          <p:nvPr/>
        </p:nvSpPr>
        <p:spPr>
          <a:xfrm>
            <a:off x="9546864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9586134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9625405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9664676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9703947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9743217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9782488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9821759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9861030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9900300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9939571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9978842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10018113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10057384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10096654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10135925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10175196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0214467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10253737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10293008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10332279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10371550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10410821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10450091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10489362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10528633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10567904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10607174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10646445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10685716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10724987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10764258" y="3027210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>
            <a:off x="9546864" y="3027210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10803528" y="3027210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H="1">
            <a:off x="9546864" y="3439992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9546864" y="3027210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Rectangle 521"/>
          <p:cNvSpPr/>
          <p:nvPr/>
        </p:nvSpPr>
        <p:spPr>
          <a:xfrm>
            <a:off x="6941098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6980369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7019640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7058911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7098182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7137452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7176723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7215994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7255265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7294535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7333806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7373077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7412348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7451619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7490889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7530160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7569431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7608702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7647972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7687243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7726514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7765785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7805056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7844326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7883597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7922868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7962139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8001409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8040680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8079951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8119222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8158493" y="301195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4" name="Connector 553"/>
          <p:cNvCxnSpPr/>
          <p:nvPr/>
        </p:nvCxnSpPr>
        <p:spPr>
          <a:xfrm>
            <a:off x="6941098" y="3011957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8197763" y="3011957"/>
            <a:ext cx="0" cy="412781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H="1">
            <a:off x="6941098" y="3424738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V="1">
            <a:off x="6941098" y="3011957"/>
            <a:ext cx="0" cy="412781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Rectangle 557"/>
          <p:cNvSpPr/>
          <p:nvPr/>
        </p:nvSpPr>
        <p:spPr>
          <a:xfrm>
            <a:off x="8243981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8283252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8322523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8361793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8401064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8440335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479606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8518876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8558147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8597418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8636689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8675960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8715230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8754501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8793772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8833043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8872313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8911584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8950855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8990126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9029397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9068667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9107938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9147209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9186480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9225750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9265021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9304292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9343563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9382833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9422104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9461375" y="3171933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0" name="Connector 589"/>
          <p:cNvCxnSpPr/>
          <p:nvPr/>
        </p:nvCxnSpPr>
        <p:spPr>
          <a:xfrm>
            <a:off x="8243981" y="3171933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9500646" y="3171933"/>
            <a:ext cx="0" cy="412781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H="1">
            <a:off x="8243981" y="3584714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8243981" y="3171933"/>
            <a:ext cx="0" cy="412781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Rectangle 593"/>
          <p:cNvSpPr/>
          <p:nvPr/>
        </p:nvSpPr>
        <p:spPr>
          <a:xfrm>
            <a:off x="9546864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9586134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9625405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9664676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9703947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9743217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9782488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9821759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9861030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9900300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9939571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9978842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10018113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10057384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10096654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10135925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10175196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10214467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10253737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10293008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10332279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10371550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10410821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10450091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10489362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10528633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10567904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10607174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10646445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10685716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10724987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10764258" y="3331909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6" name="Connector 625"/>
          <p:cNvCxnSpPr/>
          <p:nvPr/>
        </p:nvCxnSpPr>
        <p:spPr>
          <a:xfrm>
            <a:off x="9546864" y="3331909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10803528" y="3331909"/>
            <a:ext cx="0" cy="412781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>
            <a:off x="9546864" y="3744690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9546864" y="3331909"/>
            <a:ext cx="0" cy="412781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0" name="Rectangle 629"/>
          <p:cNvSpPr/>
          <p:nvPr/>
        </p:nvSpPr>
        <p:spPr>
          <a:xfrm>
            <a:off x="6941098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6980369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7019640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7058911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7098182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7137452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7176723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7215994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7255265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7294535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7333806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7373077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7412348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7451619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7490889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7530160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7569431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7608702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7647972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7687243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7726514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7765785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7805056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7844326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7883597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7922868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7962139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8001409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8040680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8079951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8119222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8158493" y="3316655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>
            <a:off x="6941098" y="3316655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8197763" y="3316655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H="1">
            <a:off x="6941098" y="3729437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6941098" y="3316655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6" name="Rectangle 665"/>
          <p:cNvSpPr/>
          <p:nvPr/>
        </p:nvSpPr>
        <p:spPr>
          <a:xfrm>
            <a:off x="8243981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8283252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8322523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8361793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8401064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8440335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8479606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8518876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8558147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8597418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8636689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8675960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8715230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8754501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8793772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8833043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8872313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8911584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8950855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8990126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9029397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9068667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9107938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9147209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9186480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9225750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9265021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9304292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9343563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9382833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9422104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9461375" y="3476631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8" name="Connector 697"/>
          <p:cNvCxnSpPr/>
          <p:nvPr/>
        </p:nvCxnSpPr>
        <p:spPr>
          <a:xfrm>
            <a:off x="8243981" y="3476631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9500646" y="3476631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H="1">
            <a:off x="8243981" y="3889413"/>
            <a:ext cx="1256665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V="1">
            <a:off x="8243981" y="3476631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Rectangle 701"/>
          <p:cNvSpPr/>
          <p:nvPr/>
        </p:nvSpPr>
        <p:spPr>
          <a:xfrm>
            <a:off x="9546864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9586134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9625405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9664676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9703947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9743217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9782488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9821759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9861030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9900300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9939571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9978842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10018113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10057384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10096654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10135925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10175196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10214467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10253737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10293008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10332279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10371550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10410821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10450091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10489362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10528633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10567904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10607174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10646445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10685716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10724987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10764258" y="3636607"/>
            <a:ext cx="40731" cy="412781"/>
          </a:xfrm>
          <a:prstGeom prst="rect">
            <a:avLst/>
          </a:prstGeom>
          <a:solidFill>
            <a:srgbClr val="B8D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9546864" y="3636607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10803528" y="3636607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>
            <a:off x="9546864" y="4049389"/>
            <a:ext cx="1256664" cy="0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V="1">
            <a:off x="9546864" y="3636607"/>
            <a:ext cx="0" cy="412782"/>
          </a:xfrm>
          <a:prstGeom prst="line">
            <a:avLst/>
          </a:prstGeom>
          <a:ln w="7303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TextBox 737"/>
          <p:cNvSpPr txBox="1"/>
          <p:nvPr/>
        </p:nvSpPr>
        <p:spPr>
          <a:xfrm>
            <a:off x="6315277" y="3996344"/>
            <a:ext cx="5146305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F6FAED"/>
                </a:solidFill>
                <a:latin typeface="Arial"/>
              </a:rPr>
              <a:t>Rooftop Jakarta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6315277" y="4349315"/>
            <a:ext cx="3309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F6FAED"/>
                </a:solidFill>
                <a:latin typeface="Arial"/>
              </a:rPr>
              <a:t>lokasi kedua menjaga kontinuitas panen</a:t>
            </a:r>
          </a:p>
        </p:txBody>
      </p:sp>
      <p:sp>
        <p:nvSpPr>
          <p:cNvPr id="740" name="Rectangle 739"/>
          <p:cNvSpPr/>
          <p:nvPr/>
        </p:nvSpPr>
        <p:spPr>
          <a:xfrm>
            <a:off x="591814" y="4712328"/>
            <a:ext cx="11008370" cy="414024"/>
          </a:xfrm>
          <a:prstGeom prst="rect">
            <a:avLst/>
          </a:prstGeom>
          <a:solidFill>
            <a:srgbClr val="CD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TextBox 740"/>
          <p:cNvSpPr txBox="1"/>
          <p:nvPr/>
        </p:nvSpPr>
        <p:spPr>
          <a:xfrm>
            <a:off x="591814" y="4846304"/>
            <a:ext cx="1104037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E2D"/>
                </a:solidFill>
                <a:latin typeface="Arial"/>
              </a:rPr>
              <a:t>PANEN PAGI</a:t>
            </a:r>
          </a:p>
        </p:txBody>
      </p:sp>
      <p:sp>
        <p:nvSpPr>
          <p:cNvPr id="742" name="TextBox 741"/>
          <p:cNvSpPr txBox="1"/>
          <p:nvPr/>
        </p:nvSpPr>
        <p:spPr>
          <a:xfrm>
            <a:off x="4722079" y="4809786"/>
            <a:ext cx="219727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4B8750"/>
                </a:solidFill>
                <a:latin typeface="Arial"/>
              </a:rPr>
              <a:t>→</a:t>
            </a:r>
          </a:p>
        </p:txBody>
      </p:sp>
      <p:sp>
        <p:nvSpPr>
          <p:cNvPr id="743" name="TextBox 742"/>
          <p:cNvSpPr txBox="1"/>
          <p:nvPr/>
        </p:nvSpPr>
        <p:spPr>
          <a:xfrm>
            <a:off x="591814" y="4846304"/>
            <a:ext cx="1104037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E2D"/>
                </a:solidFill>
                <a:latin typeface="Arial"/>
              </a:rPr>
              <a:t>SORTIR &amp; DINGINKAN</a:t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6548077" y="4809786"/>
            <a:ext cx="219727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4B8750"/>
                </a:solidFill>
                <a:latin typeface="Arial"/>
              </a:rPr>
              <a:t>→</a:t>
            </a:r>
          </a:p>
        </p:txBody>
      </p:sp>
      <p:sp>
        <p:nvSpPr>
          <p:cNvPr id="745" name="TextBox 744"/>
          <p:cNvSpPr txBox="1"/>
          <p:nvPr/>
        </p:nvSpPr>
        <p:spPr>
          <a:xfrm>
            <a:off x="591814" y="4846304"/>
            <a:ext cx="1104037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E2D"/>
                </a:solidFill>
                <a:latin typeface="Arial"/>
              </a:rPr>
              <a:t>MITRA B2B</a:t>
            </a:r>
          </a:p>
        </p:txBody>
      </p:sp>
      <p:sp>
        <p:nvSpPr>
          <p:cNvPr id="746" name="Rectangle 745"/>
          <p:cNvSpPr/>
          <p:nvPr/>
        </p:nvSpPr>
        <p:spPr>
          <a:xfrm>
            <a:off x="7689255" y="4797575"/>
            <a:ext cx="684934" cy="243530"/>
          </a:xfrm>
          <a:prstGeom prst="rect">
            <a:avLst/>
          </a:prstGeom>
          <a:solidFill>
            <a:srgbClr val="153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TextBox 746"/>
          <p:cNvSpPr txBox="1"/>
          <p:nvPr/>
        </p:nvSpPr>
        <p:spPr>
          <a:xfrm>
            <a:off x="7689255" y="4846304"/>
            <a:ext cx="716938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&lt;12 JAM</a:t>
            </a:r>
          </a:p>
        </p:txBody>
      </p:sp>
      <p:sp>
        <p:nvSpPr>
          <p:cNvPr id="748" name="Rectangle 747"/>
          <p:cNvSpPr/>
          <p:nvPr/>
        </p:nvSpPr>
        <p:spPr>
          <a:xfrm>
            <a:off x="591814" y="5223811"/>
            <a:ext cx="3604409" cy="877805"/>
          </a:xfrm>
          <a:prstGeom prst="rect">
            <a:avLst/>
          </a:prstGeom>
          <a:solidFill>
            <a:srgbClr val="E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>
            <a:off x="591814" y="5223811"/>
            <a:ext cx="3604410" cy="0"/>
          </a:xfrm>
          <a:prstGeom prst="line">
            <a:avLst/>
          </a:prstGeom>
          <a:ln w="14607">
            <a:solidFill>
              <a:srgbClr val="8CB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701481" y="5311569"/>
            <a:ext cx="34170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B7F57"/>
                </a:solidFill>
                <a:latin typeface="Arial"/>
              </a:rPr>
              <a:t>01 / TIER PEMASOK</a:t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701481" y="5444289"/>
            <a:ext cx="3417079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143D30"/>
                </a:solidFill>
                <a:latin typeface="Arial"/>
              </a:rPr>
              <a:t>BENIH</a:t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701481" y="5650047"/>
            <a:ext cx="341707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43D30"/>
                </a:solidFill>
                <a:latin typeface="Arial"/>
              </a:rPr>
              <a:t>Fujisawa RZ F1 · kontrak + stok 2 siklus</a:t>
            </a:r>
          </a:p>
        </p:txBody>
      </p:sp>
      <p:sp>
        <p:nvSpPr>
          <p:cNvPr id="753" name="Rectangle 752"/>
          <p:cNvSpPr/>
          <p:nvPr/>
        </p:nvSpPr>
        <p:spPr>
          <a:xfrm>
            <a:off x="4293680" y="5223811"/>
            <a:ext cx="3604523" cy="877805"/>
          </a:xfrm>
          <a:prstGeom prst="rect">
            <a:avLst/>
          </a:prstGeom>
          <a:solidFill>
            <a:srgbClr val="E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4293680" y="5223811"/>
            <a:ext cx="3604524" cy="0"/>
          </a:xfrm>
          <a:prstGeom prst="line">
            <a:avLst/>
          </a:prstGeom>
          <a:ln w="14607">
            <a:solidFill>
              <a:srgbClr val="8CB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4403348" y="5311569"/>
            <a:ext cx="3417193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B7F57"/>
                </a:solidFill>
                <a:latin typeface="Arial"/>
              </a:rPr>
              <a:t>02 / TIER PEMASOK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4403348" y="5444289"/>
            <a:ext cx="3417193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143D30"/>
                </a:solidFill>
                <a:latin typeface="Arial"/>
              </a:rPr>
              <a:t>NUTRISI &amp; IoT</a:t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4403348" y="5650047"/>
            <a:ext cx="341719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43D30"/>
                </a:solidFill>
                <a:latin typeface="Arial"/>
              </a:rPr>
              <a:t>AB Mix / sensor · sedikitnya 2 vendor</a:t>
            </a:r>
          </a:p>
        </p:txBody>
      </p:sp>
      <p:sp>
        <p:nvSpPr>
          <p:cNvPr id="758" name="Rectangle 757"/>
          <p:cNvSpPr/>
          <p:nvPr/>
        </p:nvSpPr>
        <p:spPr>
          <a:xfrm>
            <a:off x="7995661" y="5223811"/>
            <a:ext cx="3604409" cy="877805"/>
          </a:xfrm>
          <a:prstGeom prst="rect">
            <a:avLst/>
          </a:prstGeom>
          <a:solidFill>
            <a:srgbClr val="E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9" name="Connector 758"/>
          <p:cNvCxnSpPr/>
          <p:nvPr/>
        </p:nvCxnSpPr>
        <p:spPr>
          <a:xfrm>
            <a:off x="7995661" y="5223811"/>
            <a:ext cx="3604409" cy="0"/>
          </a:xfrm>
          <a:prstGeom prst="line">
            <a:avLst/>
          </a:prstGeom>
          <a:ln w="14607">
            <a:solidFill>
              <a:srgbClr val="8CB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0" name="TextBox 759"/>
          <p:cNvSpPr txBox="1"/>
          <p:nvPr/>
        </p:nvSpPr>
        <p:spPr>
          <a:xfrm>
            <a:off x="8105328" y="5311569"/>
            <a:ext cx="34170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B7F57"/>
                </a:solidFill>
                <a:latin typeface="Arial"/>
              </a:rPr>
              <a:t>03 / TIER PEMASOK</a:t>
            </a:r>
          </a:p>
        </p:txBody>
      </p:sp>
      <p:sp>
        <p:nvSpPr>
          <p:cNvPr id="761" name="TextBox 760"/>
          <p:cNvSpPr txBox="1"/>
          <p:nvPr/>
        </p:nvSpPr>
        <p:spPr>
          <a:xfrm>
            <a:off x="8105328" y="5444289"/>
            <a:ext cx="3417079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143D30"/>
                </a:solidFill>
                <a:latin typeface="Arial"/>
              </a:rPr>
              <a:t>PENGIRIMAN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8105328" y="5650047"/>
            <a:ext cx="341707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43D30"/>
                </a:solidFill>
                <a:latin typeface="Arial"/>
              </a:rPr>
              <a:t>Cold chain + armada cadangan</a:t>
            </a:r>
          </a:p>
        </p:txBody>
      </p:sp>
      <p:cxnSp>
        <p:nvCxnSpPr>
          <p:cNvPr id="763" name="Connector 762"/>
          <p:cNvCxnSpPr/>
          <p:nvPr/>
        </p:nvCxnSpPr>
        <p:spPr>
          <a:xfrm>
            <a:off x="591814" y="6168605"/>
            <a:ext cx="11008370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4" name="TextBox 763"/>
          <p:cNvSpPr txBox="1"/>
          <p:nvPr/>
        </p:nvSpPr>
        <p:spPr>
          <a:xfrm>
            <a:off x="591814" y="6230686"/>
            <a:ext cx="1104037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Skema modul ilustratif, bukan pembagian 35 unit. Titik rooftop dan SLA perlu verifikasi lapangan.</a:t>
            </a:r>
          </a:p>
        </p:txBody>
      </p:sp>
      <p:cxnSp>
        <p:nvCxnSpPr>
          <p:cNvPr id="765" name="Connector 764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9630284" y="6537324"/>
            <a:ext cx="202632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ASLI + CATATAN · HALAMAN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PRESENTASI 10 / 66 · ASLI 22</a:t>
            </a:r>
          </a:p>
        </p:txBody>
      </p:sp>
      <p:pic>
        <p:nvPicPr>
          <p:cNvPr id="6" name="Picture 5" descr="pictur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OPERASI &amp; TEKNOLOGI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331544"/>
            <a:ext cx="7603261" cy="18207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Rooftop sebagai lokasi konsep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3205040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Halaman sumber menampilkan lokasi potensial dan visual rencana fasilitas.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02" y="5550192"/>
            <a:ext cx="4907293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9502" y="5642743"/>
            <a:ext cx="493929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5742597"/>
            <a:ext cx="4939296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Jakarta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02" y="6103899"/>
            <a:ext cx="493929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fokus lokasi awal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797182" y="5550192"/>
            <a:ext cx="490740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797182" y="5642743"/>
            <a:ext cx="493941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7182" y="5742597"/>
            <a:ext cx="4939410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Rooftop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97182" y="6103899"/>
            <a:ext cx="493941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penempatan perlu verifikasi lapangan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6422" y="685742"/>
            <a:ext cx="437607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06422" y="740520"/>
            <a:ext cx="440807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 · PENEMPATAN ATAP BELUM DIVERIFIKASI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SUMBER: PDF SIDANG AKHIR · HALAMAN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11 / 66 · ASLI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Kinerja dan biaya operasi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Belanja awal dan biaya operasi mengikuti model keuangan Mery yang lebih baru.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814" y="1950184"/>
            <a:ext cx="5938003" cy="4151432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052" y="2120793"/>
            <a:ext cx="555553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7E89D"/>
                </a:solidFill>
                <a:latin typeface="Arial"/>
              </a:rPr>
              <a:t>MEMBANGUN · CAPEX TAHUN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052" y="4375562"/>
            <a:ext cx="5555532" cy="8719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567" b="1" i="0">
                <a:solidFill>
                  <a:srgbClr val="F5FAEC"/>
                </a:solidFill>
                <a:latin typeface="Arial"/>
              </a:rPr>
              <a:t>Rp7.503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4981" y="4886817"/>
            <a:ext cx="360549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F5FAEC"/>
                </a:solidFill>
                <a:latin typeface="Arial"/>
              </a:rPr>
              <a:t>juta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052" y="5277675"/>
            <a:ext cx="5523528" cy="207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052" y="5277675"/>
            <a:ext cx="3728341" cy="207240"/>
          </a:xfrm>
          <a:prstGeom prst="rect">
            <a:avLst/>
          </a:prstGeom>
          <a:solidFill>
            <a:srgbClr val="C9E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052" y="5594585"/>
            <a:ext cx="5555532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4" b="0" i="0">
                <a:solidFill>
                  <a:srgbClr val="F5FAEC"/>
                </a:solidFill>
                <a:latin typeface="Arial"/>
              </a:rPr>
              <a:t>Rp5.066 juta untuk 35 greenhouse · 67,5% dari CAPEX Y0.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052" y="5821454"/>
            <a:ext cx="555553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D4E8D4"/>
                </a:solidFill>
                <a:latin typeface="Arial"/>
              </a:rPr>
              <a:t>Termasuk Rp479 juta modal kerja praoperasi pada tabel Mery.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1696" y="1950184"/>
            <a:ext cx="4948488" cy="2014776"/>
          </a:xfrm>
          <a:prstGeom prst="rect">
            <a:avLst/>
          </a:prstGeom>
          <a:solidFill>
            <a:srgbClr val="DCE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4512" y="2108582"/>
            <a:ext cx="46148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C8258"/>
                </a:solidFill>
                <a:latin typeface="Arial"/>
              </a:rPr>
              <a:t>MENJALANKAN · OPEX Y0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4512" y="3122760"/>
            <a:ext cx="4614859" cy="5432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60" b="1" i="0">
                <a:solidFill>
                  <a:srgbClr val="143D30"/>
                </a:solidFill>
                <a:latin typeface="Arial"/>
              </a:rPr>
              <a:t>Rp3.137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0567" y="3363780"/>
            <a:ext cx="360549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43D30"/>
                </a:solidFill>
                <a:latin typeface="Arial"/>
              </a:rPr>
              <a:t>juta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4512" y="3677837"/>
            <a:ext cx="461485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gaji, sewa, logistik, overhead, pemasaran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51696" y="4086840"/>
            <a:ext cx="4948488" cy="2014776"/>
          </a:xfrm>
          <a:prstGeom prst="rect">
            <a:avLst/>
          </a:prstGeom>
          <a:solidFill>
            <a:srgbClr val="E8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4512" y="4245238"/>
            <a:ext cx="46148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C8258"/>
                </a:solidFill>
                <a:latin typeface="Arial"/>
              </a:rPr>
              <a:t>OPERASI Y1 · KAPASITAS PENUH AWAL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4512" y="5259416"/>
            <a:ext cx="4614859" cy="5432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60" b="1" i="0">
                <a:solidFill>
                  <a:srgbClr val="143D30"/>
                </a:solidFill>
                <a:latin typeface="Arial"/>
              </a:rPr>
              <a:t>Rp3.808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0567" y="5500436"/>
            <a:ext cx="360549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43D30"/>
                </a:solidFill>
                <a:latin typeface="Arial"/>
              </a:rPr>
              <a:t>juta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4512" y="5814493"/>
            <a:ext cx="461485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OPEX · 35 unit · 4 siklus panen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1814" y="6168605"/>
            <a:ext cx="11008370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1814" y="6230686"/>
            <a:ext cx="1104037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Angka mengikuti PowerPoint Keuangan Mery halaman 5; diagram biaya pada Canva menggunakan model lama.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0284" y="6537324"/>
            <a:ext cx="202632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ASLI + CATATAN · HALAMAN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12 / 66 · ASLI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Lima prioritas operasi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Kualitas, keandalan, kecepatan, fleksibilitas, dan biaya menjadi ukuran desain operasi.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11021607" cy="267952"/>
          </a:xfrm>
          <a:prstGeom prst="rect">
            <a:avLst/>
          </a:prstGeom>
          <a:solidFill>
            <a:srgbClr val="17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494" y="2023791"/>
            <a:ext cx="303604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EFF9E8"/>
                </a:solidFill>
                <a:latin typeface="Arial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5530" y="2023791"/>
            <a:ext cx="164129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EFF9E8"/>
                </a:solidFill>
                <a:latin typeface="Arial"/>
              </a:rPr>
              <a:t>PRIORITAS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4819" y="2023791"/>
            <a:ext cx="614768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EFF9E8"/>
                </a:solidFill>
                <a:latin typeface="Arial"/>
              </a:rPr>
              <a:t>KEPUTUSAN OPERASI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195" y="2212545"/>
            <a:ext cx="11021607" cy="778978"/>
          </a:xfrm>
          <a:prstGeom prst="rect">
            <a:avLst/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585195" y="2991523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494" y="2539953"/>
            <a:ext cx="39775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6C896E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391" y="2470568"/>
            <a:ext cx="2714227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143D30"/>
                </a:solidFill>
                <a:latin typeface="Arial"/>
              </a:rPr>
              <a:t>Kualitas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5765" y="2543605"/>
            <a:ext cx="164129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2D7F42"/>
                </a:solidFill>
                <a:latin typeface="Arial"/>
              </a:rPr>
              <a:t>SANGAT TINGGI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8203" y="2526373"/>
            <a:ext cx="588430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143D30"/>
                </a:solidFill>
                <a:latin typeface="Arial"/>
              </a:rPr>
              <a:t>Satu tanaman, satu buah; benih unggul dan kendali Brix.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195" y="2991523"/>
            <a:ext cx="11021607" cy="779092"/>
          </a:xfrm>
          <a:prstGeom prst="rect">
            <a:avLst/>
          </a:prstGeom>
          <a:solidFill>
            <a:srgbClr val="E7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585195" y="3770616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494" y="3318931"/>
            <a:ext cx="39775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6C896E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391" y="3249547"/>
            <a:ext cx="2714227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143D30"/>
                </a:solidFill>
                <a:latin typeface="Arial"/>
              </a:rPr>
              <a:t>Keandalan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5765" y="3322583"/>
            <a:ext cx="164129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2D7F42"/>
                </a:solidFill>
                <a:latin typeface="Arial"/>
              </a:rPr>
              <a:t>TINGGI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8203" y="3305465"/>
            <a:ext cx="588430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143D30"/>
                </a:solidFill>
                <a:latin typeface="Arial"/>
              </a:rPr>
              <a:t>Iklim terpantau, listrik cadangan, jadwal panen terjaga.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195" y="3770616"/>
            <a:ext cx="11021607" cy="778978"/>
          </a:xfrm>
          <a:prstGeom prst="rect">
            <a:avLst/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585195" y="4549594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494" y="4098024"/>
            <a:ext cx="39775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6C896E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391" y="4028639"/>
            <a:ext cx="2714227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143D30"/>
                </a:solidFill>
                <a:latin typeface="Arial"/>
              </a:rPr>
              <a:t>Kecepatan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5765" y="4101676"/>
            <a:ext cx="164129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2D7F42"/>
                </a:solidFill>
                <a:latin typeface="Arial"/>
              </a:rPr>
              <a:t>TINGGI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8203" y="4084444"/>
            <a:ext cx="588430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143D30"/>
                </a:solidFill>
                <a:latin typeface="Arial"/>
              </a:rPr>
              <a:t>Kebun dekat pasar, panen pagi, target kirim B2B &lt;12 jam.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195" y="4549594"/>
            <a:ext cx="11021607" cy="779092"/>
          </a:xfrm>
          <a:prstGeom prst="rect">
            <a:avLst/>
          </a:prstGeom>
          <a:solidFill>
            <a:srgbClr val="E7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585195" y="532868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494" y="4877002"/>
            <a:ext cx="39775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6C896E"/>
                </a:solidFill>
                <a:latin typeface="Arial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391" y="4807618"/>
            <a:ext cx="2714227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143D30"/>
                </a:solidFill>
                <a:latin typeface="Arial"/>
              </a:rPr>
              <a:t>Fleksibilitas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5765" y="4880654"/>
            <a:ext cx="164129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5A775C"/>
                </a:solidFill>
                <a:latin typeface="Arial"/>
              </a:rPr>
              <a:t>SEDANG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8203" y="4863536"/>
            <a:ext cx="588430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143D30"/>
                </a:solidFill>
                <a:latin typeface="Arial"/>
              </a:rPr>
              <a:t>Greenhouse modular; kapasitas dan kanal dapat ditambah bertahap.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195" y="5328687"/>
            <a:ext cx="11021607" cy="779092"/>
          </a:xfrm>
          <a:prstGeom prst="rect">
            <a:avLst/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>
            <a:off x="585195" y="6107779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1494" y="5656095"/>
            <a:ext cx="39775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6C896E"/>
                </a:solidFill>
                <a:latin typeface="Arial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391" y="5586710"/>
            <a:ext cx="2714227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143D30"/>
                </a:solidFill>
                <a:latin typeface="Arial"/>
              </a:rPr>
              <a:t>Biaya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25765" y="5659747"/>
            <a:ext cx="164129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5A775C"/>
                </a:solidFill>
                <a:latin typeface="Arial"/>
              </a:rPr>
              <a:t>SEDANG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8203" y="5642629"/>
            <a:ext cx="588430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143D30"/>
                </a:solidFill>
                <a:latin typeface="Arial"/>
              </a:rPr>
              <a:t>Efisiensi air dan susut produk membantu menyerap investasi awal.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Lima dimensi dari matriks strategi operasi; target mutu dan ketepatan perlu diuji saat fasilitas berjalan.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13 / 66 · ASLI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Tiga divisi operasional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Agronomi, teknologi dan IoT, serta logistik mengendalikan mutu dengan data dan SOP yang sama.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11021607" cy="401928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4075" y="2090779"/>
            <a:ext cx="121574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F7FBEF"/>
                </a:solidFill>
                <a:latin typeface="Arial"/>
              </a:rPr>
              <a:t>DATA &amp; SOP TERPUSAT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1574" y="2036002"/>
            <a:ext cx="131058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CCEAA1"/>
                </a:solidFill>
                <a:latin typeface="Arial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4384" y="2054261"/>
            <a:ext cx="1625430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F7FBEF"/>
                </a:solidFill>
                <a:latin typeface="Arial"/>
              </a:rPr>
              <a:t>SATU STANDAR MUTU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195" y="2419671"/>
            <a:ext cx="3608860" cy="3688107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85195" y="2419671"/>
            <a:ext cx="3608861" cy="0"/>
          </a:xfrm>
          <a:prstGeom prst="line">
            <a:avLst/>
          </a:prstGeom>
          <a:ln w="43821">
            <a:solidFill>
              <a:srgbClr val="83B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3591" y="2597583"/>
            <a:ext cx="332407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577F57"/>
                </a:solidFill>
                <a:latin typeface="Arial"/>
              </a:rPr>
              <a:t>01 / FUNGSI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591" y="2868046"/>
            <a:ext cx="3324073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D30"/>
                </a:solidFill>
                <a:latin typeface="Arial"/>
              </a:rPr>
              <a:t>AGRONOMI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591" y="3276251"/>
            <a:ext cx="3324073" cy="3565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43D30"/>
                </a:solidFill>
                <a:latin typeface="Arial"/>
              </a:rPr>
              <a:t>Standar budidaya · one plant one fruit · Brix dan grading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3591" y="5763025"/>
            <a:ext cx="3292069" cy="0"/>
          </a:xfrm>
          <a:prstGeom prst="line">
            <a:avLst/>
          </a:prstGeom>
          <a:ln w="7303">
            <a:solidFill>
              <a:srgbClr val="AAC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3591" y="5849527"/>
            <a:ext cx="332407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43D30"/>
                </a:solidFill>
                <a:latin typeface="Arial"/>
              </a:rPr>
              <a:t>Head of Agronomy &amp;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1512" y="2419671"/>
            <a:ext cx="3608860" cy="3688107"/>
          </a:xfrm>
          <a:prstGeom prst="rect">
            <a:avLst/>
          </a:prstGeom>
          <a:solidFill>
            <a:srgbClr val="D7E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291512" y="2419671"/>
            <a:ext cx="3608860" cy="0"/>
          </a:xfrm>
          <a:prstGeom prst="line">
            <a:avLst/>
          </a:prstGeom>
          <a:ln w="43821">
            <a:solidFill>
              <a:srgbClr val="83B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49908" y="2597583"/>
            <a:ext cx="332407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577F57"/>
                </a:solidFill>
                <a:latin typeface="Arial"/>
              </a:rPr>
              <a:t>02 / FUNGSI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9908" y="2868046"/>
            <a:ext cx="3324073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D30"/>
                </a:solidFill>
                <a:latin typeface="Arial"/>
              </a:rPr>
              <a:t>TEKNOLOGI &amp; IoT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9908" y="3276251"/>
            <a:ext cx="332407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43D30"/>
                </a:solidFill>
                <a:latin typeface="Arial"/>
              </a:rPr>
              <a:t>Kalibrasi sensor · alarm · irigasi · rekam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49908" y="5763025"/>
            <a:ext cx="3292069" cy="0"/>
          </a:xfrm>
          <a:prstGeom prst="line">
            <a:avLst/>
          </a:prstGeom>
          <a:ln w="7303">
            <a:solidFill>
              <a:srgbClr val="AAC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49908" y="5849527"/>
            <a:ext cx="332407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43D30"/>
                </a:solidFill>
                <a:latin typeface="Arial"/>
              </a:rPr>
              <a:t>Smart Greenhouse &amp; IoT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7829" y="2419671"/>
            <a:ext cx="3608974" cy="3688107"/>
          </a:xfrm>
          <a:prstGeom prst="rect">
            <a:avLst/>
          </a:prstGeom>
          <a:solidFill>
            <a:srgbClr val="C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997829" y="2419671"/>
            <a:ext cx="3608974" cy="0"/>
          </a:xfrm>
          <a:prstGeom prst="line">
            <a:avLst/>
          </a:prstGeom>
          <a:ln w="43821">
            <a:solidFill>
              <a:srgbClr val="83B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56224" y="2597583"/>
            <a:ext cx="332418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577F57"/>
                </a:solidFill>
                <a:latin typeface="Arial"/>
              </a:rPr>
              <a:t>03 / FUNGSI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224" y="2868046"/>
            <a:ext cx="3324187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D30"/>
                </a:solidFill>
                <a:latin typeface="Arial"/>
              </a:rPr>
              <a:t>LOGISTIK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224" y="3276251"/>
            <a:ext cx="3324187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43D30"/>
                </a:solidFill>
                <a:latin typeface="Arial"/>
              </a:rPr>
              <a:t>Jadwal panen · cold chain · serah terima ritel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56224" y="5763025"/>
            <a:ext cx="3292184" cy="0"/>
          </a:xfrm>
          <a:prstGeom prst="line">
            <a:avLst/>
          </a:prstGeom>
          <a:ln w="7303">
            <a:solidFill>
              <a:srgbClr val="AAC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56224" y="5849527"/>
            <a:ext cx="332418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43D30"/>
                </a:solidFill>
                <a:latin typeface="Arial"/>
              </a:rPr>
              <a:t>Distribusi &amp; fulfillment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Struktur fungsi tetap relevan; kebutuhan headcount pada Canva mengikuti skenario kapasitas lama dan perlu dihitung ulang untuk 237 GH.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6902" y="6544057"/>
            <a:ext cx="202632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ASLI + CATATAN · HALAMAN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14 / 66 · ASLI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Risiko rantai pasok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Sumber deck mengurutkan risiko, dampak, probabilitas, dan respons mitigasinya.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11021607" cy="267952"/>
          </a:xfrm>
          <a:prstGeom prst="rect">
            <a:avLst/>
          </a:prstGeom>
          <a:solidFill>
            <a:srgbClr val="17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43" y="2023791"/>
            <a:ext cx="256005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F2F9EB"/>
                </a:solidFill>
                <a:latin typeface="Arial"/>
              </a:rPr>
              <a:t>RISIKO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8994" y="2023791"/>
            <a:ext cx="108531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F2F9EB"/>
                </a:solidFill>
                <a:latin typeface="Arial"/>
              </a:rPr>
              <a:t>DAMPAK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2301" y="2023791"/>
            <a:ext cx="119064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F2F9EB"/>
                </a:solidFill>
                <a:latin typeface="Arial"/>
              </a:rPr>
              <a:t>PELUANG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0938" y="2023791"/>
            <a:ext cx="582599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F2F9EB"/>
                </a:solidFill>
                <a:latin typeface="Arial"/>
              </a:rPr>
              <a:t>PERTAHANAN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195" y="2212545"/>
            <a:ext cx="11021607" cy="778978"/>
          </a:xfrm>
          <a:prstGeom prst="rect">
            <a:avLst/>
          </a:prstGeom>
          <a:solidFill>
            <a:srgbClr val="F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585195" y="2991523"/>
            <a:ext cx="11021608" cy="0"/>
          </a:xfrm>
          <a:prstGeom prst="line">
            <a:avLst/>
          </a:prstGeom>
          <a:ln w="7303">
            <a:solidFill>
              <a:srgbClr val="B3C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7073" y="2543605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6D8C67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706" y="2508342"/>
            <a:ext cx="2403028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43D30"/>
                </a:solidFill>
                <a:latin typeface="Arial"/>
              </a:rPr>
              <a:t>Benih Fujisawa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5609" y="2536301"/>
            <a:ext cx="110973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Tinggi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215" y="2536301"/>
            <a:ext cx="121745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Rendah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2548" y="2535502"/>
            <a:ext cx="544438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Kontrak tahunan; varietas alternatif; stok ≥2 siklus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195" y="2991523"/>
            <a:ext cx="11021607" cy="779092"/>
          </a:xfrm>
          <a:prstGeom prst="rect">
            <a:avLst/>
          </a:prstGeom>
          <a:solidFill>
            <a:srgbClr val="E9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585195" y="3770616"/>
            <a:ext cx="11021608" cy="0"/>
          </a:xfrm>
          <a:prstGeom prst="line">
            <a:avLst/>
          </a:prstGeom>
          <a:ln w="7303">
            <a:solidFill>
              <a:srgbClr val="B3C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7073" y="3322583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6D8C67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706" y="3287320"/>
            <a:ext cx="2403028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43D30"/>
                </a:solidFill>
                <a:latin typeface="Arial"/>
              </a:rPr>
              <a:t>Nutrisi AB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5609" y="3315280"/>
            <a:ext cx="110973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Sedang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5215" y="3315280"/>
            <a:ext cx="121745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Sedang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2548" y="3314481"/>
            <a:ext cx="544438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≥2 vendor; kontrak harga; kaji formula sendiri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195" y="3770616"/>
            <a:ext cx="11021607" cy="778978"/>
          </a:xfrm>
          <a:prstGeom prst="rect">
            <a:avLst/>
          </a:prstGeom>
          <a:solidFill>
            <a:srgbClr val="F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585195" y="4549594"/>
            <a:ext cx="11021608" cy="0"/>
          </a:xfrm>
          <a:prstGeom prst="line">
            <a:avLst/>
          </a:prstGeom>
          <a:ln w="7303">
            <a:solidFill>
              <a:srgbClr val="B3C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7073" y="4101676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6D8C67"/>
                </a:solidFill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706" y="4066413"/>
            <a:ext cx="2403028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43D30"/>
                </a:solidFill>
                <a:latin typeface="Arial"/>
              </a:rPr>
              <a:t>Cold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5609" y="4094372"/>
            <a:ext cx="110973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Tinggi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5215" y="4094372"/>
            <a:ext cx="121745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Sedang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2548" y="4093573"/>
            <a:ext cx="544438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2 mitra logistik; armada internal sebagai cadangan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195" y="4549594"/>
            <a:ext cx="11021607" cy="779092"/>
          </a:xfrm>
          <a:prstGeom prst="rect">
            <a:avLst/>
          </a:prstGeom>
          <a:solidFill>
            <a:srgbClr val="E9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585195" y="5328687"/>
            <a:ext cx="11021608" cy="0"/>
          </a:xfrm>
          <a:prstGeom prst="line">
            <a:avLst/>
          </a:prstGeom>
          <a:ln w="7303">
            <a:solidFill>
              <a:srgbClr val="B3C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7073" y="4880654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6D8C67"/>
                </a:solidFill>
                <a:latin typeface="Arial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706" y="4845391"/>
            <a:ext cx="2403028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43D30"/>
                </a:solidFill>
                <a:latin typeface="Arial"/>
              </a:rPr>
              <a:t>Sensor / IoT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5609" y="4873351"/>
            <a:ext cx="110973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Sedang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5215" y="4873351"/>
            <a:ext cx="121745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Sedang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548" y="4872552"/>
            <a:ext cx="544438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Suku cadang kritis; servis preventif; operator terlatih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195" y="5328687"/>
            <a:ext cx="11021607" cy="779092"/>
          </a:xfrm>
          <a:prstGeom prst="rect">
            <a:avLst/>
          </a:prstGeom>
          <a:solidFill>
            <a:srgbClr val="F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>
            <a:off x="585195" y="6107779"/>
            <a:ext cx="11021608" cy="0"/>
          </a:xfrm>
          <a:prstGeom prst="line">
            <a:avLst/>
          </a:prstGeom>
          <a:ln w="7303">
            <a:solidFill>
              <a:srgbClr val="B3C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7073" y="5659747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6D8C67"/>
                </a:solidFill>
                <a:latin typeface="Arial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706" y="5624484"/>
            <a:ext cx="2403028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43D30"/>
                </a:solidFill>
                <a:latin typeface="Arial"/>
              </a:rPr>
              <a:t>Konstruksi 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5609" y="5652443"/>
            <a:ext cx="110973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Tinggi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5215" y="5652443"/>
            <a:ext cx="121745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547455"/>
                </a:solidFill>
                <a:latin typeface="Arial"/>
              </a:rPr>
              <a:t>Rendah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72548" y="5651644"/>
            <a:ext cx="544438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2–3 kontraktor; buffer proyek 20%; supervisi internal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Matriks sumber mengutamakan mitigasi pada risiko dengan dampak dan probabilitas minimal sedang.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PRESENTASI 15 / 66 · ASLI 27</a:t>
            </a:r>
          </a:p>
        </p:txBody>
      </p:sp>
      <p:pic>
        <p:nvPicPr>
          <p:cNvPr id="6" name="Picture 5" descr="pictur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OPERASI &amp; TEKNOLOGI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331544"/>
            <a:ext cx="7603261" cy="10545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Strategi operasi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2438843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Satu unit standar, pemantauan empat parameter, dan proses panen yang bisa diulang.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02" y="5550192"/>
            <a:ext cx="231339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9502" y="5642743"/>
            <a:ext cx="23453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5742597"/>
            <a:ext cx="234539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420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02" y="6103899"/>
            <a:ext cx="234539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tanaman per greenhouse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3285" y="5550192"/>
            <a:ext cx="2313510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3285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3285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3285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panen per tahun mulai Y2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797182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797182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7182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35 → 237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7182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unit Y0–Y10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91079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391079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1079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50 → 817 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1079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panen Y0–Y10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SUMBER: PDF SIDANG AKHIR · HALAMAN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16 / 66 · ASLI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Enam pertanyaan operasional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Dari bentuk satu rumah kaca sampai bagaimana menjaga panen, tim, siklus, dan benih.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3608860" cy="2032807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1944593"/>
            <a:ext cx="3608861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494" y="2102990"/>
            <a:ext cx="3348266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01 / PERTANYAAN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494" y="3137710"/>
            <a:ext cx="3348266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200 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494" y="3533932"/>
            <a:ext cx="334826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Satu modul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494" y="3738434"/>
            <a:ext cx="3348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Geometri dan alat di dalam 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1512" y="1944593"/>
            <a:ext cx="3608860" cy="2032807"/>
          </a:xfrm>
          <a:prstGeom prst="rect">
            <a:avLst/>
          </a:prstGeom>
          <a:solidFill>
            <a:srgbClr val="D3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91512" y="1944593"/>
            <a:ext cx="3608860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37811" y="2102990"/>
            <a:ext cx="3348266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02 / PERTANYAAN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7811" y="3137710"/>
            <a:ext cx="3348266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50 → 817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7811" y="3533932"/>
            <a:ext cx="334826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Skala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7811" y="3738434"/>
            <a:ext cx="3348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Panen dari Y0 sampai Y10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7829" y="1944593"/>
            <a:ext cx="3608974" cy="2032807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997829" y="1944593"/>
            <a:ext cx="3608974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128" y="2102990"/>
            <a:ext cx="3348380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03 / PERTANYAAN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4128" y="3137710"/>
            <a:ext cx="3348380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4 parameter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4128" y="3533932"/>
            <a:ext cx="334838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Mutu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4128" y="3738434"/>
            <a:ext cx="334838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Iklim, pH, dan nutrisi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195" y="4074858"/>
            <a:ext cx="3608860" cy="2032921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85195" y="4074858"/>
            <a:ext cx="3608861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494" y="4233255"/>
            <a:ext cx="3348266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04 / PERTANYAAN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494" y="5268089"/>
            <a:ext cx="3348266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8 tahap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494" y="5664312"/>
            <a:ext cx="334826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Ritme kerja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494" y="5868813"/>
            <a:ext cx="3348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Dari semai sampai sanitasi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1512" y="4074858"/>
            <a:ext cx="3608860" cy="2032921"/>
          </a:xfrm>
          <a:prstGeom prst="rect">
            <a:avLst/>
          </a:prstGeom>
          <a:solidFill>
            <a:srgbClr val="D3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291512" y="4074858"/>
            <a:ext cx="3608860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37811" y="4233255"/>
            <a:ext cx="3348266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05 / PERTANYAAN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7811" y="5268089"/>
            <a:ext cx="3348266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73 hari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7811" y="5664312"/>
            <a:ext cx="334826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Siklus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7811" y="5868813"/>
            <a:ext cx="3348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Mengapa lima panen mungkin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97829" y="4074858"/>
            <a:ext cx="3608974" cy="2032921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997829" y="4074858"/>
            <a:ext cx="3608974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144128" y="4233255"/>
            <a:ext cx="3348380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06 / PERTANYAAN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4128" y="5268089"/>
            <a:ext cx="3348380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Rp4.250 jt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4128" y="5664312"/>
            <a:ext cx="334838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Benih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44128" y="5868813"/>
            <a:ext cx="334838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Program R&amp;D bertahap; belum di model dasar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Enam pertanyaan yang dijawab pada rangkaian operasi berikutnya.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17 / 66 · ASLI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Di dalam satu greenhouse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Unit 10 × 20 meter menempatkan 420 tanaman dalam 14 baris pipa DFT.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5069909" cy="4163186"/>
          </a:xfrm>
          <a:prstGeom prst="rect">
            <a:avLst/>
          </a:prstGeom>
          <a:solidFill>
            <a:srgbClr val="D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ctur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1944593"/>
            <a:ext cx="5069909" cy="41631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45" y="5898827"/>
            <a:ext cx="4923610" cy="148012"/>
          </a:xfrm>
          <a:prstGeom prst="rect">
            <a:avLst/>
          </a:prstGeom>
          <a:solidFill>
            <a:srgbClr val="09301E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45" y="5921993"/>
            <a:ext cx="49556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8FFF1"/>
                </a:solidFill>
                <a:latin typeface="Arial"/>
              </a:rPr>
              <a:t>VISUALISASI KONSEP · BUKAN FASILITAS TERPASANG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7073" y="2066472"/>
            <a:ext cx="1385960" cy="389603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073" y="2133460"/>
            <a:ext cx="1417964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FFFFFF"/>
                </a:solidFill>
                <a:latin typeface="Arial"/>
              </a:rPr>
              <a:t>10 m × 20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76983" y="1944593"/>
            <a:ext cx="2872230" cy="1774098"/>
          </a:xfrm>
          <a:prstGeom prst="rect">
            <a:avLst/>
          </a:prstGeom>
          <a:solidFill>
            <a:srgbClr val="E1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776983" y="1944593"/>
            <a:ext cx="2872230" cy="0"/>
          </a:xfrm>
          <a:prstGeom prst="line">
            <a:avLst/>
          </a:prstGeom>
          <a:ln w="36517">
            <a:solidFill>
              <a:srgbClr val="80B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98861" y="2582862"/>
            <a:ext cx="2660478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200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8861" y="2948614"/>
            <a:ext cx="266047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luas modul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4459" y="1944593"/>
            <a:ext cx="2872344" cy="1774098"/>
          </a:xfrm>
          <a:prstGeom prst="rect">
            <a:avLst/>
          </a:prstGeom>
          <a:solidFill>
            <a:srgbClr val="E1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734459" y="1944593"/>
            <a:ext cx="2872344" cy="0"/>
          </a:xfrm>
          <a:prstGeom prst="line">
            <a:avLst/>
          </a:prstGeom>
          <a:ln w="36517">
            <a:solidFill>
              <a:srgbClr val="80B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56337" y="2582862"/>
            <a:ext cx="2660592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140 m²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6337" y="2948614"/>
            <a:ext cx="26605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area ditanami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6983" y="3803938"/>
            <a:ext cx="2872230" cy="1774212"/>
          </a:xfrm>
          <a:prstGeom prst="rect">
            <a:avLst/>
          </a:prstGeom>
          <a:solidFill>
            <a:srgbClr val="E1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776983" y="3803938"/>
            <a:ext cx="2872230" cy="0"/>
          </a:xfrm>
          <a:prstGeom prst="line">
            <a:avLst/>
          </a:prstGeom>
          <a:ln w="36517">
            <a:solidFill>
              <a:srgbClr val="80B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98861" y="4442322"/>
            <a:ext cx="2660478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14 ×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8861" y="4808074"/>
            <a:ext cx="266047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baris × tanaman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4459" y="3803938"/>
            <a:ext cx="2872344" cy="1774212"/>
          </a:xfrm>
          <a:prstGeom prst="rect">
            <a:avLst/>
          </a:prstGeom>
          <a:solidFill>
            <a:srgbClr val="E1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734459" y="3803938"/>
            <a:ext cx="2872344" cy="0"/>
          </a:xfrm>
          <a:prstGeom prst="line">
            <a:avLst/>
          </a:prstGeom>
          <a:ln w="36517">
            <a:solidFill>
              <a:srgbClr val="80B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56337" y="4442322"/>
            <a:ext cx="2660592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6337" y="4808074"/>
            <a:ext cx="26605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titik tanam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76983" y="5675609"/>
            <a:ext cx="5829820" cy="432169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8861" y="5767019"/>
            <a:ext cx="561806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6E997"/>
                </a:solidFill>
                <a:latin typeface="Arial"/>
              </a:rPr>
              <a:t>GEOMETRI YANG MENENTUKAN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8861" y="5898484"/>
            <a:ext cx="561806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F5FAEB"/>
                </a:solidFill>
                <a:latin typeface="Arial"/>
              </a:rPr>
              <a:t>DFT 3 inci · pipa 0,8 m dari lantai · jalur kerja 80 cm · jarak tanam 40–50 cm · trellis 2,5 m · atap 4,5 m.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Satu tanaman satu buah · Fujisawa RZ F1 · hasil model 3.591 kg per unit per tahun pada 5 siklus.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18 / 66 · ASLI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Teknologi produksi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DFT, trellis vertikal, sensor real-time, dan cadangan listrik membentuk satu sistem.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814" y="1950184"/>
            <a:ext cx="5944508" cy="4151432"/>
          </a:xfrm>
          <a:prstGeom prst="rect">
            <a:avLst/>
          </a:prstGeom>
          <a:solidFill>
            <a:srgbClr val="D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ictur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4" y="1950184"/>
            <a:ext cx="5944508" cy="41514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64964" y="5892664"/>
            <a:ext cx="5798209" cy="148012"/>
          </a:xfrm>
          <a:prstGeom prst="rect">
            <a:avLst/>
          </a:prstGeom>
          <a:solidFill>
            <a:srgbClr val="09301E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964" y="5915830"/>
            <a:ext cx="58302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8FFF1"/>
                </a:solidFill>
                <a:latin typeface="Arial"/>
              </a:rPr>
              <a:t>VISUALISASI KONSEP · BUKAN FASILITAS TERPASANG</a:t>
            </a:r>
          </a:p>
        </p:txBody>
      </p:sp>
      <p:sp>
        <p:nvSpPr>
          <p:cNvPr id="16" name="Oval 15"/>
          <p:cNvSpPr/>
          <p:nvPr/>
        </p:nvSpPr>
        <p:spPr>
          <a:xfrm>
            <a:off x="2969572" y="2697438"/>
            <a:ext cx="176768" cy="176770"/>
          </a:xfrm>
          <a:prstGeom prst="ellipse">
            <a:avLst/>
          </a:prstGeom>
          <a:solidFill>
            <a:srgbClr val="194A32"/>
          </a:solidFill>
          <a:ln w="7303">
            <a:solidFill>
              <a:srgbClr val="F6F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9572" y="2704741"/>
            <a:ext cx="208772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F6FFF0"/>
                </a:solidFill>
                <a:latin typeface="Arial"/>
              </a:rPr>
              <a:t>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8906" y="2711474"/>
            <a:ext cx="782049" cy="148583"/>
          </a:xfrm>
          <a:prstGeom prst="rect">
            <a:avLst/>
          </a:prstGeom>
          <a:solidFill>
            <a:srgbClr val="0D33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188906" y="2711474"/>
            <a:ext cx="0" cy="148584"/>
          </a:xfrm>
          <a:prstGeom prst="line">
            <a:avLst/>
          </a:prstGeom>
          <a:ln w="7303">
            <a:solidFill>
              <a:srgbClr val="C8E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88906" y="2741944"/>
            <a:ext cx="814053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9FFF2"/>
                </a:solidFill>
                <a:latin typeface="Arial"/>
              </a:rPr>
              <a:t>TANGKI NUTRISI</a:t>
            </a:r>
          </a:p>
        </p:txBody>
      </p:sp>
      <p:sp>
        <p:nvSpPr>
          <p:cNvPr id="21" name="Oval 20"/>
          <p:cNvSpPr/>
          <p:nvPr/>
        </p:nvSpPr>
        <p:spPr>
          <a:xfrm>
            <a:off x="3266735" y="4233369"/>
            <a:ext cx="176768" cy="176770"/>
          </a:xfrm>
          <a:prstGeom prst="ellipse">
            <a:avLst/>
          </a:prstGeom>
          <a:solidFill>
            <a:srgbClr val="194A32"/>
          </a:solidFill>
          <a:ln w="7303">
            <a:solidFill>
              <a:srgbClr val="F6F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6735" y="4240673"/>
            <a:ext cx="208772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F6FFF0"/>
                </a:solidFill>
                <a:latin typeface="Arial"/>
              </a:rP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86069" y="4247406"/>
            <a:ext cx="732293" cy="148583"/>
          </a:xfrm>
          <a:prstGeom prst="rect">
            <a:avLst/>
          </a:prstGeom>
          <a:solidFill>
            <a:srgbClr val="0D33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3486069" y="4247406"/>
            <a:ext cx="0" cy="148583"/>
          </a:xfrm>
          <a:prstGeom prst="line">
            <a:avLst/>
          </a:prstGeom>
          <a:ln w="7303">
            <a:solidFill>
              <a:srgbClr val="C8E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86069" y="4277876"/>
            <a:ext cx="76429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9FFF2"/>
                </a:solidFill>
                <a:latin typeface="Arial"/>
              </a:rPr>
              <a:t>PROBE pH / EC</a:t>
            </a:r>
          </a:p>
        </p:txBody>
      </p:sp>
      <p:sp>
        <p:nvSpPr>
          <p:cNvPr id="26" name="Oval 25"/>
          <p:cNvSpPr/>
          <p:nvPr/>
        </p:nvSpPr>
        <p:spPr>
          <a:xfrm>
            <a:off x="1126798" y="4814579"/>
            <a:ext cx="176768" cy="176770"/>
          </a:xfrm>
          <a:prstGeom prst="ellipse">
            <a:avLst/>
          </a:prstGeom>
          <a:solidFill>
            <a:srgbClr val="194A32"/>
          </a:solidFill>
          <a:ln w="7303">
            <a:solidFill>
              <a:srgbClr val="F6F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6798" y="4821883"/>
            <a:ext cx="208772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F6FFF0"/>
                </a:solidFill>
                <a:latin typeface="Arial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46133" y="4828616"/>
            <a:ext cx="700340" cy="148583"/>
          </a:xfrm>
          <a:prstGeom prst="rect">
            <a:avLst/>
          </a:prstGeom>
          <a:solidFill>
            <a:srgbClr val="0D33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1346133" y="4828616"/>
            <a:ext cx="0" cy="148583"/>
          </a:xfrm>
          <a:prstGeom prst="line">
            <a:avLst/>
          </a:prstGeom>
          <a:ln w="7303">
            <a:solidFill>
              <a:srgbClr val="C8E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46133" y="4859086"/>
            <a:ext cx="7323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9FFF2"/>
                </a:solidFill>
                <a:latin typeface="Arial"/>
              </a:rPr>
              <a:t>POMPA &amp; PIPA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58201" y="1950184"/>
            <a:ext cx="4941983" cy="996718"/>
          </a:xfrm>
          <a:prstGeom prst="rect">
            <a:avLst/>
          </a:prstGeom>
          <a:solidFill>
            <a:srgbClr val="E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6658201" y="1950184"/>
            <a:ext cx="0" cy="996718"/>
          </a:xfrm>
          <a:prstGeom prst="line">
            <a:avLst/>
          </a:prstGeom>
          <a:ln w="36517">
            <a:solidFill>
              <a:srgbClr val="79AE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92175" y="2152290"/>
            <a:ext cx="474255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658268"/>
                </a:solidFill>
                <a:latin typeface="Arial"/>
              </a:rPr>
              <a:t>01 / BUDIDAYA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2175" y="2551707"/>
            <a:ext cx="1821941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6" b="1" i="0">
                <a:solidFill>
                  <a:srgbClr val="143D30"/>
                </a:solidFill>
                <a:latin typeface="Arial"/>
              </a:rPr>
              <a:t>DFT + trellis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7358" y="2596899"/>
            <a:ext cx="2867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Larutan berputar; buah ditopang vertikal.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58201" y="3001680"/>
            <a:ext cx="4941983" cy="996832"/>
          </a:xfrm>
          <a:prstGeom prst="rect">
            <a:avLst/>
          </a:prstGeom>
          <a:solidFill>
            <a:srgbClr val="D7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6658201" y="3001680"/>
            <a:ext cx="0" cy="996832"/>
          </a:xfrm>
          <a:prstGeom prst="line">
            <a:avLst/>
          </a:prstGeom>
          <a:ln w="36517">
            <a:solidFill>
              <a:srgbClr val="79AE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92175" y="3203899"/>
            <a:ext cx="474255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658268"/>
                </a:solidFill>
                <a:latin typeface="Arial"/>
              </a:rPr>
              <a:t>02 / HASIL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92175" y="3603317"/>
            <a:ext cx="1821941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6" b="1" i="0">
                <a:solidFill>
                  <a:srgbClr val="143D30"/>
                </a:solidFill>
                <a:latin typeface="Arial"/>
              </a:rPr>
              <a:t>1 tanaman → 1 buah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7358" y="3648508"/>
            <a:ext cx="2867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420 tanaman × 1,8 kg × 95% = 718,2 kg/siklus.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58201" y="4053289"/>
            <a:ext cx="4941983" cy="996718"/>
          </a:xfrm>
          <a:prstGeom prst="rect">
            <a:avLst/>
          </a:prstGeom>
          <a:solidFill>
            <a:srgbClr val="E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6658201" y="4053289"/>
            <a:ext cx="0" cy="996718"/>
          </a:xfrm>
          <a:prstGeom prst="line">
            <a:avLst/>
          </a:prstGeom>
          <a:ln w="36517">
            <a:solidFill>
              <a:srgbClr val="79AE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792175" y="4255394"/>
            <a:ext cx="474255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658268"/>
                </a:solidFill>
                <a:latin typeface="Arial"/>
              </a:rPr>
              <a:t>03 / PEMANTAUAN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2175" y="4654812"/>
            <a:ext cx="1821941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6" b="1" i="0">
                <a:solidFill>
                  <a:srgbClr val="143D30"/>
                </a:solidFill>
                <a:latin typeface="Arial"/>
              </a:rPr>
              <a:t>4 parameter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7358" y="4700003"/>
            <a:ext cx="2867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Suhu · kelembapan · pH · EC/TDS.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58201" y="5104785"/>
            <a:ext cx="4941983" cy="996832"/>
          </a:xfrm>
          <a:prstGeom prst="rect">
            <a:avLst/>
          </a:prstGeom>
          <a:solidFill>
            <a:srgbClr val="D7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6658201" y="5104785"/>
            <a:ext cx="0" cy="996832"/>
          </a:xfrm>
          <a:prstGeom prst="line">
            <a:avLst/>
          </a:prstGeom>
          <a:ln w="36517">
            <a:solidFill>
              <a:srgbClr val="79AE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792175" y="5307004"/>
            <a:ext cx="474255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658268"/>
                </a:solidFill>
                <a:latin typeface="Arial"/>
              </a:rPr>
              <a:t>04 / KONTINUITAS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92175" y="5706422"/>
            <a:ext cx="1821941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6" b="1" i="0">
                <a:solidFill>
                  <a:srgbClr val="143D30"/>
                </a:solidFill>
                <a:latin typeface="Arial"/>
              </a:rPr>
              <a:t>1.200 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67358" y="5751613"/>
            <a:ext cx="2867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Genset cadangan untuk sirkulasi nutrisi.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1814" y="6168605"/>
            <a:ext cx="11008370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1814" y="6230686"/>
            <a:ext cx="1104037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Rancangan modular 200 m²; 5 siklus menghasilkan 3.591 kg per unit per tahun menurut asumsi sumber.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82550" y="6537324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19 / 66 · ASLI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Sensor → keputusan → aktuator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Suhu dan kelembapan diotomatisasi; pH dan nutrisi diperiksa dan dikoreksi operator dua kali sehari.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11021607" cy="228923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2652" y="2011581"/>
            <a:ext cx="16558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6548" y="2011581"/>
            <a:ext cx="273864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3193" y="2011581"/>
            <a:ext cx="273864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ALAT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9838" y="2011581"/>
            <a:ext cx="219727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5109" y="2011581"/>
            <a:ext cx="16558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HARGA SUMBER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195" y="2173516"/>
            <a:ext cx="11021607" cy="695557"/>
          </a:xfrm>
          <a:prstGeom prst="rect">
            <a:avLst/>
          </a:prstGeom>
          <a:solidFill>
            <a:srgbClr val="D9E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585195" y="2869073"/>
            <a:ext cx="11021608" cy="0"/>
          </a:xfrm>
          <a:prstGeom prst="line">
            <a:avLst/>
          </a:prstGeom>
          <a:ln w="7303">
            <a:solidFill>
              <a:srgbClr val="B5C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2652" y="2418987"/>
            <a:ext cx="1655899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3D2C"/>
                </a:solidFill>
                <a:latin typeface="Arial"/>
              </a:rPr>
              <a:t>Suhu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6548" y="2452309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25–30°C siang · 18–22°C malam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3193" y="2452309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Blower + exhaust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9838" y="2459157"/>
            <a:ext cx="21972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3C8550"/>
                </a:solidFill>
                <a:latin typeface="Arial"/>
              </a:rPr>
              <a:t>OTOMATIS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5109" y="2462808"/>
            <a:ext cx="16558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73D2C"/>
                </a:solidFill>
                <a:latin typeface="Arial"/>
              </a:rPr>
              <a:t>Rp1,75 jt/unit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195" y="2869073"/>
            <a:ext cx="11021607" cy="695557"/>
          </a:xfrm>
          <a:prstGeom prst="rect">
            <a:avLst/>
          </a:prstGeom>
          <a:solidFill>
            <a:srgbClr val="E7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585195" y="3564630"/>
            <a:ext cx="11021608" cy="0"/>
          </a:xfrm>
          <a:prstGeom prst="line">
            <a:avLst/>
          </a:prstGeom>
          <a:ln w="7303">
            <a:solidFill>
              <a:srgbClr val="B5C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2652" y="3114544"/>
            <a:ext cx="1655899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3D2C"/>
                </a:solidFill>
                <a:latin typeface="Arial"/>
              </a:rPr>
              <a:t>Kelembapan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6548" y="3147867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60–70% tumbuh · 50–60% buah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3193" y="3147867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Dehumidifier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9838" y="3154714"/>
            <a:ext cx="21972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3C8550"/>
                </a:solidFill>
                <a:latin typeface="Arial"/>
              </a:rPr>
              <a:t>OTOMATIS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5109" y="3158366"/>
            <a:ext cx="16558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73D2C"/>
                </a:solidFill>
                <a:latin typeface="Arial"/>
              </a:rPr>
              <a:t>Rp13 jt/unit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195" y="3564630"/>
            <a:ext cx="11021607" cy="695557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585195" y="4260188"/>
            <a:ext cx="11021608" cy="0"/>
          </a:xfrm>
          <a:prstGeom prst="line">
            <a:avLst/>
          </a:prstGeom>
          <a:ln w="7303">
            <a:solidFill>
              <a:srgbClr val="B5C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2652" y="3810101"/>
            <a:ext cx="1655899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3D2C"/>
                </a:solidFill>
                <a:latin typeface="Arial"/>
              </a:rPr>
              <a:t>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6548" y="3843424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5,8–6,5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3193" y="3843424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Sensor rendam + pH up/down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9838" y="3850271"/>
            <a:ext cx="21972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3C8550"/>
                </a:solidFill>
                <a:latin typeface="Arial"/>
              </a:rPr>
              <a:t>MANUAL 2×/HARI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5109" y="3853923"/>
            <a:ext cx="16558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73D2C"/>
                </a:solidFill>
                <a:latin typeface="Arial"/>
              </a:rPr>
              <a:t>Rp350 rb/unit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195" y="4260188"/>
            <a:ext cx="11021607" cy="695557"/>
          </a:xfrm>
          <a:prstGeom prst="rect">
            <a:avLst/>
          </a:prstGeom>
          <a:solidFill>
            <a:srgbClr val="E7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585195" y="4955745"/>
            <a:ext cx="11021608" cy="0"/>
          </a:xfrm>
          <a:prstGeom prst="line">
            <a:avLst/>
          </a:prstGeom>
          <a:ln w="7303">
            <a:solidFill>
              <a:srgbClr val="B5C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2652" y="4505658"/>
            <a:ext cx="1655899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3D2C"/>
                </a:solidFill>
                <a:latin typeface="Arial"/>
              </a:rPr>
              <a:t>EC / TDS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6548" y="4538981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900–1.750 ppm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3193" y="4538981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Sensor rendam + AB Mix / 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9838" y="4545828"/>
            <a:ext cx="21972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3C8550"/>
                </a:solidFill>
                <a:latin typeface="Arial"/>
              </a:rPr>
              <a:t>MANUAL 2×/HARI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5109" y="4549480"/>
            <a:ext cx="16558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73D2C"/>
                </a:solidFill>
                <a:latin typeface="Arial"/>
              </a:rPr>
              <a:t>Rp350 rb/unit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195" y="5034944"/>
            <a:ext cx="2534897" cy="1072835"/>
          </a:xfrm>
          <a:prstGeom prst="rect">
            <a:avLst/>
          </a:prstGeom>
          <a:solidFill>
            <a:srgbClr val="DCE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8814" y="5120191"/>
            <a:ext cx="2359664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143D30"/>
                </a:solidFill>
                <a:latin typeface="Arial"/>
              </a:rPr>
              <a:t>3 titik / 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8814" y="5797489"/>
            <a:ext cx="2359664" cy="2504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D30"/>
                </a:solidFill>
                <a:latin typeface="Arial"/>
              </a:rPr>
              <a:t>sensor IoT + ESP32 · alarm ke operator · Rp15 jt/GH menurut sumber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99291" y="5034944"/>
            <a:ext cx="2204298" cy="1072835"/>
          </a:xfrm>
          <a:prstGeom prst="rect">
            <a:avLst/>
          </a:prstGeom>
          <a:solidFill>
            <a:srgbClr val="DCE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02910" y="5120191"/>
            <a:ext cx="2029064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143D30"/>
                </a:solidFill>
                <a:latin typeface="Arial"/>
              </a:rPr>
              <a:t>1.200 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02910" y="5906359"/>
            <a:ext cx="202906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D30"/>
                </a:solidFill>
                <a:latin typeface="Arial"/>
              </a:rPr>
              <a:t>genset cadangan · pompa nutrisi tetap berjalan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2788" y="5034944"/>
            <a:ext cx="6124015" cy="1072835"/>
          </a:xfrm>
          <a:prstGeom prst="rect">
            <a:avLst/>
          </a:prstGeom>
          <a:solidFill>
            <a:srgbClr val="12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92455" y="5120191"/>
            <a:ext cx="593668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7E99B"/>
                </a:solidFill>
                <a:latin typeface="Arial"/>
              </a:rPr>
              <a:t>01 / 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2455" y="5237049"/>
            <a:ext cx="5936685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5FAED"/>
                </a:solidFill>
                <a:latin typeface="Arial"/>
              </a:rPr>
              <a:t>Suhu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92455" y="5448055"/>
            <a:ext cx="593668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5FAED"/>
                </a:solidFill>
                <a:latin typeface="Arial"/>
              </a:rPr>
              <a:t>Blower dan exhaust bekerja otomatis dalam target 25–30°C siang dan 18–22°C malam.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92455" y="5934888"/>
            <a:ext cx="5936685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6" b="1" i="0">
                <a:solidFill>
                  <a:srgbClr val="C7E99B"/>
                </a:solidFill>
                <a:latin typeface="Arial"/>
              </a:rPr>
              <a:t>KLIK TAHAP ATAU TEKAN →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Dua kontrol otomatis, dua koreksi nutrisi oleh operator. Harga alat adalah estimasi pada slide sumber.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20 / 66 · ASLI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Mengapa memilih DFT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Akar tetap terendam dan larutan kembali ke bak; sistem perlu listrik cadangan dan pemisahan stok A+B.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2309090"/>
            <a:ext cx="2444630" cy="1971068"/>
          </a:xfrm>
          <a:prstGeom prst="rect">
            <a:avLst/>
          </a:prstGeom>
          <a:solidFill>
            <a:srgbClr val="D9E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2309090"/>
            <a:ext cx="2444631" cy="0"/>
          </a:xfrm>
          <a:prstGeom prst="line">
            <a:avLst/>
          </a:prstGeom>
          <a:ln w="36517">
            <a:solidFill>
              <a:srgbClr val="6AA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7073" y="2978057"/>
            <a:ext cx="22328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D7F5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073" y="3165555"/>
            <a:ext cx="2232879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43D30"/>
                </a:solidFill>
                <a:latin typeface="Arial"/>
              </a:rPr>
              <a:t>BAK A+B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073" y="3521037"/>
            <a:ext cx="223287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stok pekat terpisah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133" y="3093774"/>
            <a:ext cx="397751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55935B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4188" y="2309090"/>
            <a:ext cx="2444630" cy="1971068"/>
          </a:xfrm>
          <a:prstGeom prst="rect">
            <a:avLst/>
          </a:prstGeom>
          <a:solidFill>
            <a:srgbClr val="D9E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444188" y="2309090"/>
            <a:ext cx="2444631" cy="0"/>
          </a:xfrm>
          <a:prstGeom prst="line">
            <a:avLst/>
          </a:prstGeom>
          <a:ln w="36517">
            <a:solidFill>
              <a:srgbClr val="6AA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66066" y="2978057"/>
            <a:ext cx="22328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D7F5B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066" y="3165555"/>
            <a:ext cx="2232879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43D30"/>
                </a:solidFill>
                <a:latin typeface="Arial"/>
              </a:rPr>
              <a:t>POMPA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066" y="3521037"/>
            <a:ext cx="223287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cadangan daya 1.200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3126" y="3093774"/>
            <a:ext cx="397751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55935B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3180" y="2309090"/>
            <a:ext cx="2444630" cy="1971068"/>
          </a:xfrm>
          <a:prstGeom prst="rect">
            <a:avLst/>
          </a:prstGeom>
          <a:solidFill>
            <a:srgbClr val="BBD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303180" y="2309090"/>
            <a:ext cx="2444631" cy="0"/>
          </a:xfrm>
          <a:prstGeom prst="line">
            <a:avLst/>
          </a:prstGeom>
          <a:ln w="36517">
            <a:solidFill>
              <a:srgbClr val="6AA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25058" y="2978057"/>
            <a:ext cx="22328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D7F5B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58" y="3165555"/>
            <a:ext cx="2232879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43D30"/>
                </a:solidFill>
                <a:latin typeface="Arial"/>
              </a:rPr>
              <a:t>PIPA DFT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058" y="3521037"/>
            <a:ext cx="223287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akar terendam 24 jam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2118" y="3093774"/>
            <a:ext cx="397751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55935B"/>
                </a:solidFill>
                <a:latin typeface="Arial"/>
              </a:rPr>
              <a:t>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62173" y="2309090"/>
            <a:ext cx="2444630" cy="1971068"/>
          </a:xfrm>
          <a:prstGeom prst="rect">
            <a:avLst/>
          </a:prstGeom>
          <a:solidFill>
            <a:srgbClr val="D9E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162173" y="2309090"/>
            <a:ext cx="2444630" cy="0"/>
          </a:xfrm>
          <a:prstGeom prst="line">
            <a:avLst/>
          </a:prstGeom>
          <a:ln w="36517">
            <a:solidFill>
              <a:srgbClr val="6AA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84050" y="2978057"/>
            <a:ext cx="22328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D7F5B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4050" y="3165555"/>
            <a:ext cx="2232879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43D30"/>
                </a:solidFill>
                <a:latin typeface="Arial"/>
              </a:rPr>
              <a:t>KEMBALI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4050" y="3521037"/>
            <a:ext cx="223287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larutan balik ke bak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195" y="4766649"/>
            <a:ext cx="2552243" cy="1341130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7073" y="5170175"/>
            <a:ext cx="2340492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FFFFFF"/>
                </a:solidFill>
                <a:latin typeface="Arial"/>
              </a:rPr>
              <a:t>45–60 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073" y="5535927"/>
            <a:ext cx="23404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FFFF"/>
                </a:solidFill>
                <a:latin typeface="Arial"/>
              </a:rPr>
              <a:t>air per kg melon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4896" y="4766649"/>
            <a:ext cx="2552243" cy="1341130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6774" y="5170175"/>
            <a:ext cx="2340492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FFFFFF"/>
                </a:solidFill>
                <a:latin typeface="Arial"/>
              </a:rPr>
              <a:t>80–85%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6774" y="5535927"/>
            <a:ext cx="23404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FFFF"/>
                </a:solidFill>
                <a:latin typeface="Arial"/>
              </a:rPr>
              <a:t>hemat air · klaim sumber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4596" y="4766649"/>
            <a:ext cx="5722207" cy="1341130"/>
          </a:xfrm>
          <a:prstGeom prst="rect">
            <a:avLst/>
          </a:prstGeom>
          <a:solidFill>
            <a:srgbClr val="F0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884596" y="4766649"/>
            <a:ext cx="5722207" cy="0"/>
          </a:xfrm>
          <a:prstGeom prst="line">
            <a:avLst/>
          </a:prstGeom>
          <a:ln w="36517">
            <a:solidFill>
              <a:srgbClr val="B69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18685" y="4942050"/>
            <a:ext cx="135645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795F3D"/>
                </a:solidFill>
                <a:latin typeface="Arial"/>
              </a:rPr>
              <a:t>KELEMAHAN YANG DIJAGA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8685" y="5124755"/>
            <a:ext cx="5486034" cy="3139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D30"/>
                </a:solidFill>
                <a:latin typeface="Arial"/>
              </a:rPr>
              <a:t>Satu jalur berbagi larutan. Bibit lemah disaring di nursery (5–10%); pompa dan listrik harus punya cadangan.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Penghematan air dan risiko gagal panen adalah sasaran pada materi sumber, bukan hasil fasilitas yang sudah berjalan.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55031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55031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55031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55031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21 / 66 · ASLI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Produksi tahun demi tahun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Roadmap sumber memulai 35 unit dan memperluas ke beberapa kota hingga Tahun 10.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91814" y="2378702"/>
            <a:ext cx="11008370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1814" y="1950184"/>
            <a:ext cx="223390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43D30"/>
                </a:solidFill>
                <a:latin typeface="Arial"/>
              </a:rPr>
              <a:t>50,3 → 816,6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9062" y="2132775"/>
            <a:ext cx="596658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ton/tahun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4088" y="2147383"/>
            <a:ext cx="190810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143D30"/>
                </a:solidFill>
                <a:latin typeface="Arial"/>
              </a:rPr>
              <a:t>35 → 237 GREENHOUSE · Y0–Y10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1814" y="2421269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814" y="2484837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1814" y="2548405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4" y="2611973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4" y="2675541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4" y="2739109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4" y="2802677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814" y="2866245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1814" y="2929813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1814" y="2993381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4" y="3056949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4" y="3120517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814" y="3184085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1814" y="3247653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1814" y="3311221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1814" y="3374789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4" y="3438357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1814" y="3501925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4" y="3565493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1814" y="3629061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1814" y="3692629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1814" y="3756197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1814" y="3819765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1814" y="3883333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814" y="3946901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1814" y="4010469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1814" y="4074038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1814" y="4137606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1814" y="4201174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1814" y="4264742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1814" y="4328310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1814" y="4391878"/>
            <a:ext cx="11008370" cy="6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>
            <a:off x="591814" y="4455446"/>
            <a:ext cx="11008370" cy="0"/>
          </a:xfrm>
          <a:prstGeom prst="line">
            <a:avLst/>
          </a:prstGeom>
          <a:ln w="7303">
            <a:solidFill>
              <a:srgbClr val="829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84151" y="4203242"/>
            <a:ext cx="19804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0" i="0">
                <a:solidFill>
                  <a:srgbClr val="143D30"/>
                </a:solidFill>
                <a:latin typeface="Arial"/>
              </a:rPr>
              <a:t>50,3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931" y="4322497"/>
            <a:ext cx="798710" cy="5387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7931" y="4326423"/>
            <a:ext cx="798710" cy="5387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7931" y="4330349"/>
            <a:ext cx="798710" cy="5387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7931" y="4334276"/>
            <a:ext cx="798710" cy="5387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7931" y="4338202"/>
            <a:ext cx="798710" cy="5387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7931" y="4342129"/>
            <a:ext cx="798710" cy="5387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7931" y="4346055"/>
            <a:ext cx="798710" cy="5387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7931" y="4349982"/>
            <a:ext cx="798710" cy="5387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7931" y="4353908"/>
            <a:ext cx="798710" cy="5387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7931" y="4357834"/>
            <a:ext cx="798710" cy="5387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67931" y="4361761"/>
            <a:ext cx="798710" cy="5387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67931" y="4365687"/>
            <a:ext cx="798710" cy="5387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7931" y="4369614"/>
            <a:ext cx="798710" cy="5387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7931" y="4373540"/>
            <a:ext cx="798710" cy="5387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7931" y="4377466"/>
            <a:ext cx="798710" cy="5387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67931" y="4381393"/>
            <a:ext cx="798710" cy="5387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67931" y="4385319"/>
            <a:ext cx="798710" cy="5387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7931" y="4389246"/>
            <a:ext cx="798710" cy="5387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7931" y="4393172"/>
            <a:ext cx="798710" cy="5387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67931" y="4397099"/>
            <a:ext cx="798710" cy="5387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7931" y="4401025"/>
            <a:ext cx="798710" cy="5387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7931" y="4404951"/>
            <a:ext cx="798710" cy="5387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7931" y="4408878"/>
            <a:ext cx="798710" cy="5387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7931" y="4412804"/>
            <a:ext cx="798710" cy="5387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67931" y="4416731"/>
            <a:ext cx="798710" cy="5387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7931" y="4420657"/>
            <a:ext cx="798710" cy="5387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67931" y="4424584"/>
            <a:ext cx="798710" cy="5387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7931" y="4428510"/>
            <a:ext cx="798710" cy="5387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7931" y="4432436"/>
            <a:ext cx="798710" cy="5387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7931" y="4436363"/>
            <a:ext cx="798710" cy="5387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7931" y="4440289"/>
            <a:ext cx="798710" cy="5387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7931" y="4444216"/>
            <a:ext cx="798710" cy="5387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63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73651" y="4198905"/>
            <a:ext cx="798710" cy="9249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73651" y="4206694"/>
            <a:ext cx="798710" cy="9249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73651" y="4214483"/>
            <a:ext cx="798710" cy="9249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73651" y="4222271"/>
            <a:ext cx="798710" cy="9249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73651" y="4230060"/>
            <a:ext cx="798710" cy="9249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673651" y="4237849"/>
            <a:ext cx="798710" cy="9249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73651" y="4245637"/>
            <a:ext cx="798710" cy="9249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673651" y="4253426"/>
            <a:ext cx="798710" cy="9249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673651" y="4261215"/>
            <a:ext cx="798710" cy="9249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673651" y="4269003"/>
            <a:ext cx="798710" cy="9249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673651" y="4276792"/>
            <a:ext cx="798710" cy="9249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73651" y="4284581"/>
            <a:ext cx="798710" cy="9249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73651" y="4292369"/>
            <a:ext cx="798710" cy="9249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673651" y="4300158"/>
            <a:ext cx="798710" cy="9249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673651" y="4307946"/>
            <a:ext cx="798710" cy="9249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673651" y="4315735"/>
            <a:ext cx="798710" cy="9249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673651" y="4323524"/>
            <a:ext cx="798710" cy="9249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673651" y="4331312"/>
            <a:ext cx="798710" cy="9249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673651" y="4339101"/>
            <a:ext cx="798710" cy="9249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673651" y="4346890"/>
            <a:ext cx="798710" cy="9249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673651" y="4354678"/>
            <a:ext cx="798710" cy="9249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73651" y="4362467"/>
            <a:ext cx="798710" cy="9249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73651" y="4370256"/>
            <a:ext cx="798710" cy="9249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73651" y="4378044"/>
            <a:ext cx="798710" cy="9249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673651" y="4385833"/>
            <a:ext cx="798710" cy="9249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673651" y="4393622"/>
            <a:ext cx="798710" cy="9249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673651" y="4401410"/>
            <a:ext cx="798710" cy="9249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673651" y="4409199"/>
            <a:ext cx="798710" cy="9249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73651" y="4416987"/>
            <a:ext cx="798710" cy="9249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673651" y="4424776"/>
            <a:ext cx="798710" cy="9249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673651" y="4432565"/>
            <a:ext cx="798710" cy="9249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673651" y="4440353"/>
            <a:ext cx="798710" cy="9249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020683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71854" y="3925476"/>
            <a:ext cx="24551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0" i="0">
                <a:solidFill>
                  <a:srgbClr val="143D30"/>
                </a:solidFill>
                <a:latin typeface="Arial"/>
              </a:rPr>
              <a:t>162,3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679371" y="4044844"/>
            <a:ext cx="798710" cy="14063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679371" y="4057447"/>
            <a:ext cx="798710" cy="14063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79371" y="4070050"/>
            <a:ext cx="798710" cy="14063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679371" y="4082654"/>
            <a:ext cx="798710" cy="14063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679371" y="4095257"/>
            <a:ext cx="798710" cy="14063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679371" y="4107860"/>
            <a:ext cx="798710" cy="14063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679371" y="4120463"/>
            <a:ext cx="798710" cy="14063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679371" y="4133066"/>
            <a:ext cx="798710" cy="14063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679371" y="4145669"/>
            <a:ext cx="798710" cy="14063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679371" y="4158272"/>
            <a:ext cx="798710" cy="14063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679371" y="4170875"/>
            <a:ext cx="798710" cy="14063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679371" y="4183478"/>
            <a:ext cx="798710" cy="14063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679371" y="4196081"/>
            <a:ext cx="798710" cy="14063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79371" y="4208684"/>
            <a:ext cx="798710" cy="14063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679371" y="4221287"/>
            <a:ext cx="798710" cy="14063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679371" y="4233890"/>
            <a:ext cx="798710" cy="14063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679371" y="4246493"/>
            <a:ext cx="798710" cy="14063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679371" y="4259096"/>
            <a:ext cx="798710" cy="14063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679371" y="4271699"/>
            <a:ext cx="798710" cy="14063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679371" y="4284302"/>
            <a:ext cx="798710" cy="14063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679371" y="4296905"/>
            <a:ext cx="798710" cy="14063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679371" y="4309508"/>
            <a:ext cx="798710" cy="14063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679371" y="4322111"/>
            <a:ext cx="798710" cy="14063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679371" y="4334715"/>
            <a:ext cx="798710" cy="14063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679371" y="4347318"/>
            <a:ext cx="798710" cy="14063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679371" y="4359921"/>
            <a:ext cx="798710" cy="14063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679371" y="4372524"/>
            <a:ext cx="798710" cy="14063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679371" y="4385127"/>
            <a:ext cx="798710" cy="14063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679371" y="4397730"/>
            <a:ext cx="798710" cy="14063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679371" y="4410333"/>
            <a:ext cx="798710" cy="14063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679371" y="4422936"/>
            <a:ext cx="798710" cy="14063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679371" y="4435539"/>
            <a:ext cx="798710" cy="14063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026403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85090" y="3892837"/>
            <a:ext cx="798710" cy="18813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685090" y="3910191"/>
            <a:ext cx="798710" cy="18813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685090" y="3927544"/>
            <a:ext cx="798710" cy="18813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685090" y="3944897"/>
            <a:ext cx="798710" cy="18813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685090" y="3962251"/>
            <a:ext cx="798710" cy="18813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685090" y="3979604"/>
            <a:ext cx="798710" cy="18813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685090" y="3996957"/>
            <a:ext cx="798710" cy="18813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685090" y="4014310"/>
            <a:ext cx="798710" cy="18813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685090" y="4031664"/>
            <a:ext cx="798710" cy="18813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685090" y="4049017"/>
            <a:ext cx="798710" cy="18813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685090" y="4066370"/>
            <a:ext cx="798710" cy="18813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685090" y="4083723"/>
            <a:ext cx="798710" cy="18813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685090" y="4101077"/>
            <a:ext cx="798710" cy="18813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685090" y="4118430"/>
            <a:ext cx="798710" cy="18813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685090" y="4135783"/>
            <a:ext cx="798710" cy="18813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685090" y="4153136"/>
            <a:ext cx="798710" cy="18813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685090" y="4170490"/>
            <a:ext cx="798710" cy="18813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685090" y="4187843"/>
            <a:ext cx="798710" cy="18813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685090" y="4205196"/>
            <a:ext cx="798710" cy="18813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685090" y="4222550"/>
            <a:ext cx="798710" cy="18813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685090" y="4239903"/>
            <a:ext cx="798710" cy="18813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685090" y="4257256"/>
            <a:ext cx="798710" cy="18813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685090" y="4274609"/>
            <a:ext cx="798710" cy="18813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685090" y="4291963"/>
            <a:ext cx="798710" cy="18813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685090" y="4309316"/>
            <a:ext cx="798710" cy="18813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685090" y="4326669"/>
            <a:ext cx="798710" cy="18813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685090" y="4344022"/>
            <a:ext cx="798710" cy="18813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685090" y="4361376"/>
            <a:ext cx="798710" cy="18813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685090" y="4378729"/>
            <a:ext cx="798710" cy="18813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685090" y="4396082"/>
            <a:ext cx="798710" cy="18813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685090" y="4413435"/>
            <a:ext cx="798710" cy="18813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685090" y="4430789"/>
            <a:ext cx="798710" cy="18813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032123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Y3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690810" y="3742885"/>
            <a:ext cx="798710" cy="23500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690810" y="3764924"/>
            <a:ext cx="798710" cy="23500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690810" y="3786963"/>
            <a:ext cx="798710" cy="23500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690810" y="3809003"/>
            <a:ext cx="798710" cy="23500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690810" y="3831042"/>
            <a:ext cx="798710" cy="23500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690810" y="3853081"/>
            <a:ext cx="798710" cy="23500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690810" y="3875120"/>
            <a:ext cx="798710" cy="23500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690810" y="3897160"/>
            <a:ext cx="798710" cy="23500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690810" y="3919199"/>
            <a:ext cx="798710" cy="23500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690810" y="3941238"/>
            <a:ext cx="798710" cy="23500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690810" y="3963278"/>
            <a:ext cx="798710" cy="23500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690810" y="3985317"/>
            <a:ext cx="798710" cy="23500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690810" y="4007356"/>
            <a:ext cx="798710" cy="23500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690810" y="4029395"/>
            <a:ext cx="798710" cy="23500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690810" y="4051435"/>
            <a:ext cx="798710" cy="23500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690810" y="4073474"/>
            <a:ext cx="798710" cy="23500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690810" y="4095513"/>
            <a:ext cx="798710" cy="23500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690810" y="4117553"/>
            <a:ext cx="798710" cy="23500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690810" y="4139592"/>
            <a:ext cx="798710" cy="23500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690810" y="4161631"/>
            <a:ext cx="798710" cy="23500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690810" y="4183671"/>
            <a:ext cx="798710" cy="23500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690810" y="4205710"/>
            <a:ext cx="798710" cy="23500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690810" y="4227749"/>
            <a:ext cx="798710" cy="23500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690810" y="4249788"/>
            <a:ext cx="798710" cy="23500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690810" y="4271828"/>
            <a:ext cx="798710" cy="23500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690810" y="4293867"/>
            <a:ext cx="798710" cy="23500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690810" y="4315906"/>
            <a:ext cx="798710" cy="23500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690810" y="4337946"/>
            <a:ext cx="798710" cy="23500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690810" y="4359985"/>
            <a:ext cx="798710" cy="23500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690810" y="4382024"/>
            <a:ext cx="798710" cy="23500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690810" y="4404063"/>
            <a:ext cx="798710" cy="23500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690810" y="4426103"/>
            <a:ext cx="798710" cy="23500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5037842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Y4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696530" y="3590878"/>
            <a:ext cx="798824" cy="28250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696530" y="3617667"/>
            <a:ext cx="798824" cy="28250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696530" y="3644457"/>
            <a:ext cx="798824" cy="28250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696530" y="3671246"/>
            <a:ext cx="798824" cy="28250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696530" y="3698036"/>
            <a:ext cx="798824" cy="28250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696530" y="3724825"/>
            <a:ext cx="798824" cy="28250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696530" y="3751615"/>
            <a:ext cx="798824" cy="28250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696530" y="3778404"/>
            <a:ext cx="798824" cy="28250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696530" y="3805194"/>
            <a:ext cx="798824" cy="28250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696530" y="3831983"/>
            <a:ext cx="798824" cy="28250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696530" y="3858773"/>
            <a:ext cx="798824" cy="28250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696530" y="3885562"/>
            <a:ext cx="798824" cy="28250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5696530" y="3912352"/>
            <a:ext cx="798824" cy="28250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696530" y="3939141"/>
            <a:ext cx="798824" cy="28250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696530" y="3965931"/>
            <a:ext cx="798824" cy="28250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96530" y="3992720"/>
            <a:ext cx="798824" cy="28250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96530" y="4019510"/>
            <a:ext cx="798824" cy="28250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96530" y="4046299"/>
            <a:ext cx="798824" cy="28250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96530" y="4073089"/>
            <a:ext cx="798824" cy="28250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96530" y="4099878"/>
            <a:ext cx="798824" cy="28250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96530" y="4126668"/>
            <a:ext cx="798824" cy="28250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96530" y="4153457"/>
            <a:ext cx="798824" cy="28250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696530" y="4180247"/>
            <a:ext cx="798824" cy="28250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696530" y="4207036"/>
            <a:ext cx="798824" cy="28250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696530" y="4233826"/>
            <a:ext cx="798824" cy="28250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696530" y="4260615"/>
            <a:ext cx="798824" cy="28250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696530" y="4287405"/>
            <a:ext cx="798824" cy="28250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696530" y="4314194"/>
            <a:ext cx="798824" cy="28250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5696530" y="4340984"/>
            <a:ext cx="798824" cy="28250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696530" y="4367773"/>
            <a:ext cx="798824" cy="28250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696530" y="4394563"/>
            <a:ext cx="798824" cy="28250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696530" y="4421352"/>
            <a:ext cx="798824" cy="28250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043676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Y5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994848" y="3282984"/>
            <a:ext cx="24551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0" i="0">
                <a:solidFill>
                  <a:srgbClr val="143D30"/>
                </a:solidFill>
                <a:latin typeface="Arial"/>
              </a:rPr>
              <a:t>421,6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702364" y="3402353"/>
            <a:ext cx="798710" cy="34141"/>
          </a:xfrm>
          <a:prstGeom prst="rect">
            <a:avLst/>
          </a:prstGeom>
          <a:solidFill>
            <a:srgbClr val="C7E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6702364" y="3435034"/>
            <a:ext cx="798710" cy="34141"/>
          </a:xfrm>
          <a:prstGeom prst="rect">
            <a:avLst/>
          </a:prstGeom>
          <a:solidFill>
            <a:srgbClr val="C3E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6702364" y="3467714"/>
            <a:ext cx="798710" cy="34141"/>
          </a:xfrm>
          <a:prstGeom prst="rect">
            <a:avLst/>
          </a:prstGeom>
          <a:solidFill>
            <a:srgbClr val="BFE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6702364" y="3500395"/>
            <a:ext cx="798710" cy="34141"/>
          </a:xfrm>
          <a:prstGeom prst="rect">
            <a:avLst/>
          </a:prstGeom>
          <a:solidFill>
            <a:srgbClr val="BCD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6702364" y="3533076"/>
            <a:ext cx="798710" cy="34141"/>
          </a:xfrm>
          <a:prstGeom prst="rect">
            <a:avLst/>
          </a:prstGeom>
          <a:solidFill>
            <a:srgbClr val="B8D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6702364" y="3565757"/>
            <a:ext cx="798710" cy="34141"/>
          </a:xfrm>
          <a:prstGeom prst="rect">
            <a:avLst/>
          </a:prstGeom>
          <a:solidFill>
            <a:srgbClr val="B4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6702364" y="3598438"/>
            <a:ext cx="798710" cy="34141"/>
          </a:xfrm>
          <a:prstGeom prst="rect">
            <a:avLst/>
          </a:prstGeom>
          <a:solidFill>
            <a:srgbClr val="B0D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6702364" y="3631119"/>
            <a:ext cx="798710" cy="34141"/>
          </a:xfrm>
          <a:prstGeom prst="rect">
            <a:avLst/>
          </a:prstGeom>
          <a:solidFill>
            <a:srgbClr val="ACD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6702364" y="3663800"/>
            <a:ext cx="798710" cy="34141"/>
          </a:xfrm>
          <a:prstGeom prst="rect">
            <a:avLst/>
          </a:prstGeom>
          <a:solidFill>
            <a:srgbClr val="A9D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6702364" y="3696481"/>
            <a:ext cx="798710" cy="34141"/>
          </a:xfrm>
          <a:prstGeom prst="rect">
            <a:avLst/>
          </a:prstGeom>
          <a:solidFill>
            <a:srgbClr val="A5C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702364" y="3729162"/>
            <a:ext cx="798710" cy="34141"/>
          </a:xfrm>
          <a:prstGeom prst="rect">
            <a:avLst/>
          </a:prstGeom>
          <a:solidFill>
            <a:srgbClr val="A1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6702364" y="3761843"/>
            <a:ext cx="798710" cy="34141"/>
          </a:xfrm>
          <a:prstGeom prst="rect">
            <a:avLst/>
          </a:prstGeom>
          <a:solidFill>
            <a:srgbClr val="9DC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6702364" y="3794524"/>
            <a:ext cx="798710" cy="34141"/>
          </a:xfrm>
          <a:prstGeom prst="rect">
            <a:avLst/>
          </a:prstGeom>
          <a:solidFill>
            <a:srgbClr val="99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6702364" y="3827205"/>
            <a:ext cx="798710" cy="34141"/>
          </a:xfrm>
          <a:prstGeom prst="rect">
            <a:avLst/>
          </a:prstGeom>
          <a:solidFill>
            <a:srgbClr val="96C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702364" y="3859885"/>
            <a:ext cx="798710" cy="34141"/>
          </a:xfrm>
          <a:prstGeom prst="rect">
            <a:avLst/>
          </a:prstGeom>
          <a:solidFill>
            <a:srgbClr val="92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6702364" y="3892566"/>
            <a:ext cx="798710" cy="34141"/>
          </a:xfrm>
          <a:prstGeom prst="rect">
            <a:avLst/>
          </a:prstGeom>
          <a:solidFill>
            <a:srgbClr val="8E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702364" y="3925247"/>
            <a:ext cx="798710" cy="34141"/>
          </a:xfrm>
          <a:prstGeom prst="rect">
            <a:avLst/>
          </a:prstGeom>
          <a:solidFill>
            <a:srgbClr val="8A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702364" y="3957928"/>
            <a:ext cx="798710" cy="34141"/>
          </a:xfrm>
          <a:prstGeom prst="rect">
            <a:avLst/>
          </a:prstGeom>
          <a:solidFill>
            <a:srgbClr val="86B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702364" y="3990609"/>
            <a:ext cx="798710" cy="34141"/>
          </a:xfrm>
          <a:prstGeom prst="rect">
            <a:avLst/>
          </a:prstGeom>
          <a:solidFill>
            <a:srgbClr val="82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6702364" y="4023290"/>
            <a:ext cx="798710" cy="34141"/>
          </a:xfrm>
          <a:prstGeom prst="rect">
            <a:avLst/>
          </a:prstGeom>
          <a:solidFill>
            <a:srgbClr val="7F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702364" y="4055971"/>
            <a:ext cx="798710" cy="34141"/>
          </a:xfrm>
          <a:prstGeom prst="rect">
            <a:avLst/>
          </a:prstGeom>
          <a:solidFill>
            <a:srgbClr val="7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702364" y="4088652"/>
            <a:ext cx="798710" cy="34141"/>
          </a:xfrm>
          <a:prstGeom prst="rect">
            <a:avLst/>
          </a:prstGeom>
          <a:solidFill>
            <a:srgbClr val="77B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702364" y="4121333"/>
            <a:ext cx="798710" cy="34141"/>
          </a:xfrm>
          <a:prstGeom prst="rect">
            <a:avLst/>
          </a:prstGeom>
          <a:solidFill>
            <a:srgbClr val="73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702364" y="4154014"/>
            <a:ext cx="798710" cy="34141"/>
          </a:xfrm>
          <a:prstGeom prst="rect">
            <a:avLst/>
          </a:prstGeom>
          <a:solidFill>
            <a:srgbClr val="6FA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702364" y="4186695"/>
            <a:ext cx="798710" cy="34141"/>
          </a:xfrm>
          <a:prstGeom prst="rect">
            <a:avLst/>
          </a:prstGeom>
          <a:solidFill>
            <a:srgbClr val="6CA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702364" y="4219376"/>
            <a:ext cx="798710" cy="34141"/>
          </a:xfrm>
          <a:prstGeom prst="rect">
            <a:avLst/>
          </a:prstGeom>
          <a:solidFill>
            <a:srgbClr val="68A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6702364" y="4252057"/>
            <a:ext cx="798710" cy="34141"/>
          </a:xfrm>
          <a:prstGeom prst="rect">
            <a:avLst/>
          </a:prstGeom>
          <a:solidFill>
            <a:srgbClr val="64A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702364" y="4284737"/>
            <a:ext cx="798710" cy="34141"/>
          </a:xfrm>
          <a:prstGeom prst="rect">
            <a:avLst/>
          </a:prstGeom>
          <a:solidFill>
            <a:srgbClr val="60A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702364" y="4317418"/>
            <a:ext cx="798710" cy="34141"/>
          </a:xfrm>
          <a:prstGeom prst="rect">
            <a:avLst/>
          </a:prstGeom>
          <a:solidFill>
            <a:srgbClr val="5CA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6702364" y="4350099"/>
            <a:ext cx="798710" cy="34141"/>
          </a:xfrm>
          <a:prstGeom prst="rect">
            <a:avLst/>
          </a:prstGeom>
          <a:solidFill>
            <a:srgbClr val="59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6702364" y="4382780"/>
            <a:ext cx="798710" cy="34141"/>
          </a:xfrm>
          <a:prstGeom prst="rect">
            <a:avLst/>
          </a:prstGeom>
          <a:solidFill>
            <a:srgbClr val="5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6702364" y="4415461"/>
            <a:ext cx="798710" cy="34141"/>
          </a:xfrm>
          <a:prstGeom prst="rect">
            <a:avLst/>
          </a:prstGeom>
          <a:solidFill>
            <a:srgbClr val="51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049396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Y6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7708084" y="3230032"/>
            <a:ext cx="798710" cy="39526"/>
          </a:xfrm>
          <a:prstGeom prst="rect">
            <a:avLst/>
          </a:prstGeom>
          <a:solidFill>
            <a:srgbClr val="C7E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7708084" y="3268098"/>
            <a:ext cx="798710" cy="39526"/>
          </a:xfrm>
          <a:prstGeom prst="rect">
            <a:avLst/>
          </a:prstGeom>
          <a:solidFill>
            <a:srgbClr val="C3E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708084" y="3306164"/>
            <a:ext cx="798710" cy="39526"/>
          </a:xfrm>
          <a:prstGeom prst="rect">
            <a:avLst/>
          </a:prstGeom>
          <a:solidFill>
            <a:srgbClr val="BFE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708084" y="3344230"/>
            <a:ext cx="798710" cy="39526"/>
          </a:xfrm>
          <a:prstGeom prst="rect">
            <a:avLst/>
          </a:prstGeom>
          <a:solidFill>
            <a:srgbClr val="BCD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708084" y="3382296"/>
            <a:ext cx="798710" cy="39526"/>
          </a:xfrm>
          <a:prstGeom prst="rect">
            <a:avLst/>
          </a:prstGeom>
          <a:solidFill>
            <a:srgbClr val="B8D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708084" y="3420362"/>
            <a:ext cx="798710" cy="39526"/>
          </a:xfrm>
          <a:prstGeom prst="rect">
            <a:avLst/>
          </a:prstGeom>
          <a:solidFill>
            <a:srgbClr val="B4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708084" y="3458428"/>
            <a:ext cx="798710" cy="39526"/>
          </a:xfrm>
          <a:prstGeom prst="rect">
            <a:avLst/>
          </a:prstGeom>
          <a:solidFill>
            <a:srgbClr val="B0D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7708084" y="3496494"/>
            <a:ext cx="798710" cy="39526"/>
          </a:xfrm>
          <a:prstGeom prst="rect">
            <a:avLst/>
          </a:prstGeom>
          <a:solidFill>
            <a:srgbClr val="ACD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708084" y="3534560"/>
            <a:ext cx="798710" cy="39526"/>
          </a:xfrm>
          <a:prstGeom prst="rect">
            <a:avLst/>
          </a:prstGeom>
          <a:solidFill>
            <a:srgbClr val="A9D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708084" y="3572626"/>
            <a:ext cx="798710" cy="39526"/>
          </a:xfrm>
          <a:prstGeom prst="rect">
            <a:avLst/>
          </a:prstGeom>
          <a:solidFill>
            <a:srgbClr val="A5C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7708084" y="3610692"/>
            <a:ext cx="798710" cy="39526"/>
          </a:xfrm>
          <a:prstGeom prst="rect">
            <a:avLst/>
          </a:prstGeom>
          <a:solidFill>
            <a:srgbClr val="A1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7708084" y="3648758"/>
            <a:ext cx="798710" cy="39526"/>
          </a:xfrm>
          <a:prstGeom prst="rect">
            <a:avLst/>
          </a:prstGeom>
          <a:solidFill>
            <a:srgbClr val="9DC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708084" y="3686824"/>
            <a:ext cx="798710" cy="39526"/>
          </a:xfrm>
          <a:prstGeom prst="rect">
            <a:avLst/>
          </a:prstGeom>
          <a:solidFill>
            <a:srgbClr val="99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7708084" y="3724889"/>
            <a:ext cx="798710" cy="39526"/>
          </a:xfrm>
          <a:prstGeom prst="rect">
            <a:avLst/>
          </a:prstGeom>
          <a:solidFill>
            <a:srgbClr val="96C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708084" y="3762955"/>
            <a:ext cx="798710" cy="39526"/>
          </a:xfrm>
          <a:prstGeom prst="rect">
            <a:avLst/>
          </a:prstGeom>
          <a:solidFill>
            <a:srgbClr val="92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708084" y="3801021"/>
            <a:ext cx="798710" cy="39526"/>
          </a:xfrm>
          <a:prstGeom prst="rect">
            <a:avLst/>
          </a:prstGeom>
          <a:solidFill>
            <a:srgbClr val="8E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708084" y="3839087"/>
            <a:ext cx="798710" cy="39526"/>
          </a:xfrm>
          <a:prstGeom prst="rect">
            <a:avLst/>
          </a:prstGeom>
          <a:solidFill>
            <a:srgbClr val="8A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7708084" y="3877153"/>
            <a:ext cx="798710" cy="39526"/>
          </a:xfrm>
          <a:prstGeom prst="rect">
            <a:avLst/>
          </a:prstGeom>
          <a:solidFill>
            <a:srgbClr val="86B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7708084" y="3915219"/>
            <a:ext cx="798710" cy="39526"/>
          </a:xfrm>
          <a:prstGeom prst="rect">
            <a:avLst/>
          </a:prstGeom>
          <a:solidFill>
            <a:srgbClr val="82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7708084" y="3953285"/>
            <a:ext cx="798710" cy="39526"/>
          </a:xfrm>
          <a:prstGeom prst="rect">
            <a:avLst/>
          </a:prstGeom>
          <a:solidFill>
            <a:srgbClr val="7F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7708084" y="3991351"/>
            <a:ext cx="798710" cy="39526"/>
          </a:xfrm>
          <a:prstGeom prst="rect">
            <a:avLst/>
          </a:prstGeom>
          <a:solidFill>
            <a:srgbClr val="7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7708084" y="4029417"/>
            <a:ext cx="798710" cy="39526"/>
          </a:xfrm>
          <a:prstGeom prst="rect">
            <a:avLst/>
          </a:prstGeom>
          <a:solidFill>
            <a:srgbClr val="77B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7708084" y="4067483"/>
            <a:ext cx="798710" cy="39526"/>
          </a:xfrm>
          <a:prstGeom prst="rect">
            <a:avLst/>
          </a:prstGeom>
          <a:solidFill>
            <a:srgbClr val="73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7708084" y="4105549"/>
            <a:ext cx="798710" cy="39526"/>
          </a:xfrm>
          <a:prstGeom prst="rect">
            <a:avLst/>
          </a:prstGeom>
          <a:solidFill>
            <a:srgbClr val="6FA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7708084" y="4143615"/>
            <a:ext cx="798710" cy="39526"/>
          </a:xfrm>
          <a:prstGeom prst="rect">
            <a:avLst/>
          </a:prstGeom>
          <a:solidFill>
            <a:srgbClr val="6CA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7708084" y="4181681"/>
            <a:ext cx="798710" cy="39526"/>
          </a:xfrm>
          <a:prstGeom prst="rect">
            <a:avLst/>
          </a:prstGeom>
          <a:solidFill>
            <a:srgbClr val="68A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7708084" y="4219746"/>
            <a:ext cx="798710" cy="39526"/>
          </a:xfrm>
          <a:prstGeom prst="rect">
            <a:avLst/>
          </a:prstGeom>
          <a:solidFill>
            <a:srgbClr val="64A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708084" y="4257812"/>
            <a:ext cx="798710" cy="39526"/>
          </a:xfrm>
          <a:prstGeom prst="rect">
            <a:avLst/>
          </a:prstGeom>
          <a:solidFill>
            <a:srgbClr val="60A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708084" y="4295878"/>
            <a:ext cx="798710" cy="39526"/>
          </a:xfrm>
          <a:prstGeom prst="rect">
            <a:avLst/>
          </a:prstGeom>
          <a:solidFill>
            <a:srgbClr val="5CA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708084" y="4333944"/>
            <a:ext cx="798710" cy="39526"/>
          </a:xfrm>
          <a:prstGeom prst="rect">
            <a:avLst/>
          </a:prstGeom>
          <a:solidFill>
            <a:srgbClr val="59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7708084" y="4372010"/>
            <a:ext cx="798710" cy="39526"/>
          </a:xfrm>
          <a:prstGeom prst="rect">
            <a:avLst/>
          </a:prstGeom>
          <a:solidFill>
            <a:srgbClr val="5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708084" y="4410076"/>
            <a:ext cx="798710" cy="39526"/>
          </a:xfrm>
          <a:prstGeom prst="rect">
            <a:avLst/>
          </a:prstGeom>
          <a:solidFill>
            <a:srgbClr val="51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8055116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Y7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713804" y="3019254"/>
            <a:ext cx="798710" cy="46113"/>
          </a:xfrm>
          <a:prstGeom prst="rect">
            <a:avLst/>
          </a:prstGeom>
          <a:solidFill>
            <a:srgbClr val="C7E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8713804" y="3063907"/>
            <a:ext cx="798710" cy="46113"/>
          </a:xfrm>
          <a:prstGeom prst="rect">
            <a:avLst/>
          </a:prstGeom>
          <a:solidFill>
            <a:srgbClr val="C3E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8713804" y="3108560"/>
            <a:ext cx="798710" cy="46113"/>
          </a:xfrm>
          <a:prstGeom prst="rect">
            <a:avLst/>
          </a:prstGeom>
          <a:solidFill>
            <a:srgbClr val="BFE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713804" y="3153212"/>
            <a:ext cx="798710" cy="46113"/>
          </a:xfrm>
          <a:prstGeom prst="rect">
            <a:avLst/>
          </a:prstGeom>
          <a:solidFill>
            <a:srgbClr val="BCD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8713804" y="3197865"/>
            <a:ext cx="798710" cy="46113"/>
          </a:xfrm>
          <a:prstGeom prst="rect">
            <a:avLst/>
          </a:prstGeom>
          <a:solidFill>
            <a:srgbClr val="B8D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713804" y="3242518"/>
            <a:ext cx="798710" cy="46113"/>
          </a:xfrm>
          <a:prstGeom prst="rect">
            <a:avLst/>
          </a:prstGeom>
          <a:solidFill>
            <a:srgbClr val="B4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8713804" y="3287171"/>
            <a:ext cx="798710" cy="46113"/>
          </a:xfrm>
          <a:prstGeom prst="rect">
            <a:avLst/>
          </a:prstGeom>
          <a:solidFill>
            <a:srgbClr val="B0D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8713804" y="3331823"/>
            <a:ext cx="798710" cy="46113"/>
          </a:xfrm>
          <a:prstGeom prst="rect">
            <a:avLst/>
          </a:prstGeom>
          <a:solidFill>
            <a:srgbClr val="ACD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8713804" y="3376476"/>
            <a:ext cx="798710" cy="46113"/>
          </a:xfrm>
          <a:prstGeom prst="rect">
            <a:avLst/>
          </a:prstGeom>
          <a:solidFill>
            <a:srgbClr val="A9D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8713804" y="3421129"/>
            <a:ext cx="798710" cy="46113"/>
          </a:xfrm>
          <a:prstGeom prst="rect">
            <a:avLst/>
          </a:prstGeom>
          <a:solidFill>
            <a:srgbClr val="A5C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8713804" y="3465782"/>
            <a:ext cx="798710" cy="46113"/>
          </a:xfrm>
          <a:prstGeom prst="rect">
            <a:avLst/>
          </a:prstGeom>
          <a:solidFill>
            <a:srgbClr val="A1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8713804" y="3510434"/>
            <a:ext cx="798710" cy="46113"/>
          </a:xfrm>
          <a:prstGeom prst="rect">
            <a:avLst/>
          </a:prstGeom>
          <a:solidFill>
            <a:srgbClr val="9DC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713804" y="3555087"/>
            <a:ext cx="798710" cy="46113"/>
          </a:xfrm>
          <a:prstGeom prst="rect">
            <a:avLst/>
          </a:prstGeom>
          <a:solidFill>
            <a:srgbClr val="99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8713804" y="3599740"/>
            <a:ext cx="798710" cy="46113"/>
          </a:xfrm>
          <a:prstGeom prst="rect">
            <a:avLst/>
          </a:prstGeom>
          <a:solidFill>
            <a:srgbClr val="96C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8713804" y="3644393"/>
            <a:ext cx="798710" cy="46113"/>
          </a:xfrm>
          <a:prstGeom prst="rect">
            <a:avLst/>
          </a:prstGeom>
          <a:solidFill>
            <a:srgbClr val="92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8713804" y="3689045"/>
            <a:ext cx="798710" cy="46113"/>
          </a:xfrm>
          <a:prstGeom prst="rect">
            <a:avLst/>
          </a:prstGeom>
          <a:solidFill>
            <a:srgbClr val="8E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8713804" y="3733698"/>
            <a:ext cx="798710" cy="46113"/>
          </a:xfrm>
          <a:prstGeom prst="rect">
            <a:avLst/>
          </a:prstGeom>
          <a:solidFill>
            <a:srgbClr val="8A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8713804" y="3778351"/>
            <a:ext cx="798710" cy="46113"/>
          </a:xfrm>
          <a:prstGeom prst="rect">
            <a:avLst/>
          </a:prstGeom>
          <a:solidFill>
            <a:srgbClr val="86B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8713804" y="3823004"/>
            <a:ext cx="798710" cy="46113"/>
          </a:xfrm>
          <a:prstGeom prst="rect">
            <a:avLst/>
          </a:prstGeom>
          <a:solidFill>
            <a:srgbClr val="82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8713804" y="3867656"/>
            <a:ext cx="798710" cy="46113"/>
          </a:xfrm>
          <a:prstGeom prst="rect">
            <a:avLst/>
          </a:prstGeom>
          <a:solidFill>
            <a:srgbClr val="7F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8713804" y="3912309"/>
            <a:ext cx="798710" cy="46113"/>
          </a:xfrm>
          <a:prstGeom prst="rect">
            <a:avLst/>
          </a:prstGeom>
          <a:solidFill>
            <a:srgbClr val="7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8713804" y="3956962"/>
            <a:ext cx="798710" cy="46113"/>
          </a:xfrm>
          <a:prstGeom prst="rect">
            <a:avLst/>
          </a:prstGeom>
          <a:solidFill>
            <a:srgbClr val="77B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8713804" y="4001615"/>
            <a:ext cx="798710" cy="46113"/>
          </a:xfrm>
          <a:prstGeom prst="rect">
            <a:avLst/>
          </a:prstGeom>
          <a:solidFill>
            <a:srgbClr val="73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8713804" y="4046267"/>
            <a:ext cx="798710" cy="46113"/>
          </a:xfrm>
          <a:prstGeom prst="rect">
            <a:avLst/>
          </a:prstGeom>
          <a:solidFill>
            <a:srgbClr val="6FA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8713804" y="4090920"/>
            <a:ext cx="798710" cy="46113"/>
          </a:xfrm>
          <a:prstGeom prst="rect">
            <a:avLst/>
          </a:prstGeom>
          <a:solidFill>
            <a:srgbClr val="6CA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8713804" y="4135573"/>
            <a:ext cx="798710" cy="46113"/>
          </a:xfrm>
          <a:prstGeom prst="rect">
            <a:avLst/>
          </a:prstGeom>
          <a:solidFill>
            <a:srgbClr val="68A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8713804" y="4180226"/>
            <a:ext cx="798710" cy="46113"/>
          </a:xfrm>
          <a:prstGeom prst="rect">
            <a:avLst/>
          </a:prstGeom>
          <a:solidFill>
            <a:srgbClr val="64A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8713804" y="4224878"/>
            <a:ext cx="798710" cy="46113"/>
          </a:xfrm>
          <a:prstGeom prst="rect">
            <a:avLst/>
          </a:prstGeom>
          <a:solidFill>
            <a:srgbClr val="60A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8713804" y="4269531"/>
            <a:ext cx="798710" cy="46113"/>
          </a:xfrm>
          <a:prstGeom prst="rect">
            <a:avLst/>
          </a:prstGeom>
          <a:solidFill>
            <a:srgbClr val="5CA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8713804" y="4314184"/>
            <a:ext cx="798710" cy="46113"/>
          </a:xfrm>
          <a:prstGeom prst="rect">
            <a:avLst/>
          </a:prstGeom>
          <a:solidFill>
            <a:srgbClr val="59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8713804" y="4358837"/>
            <a:ext cx="798710" cy="46113"/>
          </a:xfrm>
          <a:prstGeom prst="rect">
            <a:avLst/>
          </a:prstGeom>
          <a:solidFill>
            <a:srgbClr val="5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8713804" y="4403489"/>
            <a:ext cx="798710" cy="46113"/>
          </a:xfrm>
          <a:prstGeom prst="rect">
            <a:avLst/>
          </a:prstGeom>
          <a:solidFill>
            <a:srgbClr val="51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9060836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Y8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9719524" y="2694927"/>
            <a:ext cx="798710" cy="56248"/>
          </a:xfrm>
          <a:prstGeom prst="rect">
            <a:avLst/>
          </a:prstGeom>
          <a:solidFill>
            <a:srgbClr val="E5C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9719524" y="2749715"/>
            <a:ext cx="798710" cy="56248"/>
          </a:xfrm>
          <a:prstGeom prst="rect">
            <a:avLst/>
          </a:prstGeom>
          <a:solidFill>
            <a:srgbClr val="E4C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9719524" y="2804503"/>
            <a:ext cx="798710" cy="56248"/>
          </a:xfrm>
          <a:prstGeom prst="rect">
            <a:avLst/>
          </a:prstGeom>
          <a:solidFill>
            <a:srgbClr val="E2C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9719524" y="2859291"/>
            <a:ext cx="798710" cy="56248"/>
          </a:xfrm>
          <a:prstGeom prst="rect">
            <a:avLst/>
          </a:prstGeom>
          <a:solidFill>
            <a:srgbClr val="E0C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9719524" y="2914079"/>
            <a:ext cx="798710" cy="56248"/>
          </a:xfrm>
          <a:prstGeom prst="rect">
            <a:avLst/>
          </a:prstGeom>
          <a:solidFill>
            <a:srgbClr val="DF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9719524" y="2968867"/>
            <a:ext cx="798710" cy="56248"/>
          </a:xfrm>
          <a:prstGeom prst="rect">
            <a:avLst/>
          </a:prstGeom>
          <a:solidFill>
            <a:srgbClr val="DD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719524" y="3023655"/>
            <a:ext cx="798710" cy="56248"/>
          </a:xfrm>
          <a:prstGeom prst="rect">
            <a:avLst/>
          </a:prstGeom>
          <a:solidFill>
            <a:srgbClr val="DC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9719524" y="3078443"/>
            <a:ext cx="798710" cy="56248"/>
          </a:xfrm>
          <a:prstGeom prst="rect">
            <a:avLst/>
          </a:prstGeom>
          <a:solidFill>
            <a:srgbClr val="DAB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9719524" y="3133231"/>
            <a:ext cx="798710" cy="56248"/>
          </a:xfrm>
          <a:prstGeom prst="rect">
            <a:avLst/>
          </a:prstGeom>
          <a:solidFill>
            <a:srgbClr val="D8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9719524" y="3188019"/>
            <a:ext cx="798710" cy="56248"/>
          </a:xfrm>
          <a:prstGeom prst="rect">
            <a:avLst/>
          </a:prstGeom>
          <a:solidFill>
            <a:srgbClr val="D7B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9719524" y="3242807"/>
            <a:ext cx="798710" cy="56248"/>
          </a:xfrm>
          <a:prstGeom prst="rect">
            <a:avLst/>
          </a:prstGeom>
          <a:solidFill>
            <a:srgbClr val="D5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9719524" y="3297595"/>
            <a:ext cx="798710" cy="56248"/>
          </a:xfrm>
          <a:prstGeom prst="rect">
            <a:avLst/>
          </a:prstGeom>
          <a:solidFill>
            <a:srgbClr val="D4B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9719524" y="3352383"/>
            <a:ext cx="798710" cy="56248"/>
          </a:xfrm>
          <a:prstGeom prst="rect">
            <a:avLst/>
          </a:prstGeom>
          <a:solidFill>
            <a:srgbClr val="D2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9719524" y="3407171"/>
            <a:ext cx="798710" cy="56248"/>
          </a:xfrm>
          <a:prstGeom prst="rect">
            <a:avLst/>
          </a:prstGeom>
          <a:solidFill>
            <a:srgbClr val="D0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9719524" y="3461959"/>
            <a:ext cx="798710" cy="56248"/>
          </a:xfrm>
          <a:prstGeom prst="rect">
            <a:avLst/>
          </a:prstGeom>
          <a:solidFill>
            <a:srgbClr val="CFA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9719524" y="3516747"/>
            <a:ext cx="798710" cy="56248"/>
          </a:xfrm>
          <a:prstGeom prst="rect">
            <a:avLst/>
          </a:prstGeom>
          <a:solidFill>
            <a:srgbClr val="CD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9719524" y="3571535"/>
            <a:ext cx="798710" cy="56248"/>
          </a:xfrm>
          <a:prstGeom prst="rect">
            <a:avLst/>
          </a:prstGeom>
          <a:solidFill>
            <a:srgbClr val="CC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9719524" y="3626322"/>
            <a:ext cx="798710" cy="56248"/>
          </a:xfrm>
          <a:prstGeom prst="rect">
            <a:avLst/>
          </a:prstGeom>
          <a:solidFill>
            <a:srgbClr val="CA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719524" y="3681110"/>
            <a:ext cx="798710" cy="56248"/>
          </a:xfrm>
          <a:prstGeom prst="rect">
            <a:avLst/>
          </a:prstGeom>
          <a:solidFill>
            <a:srgbClr val="C9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719524" y="3735898"/>
            <a:ext cx="798710" cy="56248"/>
          </a:xfrm>
          <a:prstGeom prst="rect">
            <a:avLst/>
          </a:prstGeom>
          <a:solidFill>
            <a:srgbClr val="C79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9719524" y="3790686"/>
            <a:ext cx="798710" cy="56248"/>
          </a:xfrm>
          <a:prstGeom prst="rect">
            <a:avLst/>
          </a:prstGeom>
          <a:solidFill>
            <a:srgbClr val="C59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9719524" y="3845474"/>
            <a:ext cx="798710" cy="56248"/>
          </a:xfrm>
          <a:prstGeom prst="rect">
            <a:avLst/>
          </a:prstGeom>
          <a:solidFill>
            <a:srgbClr val="C49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9719524" y="3900262"/>
            <a:ext cx="798710" cy="56248"/>
          </a:xfrm>
          <a:prstGeom prst="rect">
            <a:avLst/>
          </a:prstGeom>
          <a:solidFill>
            <a:srgbClr val="C2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9719524" y="3955050"/>
            <a:ext cx="798710" cy="56248"/>
          </a:xfrm>
          <a:prstGeom prst="rect">
            <a:avLst/>
          </a:prstGeom>
          <a:solidFill>
            <a:srgbClr val="C19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9719524" y="4009838"/>
            <a:ext cx="798710" cy="56248"/>
          </a:xfrm>
          <a:prstGeom prst="rect">
            <a:avLst/>
          </a:prstGeom>
          <a:solidFill>
            <a:srgbClr val="BF9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9719524" y="4064626"/>
            <a:ext cx="798710" cy="56248"/>
          </a:xfrm>
          <a:prstGeom prst="rect">
            <a:avLst/>
          </a:prstGeom>
          <a:solidFill>
            <a:srgbClr val="BD9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9719524" y="4119414"/>
            <a:ext cx="798710" cy="56248"/>
          </a:xfrm>
          <a:prstGeom prst="rect">
            <a:avLst/>
          </a:prstGeom>
          <a:solidFill>
            <a:srgbClr val="BC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9719524" y="4174202"/>
            <a:ext cx="798710" cy="56248"/>
          </a:xfrm>
          <a:prstGeom prst="rect">
            <a:avLst/>
          </a:prstGeom>
          <a:solidFill>
            <a:srgbClr val="BA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719524" y="4228990"/>
            <a:ext cx="798710" cy="56248"/>
          </a:xfrm>
          <a:prstGeom prst="rect">
            <a:avLst/>
          </a:prstGeom>
          <a:solidFill>
            <a:srgbClr val="B9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9719524" y="4283778"/>
            <a:ext cx="798710" cy="56248"/>
          </a:xfrm>
          <a:prstGeom prst="rect">
            <a:avLst/>
          </a:prstGeom>
          <a:solidFill>
            <a:srgbClr val="B78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9719524" y="4338566"/>
            <a:ext cx="798710" cy="56248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9719524" y="4393354"/>
            <a:ext cx="798710" cy="56248"/>
          </a:xfrm>
          <a:prstGeom prst="rect">
            <a:avLst/>
          </a:prstGeom>
          <a:solidFill>
            <a:srgbClr val="B4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10066556" y="4479981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Y9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1017727" y="2302014"/>
            <a:ext cx="24551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0" i="0">
                <a:solidFill>
                  <a:srgbClr val="143D30"/>
                </a:solidFill>
                <a:latin typeface="Arial"/>
              </a:rPr>
              <a:t>816,6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0725244" y="2421269"/>
            <a:ext cx="798710" cy="64800"/>
          </a:xfrm>
          <a:prstGeom prst="rect">
            <a:avLst/>
          </a:prstGeom>
          <a:solidFill>
            <a:srgbClr val="E5C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725244" y="2484609"/>
            <a:ext cx="798710" cy="64800"/>
          </a:xfrm>
          <a:prstGeom prst="rect">
            <a:avLst/>
          </a:prstGeom>
          <a:solidFill>
            <a:srgbClr val="E4C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725244" y="2547948"/>
            <a:ext cx="798710" cy="64800"/>
          </a:xfrm>
          <a:prstGeom prst="rect">
            <a:avLst/>
          </a:prstGeom>
          <a:solidFill>
            <a:srgbClr val="E2C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725244" y="2611288"/>
            <a:ext cx="798710" cy="64800"/>
          </a:xfrm>
          <a:prstGeom prst="rect">
            <a:avLst/>
          </a:prstGeom>
          <a:solidFill>
            <a:srgbClr val="E0C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725244" y="2674628"/>
            <a:ext cx="798710" cy="64800"/>
          </a:xfrm>
          <a:prstGeom prst="rect">
            <a:avLst/>
          </a:prstGeom>
          <a:solidFill>
            <a:srgbClr val="DF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725244" y="2737968"/>
            <a:ext cx="798710" cy="64800"/>
          </a:xfrm>
          <a:prstGeom prst="rect">
            <a:avLst/>
          </a:prstGeom>
          <a:solidFill>
            <a:srgbClr val="DD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725244" y="2801308"/>
            <a:ext cx="798710" cy="64800"/>
          </a:xfrm>
          <a:prstGeom prst="rect">
            <a:avLst/>
          </a:prstGeom>
          <a:solidFill>
            <a:srgbClr val="DC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725244" y="2864647"/>
            <a:ext cx="798710" cy="64800"/>
          </a:xfrm>
          <a:prstGeom prst="rect">
            <a:avLst/>
          </a:prstGeom>
          <a:solidFill>
            <a:srgbClr val="DAB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725244" y="2927987"/>
            <a:ext cx="798710" cy="64800"/>
          </a:xfrm>
          <a:prstGeom prst="rect">
            <a:avLst/>
          </a:prstGeom>
          <a:solidFill>
            <a:srgbClr val="D8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725244" y="2991327"/>
            <a:ext cx="798710" cy="64800"/>
          </a:xfrm>
          <a:prstGeom prst="rect">
            <a:avLst/>
          </a:prstGeom>
          <a:solidFill>
            <a:srgbClr val="D7B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725244" y="3054667"/>
            <a:ext cx="798710" cy="64800"/>
          </a:xfrm>
          <a:prstGeom prst="rect">
            <a:avLst/>
          </a:prstGeom>
          <a:solidFill>
            <a:srgbClr val="D5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725244" y="3118007"/>
            <a:ext cx="798710" cy="64800"/>
          </a:xfrm>
          <a:prstGeom prst="rect">
            <a:avLst/>
          </a:prstGeom>
          <a:solidFill>
            <a:srgbClr val="D4B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725244" y="3181346"/>
            <a:ext cx="798710" cy="64800"/>
          </a:xfrm>
          <a:prstGeom prst="rect">
            <a:avLst/>
          </a:prstGeom>
          <a:solidFill>
            <a:srgbClr val="D2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725244" y="3244686"/>
            <a:ext cx="798710" cy="64800"/>
          </a:xfrm>
          <a:prstGeom prst="rect">
            <a:avLst/>
          </a:prstGeom>
          <a:solidFill>
            <a:srgbClr val="D0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725244" y="3308026"/>
            <a:ext cx="798710" cy="64800"/>
          </a:xfrm>
          <a:prstGeom prst="rect">
            <a:avLst/>
          </a:prstGeom>
          <a:solidFill>
            <a:srgbClr val="CFA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725244" y="3371366"/>
            <a:ext cx="798710" cy="64800"/>
          </a:xfrm>
          <a:prstGeom prst="rect">
            <a:avLst/>
          </a:prstGeom>
          <a:solidFill>
            <a:srgbClr val="CD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725244" y="3434705"/>
            <a:ext cx="798710" cy="64800"/>
          </a:xfrm>
          <a:prstGeom prst="rect">
            <a:avLst/>
          </a:prstGeom>
          <a:solidFill>
            <a:srgbClr val="CC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725244" y="3498045"/>
            <a:ext cx="798710" cy="64800"/>
          </a:xfrm>
          <a:prstGeom prst="rect">
            <a:avLst/>
          </a:prstGeom>
          <a:solidFill>
            <a:srgbClr val="CA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725244" y="3561385"/>
            <a:ext cx="798710" cy="64800"/>
          </a:xfrm>
          <a:prstGeom prst="rect">
            <a:avLst/>
          </a:prstGeom>
          <a:solidFill>
            <a:srgbClr val="C9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725244" y="3624725"/>
            <a:ext cx="798710" cy="64800"/>
          </a:xfrm>
          <a:prstGeom prst="rect">
            <a:avLst/>
          </a:prstGeom>
          <a:solidFill>
            <a:srgbClr val="C79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725244" y="3688065"/>
            <a:ext cx="798710" cy="64800"/>
          </a:xfrm>
          <a:prstGeom prst="rect">
            <a:avLst/>
          </a:prstGeom>
          <a:solidFill>
            <a:srgbClr val="C59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725244" y="3751404"/>
            <a:ext cx="798710" cy="64800"/>
          </a:xfrm>
          <a:prstGeom prst="rect">
            <a:avLst/>
          </a:prstGeom>
          <a:solidFill>
            <a:srgbClr val="C49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725244" y="3814744"/>
            <a:ext cx="798710" cy="64800"/>
          </a:xfrm>
          <a:prstGeom prst="rect">
            <a:avLst/>
          </a:prstGeom>
          <a:solidFill>
            <a:srgbClr val="C2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725244" y="3878084"/>
            <a:ext cx="798710" cy="64800"/>
          </a:xfrm>
          <a:prstGeom prst="rect">
            <a:avLst/>
          </a:prstGeom>
          <a:solidFill>
            <a:srgbClr val="C19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725244" y="3941424"/>
            <a:ext cx="798710" cy="64800"/>
          </a:xfrm>
          <a:prstGeom prst="rect">
            <a:avLst/>
          </a:prstGeom>
          <a:solidFill>
            <a:srgbClr val="BF9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725244" y="4004764"/>
            <a:ext cx="798710" cy="64800"/>
          </a:xfrm>
          <a:prstGeom prst="rect">
            <a:avLst/>
          </a:prstGeom>
          <a:solidFill>
            <a:srgbClr val="BD9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725244" y="4068103"/>
            <a:ext cx="798710" cy="64800"/>
          </a:xfrm>
          <a:prstGeom prst="rect">
            <a:avLst/>
          </a:prstGeom>
          <a:solidFill>
            <a:srgbClr val="BC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725244" y="4131443"/>
            <a:ext cx="798710" cy="64800"/>
          </a:xfrm>
          <a:prstGeom prst="rect">
            <a:avLst/>
          </a:prstGeom>
          <a:solidFill>
            <a:srgbClr val="BA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725244" y="4194783"/>
            <a:ext cx="798710" cy="64800"/>
          </a:xfrm>
          <a:prstGeom prst="rect">
            <a:avLst/>
          </a:prstGeom>
          <a:solidFill>
            <a:srgbClr val="B9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725244" y="4258123"/>
            <a:ext cx="798710" cy="64800"/>
          </a:xfrm>
          <a:prstGeom prst="rect">
            <a:avLst/>
          </a:prstGeom>
          <a:solidFill>
            <a:srgbClr val="B78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725244" y="4321462"/>
            <a:ext cx="798710" cy="64800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725244" y="4384802"/>
            <a:ext cx="798710" cy="64800"/>
          </a:xfrm>
          <a:prstGeom prst="rect">
            <a:avLst/>
          </a:prstGeom>
          <a:solidFill>
            <a:srgbClr val="B4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11048653" y="4479981"/>
            <a:ext cx="183780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Y10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591814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35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597534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35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2603254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52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3608974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69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4614694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86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5620414" y="4595470"/>
            <a:ext cx="98306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103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626248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127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7631967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143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8637687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172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643407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213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0649127" y="4595470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237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591814" y="4787761"/>
            <a:ext cx="1760723" cy="975263"/>
          </a:xfrm>
          <a:prstGeom prst="rect">
            <a:avLst/>
          </a:prstGeom>
          <a:solidFill>
            <a:srgbClr val="D9E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8" name="Connector 427"/>
          <p:cNvCxnSpPr/>
          <p:nvPr/>
        </p:nvCxnSpPr>
        <p:spPr>
          <a:xfrm>
            <a:off x="591814" y="4787761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2352537" y="4787761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H="1">
            <a:off x="591814" y="5763025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591814" y="4787761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TextBox 431"/>
          <p:cNvSpPr txBox="1"/>
          <p:nvPr/>
        </p:nvSpPr>
        <p:spPr>
          <a:xfrm>
            <a:off x="678315" y="4862053"/>
            <a:ext cx="161972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73D2C"/>
                </a:solidFill>
                <a:latin typeface="Arial"/>
              </a:rPr>
              <a:t>Y0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678315" y="5520749"/>
            <a:ext cx="161972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173D2C"/>
                </a:solidFill>
                <a:latin typeface="Arial"/>
              </a:rPr>
              <a:t>50,3 t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2419524" y="4787761"/>
            <a:ext cx="1760723" cy="975263"/>
          </a:xfrm>
          <a:prstGeom prst="rect">
            <a:avLst/>
          </a:prstGeom>
          <a:solidFill>
            <a:srgbClr val="EE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2419524" y="4787761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180247" y="4787761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2419524" y="5763025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2419524" y="4787761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TextBox 438"/>
          <p:cNvSpPr txBox="1"/>
          <p:nvPr/>
        </p:nvSpPr>
        <p:spPr>
          <a:xfrm>
            <a:off x="2506026" y="4862053"/>
            <a:ext cx="161972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73D2C"/>
                </a:solidFill>
                <a:latin typeface="Arial"/>
              </a:rPr>
              <a:t>Y2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2506026" y="5520749"/>
            <a:ext cx="161972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173D2C"/>
                </a:solidFill>
                <a:latin typeface="Arial"/>
              </a:rPr>
              <a:t>162,3 t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4247234" y="4787761"/>
            <a:ext cx="1760723" cy="975263"/>
          </a:xfrm>
          <a:prstGeom prst="rect">
            <a:avLst/>
          </a:prstGeom>
          <a:solidFill>
            <a:srgbClr val="EE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Connector 441"/>
          <p:cNvCxnSpPr/>
          <p:nvPr/>
        </p:nvCxnSpPr>
        <p:spPr>
          <a:xfrm>
            <a:off x="4247234" y="4787761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6007957" y="4787761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H="1">
            <a:off x="4247234" y="5763025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4247234" y="4787761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/>
          <p:cNvSpPr txBox="1"/>
          <p:nvPr/>
        </p:nvSpPr>
        <p:spPr>
          <a:xfrm>
            <a:off x="4333736" y="4862053"/>
            <a:ext cx="161972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73D2C"/>
                </a:solidFill>
                <a:latin typeface="Arial"/>
              </a:rPr>
              <a:t>Y6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4333736" y="5520749"/>
            <a:ext cx="161972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173D2C"/>
                </a:solidFill>
                <a:latin typeface="Arial"/>
              </a:rPr>
              <a:t>421,6 t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6074945" y="4787761"/>
            <a:ext cx="1760723" cy="975263"/>
          </a:xfrm>
          <a:prstGeom prst="rect">
            <a:avLst/>
          </a:prstGeom>
          <a:solidFill>
            <a:srgbClr val="EE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6074945" y="4787761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7835668" y="4787761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6074945" y="5763025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6074945" y="4787761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TextBox 452"/>
          <p:cNvSpPr txBox="1"/>
          <p:nvPr/>
        </p:nvSpPr>
        <p:spPr>
          <a:xfrm>
            <a:off x="6161446" y="4862053"/>
            <a:ext cx="161972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73D2C"/>
                </a:solidFill>
                <a:latin typeface="Arial"/>
              </a:rPr>
              <a:t>Y10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6161446" y="5520749"/>
            <a:ext cx="161972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173D2C"/>
                </a:solidFill>
                <a:latin typeface="Arial"/>
              </a:rPr>
              <a:t>816,6 t</a:t>
            </a:r>
          </a:p>
        </p:txBody>
      </p:sp>
      <p:sp>
        <p:nvSpPr>
          <p:cNvPr id="455" name="Rectangle 454"/>
          <p:cNvSpPr/>
          <p:nvPr/>
        </p:nvSpPr>
        <p:spPr>
          <a:xfrm>
            <a:off x="7902655" y="4787761"/>
            <a:ext cx="3697529" cy="975263"/>
          </a:xfrm>
          <a:prstGeom prst="rect">
            <a:avLst/>
          </a:prstGeom>
          <a:solidFill>
            <a:srgbClr val="12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8012322" y="4873008"/>
            <a:ext cx="35101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7E99B"/>
                </a:solidFill>
                <a:latin typeface="Arial"/>
              </a:rPr>
              <a:t>01 / 04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8012322" y="4989866"/>
            <a:ext cx="3510199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5FAED"/>
                </a:solidFill>
                <a:latin typeface="Arial"/>
              </a:rPr>
              <a:t>Y0 · masa coba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8012322" y="5200873"/>
            <a:ext cx="351019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5FAED"/>
                </a:solidFill>
                <a:latin typeface="Arial"/>
              </a:rPr>
              <a:t>35 greenhouse di dua lokasi menjalankan dua siklus; panen 50,3 ton.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8012322" y="5590134"/>
            <a:ext cx="3510199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6" b="1" i="0">
                <a:solidFill>
                  <a:srgbClr val="C7E99B"/>
                </a:solidFill>
                <a:latin typeface="Arial"/>
              </a:rPr>
              <a:t>KLIK TAHAP ATAU TEKAN →</a:t>
            </a:r>
          </a:p>
        </p:txBody>
      </p:sp>
      <p:cxnSp>
        <p:nvCxnSpPr>
          <p:cNvPr id="460" name="Connector 459"/>
          <p:cNvCxnSpPr/>
          <p:nvPr/>
        </p:nvCxnSpPr>
        <p:spPr>
          <a:xfrm>
            <a:off x="591814" y="6168605"/>
            <a:ext cx="11008370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TextBox 460"/>
          <p:cNvSpPr txBox="1"/>
          <p:nvPr/>
        </p:nvSpPr>
        <p:spPr>
          <a:xfrm>
            <a:off x="591814" y="6230686"/>
            <a:ext cx="1104037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Produksi memuat faktor yield 95%; greenhouse baru dihitung hanya 3 siklus pada tahun pertamanya.</a:t>
            </a:r>
          </a:p>
        </p:txBody>
      </p:sp>
      <p:cxnSp>
        <p:nvCxnSpPr>
          <p:cNvPr id="462" name="Connector 461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9682550" y="6537324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22 / 66 · ASLI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Pertumbuhan dari unit yang sama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Skala dicapai dengan menggandakan rumah kaca modular sambil menahan kenaikan biaya tetap.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3608860" cy="3053832"/>
          </a:xfrm>
          <a:prstGeom prst="rect">
            <a:avLst/>
          </a:prstGeom>
          <a:solidFill>
            <a:srgbClr val="DC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1944593"/>
            <a:ext cx="3608861" cy="0"/>
          </a:xfrm>
          <a:prstGeom prst="line">
            <a:avLst/>
          </a:prstGeom>
          <a:ln w="43821">
            <a:solidFill>
              <a:srgbClr val="69A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3591" y="4033432"/>
            <a:ext cx="3324073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143D30"/>
                </a:solidFill>
                <a:latin typeface="Arial"/>
              </a:rPr>
              <a:t>16,2×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591" y="4701487"/>
            <a:ext cx="3324073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0" i="0">
                <a:solidFill>
                  <a:srgbClr val="143D30"/>
                </a:solidFill>
                <a:latin typeface="Arial"/>
              </a:rPr>
              <a:t>pertumbuhan tonase · 50,3 ke 816,6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1512" y="1944593"/>
            <a:ext cx="3608860" cy="3053832"/>
          </a:xfrm>
          <a:prstGeom prst="rect">
            <a:avLst/>
          </a:prstGeom>
          <a:solidFill>
            <a:srgbClr val="DC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1512" y="1944593"/>
            <a:ext cx="3608860" cy="0"/>
          </a:xfrm>
          <a:prstGeom prst="line">
            <a:avLst/>
          </a:prstGeom>
          <a:ln w="43821">
            <a:solidFill>
              <a:srgbClr val="69A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49908" y="4033432"/>
            <a:ext cx="3324073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143D30"/>
                </a:solidFill>
                <a:latin typeface="Arial"/>
              </a:rPr>
              <a:t>6,8×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9908" y="4701487"/>
            <a:ext cx="3324073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0" i="0">
                <a:solidFill>
                  <a:srgbClr val="143D30"/>
                </a:solidFill>
                <a:latin typeface="Arial"/>
              </a:rPr>
              <a:t>pertumbuhan modul · 35 ke 237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7829" y="1944593"/>
            <a:ext cx="3608974" cy="3053832"/>
          </a:xfrm>
          <a:prstGeom prst="rect">
            <a:avLst/>
          </a:prstGeom>
          <a:solidFill>
            <a:srgbClr val="DC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997829" y="1944593"/>
            <a:ext cx="3608974" cy="0"/>
          </a:xfrm>
          <a:prstGeom prst="line">
            <a:avLst/>
          </a:prstGeom>
          <a:ln w="43821">
            <a:solidFill>
              <a:srgbClr val="69A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56224" y="4033432"/>
            <a:ext cx="3324187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143D30"/>
                </a:solidFill>
                <a:latin typeface="Arial"/>
              </a:rPr>
              <a:t>0,71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224" y="4701487"/>
            <a:ext cx="3324187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0" i="0">
                <a:solidFill>
                  <a:srgbClr val="143D30"/>
                </a:solidFill>
                <a:latin typeface="Arial"/>
              </a:rPr>
              <a:t>rasio pertumbuhan biaya tetap terhadap volume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195" y="5108094"/>
            <a:ext cx="11021607" cy="999685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7073" y="5553159"/>
            <a:ext cx="75870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D2EBAD"/>
                </a:solidFill>
                <a:latin typeface="Arial"/>
              </a:rPr>
              <a:t>MESIN SKALA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850" y="5461864"/>
            <a:ext cx="1083941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0" i="0">
                <a:solidFill>
                  <a:srgbClr val="BED9BD"/>
                </a:solidFill>
                <a:latin typeface="Arial"/>
              </a:rPr>
              <a:t>Y2–Y5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850" y="5586026"/>
            <a:ext cx="1083941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5FAED"/>
                </a:solidFill>
                <a:latin typeface="Arial"/>
              </a:rPr>
              <a:t>+17 GH / TAHUN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5244" y="5498382"/>
            <a:ext cx="214820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BEE39D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5517" y="5461864"/>
            <a:ext cx="85205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0" i="0">
                <a:solidFill>
                  <a:srgbClr val="BED9BD"/>
                </a:solidFill>
                <a:latin typeface="Arial"/>
              </a:rPr>
              <a:t>JAKARTA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5517" y="5586026"/>
            <a:ext cx="85205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5FAED"/>
                </a:solidFill>
                <a:latin typeface="Arial"/>
              </a:rPr>
              <a:t>17–18 / ATAP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3024" y="5498382"/>
            <a:ext cx="214820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BEE39D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33297" y="5461864"/>
            <a:ext cx="98363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0" i="0">
                <a:solidFill>
                  <a:srgbClr val="BED9BD"/>
                </a:solidFill>
                <a:latin typeface="Arial"/>
              </a:rPr>
              <a:t>EKSPANSI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33297" y="5586026"/>
            <a:ext cx="983632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5FAED"/>
                </a:solidFill>
                <a:latin typeface="Arial"/>
              </a:rPr>
              <a:t>20–41 / LAHAN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Model sumber menggandakan modul standar; rasio 0,71 adalah proyeksi, bukan penghematan yang sudah terukur.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23 / 66 · ASLI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Banyak. Seragam. Aman.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Jumlah datang dari replikasi unit; konsistensi dari parameter; keamanan dari inspeksi petani.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3600757" cy="4163186"/>
          </a:xfrm>
          <a:prstGeom prst="rect">
            <a:avLst/>
          </a:prstGeom>
          <a:solidFill>
            <a:srgbClr val="E2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1944593"/>
            <a:ext cx="3600758" cy="0"/>
          </a:xfrm>
          <a:prstGeom prst="line">
            <a:avLst/>
          </a:prstGeom>
          <a:ln w="43821">
            <a:solidFill>
              <a:srgbClr val="78A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3591" y="2128553"/>
            <a:ext cx="331597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E825D"/>
                </a:solidFill>
                <a:latin typeface="Arial"/>
              </a:rPr>
              <a:t>01 / BANYAK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591" y="4263611"/>
            <a:ext cx="3315970" cy="5213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64" b="1" i="0">
                <a:solidFill>
                  <a:srgbClr val="143D30"/>
                </a:solidFill>
                <a:latin typeface="Arial"/>
              </a:rPr>
              <a:t>237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591" y="4770643"/>
            <a:ext cx="331597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143D30"/>
                </a:solidFill>
                <a:latin typeface="Arial"/>
              </a:rPr>
              <a:t>11 lokasi · 3 kota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3591" y="5094628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3591" y="5167778"/>
            <a:ext cx="1010107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816,6 t panen Y10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3591" y="5385632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3591" y="5458783"/>
            <a:ext cx="1009765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5 siklus/unit/tahun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3591" y="5676636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3591" y="5749787"/>
            <a:ext cx="954532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jeda tanam 4 hari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5620" y="1944593"/>
            <a:ext cx="3600757" cy="4163186"/>
          </a:xfrm>
          <a:prstGeom prst="rect">
            <a:avLst/>
          </a:prstGeom>
          <a:solidFill>
            <a:srgbClr val="CF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295620" y="1944593"/>
            <a:ext cx="3600758" cy="0"/>
          </a:xfrm>
          <a:prstGeom prst="line">
            <a:avLst/>
          </a:prstGeom>
          <a:ln w="43821">
            <a:solidFill>
              <a:srgbClr val="78A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54016" y="2128553"/>
            <a:ext cx="331597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E825D"/>
                </a:solidFill>
                <a:latin typeface="Arial"/>
              </a:rPr>
              <a:t>02 / SERAGAM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4016" y="4263611"/>
            <a:ext cx="3315970" cy="5213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64" b="1" i="0">
                <a:solidFill>
                  <a:srgbClr val="143D30"/>
                </a:solidFill>
                <a:latin typeface="Arial"/>
              </a:rPr>
              <a:t>4 parameter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4016" y="4770643"/>
            <a:ext cx="331597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143D30"/>
                </a:solidFill>
                <a:latin typeface="Arial"/>
              </a:rPr>
              <a:t>suhu · lembap · pH · nutrisi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54016" y="5094628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54016" y="5167778"/>
            <a:ext cx="1548058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&lt;10% beda hasil antarlokasi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54016" y="5385632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54016" y="5458783"/>
            <a:ext cx="869057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&gt;15° target Brix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54016" y="5676636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454016" y="5749787"/>
            <a:ext cx="1099119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90% target Grade 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6045" y="1944593"/>
            <a:ext cx="3600757" cy="4163186"/>
          </a:xfrm>
          <a:prstGeom prst="rect">
            <a:avLst/>
          </a:prstGeom>
          <a:solidFill>
            <a:srgbClr val="17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006045" y="1944593"/>
            <a:ext cx="3600758" cy="0"/>
          </a:xfrm>
          <a:prstGeom prst="line">
            <a:avLst/>
          </a:prstGeom>
          <a:ln w="43821">
            <a:solidFill>
              <a:srgbClr val="78A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64441" y="2128553"/>
            <a:ext cx="331597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AE8A7"/>
                </a:solidFill>
                <a:latin typeface="Arial"/>
              </a:rPr>
              <a:t>03 / AMAN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4441" y="4263611"/>
            <a:ext cx="3315970" cy="5213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64" b="1" i="0">
                <a:solidFill>
                  <a:srgbClr val="F5F9EA"/>
                </a:solidFill>
                <a:latin typeface="Arial"/>
              </a:rPr>
              <a:t>Setiap hari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4441" y="4770643"/>
            <a:ext cx="331597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F5F9EA"/>
                </a:solidFill>
                <a:latin typeface="Arial"/>
              </a:rPr>
              <a:t>petani memeriksa tanaman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164441" y="5094628"/>
            <a:ext cx="3283967" cy="0"/>
          </a:xfrm>
          <a:prstGeom prst="line">
            <a:avLst/>
          </a:prstGeom>
          <a:ln w="7303">
            <a:solidFill>
              <a:srgbClr val="DCF3CE">
                <a:alpha val="3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64441" y="5167778"/>
            <a:ext cx="978839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5F9EA"/>
                </a:solidFill>
                <a:latin typeface="Arial"/>
              </a:rPr>
              <a:t>10 titik acak / unit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64441" y="5385632"/>
            <a:ext cx="3283967" cy="0"/>
          </a:xfrm>
          <a:prstGeom prst="line">
            <a:avLst/>
          </a:prstGeom>
          <a:ln w="7303">
            <a:solidFill>
              <a:srgbClr val="DCF3CE">
                <a:alpha val="3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64441" y="5458783"/>
            <a:ext cx="1005428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5F9EA"/>
                </a:solidFill>
                <a:latin typeface="Arial"/>
              </a:rPr>
              <a:t>2 perangkap / unit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64441" y="5676636"/>
            <a:ext cx="3283967" cy="0"/>
          </a:xfrm>
          <a:prstGeom prst="line">
            <a:avLst/>
          </a:prstGeom>
          <a:ln w="7303">
            <a:solidFill>
              <a:srgbClr val="DCF3CE">
                <a:alpha val="3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164441" y="5749787"/>
            <a:ext cx="135691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5F9EA"/>
                </a:solidFill>
                <a:latin typeface="Arial"/>
              </a:rPr>
              <a:t>3 tingkat protokol wabah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Jumlah dari modul · keseragaman dari parameter · keamanan dari inspeksi manusia dan protokol.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24 / 66 · ASLI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Kemanisan dibangun per fase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Kepekatan larutan dan kelembapan diatur dari fase vegetatif hingga pematangan.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2686788" cy="3139194"/>
          </a:xfrm>
          <a:prstGeom prst="rect">
            <a:avLst/>
          </a:prstGeom>
          <a:solidFill>
            <a:srgbClr val="E9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1944593"/>
            <a:ext cx="2686789" cy="0"/>
          </a:xfrm>
          <a:prstGeom prst="line">
            <a:avLst/>
          </a:prstGeom>
          <a:ln w="43821">
            <a:solidFill>
              <a:srgbClr val="A6B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494" y="2122505"/>
            <a:ext cx="242619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37851"/>
                </a:solidFill>
                <a:latin typeface="Arial"/>
              </a:rPr>
              <a:t>01 / DAUN &amp; AKAR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494" y="3859172"/>
            <a:ext cx="2426194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95" b="1" i="0">
                <a:solidFill>
                  <a:srgbClr val="143D30"/>
                </a:solidFill>
                <a:latin typeface="Arial"/>
              </a:rPr>
              <a:t>900–1.100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494" y="4217507"/>
            <a:ext cx="242619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ppm nutrisi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494" y="4461152"/>
            <a:ext cx="2394191" cy="0"/>
          </a:xfrm>
          <a:prstGeom prst="line">
            <a:avLst/>
          </a:prstGeom>
          <a:ln w="7303">
            <a:solidFill>
              <a:srgbClr val="99B6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494" y="4529395"/>
            <a:ext cx="622221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43D30"/>
                </a:solidFill>
                <a:latin typeface="Arial"/>
              </a:rPr>
              <a:t>60–70%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2650" y="4595128"/>
            <a:ext cx="53309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494" y="4818003"/>
            <a:ext cx="242619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Batang kuat, daun cukup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3392" y="1944593"/>
            <a:ext cx="2686902" cy="3139194"/>
          </a:xfrm>
          <a:prstGeom prst="rect">
            <a:avLst/>
          </a:prstGeom>
          <a:solidFill>
            <a:srgbClr val="DC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363392" y="1944593"/>
            <a:ext cx="2686903" cy="0"/>
          </a:xfrm>
          <a:prstGeom prst="line">
            <a:avLst/>
          </a:prstGeom>
          <a:ln w="43821">
            <a:solidFill>
              <a:srgbClr val="A6B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09691" y="2122505"/>
            <a:ext cx="242630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37851"/>
                </a:solidFill>
                <a:latin typeface="Arial"/>
              </a:rPr>
              <a:t>02 / BUNGA &amp; PENTIL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1" y="3859172"/>
            <a:ext cx="242630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95" b="1" i="0">
                <a:solidFill>
                  <a:srgbClr val="143D30"/>
                </a:solidFill>
                <a:latin typeface="Arial"/>
              </a:rPr>
              <a:t>1.100–1.300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691" y="4217507"/>
            <a:ext cx="242630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ppm nutrisi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09691" y="4461152"/>
            <a:ext cx="2394305" cy="0"/>
          </a:xfrm>
          <a:prstGeom prst="line">
            <a:avLst/>
          </a:prstGeom>
          <a:ln w="7303">
            <a:solidFill>
              <a:srgbClr val="99B6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09691" y="4529395"/>
            <a:ext cx="622221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43D30"/>
                </a:solidFill>
                <a:latin typeface="Arial"/>
              </a:rPr>
              <a:t>60–70%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847" y="4595128"/>
            <a:ext cx="53309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1" y="4818003"/>
            <a:ext cx="242630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Serbuki; pilih satu buah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1704" y="1944593"/>
            <a:ext cx="2686788" cy="3139194"/>
          </a:xfrm>
          <a:prstGeom prst="rect">
            <a:avLst/>
          </a:prstGeom>
          <a:solidFill>
            <a:srgbClr val="CCE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141704" y="1944593"/>
            <a:ext cx="2686788" cy="0"/>
          </a:xfrm>
          <a:prstGeom prst="line">
            <a:avLst/>
          </a:prstGeom>
          <a:ln w="43821">
            <a:solidFill>
              <a:srgbClr val="A6B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88002" y="2122505"/>
            <a:ext cx="242619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37851"/>
                </a:solidFill>
                <a:latin typeface="Arial"/>
              </a:rPr>
              <a:t>03 / BUAH MEMBESAR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8002" y="3859172"/>
            <a:ext cx="2426194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95" b="1" i="0">
                <a:solidFill>
                  <a:srgbClr val="143D30"/>
                </a:solidFill>
                <a:latin typeface="Arial"/>
              </a:rPr>
              <a:t>1.300–1.500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8002" y="4217507"/>
            <a:ext cx="242619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ppm nutrisi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88002" y="4461152"/>
            <a:ext cx="2394191" cy="0"/>
          </a:xfrm>
          <a:prstGeom prst="line">
            <a:avLst/>
          </a:prstGeom>
          <a:ln w="7303">
            <a:solidFill>
              <a:srgbClr val="99B6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88002" y="4529395"/>
            <a:ext cx="622221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43D30"/>
                </a:solidFill>
                <a:latin typeface="Arial"/>
              </a:rPr>
              <a:t>50–60%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9158" y="4595128"/>
            <a:ext cx="53309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8002" y="4818003"/>
            <a:ext cx="242619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Bobot menuju 1,8 kg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9901" y="1944593"/>
            <a:ext cx="2686902" cy="3139194"/>
          </a:xfrm>
          <a:prstGeom prst="rect">
            <a:avLst/>
          </a:prstGeom>
          <a:solidFill>
            <a:srgbClr val="B6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919901" y="1944593"/>
            <a:ext cx="2686902" cy="0"/>
          </a:xfrm>
          <a:prstGeom prst="line">
            <a:avLst/>
          </a:prstGeom>
          <a:ln w="43821">
            <a:solidFill>
              <a:srgbClr val="A6B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066199" y="2122505"/>
            <a:ext cx="242630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37851"/>
                </a:solidFill>
                <a:latin typeface="Arial"/>
              </a:rPr>
              <a:t>04 / PEMATANGAN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6199" y="3859172"/>
            <a:ext cx="242630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95" b="1" i="0">
                <a:solidFill>
                  <a:srgbClr val="143D30"/>
                </a:solidFill>
                <a:latin typeface="Arial"/>
              </a:rPr>
              <a:t>1.500–1.750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6199" y="4217507"/>
            <a:ext cx="242630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ppm nutrisi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66199" y="4461152"/>
            <a:ext cx="2394305" cy="0"/>
          </a:xfrm>
          <a:prstGeom prst="line">
            <a:avLst/>
          </a:prstGeom>
          <a:ln w="7303">
            <a:solidFill>
              <a:srgbClr val="99B6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066199" y="4529395"/>
            <a:ext cx="622221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43D30"/>
                </a:solidFill>
                <a:latin typeface="Arial"/>
              </a:rPr>
              <a:t>50–60%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7355" y="4595128"/>
            <a:ext cx="53309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6199" y="4818003"/>
            <a:ext cx="242630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Gula naik 10–14 hari akhir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195" y="5181244"/>
            <a:ext cx="11021607" cy="926534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9284" y="5454560"/>
            <a:ext cx="2935388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F5FAEB"/>
                </a:solidFill>
                <a:latin typeface="Arial"/>
              </a:rPr>
              <a:t>&gt;15° BRIX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284" y="5724795"/>
            <a:ext cx="293538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CAE5C0"/>
                </a:solidFill>
                <a:latin typeface="Arial"/>
              </a:rPr>
              <a:t>target mutu pada model sumber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4546" y="5577581"/>
            <a:ext cx="776017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5FAEB"/>
                </a:solidFill>
                <a:latin typeface="Arial"/>
              </a:rPr>
              <a:t>DFT menjaga akar terendam. Pematangan mengatur konsentrasi nutrisi bertahap; klaim kemanisan perlu divalidasi dengan uji Brix per batch.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Target parameter sama untuk setiap lokasi; sasaran beda hasil antarlokasi di bawah 10%.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25 / 66 · ASLI 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Kapan petani bertindak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Pemeriksaan harian, perangkap kuning, dan protokol wabah melengkapi sensor.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585195" y="2183330"/>
            <a:ext cx="54498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195" y="2005532"/>
            <a:ext cx="548181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57A58"/>
                </a:solidFill>
                <a:latin typeface="Arial"/>
              </a:rPr>
              <a:t>THRIPS / PER PERANGKAP / MINGGU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195" y="2256481"/>
            <a:ext cx="5449808" cy="1185927"/>
          </a:xfrm>
          <a:prstGeom prst="rect">
            <a:avLst/>
          </a:prstGeom>
          <a:solidFill>
            <a:srgbClr val="D9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585195" y="2256481"/>
            <a:ext cx="0" cy="1185928"/>
          </a:xfrm>
          <a:prstGeom prst="line">
            <a:avLst/>
          </a:prstGeom>
          <a:ln w="43821">
            <a:solidFill>
              <a:srgbClr val="65A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6473" y="2685113"/>
            <a:ext cx="1022089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D30"/>
                </a:solidFill>
                <a:latin typeface="Arial"/>
              </a:rPr>
              <a:t>&lt;5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7498" y="2776408"/>
            <a:ext cx="1282620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PANTAU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9053" y="2790901"/>
            <a:ext cx="28804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catat jumlah per perangkap per minggu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195" y="3497186"/>
            <a:ext cx="5449808" cy="1185927"/>
          </a:xfrm>
          <a:prstGeom prst="rect">
            <a:avLst/>
          </a:prstGeom>
          <a:solidFill>
            <a:srgbClr val="F3E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585195" y="3497186"/>
            <a:ext cx="0" cy="1185928"/>
          </a:xfrm>
          <a:prstGeom prst="line">
            <a:avLst/>
          </a:prstGeom>
          <a:ln w="43821">
            <a:solidFill>
              <a:srgbClr val="C99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6473" y="3925818"/>
            <a:ext cx="1022089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D30"/>
                </a:solidFill>
                <a:latin typeface="Arial"/>
              </a:rPr>
              <a:t>5–15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7498" y="4017113"/>
            <a:ext cx="1282620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WASPADA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9053" y="4031607"/>
            <a:ext cx="28804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agens hayati setelah inspeksi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195" y="4737891"/>
            <a:ext cx="5449808" cy="1185927"/>
          </a:xfrm>
          <a:prstGeom prst="rect">
            <a:avLst/>
          </a:prstGeom>
          <a:solidFill>
            <a:srgbClr val="EFD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585195" y="4737891"/>
            <a:ext cx="0" cy="1185928"/>
          </a:xfrm>
          <a:prstGeom prst="line">
            <a:avLst/>
          </a:prstGeom>
          <a:ln w="43821">
            <a:solidFill>
              <a:srgbClr val="BD7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6473" y="5166523"/>
            <a:ext cx="1022089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D30"/>
                </a:solidFill>
                <a:latin typeface="Arial"/>
              </a:rPr>
              <a:t>&gt;15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7498" y="5257819"/>
            <a:ext cx="1282620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TINDAK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9053" y="5272312"/>
            <a:ext cx="28804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tindakan berizin sesuai protokol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195" y="5990921"/>
            <a:ext cx="54818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Inspeksi 10 titik acak dan 2 perangkap per unit, setiap hari.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156881" y="2183330"/>
            <a:ext cx="5449922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56881" y="2005532"/>
            <a:ext cx="548192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57A58"/>
                </a:solidFill>
                <a:latin typeface="Arial"/>
              </a:rPr>
              <a:t>JIKA WABAH MENYEBAR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6881" y="2256481"/>
            <a:ext cx="5449922" cy="1247209"/>
          </a:xfrm>
          <a:prstGeom prst="rect">
            <a:avLst/>
          </a:prstGeom>
          <a:solidFill>
            <a:srgbClr val="E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156881" y="2256481"/>
            <a:ext cx="5449922" cy="0"/>
          </a:xfrm>
          <a:prstGeom prst="line">
            <a:avLst/>
          </a:prstGeom>
          <a:ln w="7303">
            <a:solidFill>
              <a:srgbClr val="A9C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42127" y="2817948"/>
            <a:ext cx="135177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D30"/>
                </a:solidFill>
                <a:latin typeface="Arial"/>
              </a:rPr>
              <a:t>1–3 tanaman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2838" y="2809389"/>
            <a:ext cx="166856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CABUT &amp; TANDAI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0340" y="2818632"/>
            <a:ext cx="223322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143D30"/>
                </a:solidFill>
                <a:latin typeface="Arial"/>
              </a:rPr>
              <a:t>awasi radius 2 m selama seminggu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6881" y="3558468"/>
            <a:ext cx="5449922" cy="1247209"/>
          </a:xfrm>
          <a:prstGeom prst="rect">
            <a:avLst/>
          </a:prstGeom>
          <a:solidFill>
            <a:srgbClr val="E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156881" y="3558468"/>
            <a:ext cx="5449922" cy="0"/>
          </a:xfrm>
          <a:prstGeom prst="line">
            <a:avLst/>
          </a:prstGeom>
          <a:ln w="7303">
            <a:solidFill>
              <a:srgbClr val="A9C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42127" y="4119935"/>
            <a:ext cx="135177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D30"/>
                </a:solidFill>
                <a:latin typeface="Arial"/>
              </a:rPr>
              <a:t>4–15 tanaman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2838" y="4111376"/>
            <a:ext cx="166856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HENTIKAN JALUR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0340" y="4120620"/>
            <a:ext cx="223322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143D30"/>
                </a:solidFill>
                <a:latin typeface="Arial"/>
              </a:rPr>
              <a:t>uji akar/larutan; tunda panen unit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6881" y="4860455"/>
            <a:ext cx="5449922" cy="1247209"/>
          </a:xfrm>
          <a:prstGeom prst="rect">
            <a:avLst/>
          </a:prstGeom>
          <a:solidFill>
            <a:srgbClr val="E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156881" y="4860455"/>
            <a:ext cx="5449922" cy="0"/>
          </a:xfrm>
          <a:prstGeom prst="line">
            <a:avLst/>
          </a:prstGeom>
          <a:ln w="7303">
            <a:solidFill>
              <a:srgbClr val="A9C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2127" y="5421922"/>
            <a:ext cx="135177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D30"/>
                </a:solidFill>
                <a:latin typeface="Arial"/>
              </a:rPr>
              <a:t>&gt;15 / 2 unit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2838" y="5413363"/>
            <a:ext cx="166856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KARANTINA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0340" y="5422607"/>
            <a:ext cx="223322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143D30"/>
                </a:solidFill>
                <a:latin typeface="Arial"/>
              </a:rPr>
              <a:t>lokasi ≤2 jam; survei ≤24 jam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Skenario sumber: satu lokasi 17 unit × satu siklus ≈12,2 ton atau sekitar Rp0,9 miliar hasil yang terpapar.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26 / 66 · ASLI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Nursery berjalan paralel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Bibit 18 hari dipelihara terpisah dari rumah kaca produksi 66 hari karena kebutuhan lingkungan berbeda.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3857522" cy="2038969"/>
          </a:xfrm>
          <a:prstGeom prst="rect">
            <a:avLst/>
          </a:prstGeom>
          <a:solidFill>
            <a:srgbClr val="D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cture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1944593"/>
            <a:ext cx="3857522" cy="20389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45" y="3774610"/>
            <a:ext cx="3711223" cy="148012"/>
          </a:xfrm>
          <a:prstGeom prst="rect">
            <a:avLst/>
          </a:prstGeom>
          <a:solidFill>
            <a:srgbClr val="09301E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45" y="3797776"/>
            <a:ext cx="374322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8FFF1"/>
                </a:solidFill>
                <a:latin typeface="Arial"/>
              </a:rPr>
              <a:t>VISUALISASI KONSEP · BUKAN FASILITAS TERPASANG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441" y="2029840"/>
            <a:ext cx="740167" cy="241019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441" y="2084617"/>
            <a:ext cx="77217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Arial"/>
              </a:rPr>
              <a:t>NURSERY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195" y="4068809"/>
            <a:ext cx="3857522" cy="2038969"/>
          </a:xfrm>
          <a:prstGeom prst="rect">
            <a:avLst/>
          </a:prstGeom>
          <a:solidFill>
            <a:srgbClr val="D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icture-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95" y="4068809"/>
            <a:ext cx="3857522" cy="20389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58345" y="5898827"/>
            <a:ext cx="3711223" cy="148012"/>
          </a:xfrm>
          <a:prstGeom prst="rect">
            <a:avLst/>
          </a:prstGeom>
          <a:solidFill>
            <a:srgbClr val="09301E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45" y="5921993"/>
            <a:ext cx="374322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8FFF1"/>
                </a:solidFill>
                <a:latin typeface="Arial"/>
              </a:rPr>
              <a:t>VISUALISASI KONSEP · BUKAN FASILITAS TERPASANG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441" y="4154057"/>
            <a:ext cx="1006176" cy="241019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441" y="4208834"/>
            <a:ext cx="103818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Arial"/>
              </a:rPr>
              <a:t>GROW HOUSE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4596" y="1944593"/>
            <a:ext cx="7042207" cy="233716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2053" y="1999370"/>
            <a:ext cx="208612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FFFFFF"/>
                </a:solidFill>
                <a:latin typeface="Arial"/>
              </a:rP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6172" y="1999370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FFFFFF"/>
                </a:solidFill>
                <a:latin typeface="Arial"/>
              </a:rPr>
              <a:t>BIBIT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5704" y="1999370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FFFFFF"/>
                </a:solidFill>
                <a:latin typeface="Arial"/>
              </a:rPr>
              <a:t>TANAMAN PRODUKSI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64596" y="2178309"/>
            <a:ext cx="7042207" cy="654816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4564596" y="2833126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62053" y="2436333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Waktu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6172" y="2439984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18 hari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5704" y="2439984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66 hari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64596" y="2833126"/>
            <a:ext cx="7042207" cy="654930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4564596" y="3488056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62053" y="3091149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6172" y="3094801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70–90%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5704" y="3094801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70% → 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64596" y="3488056"/>
            <a:ext cx="7042207" cy="654930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4564596" y="4142987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662053" y="3746080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Suhu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6172" y="3749732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25–28°C stabil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5704" y="3749732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beda siang/malam ≥7°C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4596" y="4142987"/>
            <a:ext cx="7042207" cy="654930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H="1">
            <a:off x="4564596" y="4797918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62053" y="4401011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Cahaya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6172" y="4404663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naungan 30–50%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5704" y="4404663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penuh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64596" y="4797918"/>
            <a:ext cx="7042207" cy="654930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H="1">
            <a:off x="4564596" y="5452848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662053" y="5055941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Nutrisi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6172" y="5059593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400–800 ppm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5704" y="5059593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900–1.750 ppm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4596" y="5452848"/>
            <a:ext cx="7042207" cy="654930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>
            <a:off x="4564596" y="6107779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662053" y="5710872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Saringan mutu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16172" y="5714524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buang 5–10% bibit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75704" y="5714524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satu buah per tanaman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Nursery 25–30 m² per lokasi melayani unit bergilir; pemisahan 18 hari inilah yang membuka slot greenhouse 73 hari.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27 / 66 · ASLI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Delapan tahap kerja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Rangkaian semai, pindah tanam, perawatan, penyerbukan, pematangan, hingga panen dan sortir.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2691467" cy="1830701"/>
          </a:xfrm>
          <a:prstGeom prst="rect">
            <a:avLst/>
          </a:prstGeom>
          <a:solidFill>
            <a:srgbClr val="E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1944593"/>
            <a:ext cx="2691468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121" y="209077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01 / 18 hari · nursery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121" y="3283669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SEMAI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121" y="3546942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bibit lemah disaring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1909" y="1944593"/>
            <a:ext cx="2691467" cy="1830701"/>
          </a:xfrm>
          <a:prstGeom prst="rect">
            <a:avLst/>
          </a:prstGeom>
          <a:solidFill>
            <a:srgbClr val="D3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361909" y="1944593"/>
            <a:ext cx="2691467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89835" y="209077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02 / hari 1 · 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9835" y="3283669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PINDAH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9835" y="3546942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tanam DFT + penyangga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8622" y="1944593"/>
            <a:ext cx="2691467" cy="1830701"/>
          </a:xfrm>
          <a:prstGeom prst="rect">
            <a:avLst/>
          </a:prstGeom>
          <a:solidFill>
            <a:srgbClr val="E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138622" y="1944593"/>
            <a:ext cx="2691468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6548" y="209077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03 / 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6548" y="3283669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VEGETATIF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6548" y="3546942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ikat sulur, pangkas tunas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336" y="1944593"/>
            <a:ext cx="2691467" cy="1830701"/>
          </a:xfrm>
          <a:prstGeom prst="rect">
            <a:avLst/>
          </a:prstGeom>
          <a:solidFill>
            <a:srgbClr val="D3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915336" y="1944593"/>
            <a:ext cx="2691467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43262" y="209077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04 / 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262" y="3283669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BUNGA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262" y="3546942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serbuki; sisakan 1 buah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195" y="3860542"/>
            <a:ext cx="2691467" cy="1830816"/>
          </a:xfrm>
          <a:prstGeom prst="rect">
            <a:avLst/>
          </a:prstGeom>
          <a:solidFill>
            <a:srgbClr val="E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85195" y="3860542"/>
            <a:ext cx="2691468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121" y="400672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05 / 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121" y="5199732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BUAH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121" y="5463005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gantung, bungkus, pangkas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61909" y="3860542"/>
            <a:ext cx="2691467" cy="1830816"/>
          </a:xfrm>
          <a:prstGeom prst="rect">
            <a:avLst/>
          </a:prstGeom>
          <a:solidFill>
            <a:srgbClr val="D3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361909" y="3860542"/>
            <a:ext cx="2691467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489835" y="400672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06 / 10–14 hari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9835" y="5199732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MATANG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89835" y="5463005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naikkan nutrisi; cek Brix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38622" y="3860542"/>
            <a:ext cx="2691467" cy="1830816"/>
          </a:xfrm>
          <a:prstGeom prst="rect">
            <a:avLst/>
          </a:prstGeom>
          <a:solidFill>
            <a:srgbClr val="E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138622" y="3860542"/>
            <a:ext cx="2691468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66548" y="400672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07 / &lt;12 jam kirim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6548" y="5199732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PANEN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6548" y="5463005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sortir, grading, kemas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336" y="3860542"/>
            <a:ext cx="2691467" cy="1830816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915336" y="3860542"/>
            <a:ext cx="2691467" cy="0"/>
          </a:xfrm>
          <a:prstGeom prst="line">
            <a:avLst/>
          </a:prstGeom>
          <a:ln w="36517">
            <a:solidFill>
              <a:srgbClr val="C5E6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043262" y="400672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6E899"/>
                </a:solidFill>
                <a:latin typeface="Arial"/>
              </a:rPr>
              <a:t>08 / 7 hari · 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3262" y="5199732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FFFFFF"/>
                </a:solidFill>
                <a:latin typeface="Arial"/>
              </a:rPr>
              <a:t>SANITASI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3262" y="5463005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FFFFFF"/>
                </a:solidFill>
                <a:latin typeface="Arial"/>
              </a:rPr>
              <a:t>cuci jalur; ganti larutan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195" y="5776605"/>
            <a:ext cx="11021607" cy="331174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2652" y="5883763"/>
            <a:ext cx="92771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F5FAEE"/>
                </a:solidFill>
                <a:latin typeface="Arial"/>
              </a:rPr>
              <a:t>NURSERY 18 HARI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64779" y="5843593"/>
            <a:ext cx="86894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BDE297"/>
                </a:solidFill>
                <a:latin typeface="Arial"/>
              </a:rPr>
              <a:t>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6201" y="5883763"/>
            <a:ext cx="13125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F5FAEE"/>
                </a:solidFill>
                <a:latin typeface="Arial"/>
              </a:rPr>
              <a:t>GH PRODUKSI 63–66 HARI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73133" y="5843593"/>
            <a:ext cx="127178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BDE297"/>
                </a:solidFill>
                <a:latin typeface="Arial"/>
              </a:rPr>
              <a:t>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54838" y="5883763"/>
            <a:ext cx="83870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F5FAEE"/>
                </a:solidFill>
                <a:latin typeface="Arial"/>
              </a:rPr>
              <a:t>SANITASI 7 HARI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7953" y="5883763"/>
            <a:ext cx="7933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CDEBA6"/>
                </a:solidFill>
                <a:latin typeface="Arial"/>
              </a:rPr>
              <a:t>= SLOT 73 HARI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Periode semai berjalan paralel; 90% Grade A dan SLA kirim &lt;12 jam adalah target pada sumber.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28 / 66 · ASLI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Apakah tenaga kerja cukup?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Waktu kerja per tanaman dibandingkan dengan kapasitas kerja setelah jalan kaki, sanitasi, dan pencatatan.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814" y="1950184"/>
            <a:ext cx="5834384" cy="4151432"/>
          </a:xfrm>
          <a:prstGeom prst="rect">
            <a:avLst/>
          </a:prstGeom>
          <a:solidFill>
            <a:srgbClr val="EF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113" y="2072064"/>
            <a:ext cx="557379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5A805A"/>
                </a:solidFill>
                <a:latin typeface="Arial"/>
              </a:rPr>
              <a:t>WAKTU SENTUH TANAMAN / SIKLUS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113" y="2451739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Pindah tanam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4867" y="2466346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04867" y="2466346"/>
            <a:ext cx="1640442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6667" y="2448087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1,2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113" y="2944620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Ikat sulur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04867" y="2959113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4867" y="2959113"/>
            <a:ext cx="2460721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6667" y="2940968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1,8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113" y="3437387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Pangkas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04867" y="3451995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04867" y="3451995"/>
            <a:ext cx="2870860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6667" y="3433735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2,1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113" y="3930269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Serbuki &amp; pilih buah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04867" y="3944762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04867" y="3944762"/>
            <a:ext cx="2050582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6667" y="3926617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1,5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113" y="4423150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Bungkus &amp; gantung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04867" y="4437643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04867" y="4437643"/>
            <a:ext cx="1230303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6667" y="4419498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0,9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113" y="4916031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Inspeksi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04867" y="4930524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04867" y="4930524"/>
            <a:ext cx="820164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6667" y="4912379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0,6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113" y="5408912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Panen &amp; sortir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04867" y="5423406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04867" y="5423406"/>
            <a:ext cx="1640442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6667" y="5405261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1,2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8113" y="5735065"/>
            <a:ext cx="5541787" cy="0"/>
          </a:xfrm>
          <a:prstGeom prst="line">
            <a:avLst/>
          </a:prstGeom>
          <a:ln w="7303">
            <a:solidFill>
              <a:srgbClr val="ACC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8113" y="5797146"/>
            <a:ext cx="557379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097" y="5797146"/>
            <a:ext cx="825807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43D30"/>
                </a:solidFill>
                <a:latin typeface="Arial"/>
              </a:rPr>
              <a:t>9,30 MENIT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113" y="5797146"/>
            <a:ext cx="557379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/ TANAMAN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48077" y="1950184"/>
            <a:ext cx="5052107" cy="1782543"/>
          </a:xfrm>
          <a:prstGeom prst="rect">
            <a:avLst/>
          </a:prstGeom>
          <a:solidFill>
            <a:srgbClr val="D9E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9955" y="2539382"/>
            <a:ext cx="484035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57856"/>
                </a:solidFill>
                <a:latin typeface="Arial"/>
              </a:rPr>
              <a:t>SETELAH JALAN + SANITASI + CATATAN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9955" y="2654985"/>
            <a:ext cx="4840356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9,6–10,0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9955" y="3026672"/>
            <a:ext cx="484035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menit kebutuhan riil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48077" y="3811927"/>
            <a:ext cx="5052107" cy="1782543"/>
          </a:xfrm>
          <a:prstGeom prst="rect">
            <a:avLst/>
          </a:prstGeom>
          <a:solidFill>
            <a:srgbClr val="CCE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69955" y="4401125"/>
            <a:ext cx="484035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57856"/>
                </a:solidFill>
                <a:latin typeface="Arial"/>
              </a:rPr>
              <a:t>KAPASITAS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9955" y="4516728"/>
            <a:ext cx="4840356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1 : 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69955" y="4888414"/>
            <a:ext cx="484035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petani : GH · 288 hari × 7 jam/tahun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48077" y="5673669"/>
            <a:ext cx="5052107" cy="427947"/>
          </a:xfrm>
          <a:prstGeom prst="rect">
            <a:avLst/>
          </a:prstGeom>
          <a:solidFill>
            <a:srgbClr val="F2E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6548077" y="5673669"/>
            <a:ext cx="0" cy="427948"/>
          </a:xfrm>
          <a:prstGeom prst="line">
            <a:avLst/>
          </a:prstGeom>
          <a:ln w="36517">
            <a:solidFill>
              <a:srgbClr val="C49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548077" y="5758916"/>
            <a:ext cx="5084111" cy="2848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Jika &gt;10 menit, turunkan ke 1:5 → tambahan biaya sekitar Rp4,7 miliar sepanjang 11 tahun (skenario sumber).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91814" y="6168605"/>
            <a:ext cx="11008370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91814" y="6230686"/>
            <a:ext cx="1104037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Kebutuhan aktual harus divalidasi dengan catatan waktu dua siklus; angka biaya stres bukan OPEX dasar.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82550" y="6537324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29 / 66 · ASLI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Lima panen dari slot 73 hari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Penyemaian dipindah ke nursery; rumah kaca dipakai 66 hari dan disanitasi 7 hari.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5449808" cy="3078254"/>
          </a:xfrm>
          <a:prstGeom prst="rect">
            <a:avLst/>
          </a:prstGeom>
          <a:solidFill>
            <a:srgbClr val="E8E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5801" y="2078683"/>
            <a:ext cx="51405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D805B"/>
                </a:solidFill>
                <a:latin typeface="Arial"/>
              </a:rPr>
              <a:t>SEMAI DI DALAM 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01" y="3852896"/>
            <a:ext cx="5140599" cy="6747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23" b="1" i="0">
                <a:solidFill>
                  <a:srgbClr val="143D30"/>
                </a:solidFill>
                <a:latin typeface="Arial"/>
              </a:rPr>
              <a:t>88–91 hari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01" y="4484318"/>
            <a:ext cx="514059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143D30"/>
                </a:solidFill>
                <a:latin typeface="Arial"/>
              </a:rPr>
              <a:t>≈4 panen/tahun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801" y="4766877"/>
            <a:ext cx="161104" cy="121879"/>
          </a:xfrm>
          <a:prstGeom prst="rect">
            <a:avLst/>
          </a:prstGeom>
          <a:solidFill>
            <a:srgbClr val="74A569">
              <a:alpha val="9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5445" y="4766877"/>
            <a:ext cx="161104" cy="121879"/>
          </a:xfrm>
          <a:prstGeom prst="rect">
            <a:avLst/>
          </a:prstGeom>
          <a:solidFill>
            <a:srgbClr val="73A468">
              <a:alpha val="9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5089" y="4766877"/>
            <a:ext cx="161104" cy="121879"/>
          </a:xfrm>
          <a:prstGeom prst="rect">
            <a:avLst/>
          </a:prstGeom>
          <a:solidFill>
            <a:srgbClr val="72A267">
              <a:alpha val="9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732" y="4766877"/>
            <a:ext cx="161104" cy="121879"/>
          </a:xfrm>
          <a:prstGeom prst="rect">
            <a:avLst/>
          </a:prstGeom>
          <a:solidFill>
            <a:srgbClr val="71A166">
              <a:alpha val="9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94376" y="4766877"/>
            <a:ext cx="161104" cy="121879"/>
          </a:xfrm>
          <a:prstGeom prst="rect">
            <a:avLst/>
          </a:prstGeom>
          <a:solidFill>
            <a:srgbClr val="70A065">
              <a:alpha val="8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020" y="4766877"/>
            <a:ext cx="161104" cy="121879"/>
          </a:xfrm>
          <a:prstGeom prst="rect">
            <a:avLst/>
          </a:prstGeom>
          <a:solidFill>
            <a:srgbClr val="6F9E64">
              <a:alpha val="8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3663" y="4766877"/>
            <a:ext cx="161104" cy="121879"/>
          </a:xfrm>
          <a:prstGeom prst="rect">
            <a:avLst/>
          </a:prstGeom>
          <a:solidFill>
            <a:srgbClr val="6D9D63">
              <a:alpha val="8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3307" y="4766877"/>
            <a:ext cx="161104" cy="121879"/>
          </a:xfrm>
          <a:prstGeom prst="rect">
            <a:avLst/>
          </a:prstGeom>
          <a:solidFill>
            <a:srgbClr val="6C9B62">
              <a:alpha val="7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32950" y="4766877"/>
            <a:ext cx="161104" cy="121879"/>
          </a:xfrm>
          <a:prstGeom prst="rect">
            <a:avLst/>
          </a:prstGeom>
          <a:solidFill>
            <a:srgbClr val="6B9A61">
              <a:alpha val="76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92594" y="4766877"/>
            <a:ext cx="161104" cy="121879"/>
          </a:xfrm>
          <a:prstGeom prst="rect">
            <a:avLst/>
          </a:prstGeom>
          <a:solidFill>
            <a:srgbClr val="6A9860">
              <a:alpha val="73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52238" y="4766877"/>
            <a:ext cx="161104" cy="121879"/>
          </a:xfrm>
          <a:prstGeom prst="rect">
            <a:avLst/>
          </a:prstGeom>
          <a:solidFill>
            <a:srgbClr val="69975F">
              <a:alpha val="71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11881" y="4766877"/>
            <a:ext cx="161104" cy="121879"/>
          </a:xfrm>
          <a:prstGeom prst="rect">
            <a:avLst/>
          </a:prstGeom>
          <a:solidFill>
            <a:srgbClr val="68955E">
              <a:alpha val="68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71525" y="4766877"/>
            <a:ext cx="161104" cy="121879"/>
          </a:xfrm>
          <a:prstGeom prst="rect">
            <a:avLst/>
          </a:prstGeom>
          <a:solidFill>
            <a:srgbClr val="67945D">
              <a:alpha val="65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31169" y="4766877"/>
            <a:ext cx="161104" cy="121879"/>
          </a:xfrm>
          <a:prstGeom prst="rect">
            <a:avLst/>
          </a:prstGeom>
          <a:solidFill>
            <a:srgbClr val="65935C">
              <a:alpha val="62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90812" y="4766877"/>
            <a:ext cx="161104" cy="121879"/>
          </a:xfrm>
          <a:prstGeom prst="rect">
            <a:avLst/>
          </a:prstGeom>
          <a:solidFill>
            <a:srgbClr val="64915B">
              <a:alpha val="60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50456" y="4766877"/>
            <a:ext cx="161104" cy="121879"/>
          </a:xfrm>
          <a:prstGeom prst="rect">
            <a:avLst/>
          </a:prstGeom>
          <a:solidFill>
            <a:srgbClr val="63905A">
              <a:alpha val="57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0099" y="4766877"/>
            <a:ext cx="161104" cy="121879"/>
          </a:xfrm>
          <a:prstGeom prst="rect">
            <a:avLst/>
          </a:prstGeom>
          <a:solidFill>
            <a:srgbClr val="628E58">
              <a:alpha val="5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69743" y="4766877"/>
            <a:ext cx="161104" cy="121879"/>
          </a:xfrm>
          <a:prstGeom prst="rect">
            <a:avLst/>
          </a:prstGeom>
          <a:solidFill>
            <a:srgbClr val="618D57">
              <a:alpha val="5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29387" y="4766877"/>
            <a:ext cx="161104" cy="121879"/>
          </a:xfrm>
          <a:prstGeom prst="rect">
            <a:avLst/>
          </a:prstGeom>
          <a:solidFill>
            <a:srgbClr val="608B56">
              <a:alpha val="4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89030" y="4766877"/>
            <a:ext cx="161104" cy="121879"/>
          </a:xfrm>
          <a:prstGeom prst="rect">
            <a:avLst/>
          </a:prstGeom>
          <a:solidFill>
            <a:srgbClr val="5E8A55">
              <a:alpha val="4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8674" y="4766877"/>
            <a:ext cx="161104" cy="121879"/>
          </a:xfrm>
          <a:prstGeom prst="rect">
            <a:avLst/>
          </a:prstGeom>
          <a:solidFill>
            <a:srgbClr val="5D8954">
              <a:alpha val="4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08318" y="4766877"/>
            <a:ext cx="161104" cy="121879"/>
          </a:xfrm>
          <a:prstGeom prst="rect">
            <a:avLst/>
          </a:prstGeom>
          <a:solidFill>
            <a:srgbClr val="5C8753">
              <a:alpha val="4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7961" y="4766877"/>
            <a:ext cx="161104" cy="121879"/>
          </a:xfrm>
          <a:prstGeom prst="rect">
            <a:avLst/>
          </a:prstGeom>
          <a:solidFill>
            <a:srgbClr val="5B8652">
              <a:alpha val="3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27605" y="4766877"/>
            <a:ext cx="161104" cy="121879"/>
          </a:xfrm>
          <a:prstGeom prst="rect">
            <a:avLst/>
          </a:prstGeom>
          <a:solidFill>
            <a:srgbClr val="5A8451">
              <a:alpha val="3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87248" y="4766877"/>
            <a:ext cx="161104" cy="121879"/>
          </a:xfrm>
          <a:prstGeom prst="rect">
            <a:avLst/>
          </a:prstGeom>
          <a:solidFill>
            <a:srgbClr val="598350">
              <a:alpha val="3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46892" y="4766877"/>
            <a:ext cx="161104" cy="121879"/>
          </a:xfrm>
          <a:prstGeom prst="rect">
            <a:avLst/>
          </a:prstGeom>
          <a:solidFill>
            <a:srgbClr val="58814F">
              <a:alpha val="2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06536" y="4766877"/>
            <a:ext cx="161104" cy="121879"/>
          </a:xfrm>
          <a:prstGeom prst="rect">
            <a:avLst/>
          </a:prstGeom>
          <a:solidFill>
            <a:srgbClr val="56804E">
              <a:alpha val="2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66179" y="4766877"/>
            <a:ext cx="161104" cy="121879"/>
          </a:xfrm>
          <a:prstGeom prst="rect">
            <a:avLst/>
          </a:prstGeom>
          <a:solidFill>
            <a:srgbClr val="557E4D">
              <a:alpha val="2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25823" y="4766877"/>
            <a:ext cx="161104" cy="121879"/>
          </a:xfrm>
          <a:prstGeom prst="rect">
            <a:avLst/>
          </a:prstGeom>
          <a:solidFill>
            <a:srgbClr val="547D4C">
              <a:alpha val="2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85466" y="4766877"/>
            <a:ext cx="161104" cy="121879"/>
          </a:xfrm>
          <a:prstGeom prst="rect">
            <a:avLst/>
          </a:prstGeom>
          <a:solidFill>
            <a:srgbClr val="537C4B">
              <a:alpha val="1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45110" y="4766877"/>
            <a:ext cx="161104" cy="121879"/>
          </a:xfrm>
          <a:prstGeom prst="rect">
            <a:avLst/>
          </a:prstGeom>
          <a:solidFill>
            <a:srgbClr val="527A4A">
              <a:alpha val="1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04754" y="4766877"/>
            <a:ext cx="161104" cy="121879"/>
          </a:xfrm>
          <a:prstGeom prst="rect">
            <a:avLst/>
          </a:prstGeom>
          <a:solidFill>
            <a:srgbClr val="517949">
              <a:alpha val="1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56881" y="1944593"/>
            <a:ext cx="5449922" cy="3078254"/>
          </a:xfrm>
          <a:prstGeom prst="rect">
            <a:avLst/>
          </a:prstGeom>
          <a:solidFill>
            <a:srgbClr val="D1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156881" y="1944593"/>
            <a:ext cx="5449922" cy="0"/>
          </a:xfrm>
          <a:prstGeom prst="line">
            <a:avLst/>
          </a:prstGeom>
          <a:ln w="43821">
            <a:solidFill>
              <a:srgbClr val="5B9B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27487" y="2122505"/>
            <a:ext cx="514071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D805B"/>
                </a:solidFill>
                <a:latin typeface="Arial"/>
              </a:rPr>
              <a:t>NURSERY BERJALAN PARALEL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487" y="3852896"/>
            <a:ext cx="5140714" cy="6747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23" b="1" i="0">
                <a:solidFill>
                  <a:srgbClr val="143D30"/>
                </a:solidFill>
                <a:latin typeface="Arial"/>
              </a:rPr>
              <a:t>73 hari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487" y="4484318"/>
            <a:ext cx="51407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143D30"/>
                </a:solidFill>
                <a:latin typeface="Arial"/>
              </a:rPr>
              <a:t>63–66 hari tumbuh + 7 hari sanitasi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27487" y="4766877"/>
            <a:ext cx="161107" cy="121879"/>
          </a:xfrm>
          <a:prstGeom prst="rect">
            <a:avLst/>
          </a:prstGeom>
          <a:solidFill>
            <a:srgbClr val="74A569">
              <a:alpha val="9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87134" y="4766877"/>
            <a:ext cx="161107" cy="121879"/>
          </a:xfrm>
          <a:prstGeom prst="rect">
            <a:avLst/>
          </a:prstGeom>
          <a:solidFill>
            <a:srgbClr val="73A468">
              <a:alpha val="9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46782" y="4766877"/>
            <a:ext cx="161107" cy="121879"/>
          </a:xfrm>
          <a:prstGeom prst="rect">
            <a:avLst/>
          </a:prstGeom>
          <a:solidFill>
            <a:srgbClr val="72A267">
              <a:alpha val="9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06429" y="4766877"/>
            <a:ext cx="161107" cy="121879"/>
          </a:xfrm>
          <a:prstGeom prst="rect">
            <a:avLst/>
          </a:prstGeom>
          <a:solidFill>
            <a:srgbClr val="71A166">
              <a:alpha val="9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6076" y="4766877"/>
            <a:ext cx="161107" cy="121879"/>
          </a:xfrm>
          <a:prstGeom prst="rect">
            <a:avLst/>
          </a:prstGeom>
          <a:solidFill>
            <a:srgbClr val="70A065">
              <a:alpha val="8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25723" y="4766877"/>
            <a:ext cx="161107" cy="121879"/>
          </a:xfrm>
          <a:prstGeom prst="rect">
            <a:avLst/>
          </a:prstGeom>
          <a:solidFill>
            <a:srgbClr val="6F9E64">
              <a:alpha val="8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85370" y="4766877"/>
            <a:ext cx="161107" cy="121879"/>
          </a:xfrm>
          <a:prstGeom prst="rect">
            <a:avLst/>
          </a:prstGeom>
          <a:solidFill>
            <a:srgbClr val="6D9D63">
              <a:alpha val="8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45018" y="4766877"/>
            <a:ext cx="161107" cy="121879"/>
          </a:xfrm>
          <a:prstGeom prst="rect">
            <a:avLst/>
          </a:prstGeom>
          <a:solidFill>
            <a:srgbClr val="6C9B62">
              <a:alpha val="7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04665" y="4766877"/>
            <a:ext cx="161107" cy="121879"/>
          </a:xfrm>
          <a:prstGeom prst="rect">
            <a:avLst/>
          </a:prstGeom>
          <a:solidFill>
            <a:srgbClr val="6B9A61">
              <a:alpha val="76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64312" y="4766877"/>
            <a:ext cx="161107" cy="121879"/>
          </a:xfrm>
          <a:prstGeom prst="rect">
            <a:avLst/>
          </a:prstGeom>
          <a:solidFill>
            <a:srgbClr val="6A9860">
              <a:alpha val="73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23959" y="4766877"/>
            <a:ext cx="161107" cy="121879"/>
          </a:xfrm>
          <a:prstGeom prst="rect">
            <a:avLst/>
          </a:prstGeom>
          <a:solidFill>
            <a:srgbClr val="69975F">
              <a:alpha val="71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83606" y="4766877"/>
            <a:ext cx="161107" cy="121879"/>
          </a:xfrm>
          <a:prstGeom prst="rect">
            <a:avLst/>
          </a:prstGeom>
          <a:solidFill>
            <a:srgbClr val="68955E">
              <a:alpha val="68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43253" y="4766877"/>
            <a:ext cx="161107" cy="121879"/>
          </a:xfrm>
          <a:prstGeom prst="rect">
            <a:avLst/>
          </a:prstGeom>
          <a:solidFill>
            <a:srgbClr val="67945D">
              <a:alpha val="65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02901" y="4766877"/>
            <a:ext cx="161107" cy="121879"/>
          </a:xfrm>
          <a:prstGeom prst="rect">
            <a:avLst/>
          </a:prstGeom>
          <a:solidFill>
            <a:srgbClr val="65935C">
              <a:alpha val="62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62548" y="4766877"/>
            <a:ext cx="161107" cy="121879"/>
          </a:xfrm>
          <a:prstGeom prst="rect">
            <a:avLst/>
          </a:prstGeom>
          <a:solidFill>
            <a:srgbClr val="64915B">
              <a:alpha val="60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22195" y="4766877"/>
            <a:ext cx="161107" cy="121879"/>
          </a:xfrm>
          <a:prstGeom prst="rect">
            <a:avLst/>
          </a:prstGeom>
          <a:solidFill>
            <a:srgbClr val="63905A">
              <a:alpha val="57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81842" y="4766877"/>
            <a:ext cx="161107" cy="121879"/>
          </a:xfrm>
          <a:prstGeom prst="rect">
            <a:avLst/>
          </a:prstGeom>
          <a:solidFill>
            <a:srgbClr val="628E58">
              <a:alpha val="5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41489" y="4766877"/>
            <a:ext cx="161107" cy="121879"/>
          </a:xfrm>
          <a:prstGeom prst="rect">
            <a:avLst/>
          </a:prstGeom>
          <a:solidFill>
            <a:srgbClr val="618D57">
              <a:alpha val="5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01137" y="4766877"/>
            <a:ext cx="161107" cy="121879"/>
          </a:xfrm>
          <a:prstGeom prst="rect">
            <a:avLst/>
          </a:prstGeom>
          <a:solidFill>
            <a:srgbClr val="608B56">
              <a:alpha val="4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60784" y="4766877"/>
            <a:ext cx="161107" cy="121879"/>
          </a:xfrm>
          <a:prstGeom prst="rect">
            <a:avLst/>
          </a:prstGeom>
          <a:solidFill>
            <a:srgbClr val="5E8A55">
              <a:alpha val="4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20431" y="4766877"/>
            <a:ext cx="161107" cy="121879"/>
          </a:xfrm>
          <a:prstGeom prst="rect">
            <a:avLst/>
          </a:prstGeom>
          <a:solidFill>
            <a:srgbClr val="5D8954">
              <a:alpha val="4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80078" y="4766877"/>
            <a:ext cx="161107" cy="121879"/>
          </a:xfrm>
          <a:prstGeom prst="rect">
            <a:avLst/>
          </a:prstGeom>
          <a:solidFill>
            <a:srgbClr val="5C8753">
              <a:alpha val="4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39725" y="4766877"/>
            <a:ext cx="161107" cy="121879"/>
          </a:xfrm>
          <a:prstGeom prst="rect">
            <a:avLst/>
          </a:prstGeom>
          <a:solidFill>
            <a:srgbClr val="5B8652">
              <a:alpha val="3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999373" y="4766877"/>
            <a:ext cx="161107" cy="121879"/>
          </a:xfrm>
          <a:prstGeom prst="rect">
            <a:avLst/>
          </a:prstGeom>
          <a:solidFill>
            <a:srgbClr val="5A8451">
              <a:alpha val="3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59020" y="4766877"/>
            <a:ext cx="161107" cy="121879"/>
          </a:xfrm>
          <a:prstGeom prst="rect">
            <a:avLst/>
          </a:prstGeom>
          <a:solidFill>
            <a:srgbClr val="598350">
              <a:alpha val="3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318667" y="4766877"/>
            <a:ext cx="161107" cy="121879"/>
          </a:xfrm>
          <a:prstGeom prst="rect">
            <a:avLst/>
          </a:prstGeom>
          <a:solidFill>
            <a:srgbClr val="58814F">
              <a:alpha val="2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478314" y="4766877"/>
            <a:ext cx="161107" cy="121879"/>
          </a:xfrm>
          <a:prstGeom prst="rect">
            <a:avLst/>
          </a:prstGeom>
          <a:solidFill>
            <a:srgbClr val="56804E">
              <a:alpha val="2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637961" y="4766877"/>
            <a:ext cx="161107" cy="121879"/>
          </a:xfrm>
          <a:prstGeom prst="rect">
            <a:avLst/>
          </a:prstGeom>
          <a:solidFill>
            <a:srgbClr val="557E4D">
              <a:alpha val="2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797608" y="4766877"/>
            <a:ext cx="161107" cy="121879"/>
          </a:xfrm>
          <a:prstGeom prst="rect">
            <a:avLst/>
          </a:prstGeom>
          <a:solidFill>
            <a:srgbClr val="547D4C">
              <a:alpha val="2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957256" y="4766877"/>
            <a:ext cx="161107" cy="121879"/>
          </a:xfrm>
          <a:prstGeom prst="rect">
            <a:avLst/>
          </a:prstGeom>
          <a:solidFill>
            <a:srgbClr val="537C4B">
              <a:alpha val="1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116903" y="4766877"/>
            <a:ext cx="161107" cy="121879"/>
          </a:xfrm>
          <a:prstGeom prst="rect">
            <a:avLst/>
          </a:prstGeom>
          <a:solidFill>
            <a:srgbClr val="527A4A">
              <a:alpha val="1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276550" y="4766877"/>
            <a:ext cx="161107" cy="121879"/>
          </a:xfrm>
          <a:prstGeom prst="rect">
            <a:avLst/>
          </a:prstGeom>
          <a:solidFill>
            <a:srgbClr val="517949">
              <a:alpha val="1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85195" y="5120305"/>
            <a:ext cx="3056644" cy="987474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2652" y="5432649"/>
            <a:ext cx="289373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C6E79F"/>
                </a:solidFill>
                <a:latin typeface="Arial"/>
              </a:rPr>
              <a:t>SLOT PER TAHUN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2652" y="5576326"/>
            <a:ext cx="2893735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2" b="1" i="0">
                <a:solidFill>
                  <a:srgbClr val="F4FAEB"/>
                </a:solidFill>
                <a:latin typeface="Arial"/>
              </a:rPr>
              <a:t>365 ÷ 73 = 5,0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727086" y="5120305"/>
            <a:ext cx="4126384" cy="987474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24542" y="5432649"/>
            <a:ext cx="396347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C6E79F"/>
                </a:solidFill>
                <a:latin typeface="Arial"/>
              </a:rPr>
              <a:t>HASIL PER SIKLUS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24542" y="5576326"/>
            <a:ext cx="3963475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2" b="1" i="0">
                <a:solidFill>
                  <a:srgbClr val="F4FAEB"/>
                </a:solidFill>
                <a:latin typeface="Arial"/>
              </a:rPr>
              <a:t>420 × 1,8 × 95% = 718,2 kg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38716" y="5120305"/>
            <a:ext cx="3668087" cy="987474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36173" y="5432649"/>
            <a:ext cx="350517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C6E79F"/>
                </a:solidFill>
                <a:latin typeface="Arial"/>
              </a:rPr>
              <a:t>HASIL TAHUNAN / GH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36173" y="5576326"/>
            <a:ext cx="3505178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2" b="1" i="0">
                <a:solidFill>
                  <a:srgbClr val="F4FAEB"/>
                </a:solidFill>
                <a:latin typeface="Arial"/>
              </a:rPr>
              <a:t>718,2 × 5 = 3.591 kg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Pada Y0 hanya 2 siklus trial, Y1 4 siklus, dan greenhouse baru dihitung 3 siklus di tahun pertamanya.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30 / 66 · ASLI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Benih dapat ditiru. Sistem tidak.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Sumber deck menempatkan pengembangan benih sendiri sebagai perlindungan jangka panjang.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11021607" cy="367007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195" y="2042050"/>
            <a:ext cx="11053611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F7F9F0"/>
                </a:solidFill>
                <a:latin typeface="Arial"/>
              </a:rPr>
              <a:t>Fujisawa RZ F1 bisa dibeli pesaing. Keunggulan jangka panjang harus tumbuh dari pasokan, proses, dan pengembangan varietas.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195" y="2409058"/>
            <a:ext cx="5462018" cy="3698720"/>
          </a:xfrm>
          <a:prstGeom prst="rect">
            <a:avLst/>
          </a:prstGeom>
          <a:solidFill>
            <a:srgbClr val="E6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85195" y="2409058"/>
            <a:ext cx="5462019" cy="0"/>
          </a:xfrm>
          <a:prstGeom prst="line">
            <a:avLst/>
          </a:prstGeom>
          <a:ln w="36517">
            <a:solidFill>
              <a:srgbClr val="76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3591" y="2579667"/>
            <a:ext cx="517723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28761"/>
                </a:solidFill>
                <a:latin typeface="Arial"/>
              </a:rPr>
              <a:t>JALUR 01 / SAAT 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591" y="2811100"/>
            <a:ext cx="51772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D30"/>
                </a:solidFill>
                <a:latin typeface="Arial"/>
              </a:rPr>
              <a:t>Amankan pasokan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591" y="3171375"/>
            <a:ext cx="5177231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3B7750"/>
                </a:solidFill>
                <a:latin typeface="Arial"/>
              </a:rPr>
              <a:t>6–12 bulan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591" y="5522347"/>
            <a:ext cx="517723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Perjanjian dengan distributor PT Excelindo / Rijk Zwaan, volume tahunan dan alternatif benih.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3591" y="5795891"/>
            <a:ext cx="5145228" cy="0"/>
          </a:xfrm>
          <a:prstGeom prst="line">
            <a:avLst/>
          </a:prstGeom>
          <a:ln w="7303">
            <a:solidFill>
              <a:srgbClr val="A6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3591" y="5864134"/>
            <a:ext cx="517723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Genetik tetap bukan milik Melooloo.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671" y="2409058"/>
            <a:ext cx="5462132" cy="3698720"/>
          </a:xfrm>
          <a:prstGeom prst="rect">
            <a:avLst/>
          </a:prstGeom>
          <a:solidFill>
            <a:srgbClr val="CF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144671" y="2409058"/>
            <a:ext cx="5462132" cy="0"/>
          </a:xfrm>
          <a:prstGeom prst="line">
            <a:avLst/>
          </a:prstGeom>
          <a:ln w="36517">
            <a:solidFill>
              <a:srgbClr val="76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3066" y="2579667"/>
            <a:ext cx="517734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28761"/>
                </a:solidFill>
                <a:latin typeface="Arial"/>
              </a:rPr>
              <a:t>JALUR 02 / JANGKA PANJANG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3066" y="2811100"/>
            <a:ext cx="5177345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D30"/>
                </a:solidFill>
                <a:latin typeface="Arial"/>
              </a:rPr>
              <a:t>Kembangkan benih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3066" y="3171375"/>
            <a:ext cx="5177345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3B7750"/>
                </a:solidFill>
                <a:latin typeface="Arial"/>
              </a:rPr>
              <a:t>7–8 tahun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3066" y="5370683"/>
            <a:ext cx="5177345" cy="32243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Mitra pemuliaan yang diusulkan: UGM atau IPB. Koleksi 40–60 plasma nutfah, uji, lalu pendaftaran PVT.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03066" y="5795891"/>
            <a:ext cx="5145342" cy="0"/>
          </a:xfrm>
          <a:prstGeom prst="line">
            <a:avLst/>
          </a:prstGeom>
          <a:ln w="7303">
            <a:solidFill>
              <a:srgbClr val="A6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3066" y="5864134"/>
            <a:ext cx="517734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Target penggunaan benih sendiri: Tahun 7+.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Program pemuliaan masih rencana. Kemitraan, eksklusivitas, dan hak varietas belum dibuktikan sebagai perjanjian yang berlaku.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31 / 66 · ASLI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Investasi benih bertahap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Empat fase dari koleksi plasma nutfah hingga produksi rutin; tiap fase punya keputusan lanjut atau berhenti.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11021607" cy="701377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7073" y="2251459"/>
            <a:ext cx="168431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9E99E"/>
                </a:solidFill>
                <a:latin typeface="Arial"/>
              </a:rPr>
              <a:t>PROGRAM PEMULIAAN · 10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7782" y="2017743"/>
            <a:ext cx="1347211" cy="4190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44" b="1" i="0">
                <a:solidFill>
                  <a:srgbClr val="F5FAED"/>
                </a:solidFill>
                <a:latin typeface="Arial"/>
              </a:rPr>
              <a:t>Rp4.250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41369" y="2214941"/>
            <a:ext cx="17362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5FAED"/>
                </a:solidFill>
                <a:latin typeface="Arial"/>
              </a:rPr>
              <a:t>juta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4867" y="2244156"/>
            <a:ext cx="1312062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5FAED"/>
                </a:solidFill>
                <a:latin typeface="Arial"/>
              </a:rPr>
              <a:t>Anggaran usulan, belum masuk proyeksi keuangan dasar.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195" y="2725169"/>
            <a:ext cx="2700482" cy="2328148"/>
          </a:xfrm>
          <a:prstGeom prst="rect">
            <a:avLst/>
          </a:prstGeom>
          <a:solidFill>
            <a:srgbClr val="D9E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85195" y="2725169"/>
            <a:ext cx="2700483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85678" y="2725169"/>
            <a:ext cx="0" cy="2328148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85195" y="5053317"/>
            <a:ext cx="2700483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85195" y="2725169"/>
            <a:ext cx="0" cy="2328148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4377" y="2829930"/>
            <a:ext cx="247412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67E59"/>
                </a:solidFill>
                <a:latin typeface="Arial"/>
              </a:rPr>
              <a:t>FASE 1 · Y1–Y2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7" y="4487856"/>
            <a:ext cx="2474124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63D2B"/>
                </a:solidFill>
                <a:latin typeface="Arial"/>
              </a:rPr>
              <a:t>Rp950 jt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7" y="4826333"/>
            <a:ext cx="247412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63D2B"/>
                </a:solidFill>
                <a:latin typeface="Arial"/>
              </a:rPr>
              <a:t>40–60 plasma nutfah &amp; silang awal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8828" y="2725169"/>
            <a:ext cx="2700596" cy="2328148"/>
          </a:xfrm>
          <a:prstGeom prst="rect">
            <a:avLst/>
          </a:prstGeom>
          <a:solidFill>
            <a:srgbClr val="D5E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358828" y="2725169"/>
            <a:ext cx="2700597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59425" y="2725169"/>
            <a:ext cx="0" cy="2328148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358828" y="5053317"/>
            <a:ext cx="2700597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358828" y="2725169"/>
            <a:ext cx="0" cy="2328148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88009" y="2829930"/>
            <a:ext cx="247423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67E59"/>
                </a:solidFill>
                <a:latin typeface="Arial"/>
              </a:rPr>
              <a:t>FASE 2 · Y3–Y4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8009" y="4487856"/>
            <a:ext cx="2474238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63D2B"/>
                </a:solidFill>
                <a:latin typeface="Arial"/>
              </a:rPr>
              <a:t>Rp1.050 jt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8009" y="4826333"/>
            <a:ext cx="24742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63D2B"/>
                </a:solidFill>
                <a:latin typeface="Arial"/>
              </a:rPr>
              <a:t>20–30 kandidat hibrida tersisa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32574" y="2725169"/>
            <a:ext cx="2700482" cy="2328148"/>
          </a:xfrm>
          <a:prstGeom prst="rect">
            <a:avLst/>
          </a:prstGeom>
          <a:solidFill>
            <a:srgbClr val="E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132574" y="2725169"/>
            <a:ext cx="2700483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33057" y="2725169"/>
            <a:ext cx="0" cy="2328148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132574" y="5053317"/>
            <a:ext cx="2700483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132574" y="2725169"/>
            <a:ext cx="0" cy="2328148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61755" y="2829930"/>
            <a:ext cx="247412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67E59"/>
                </a:solidFill>
                <a:latin typeface="Arial"/>
              </a:rPr>
              <a:t>FASE 3 · Y5–Y6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1755" y="4487856"/>
            <a:ext cx="2474124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63D2B"/>
                </a:solidFill>
                <a:latin typeface="Arial"/>
              </a:rPr>
              <a:t>Rp1.050 jt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1755" y="4826333"/>
            <a:ext cx="247412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63D2B"/>
                </a:solidFill>
                <a:latin typeface="Arial"/>
              </a:rPr>
              <a:t>uji di GH, BUSS, pendaftaran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6206" y="2725169"/>
            <a:ext cx="2700596" cy="2328148"/>
          </a:xfrm>
          <a:prstGeom prst="rect">
            <a:avLst/>
          </a:prstGeom>
          <a:solidFill>
            <a:srgbClr val="D5E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906206" y="2725169"/>
            <a:ext cx="2700597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606803" y="2725169"/>
            <a:ext cx="0" cy="2328148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906206" y="5053317"/>
            <a:ext cx="2700597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906206" y="2725169"/>
            <a:ext cx="0" cy="2328148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035388" y="2829930"/>
            <a:ext cx="247423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67E59"/>
                </a:solidFill>
                <a:latin typeface="Arial"/>
              </a:rPr>
              <a:t>FASE 4 · Y7–Y10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5388" y="4487856"/>
            <a:ext cx="2474238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63D2B"/>
                </a:solidFill>
                <a:latin typeface="Arial"/>
              </a:rPr>
              <a:t>Rp1.200 jt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5388" y="4826333"/>
            <a:ext cx="24742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63D2B"/>
                </a:solidFill>
                <a:latin typeface="Arial"/>
              </a:rPr>
              <a:t>galur tetua &amp; produksi rutin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195" y="5132516"/>
            <a:ext cx="2645135" cy="975263"/>
          </a:xfrm>
          <a:prstGeom prst="rect">
            <a:avLst/>
          </a:prstGeom>
          <a:solidFill>
            <a:srgbClr val="F1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2652" y="5205666"/>
            <a:ext cx="2482226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143D30"/>
                </a:solidFill>
                <a:latin typeface="Arial"/>
              </a:rPr>
              <a:t>GERBANG BERHENTI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2652" y="5808672"/>
            <a:ext cx="2482226" cy="2508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143D30"/>
                </a:solidFill>
                <a:latin typeface="Arial"/>
              </a:rPr>
              <a:t>Jika bukti tidak cukup di akhir fase, hentikan sebelum dana berikutnya.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7318" y="5132516"/>
            <a:ext cx="2424660" cy="975263"/>
          </a:xfrm>
          <a:prstGeom prst="rect">
            <a:avLst/>
          </a:prstGeom>
          <a:solidFill>
            <a:srgbClr val="E2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4775" y="5205666"/>
            <a:ext cx="2261751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143D30"/>
                </a:solidFill>
                <a:latin typeface="Arial"/>
              </a:rPr>
              <a:t>Rp2,0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4775" y="5808672"/>
            <a:ext cx="2261751" cy="2508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143D30"/>
                </a:solidFill>
                <a:latin typeface="Arial"/>
              </a:rPr>
              <a:t>paparan maksimum jika dihentikan pada gerbang akhir Y4, menurut sumber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88965" y="5132516"/>
            <a:ext cx="5817837" cy="975263"/>
          </a:xfrm>
          <a:prstGeom prst="rect">
            <a:avLst/>
          </a:prstGeom>
          <a:solidFill>
            <a:srgbClr val="12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8633" y="5217763"/>
            <a:ext cx="563050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7E99B"/>
                </a:solidFill>
                <a:latin typeface="Arial"/>
              </a:rPr>
              <a:t>01 / 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8633" y="5334621"/>
            <a:ext cx="5630507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5FAED"/>
                </a:solidFill>
                <a:latin typeface="Arial"/>
              </a:rPr>
              <a:t>Fase 1 · kumpulkan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8633" y="5545627"/>
            <a:ext cx="563050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5FAED"/>
                </a:solidFill>
                <a:latin typeface="Arial"/>
              </a:rPr>
              <a:t>Rp950 juta untuk plasma nutfah dan persilangan awal.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8633" y="5934888"/>
            <a:ext cx="563050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6" b="1" i="0">
                <a:solidFill>
                  <a:srgbClr val="C7E99B"/>
                </a:solidFill>
                <a:latin typeface="Arial"/>
              </a:rPr>
              <a:t>KLIK TAHAP ATAU TEKAN →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Rp4.250 juta tidak termasuk model Bab VIII / PowerPoint Mery; hasil NPV dasar tidak boleh diklaim sudah membiayainya.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6902" y="6544057"/>
            <a:ext cx="202632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ASLI + CATATAN · HALAMAN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32 / 66 · ASLI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Apa yang sukar disalin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Nursery paralel, empat parameter mutu, kapasitas tenaga, dan kepadatan unit membentuk keunggulan operasi.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3616962" cy="1848961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1944593"/>
            <a:ext cx="3616963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121" y="2078569"/>
            <a:ext cx="33931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01 / KAPABILITAS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121" y="3160762"/>
            <a:ext cx="3393114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73 hari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121" y="3567369"/>
            <a:ext cx="339311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Nursery paralel membuka 5 siklus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7404" y="1944593"/>
            <a:ext cx="3617076" cy="1848961"/>
          </a:xfrm>
          <a:prstGeom prst="rect">
            <a:avLst/>
          </a:prstGeom>
          <a:solidFill>
            <a:srgbClr val="D1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287404" y="1944593"/>
            <a:ext cx="3617077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15330" y="2078569"/>
            <a:ext cx="339322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02 / KAPABILITAS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5330" y="3160762"/>
            <a:ext cx="3393228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4 parameter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5330" y="3567369"/>
            <a:ext cx="339322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Resep iklim &amp; nutrisi lintas lokasi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9727" y="1944593"/>
            <a:ext cx="3616962" cy="1848961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989727" y="1944593"/>
            <a:ext cx="3616962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17653" y="2078569"/>
            <a:ext cx="33931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03 / KAPABILITAS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7653" y="3160762"/>
            <a:ext cx="3393114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1 : 5,1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7653" y="3567369"/>
            <a:ext cx="339311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Kapasitas kerja efektif dalam asumsi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195" y="3878801"/>
            <a:ext cx="3616962" cy="1849075"/>
          </a:xfrm>
          <a:prstGeom prst="rect">
            <a:avLst/>
          </a:prstGeom>
          <a:solidFill>
            <a:srgbClr val="D1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85195" y="3878801"/>
            <a:ext cx="3616963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121" y="4012777"/>
            <a:ext cx="33931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04 / KAPABILITAS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121" y="5095084"/>
            <a:ext cx="3393114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17–18 unit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121" y="5501691"/>
            <a:ext cx="339311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Kepadatan lokasi atap Jakarta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7404" y="3878801"/>
            <a:ext cx="3617076" cy="1849075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287404" y="3878801"/>
            <a:ext cx="3617077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15330" y="4012777"/>
            <a:ext cx="339322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05 / KAPABILITAS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5330" y="5095084"/>
            <a:ext cx="3393228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&lt;12 jam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5330" y="5501691"/>
            <a:ext cx="339322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Kedekatan kebun ke pelanggan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9727" y="3878801"/>
            <a:ext cx="3616962" cy="1849075"/>
          </a:xfrm>
          <a:prstGeom prst="rect">
            <a:avLst/>
          </a:prstGeom>
          <a:solidFill>
            <a:srgbClr val="D1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989727" y="3878801"/>
            <a:ext cx="3616962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17653" y="4012777"/>
            <a:ext cx="33931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06 / KAPABILITAS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7653" y="5095084"/>
            <a:ext cx="3393114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Y7+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7653" y="5501691"/>
            <a:ext cx="339311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Target varietas sendiri &amp; PVT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195" y="5813123"/>
            <a:ext cx="11021607" cy="294656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195" y="5898370"/>
            <a:ext cx="1105361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4FAED"/>
                </a:solidFill>
                <a:latin typeface="Arial"/>
              </a:rPr>
              <a:t>KEUNGGULAN DATANG DARI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71171" y="5898370"/>
            <a:ext cx="24636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CFEBA7"/>
                </a:solidFill>
                <a:latin typeface="Arial"/>
              </a:rPr>
              <a:t>ENAM SISTEM YANG SALING MENGUATKAN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195" y="5898370"/>
            <a:ext cx="1105361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4FAED"/>
                </a:solidFill>
                <a:latin typeface="Arial"/>
              </a:rPr>
              <a:t>, BUKAN SATU ALAT.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Semua keunggulan di atas adalah rancangan/target pada materi sumber dan perlu pembuktian operasional.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33 / 66 · ASLI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Dasar angka kapasitas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Asumsi, margin untuk yield, dan ukuran kapasitas dijabarkan sebagai cadangan pembahasan.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2367715" cy="2822170"/>
          </a:xfrm>
          <a:prstGeom prst="rect">
            <a:avLst/>
          </a:prstGeom>
          <a:solidFill>
            <a:srgbClr val="E4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7073" y="3070380"/>
            <a:ext cx="2155963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143D30"/>
                </a:solidFill>
                <a:latin typeface="Arial"/>
              </a:rPr>
              <a:t>420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073" y="3472650"/>
            <a:ext cx="215596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tanaman / 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5477" y="3205953"/>
            <a:ext cx="251338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6F9D61"/>
                </a:solidFill>
                <a:latin typeface="Arial"/>
              </a:rPr>
              <a:t>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7377" y="1944593"/>
            <a:ext cx="2367829" cy="2822170"/>
          </a:xfrm>
          <a:prstGeom prst="rect">
            <a:avLst/>
          </a:prstGeom>
          <a:solidFill>
            <a:srgbClr val="E4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9255" y="3070380"/>
            <a:ext cx="2156077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143D30"/>
                </a:solidFill>
                <a:latin typeface="Arial"/>
              </a:rPr>
              <a:t>1,8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9255" y="3472650"/>
            <a:ext cx="215607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bobot buah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7772" y="3205953"/>
            <a:ext cx="251338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6F9D61"/>
                </a:solidFill>
                <a:latin typeface="Arial"/>
              </a:rPr>
              <a:t>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9673" y="1944593"/>
            <a:ext cx="2367715" cy="2822170"/>
          </a:xfrm>
          <a:prstGeom prst="rect">
            <a:avLst/>
          </a:prstGeom>
          <a:solidFill>
            <a:srgbClr val="E4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1550" y="3070380"/>
            <a:ext cx="2155963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143D30"/>
                </a:solidFill>
                <a:latin typeface="Arial"/>
              </a:rPr>
              <a:t>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1550" y="3472650"/>
            <a:ext cx="215596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faktor yield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954" y="3205953"/>
            <a:ext cx="251338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6F9D61"/>
                </a:solidFill>
                <a:latin typeface="Arial"/>
              </a:rPr>
              <a:t>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1854" y="1944593"/>
            <a:ext cx="3004948" cy="2822170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0933" y="3070836"/>
            <a:ext cx="1318681" cy="4775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76" b="1" i="0">
                <a:solidFill>
                  <a:srgbClr val="FFFFFF"/>
                </a:solidFill>
                <a:latin typeface="Arial"/>
              </a:rPr>
              <a:t>718,2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8624" y="3523661"/>
            <a:ext cx="74341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FFFFFF"/>
                </a:solidFill>
                <a:latin typeface="Arial"/>
              </a:rPr>
              <a:t>per siklus / 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195" y="4888643"/>
            <a:ext cx="3616962" cy="1219136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85195" y="4888643"/>
            <a:ext cx="3616963" cy="0"/>
          </a:xfrm>
          <a:prstGeom prst="line">
            <a:avLst/>
          </a:prstGeom>
          <a:ln w="36517">
            <a:solidFill>
              <a:srgbClr val="74A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7073" y="5010408"/>
            <a:ext cx="340521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648467"/>
                </a:solidFill>
                <a:latin typeface="Arial"/>
              </a:rPr>
              <a:t>Y0 · TRIAL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073" y="5568451"/>
            <a:ext cx="3405211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43D30"/>
                </a:solidFill>
                <a:latin typeface="Arial"/>
              </a:rPr>
              <a:t>2 siklus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073" y="5898370"/>
            <a:ext cx="340521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35 GH → 50,3 ton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7404" y="4888643"/>
            <a:ext cx="3617076" cy="1219136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287404" y="4888643"/>
            <a:ext cx="3617077" cy="0"/>
          </a:xfrm>
          <a:prstGeom prst="line">
            <a:avLst/>
          </a:prstGeom>
          <a:ln w="36517">
            <a:solidFill>
              <a:srgbClr val="74A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09282" y="5010408"/>
            <a:ext cx="340532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648467"/>
                </a:solidFill>
                <a:latin typeface="Arial"/>
              </a:rPr>
              <a:t>GH BARU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9282" y="5568451"/>
            <a:ext cx="3405325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43D30"/>
                </a:solidFill>
                <a:latin typeface="Arial"/>
              </a:rPr>
              <a:t>3 siklus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9282" y="5898370"/>
            <a:ext cx="34053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pada tahun dibangun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9727" y="4888643"/>
            <a:ext cx="3616962" cy="1219136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989727" y="4888643"/>
            <a:ext cx="3616962" cy="0"/>
          </a:xfrm>
          <a:prstGeom prst="line">
            <a:avLst/>
          </a:prstGeom>
          <a:ln w="36517">
            <a:solidFill>
              <a:srgbClr val="74A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11604" y="5010408"/>
            <a:ext cx="340521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648467"/>
                </a:solidFill>
                <a:latin typeface="Arial"/>
              </a:rPr>
              <a:t>Y10 · SEBARAN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1604" y="5568451"/>
            <a:ext cx="3405211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43D30"/>
                </a:solidFill>
                <a:latin typeface="Arial"/>
              </a:rPr>
              <a:t>103 / 69 / 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1604" y="5898370"/>
            <a:ext cx="340521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GH Jakarta / Surabaya / Bali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Faktor 95% sudah tertanam di setiap angka produksi; jangan menguranginya dua kali.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PRESENTASI 34 / 66 · ASLI 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Jika asumsi meleset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Deck memasangkan sinyal penyimpangan dengan respons dan biayanya sebelum dampak membesar.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44593"/>
            <a:ext cx="11021607" cy="241248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890" y="2017743"/>
            <a:ext cx="268683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F8FAEE"/>
                </a:solidFill>
                <a:latin typeface="Arial"/>
              </a:rPr>
              <a:t>SINYAL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4726" y="2017743"/>
            <a:ext cx="215584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F8FAEE"/>
                </a:solidFill>
                <a:latin typeface="Arial"/>
              </a:rPr>
              <a:t>DIDETEKSI DARI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8571" y="2017743"/>
            <a:ext cx="3005342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F8FAEE"/>
                </a:solidFill>
                <a:latin typeface="Arial"/>
              </a:rPr>
              <a:t>RESPONS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910" y="2017743"/>
            <a:ext cx="289944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F8FAEE"/>
                </a:solidFill>
                <a:latin typeface="Arial"/>
              </a:rPr>
              <a:t>DAMPAK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195" y="2185841"/>
            <a:ext cx="11021607" cy="784342"/>
          </a:xfrm>
          <a:prstGeom prst="rect">
            <a:avLst/>
          </a:prstGeom>
          <a:solidFill>
            <a:srgbClr val="F7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585195" y="2970183"/>
            <a:ext cx="11021608" cy="0"/>
          </a:xfrm>
          <a:prstGeom prst="line">
            <a:avLst/>
          </a:prstGeom>
          <a:ln w="7303">
            <a:solidFill>
              <a:srgbClr val="B7CB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6604" y="2523177"/>
            <a:ext cx="22703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799778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780" y="2497615"/>
            <a:ext cx="252490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Waktu kerja &gt;10 menit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0833" y="2514619"/>
            <a:ext cx="2091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Catatan 2 siklus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3351" y="2514619"/>
            <a:ext cx="295843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Turunkan rasio ke 1:5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2937" y="2512222"/>
            <a:ext cx="290446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8B654C"/>
                </a:solidFill>
                <a:latin typeface="Arial"/>
              </a:rPr>
              <a:t>+Rp4,7 M / 11 tahun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195" y="2970183"/>
            <a:ext cx="11021607" cy="784342"/>
          </a:xfrm>
          <a:prstGeom prst="rect">
            <a:avLst/>
          </a:prstGeom>
          <a:solidFill>
            <a:srgbClr val="E8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585195" y="3754525"/>
            <a:ext cx="11021608" cy="0"/>
          </a:xfrm>
          <a:prstGeom prst="line">
            <a:avLst/>
          </a:prstGeom>
          <a:ln w="7303">
            <a:solidFill>
              <a:srgbClr val="B7CB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604" y="3307519"/>
            <a:ext cx="22703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799778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780" y="3281957"/>
            <a:ext cx="252490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Siklus hanya 4,5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0833" y="3298961"/>
            <a:ext cx="2091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Kalender tanam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3351" y="3298961"/>
            <a:ext cx="295843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Revisi volume Y10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2937" y="3296564"/>
            <a:ext cx="290446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8B654C"/>
                </a:solidFill>
                <a:latin typeface="Arial"/>
              </a:rPr>
              <a:t>sekitar 735 ton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195" y="3754525"/>
            <a:ext cx="11021607" cy="784456"/>
          </a:xfrm>
          <a:prstGeom prst="rect">
            <a:avLst/>
          </a:prstGeom>
          <a:solidFill>
            <a:srgbClr val="F7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585195" y="4538981"/>
            <a:ext cx="11021608" cy="0"/>
          </a:xfrm>
          <a:prstGeom prst="line">
            <a:avLst/>
          </a:prstGeom>
          <a:ln w="7303">
            <a:solidFill>
              <a:srgbClr val="B7CB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6604" y="4091976"/>
            <a:ext cx="22703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799778"/>
                </a:solidFill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780" y="4066299"/>
            <a:ext cx="252490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Varietas baru gagal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0833" y="4083417"/>
            <a:ext cx="2091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Gerbang akhir Y4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43351" y="4083417"/>
            <a:ext cx="295843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Stop R&amp;D, pakai Fujisawa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2937" y="4081020"/>
            <a:ext cx="290446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8B654C"/>
                </a:solidFill>
                <a:latin typeface="Arial"/>
              </a:rPr>
              <a:t>batas rugi Rp2,0 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195" y="4538981"/>
            <a:ext cx="11021607" cy="784342"/>
          </a:xfrm>
          <a:prstGeom prst="rect">
            <a:avLst/>
          </a:prstGeom>
          <a:solidFill>
            <a:srgbClr val="E8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585195" y="5323323"/>
            <a:ext cx="11021608" cy="0"/>
          </a:xfrm>
          <a:prstGeom prst="line">
            <a:avLst/>
          </a:prstGeom>
          <a:ln w="7303">
            <a:solidFill>
              <a:srgbClr val="B7CB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6604" y="4876318"/>
            <a:ext cx="22703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799778"/>
                </a:solidFill>
                <a:latin typeface="Arial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780" y="4850755"/>
            <a:ext cx="252490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Wabah tingkat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0833" y="4867759"/>
            <a:ext cx="2091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Ronde harian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43351" y="4867759"/>
            <a:ext cx="295843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Karantina; alihkan pasokan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2937" y="4865362"/>
            <a:ext cx="290446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8B654C"/>
                </a:solidFill>
                <a:latin typeface="Arial"/>
              </a:rPr>
              <a:t>12,2 ton terpapar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195" y="5323323"/>
            <a:ext cx="11021607" cy="784342"/>
          </a:xfrm>
          <a:prstGeom prst="rect">
            <a:avLst/>
          </a:prstGeom>
          <a:solidFill>
            <a:srgbClr val="F7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>
            <a:off x="585195" y="6107665"/>
            <a:ext cx="11021608" cy="0"/>
          </a:xfrm>
          <a:prstGeom prst="line">
            <a:avLst/>
          </a:prstGeom>
          <a:ln w="7303">
            <a:solidFill>
              <a:srgbClr val="B7CB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76604" y="5660660"/>
            <a:ext cx="22703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799778"/>
                </a:solidFill>
                <a:latin typeface="Arial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780" y="5635097"/>
            <a:ext cx="252490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Atap Jakarta kurang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0833" y="5652101"/>
            <a:ext cx="2091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Negosiasi sewa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43351" y="5652101"/>
            <a:ext cx="295843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Majukan ekspansi kota lain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2937" y="5649704"/>
            <a:ext cx="290446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8B654C"/>
                </a:solidFill>
                <a:latin typeface="Arial"/>
              </a:rPr>
              <a:t>sewa/logistik naik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85195" y="6174767"/>
            <a:ext cx="110216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5195" y="6236848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27764"/>
                </a:solidFill>
                <a:latin typeface="Arial"/>
              </a:rPr>
              <a:t>Dampak merupakan skenario uji sumber, bukan biaya atau volume yang sudah terjadi.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SUMBER: PDF SIDANG AKHIR · HALAMAN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PRESENTASI 35 / 66 · ASLI 47</a:t>
            </a:r>
          </a:p>
        </p:txBody>
      </p:sp>
      <p:pic>
        <p:nvPicPr>
          <p:cNvPr id="6" name="Picture 5" descr="picture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OPERASI &amp; TEKNOLOGI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331544"/>
            <a:ext cx="7603261" cy="10545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Empat angka inti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2438843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Melon manis itu gampang sekali-sekali. Yang dibangun adalah rasa manis yang berulang.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02" y="5550192"/>
            <a:ext cx="231339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9502" y="5642743"/>
            <a:ext cx="23453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5742597"/>
            <a:ext cx="234539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420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02" y="6103899"/>
            <a:ext cx="234539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tanaman per unit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3285" y="5550192"/>
            <a:ext cx="2313510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3285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3285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3285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panen per tahun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797182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797182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7182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&lt;10%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7182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target beda hasil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91079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391079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1079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816,6 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1079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panen Y10 dalam model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SUMBER: PDF SIDANG AKHIR · HALAMAN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DCEBD7"/>
                </a:solidFill>
                <a:latin typeface="Arial"/>
              </a:rPr>
              <a:t>MELOOLOO / 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DCEBD7"/>
                </a:solidFill>
                <a:latin typeface="Arial"/>
              </a:rPr>
              <a:t>PRESENTASI 36 / 66 · ASLI 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809220"/>
            <a:ext cx="1105361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C9E99E"/>
                </a:solidFill>
                <a:latin typeface="Arial"/>
              </a:rPr>
              <a:t>TIM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062564"/>
            <a:ext cx="11053611" cy="6747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16" b="1" i="0">
                <a:solidFill>
                  <a:srgbClr val="FAFCF5"/>
                </a:solidFill>
                <a:latin typeface="Arial Narrow"/>
              </a:rPr>
              <a:t>Manusia menjaga hasil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195" y="1734271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DCE9DC"/>
                </a:solidFill>
                <a:latin typeface="Arial"/>
              </a:rPr>
              <a:t>Rekrut, latih, ukur, dan pertahankan tim yang membuat mutu greenhouse berulang.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195" y="2032693"/>
            <a:ext cx="5734925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CDE99F"/>
                </a:solidFill>
                <a:latin typeface="Arial"/>
              </a:rPr>
              <a:t>MANUSIA MENJAGA HASIL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195" y="2240960"/>
            <a:ext cx="46816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F2F8E9"/>
                </a:solidFill>
                <a:latin typeface="Arial"/>
              </a:rPr>
              <a:t>REKRUT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130" y="2208094"/>
            <a:ext cx="185035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A8D682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3938" y="2240960"/>
            <a:ext cx="33475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F2F8E9"/>
                </a:solidFill>
                <a:latin typeface="Arial"/>
              </a:rPr>
              <a:t>LATIH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1469" y="2208094"/>
            <a:ext cx="185035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A8D682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9278" y="2240960"/>
            <a:ext cx="33692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F2F8E9"/>
                </a:solidFill>
                <a:latin typeface="Arial"/>
              </a:rPr>
              <a:t>UKUR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8977" y="2208094"/>
            <a:ext cx="185035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A8D682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6786" y="2240960"/>
            <a:ext cx="82204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F2F8E9"/>
                </a:solidFill>
                <a:latin typeface="Arial"/>
              </a:rPr>
              <a:t>PERTAHANKAN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195" y="2463835"/>
            <a:ext cx="5484208" cy="34377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0" i="0">
                <a:solidFill>
                  <a:srgbClr val="DDE9D9"/>
                </a:solidFill>
                <a:latin typeface="Arial"/>
              </a:rPr>
              <a:t>Keahlian agronomi, teknologi pertanian, dan QC diterjemahkan menjadi keputusan yang berulang di setiap greenhouse.</a:t>
            </a:r>
          </a:p>
        </p:txBody>
      </p:sp>
      <p:pic>
        <p:nvPicPr>
          <p:cNvPr id="18" name="Picture 17" descr="picture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2865878"/>
            <a:ext cx="5702921" cy="325570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85195" y="2865878"/>
            <a:ext cx="5702921" cy="103201"/>
          </a:xfrm>
          <a:prstGeom prst="rect">
            <a:avLst/>
          </a:prstGeom>
          <a:solidFill>
            <a:srgbClr val="000000">
              <a:alpha val="1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195" y="2967619"/>
            <a:ext cx="5702921" cy="103201"/>
          </a:xfrm>
          <a:prstGeom prst="rect">
            <a:avLst/>
          </a:prstGeom>
          <a:solidFill>
            <a:srgbClr val="000201">
              <a:alpha val="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195" y="3069360"/>
            <a:ext cx="5702921" cy="103201"/>
          </a:xfrm>
          <a:prstGeom prst="rect">
            <a:avLst/>
          </a:prstGeom>
          <a:solidFill>
            <a:srgbClr val="000202">
              <a:alpha val="5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195" y="3171101"/>
            <a:ext cx="5702921" cy="103201"/>
          </a:xfrm>
          <a:prstGeom prst="rect">
            <a:avLst/>
          </a:prstGeom>
          <a:solidFill>
            <a:srgbClr val="000402">
              <a:alpha val="7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195" y="3272841"/>
            <a:ext cx="5702921" cy="103201"/>
          </a:xfrm>
          <a:prstGeom prst="rect">
            <a:avLst/>
          </a:prstGeom>
          <a:solidFill>
            <a:srgbClr val="000403">
              <a:alpha val="9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195" y="3374582"/>
            <a:ext cx="5702921" cy="103201"/>
          </a:xfrm>
          <a:prstGeom prst="rect">
            <a:avLst/>
          </a:prstGeom>
          <a:solidFill>
            <a:srgbClr val="010604">
              <a:alpha val="11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195" y="3476323"/>
            <a:ext cx="5702921" cy="103201"/>
          </a:xfrm>
          <a:prstGeom prst="rect">
            <a:avLst/>
          </a:prstGeom>
          <a:solidFill>
            <a:srgbClr val="010604">
              <a:alpha val="14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195" y="3578064"/>
            <a:ext cx="5702921" cy="103201"/>
          </a:xfrm>
          <a:prstGeom prst="rect">
            <a:avLst/>
          </a:prstGeom>
          <a:solidFill>
            <a:srgbClr val="010805">
              <a:alpha val="16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195" y="3679805"/>
            <a:ext cx="5702921" cy="103201"/>
          </a:xfrm>
          <a:prstGeom prst="rect">
            <a:avLst/>
          </a:prstGeom>
          <a:solidFill>
            <a:srgbClr val="010806">
              <a:alpha val="18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195" y="3781546"/>
            <a:ext cx="5702921" cy="103201"/>
          </a:xfrm>
          <a:prstGeom prst="rect">
            <a:avLst/>
          </a:prstGeom>
          <a:solidFill>
            <a:srgbClr val="010A06">
              <a:alpha val="20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195" y="3883287"/>
            <a:ext cx="5702921" cy="103201"/>
          </a:xfrm>
          <a:prstGeom prst="rect">
            <a:avLst/>
          </a:prstGeom>
          <a:solidFill>
            <a:srgbClr val="010A07">
              <a:alpha val="2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5195" y="3985028"/>
            <a:ext cx="5702921" cy="103201"/>
          </a:xfrm>
          <a:prstGeom prst="rect">
            <a:avLst/>
          </a:prstGeom>
          <a:solidFill>
            <a:srgbClr val="010C08">
              <a:alpha val="24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195" y="4086769"/>
            <a:ext cx="5702921" cy="103201"/>
          </a:xfrm>
          <a:prstGeom prst="rect">
            <a:avLst/>
          </a:prstGeom>
          <a:solidFill>
            <a:srgbClr val="010C08">
              <a:alpha val="26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195" y="4188510"/>
            <a:ext cx="5702921" cy="103201"/>
          </a:xfrm>
          <a:prstGeom prst="rect">
            <a:avLst/>
          </a:prstGeom>
          <a:solidFill>
            <a:srgbClr val="010E09">
              <a:alpha val="29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195" y="4290251"/>
            <a:ext cx="5702921" cy="103201"/>
          </a:xfrm>
          <a:prstGeom prst="rect">
            <a:avLst/>
          </a:prstGeom>
          <a:solidFill>
            <a:srgbClr val="010E0A">
              <a:alpha val="31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195" y="4391992"/>
            <a:ext cx="5702921" cy="103201"/>
          </a:xfrm>
          <a:prstGeom prst="rect">
            <a:avLst/>
          </a:prstGeom>
          <a:solidFill>
            <a:srgbClr val="01100A">
              <a:alpha val="33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195" y="4493733"/>
            <a:ext cx="5702921" cy="103201"/>
          </a:xfrm>
          <a:prstGeom prst="rect">
            <a:avLst/>
          </a:prstGeom>
          <a:solidFill>
            <a:srgbClr val="02100B">
              <a:alpha val="35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195" y="4595474"/>
            <a:ext cx="5702921" cy="103201"/>
          </a:xfrm>
          <a:prstGeom prst="rect">
            <a:avLst/>
          </a:prstGeom>
          <a:solidFill>
            <a:srgbClr val="02120B">
              <a:alpha val="37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5195" y="4697215"/>
            <a:ext cx="5702921" cy="103201"/>
          </a:xfrm>
          <a:prstGeom prst="rect">
            <a:avLst/>
          </a:prstGeom>
          <a:solidFill>
            <a:srgbClr val="02120C">
              <a:alpha val="39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5195" y="4798955"/>
            <a:ext cx="5702921" cy="103201"/>
          </a:xfrm>
          <a:prstGeom prst="rect">
            <a:avLst/>
          </a:prstGeom>
          <a:solidFill>
            <a:srgbClr val="02140D">
              <a:alpha val="4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195" y="4900696"/>
            <a:ext cx="5702921" cy="103201"/>
          </a:xfrm>
          <a:prstGeom prst="rect">
            <a:avLst/>
          </a:prstGeom>
          <a:solidFill>
            <a:srgbClr val="02140D">
              <a:alpha val="44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5195" y="5002437"/>
            <a:ext cx="5702921" cy="103201"/>
          </a:xfrm>
          <a:prstGeom prst="rect">
            <a:avLst/>
          </a:prstGeom>
          <a:solidFill>
            <a:srgbClr val="02160E">
              <a:alpha val="46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195" y="5104178"/>
            <a:ext cx="5702921" cy="103201"/>
          </a:xfrm>
          <a:prstGeom prst="rect">
            <a:avLst/>
          </a:prstGeom>
          <a:solidFill>
            <a:srgbClr val="02160F">
              <a:alpha val="48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5195" y="5205919"/>
            <a:ext cx="5702921" cy="103201"/>
          </a:xfrm>
          <a:prstGeom prst="rect">
            <a:avLst/>
          </a:prstGeom>
          <a:solidFill>
            <a:srgbClr val="02180F">
              <a:alpha val="50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195" y="5307660"/>
            <a:ext cx="5702921" cy="103201"/>
          </a:xfrm>
          <a:prstGeom prst="rect">
            <a:avLst/>
          </a:prstGeom>
          <a:solidFill>
            <a:srgbClr val="021810">
              <a:alpha val="52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195" y="5409401"/>
            <a:ext cx="5702921" cy="103201"/>
          </a:xfrm>
          <a:prstGeom prst="rect">
            <a:avLst/>
          </a:prstGeom>
          <a:solidFill>
            <a:srgbClr val="021A11">
              <a:alpha val="54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5195" y="5511142"/>
            <a:ext cx="5702921" cy="103201"/>
          </a:xfrm>
          <a:prstGeom prst="rect">
            <a:avLst/>
          </a:prstGeom>
          <a:solidFill>
            <a:srgbClr val="021A11">
              <a:alpha val="57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195" y="5612883"/>
            <a:ext cx="5702921" cy="103201"/>
          </a:xfrm>
          <a:prstGeom prst="rect">
            <a:avLst/>
          </a:prstGeom>
          <a:solidFill>
            <a:srgbClr val="031C12">
              <a:alpha val="59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5195" y="5714624"/>
            <a:ext cx="5702921" cy="103201"/>
          </a:xfrm>
          <a:prstGeom prst="rect">
            <a:avLst/>
          </a:prstGeom>
          <a:solidFill>
            <a:srgbClr val="031C13">
              <a:alpha val="6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5195" y="5816365"/>
            <a:ext cx="5702921" cy="103201"/>
          </a:xfrm>
          <a:prstGeom prst="rect">
            <a:avLst/>
          </a:prstGeom>
          <a:solidFill>
            <a:srgbClr val="031E13">
              <a:alpha val="63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5195" y="5918106"/>
            <a:ext cx="5702921" cy="103201"/>
          </a:xfrm>
          <a:prstGeom prst="rect">
            <a:avLst/>
          </a:prstGeom>
          <a:solidFill>
            <a:srgbClr val="031E14">
              <a:alpha val="65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5195" y="6019847"/>
            <a:ext cx="5702921" cy="103201"/>
          </a:xfrm>
          <a:prstGeom prst="rect">
            <a:avLst/>
          </a:prstGeom>
          <a:solidFill>
            <a:srgbClr val="032015">
              <a:alpha val="67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85195" y="2865878"/>
            <a:ext cx="5702922" cy="0"/>
          </a:xfrm>
          <a:prstGeom prst="line">
            <a:avLst/>
          </a:prstGeom>
          <a:ln w="7303">
            <a:solidFill>
              <a:srgbClr val="DDF4D8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288117" y="2865878"/>
            <a:ext cx="0" cy="3255710"/>
          </a:xfrm>
          <a:prstGeom prst="line">
            <a:avLst/>
          </a:prstGeom>
          <a:ln w="7303">
            <a:solidFill>
              <a:srgbClr val="DDF4D8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85195" y="6121588"/>
            <a:ext cx="5702922" cy="0"/>
          </a:xfrm>
          <a:prstGeom prst="line">
            <a:avLst/>
          </a:prstGeom>
          <a:ln w="7303">
            <a:solidFill>
              <a:srgbClr val="DDF4D8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85195" y="2865878"/>
            <a:ext cx="0" cy="3255710"/>
          </a:xfrm>
          <a:prstGeom prst="line">
            <a:avLst/>
          </a:prstGeom>
          <a:ln w="7303">
            <a:solidFill>
              <a:srgbClr val="DDF4D8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picture-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04" y="4656415"/>
            <a:ext cx="743194" cy="378063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677745" y="5879198"/>
            <a:ext cx="2885125" cy="155886"/>
          </a:xfrm>
          <a:prstGeom prst="rect">
            <a:avLst/>
          </a:prstGeom>
          <a:solidFill>
            <a:srgbClr val="092D1C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7745" y="5909668"/>
            <a:ext cx="291712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2F7EC"/>
                </a:solidFill>
                <a:latin typeface="Arial"/>
              </a:rPr>
              <a:t>VISUALISASI KONSEP PELATIHAN · BUKAN FOTO TIM TERPASANG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22205" y="2032693"/>
            <a:ext cx="2544712" cy="1996859"/>
          </a:xfrm>
          <a:prstGeom prst="rect">
            <a:avLst/>
          </a:prstGeom>
          <a:solidFill>
            <a:srgbClr val="E8F6D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422205" y="2032693"/>
            <a:ext cx="2544712" cy="0"/>
          </a:xfrm>
          <a:prstGeom prst="line">
            <a:avLst/>
          </a:prstGeom>
          <a:ln w="14607">
            <a:solidFill>
              <a:srgbClr val="9DC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44083" y="2144758"/>
            <a:ext cx="233296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C3E4A5"/>
                </a:solidFill>
                <a:latin typeface="Arial"/>
              </a:rPr>
              <a:t>01 / TARGET SUMBER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38" y="2624744"/>
            <a:ext cx="699250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4EFA3"/>
                </a:solidFill>
                <a:latin typeface="Arial"/>
              </a:rPr>
              <a:t>4/5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68829" y="3218278"/>
            <a:ext cx="1483353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1F8E9"/>
                </a:solidFill>
                <a:latin typeface="Arial"/>
              </a:rPr>
              <a:t>skor kinerja rata-rata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44083" y="3815579"/>
            <a:ext cx="233296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C7D9C6"/>
                </a:solidFill>
                <a:latin typeface="Arial"/>
              </a:rPr>
              <a:t>review tiap semester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61977" y="2032693"/>
            <a:ext cx="2544826" cy="1996859"/>
          </a:xfrm>
          <a:prstGeom prst="rect">
            <a:avLst/>
          </a:prstGeom>
          <a:solidFill>
            <a:srgbClr val="E8F6D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9061977" y="2032693"/>
            <a:ext cx="2544826" cy="0"/>
          </a:xfrm>
          <a:prstGeom prst="line">
            <a:avLst/>
          </a:prstGeom>
          <a:ln w="14607">
            <a:solidFill>
              <a:srgbClr val="9DC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183855" y="2144758"/>
            <a:ext cx="233307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C3E4A5"/>
                </a:solidFill>
                <a:latin typeface="Arial"/>
              </a:rPr>
              <a:t>02 / TARGET SUMBER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69066" y="2624744"/>
            <a:ext cx="562537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4EFA3"/>
                </a:solidFill>
                <a:latin typeface="Arial"/>
              </a:rPr>
              <a:t>1×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04787" y="3218278"/>
            <a:ext cx="1891096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1F8E9"/>
                </a:solidFill>
                <a:latin typeface="Arial"/>
              </a:rPr>
              <a:t>pelatihan per orang / tahun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3855" y="3815579"/>
            <a:ext cx="23330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C7D9C6"/>
                </a:solidFill>
                <a:latin typeface="Arial"/>
              </a:rPr>
              <a:t>kompetensi smart greenhouse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22205" y="4124614"/>
            <a:ext cx="2544712" cy="1996973"/>
          </a:xfrm>
          <a:prstGeom prst="rect">
            <a:avLst/>
          </a:prstGeom>
          <a:solidFill>
            <a:srgbClr val="E8F6D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6422205" y="4124614"/>
            <a:ext cx="2544712" cy="0"/>
          </a:xfrm>
          <a:prstGeom prst="line">
            <a:avLst/>
          </a:prstGeom>
          <a:ln w="14607">
            <a:solidFill>
              <a:srgbClr val="9DC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544083" y="4236679"/>
            <a:ext cx="233296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C3E4A5"/>
                </a:solidFill>
                <a:latin typeface="Arial"/>
              </a:rPr>
              <a:t>03 / TARGET SUMBER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88620" y="4716665"/>
            <a:ext cx="1043886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4EFA3"/>
                </a:solidFill>
                <a:latin typeface="Arial"/>
              </a:rPr>
              <a:t>&lt;7%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42973" y="5310199"/>
            <a:ext cx="1135180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1F8E9"/>
                </a:solidFill>
                <a:latin typeface="Arial"/>
              </a:rPr>
              <a:t>turnover / tahun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44083" y="5907614"/>
            <a:ext cx="233296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C7D9C6"/>
                </a:solidFill>
                <a:latin typeface="Arial"/>
              </a:rPr>
              <a:t>sasaran retensi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61977" y="4124614"/>
            <a:ext cx="2544826" cy="1996973"/>
          </a:xfrm>
          <a:prstGeom prst="rect">
            <a:avLst/>
          </a:prstGeom>
          <a:solidFill>
            <a:srgbClr val="E8F6D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9061977" y="4124614"/>
            <a:ext cx="2544826" cy="0"/>
          </a:xfrm>
          <a:prstGeom prst="line">
            <a:avLst/>
          </a:prstGeom>
          <a:ln w="14607">
            <a:solidFill>
              <a:srgbClr val="9DC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183855" y="4236679"/>
            <a:ext cx="233307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C3E4A5"/>
                </a:solidFill>
                <a:latin typeface="Arial"/>
              </a:rPr>
              <a:t>04 / TARGET SUMBER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01493" y="4716665"/>
            <a:ext cx="1297798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4EFA3"/>
                </a:solidFill>
                <a:latin typeface="Arial"/>
              </a:rPr>
              <a:t>≥85%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00694" y="5310199"/>
            <a:ext cx="1299395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1F8E9"/>
                </a:solidFill>
                <a:latin typeface="Arial"/>
              </a:rPr>
              <a:t>engagement index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3855" y="5907614"/>
            <a:ext cx="23330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C7D9C6"/>
                </a:solidFill>
                <a:latin typeface="Arial"/>
              </a:rPr>
              <a:t>sasaran dalam 5 tahun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85195" y="6182527"/>
            <a:ext cx="11021608" cy="0"/>
          </a:xfrm>
          <a:prstGeom prst="line">
            <a:avLst/>
          </a:prstGeom>
          <a:ln w="7303">
            <a:solidFill>
              <a:srgbClr val="DFF5D3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85195" y="6238560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BBD1BE"/>
                </a:solidFill>
                <a:latin typeface="Arial"/>
              </a:rPr>
              <a:t>Target dari halaman SDM sumber; ini sasaran rencana, belum hasil operasional.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3F7D3">
                <a:alpha val="3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DCEBD7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13526" y="6544057"/>
            <a:ext cx="244970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DCEBD7"/>
                </a:solidFill>
                <a:latin typeface="Arial"/>
              </a:rPr>
              <a:t>SUMBER: PDF SDM REVISI + SLIDE ASLI · HALAMAN 48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MELOOLOO / 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PRESENTASI 37 / 66 · ASLI 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9868"/>
            <a:ext cx="9994028" cy="5505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65" b="1" i="0">
                <a:solidFill>
                  <a:srgbClr val="253F36"/>
                </a:solidFill>
                <a:latin typeface="Arial Narrow"/>
              </a:rPr>
              <a:t>Bangun tim, uji kompetensi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626200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66786D"/>
                </a:solidFill>
                <a:latin typeface="Arial"/>
              </a:rPr>
              <a:t>Rencana 18 → 39 → 85 personel melalui tiga gerbang pengadaan dan evaluasi.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1924622"/>
            <a:ext cx="4904781" cy="4196965"/>
          </a:xfrm>
          <a:prstGeom prst="rect">
            <a:avLst/>
          </a:prstGeom>
          <a:solidFill>
            <a:srgbClr val="14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7543" y="2058712"/>
            <a:ext cx="463209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CBE99D"/>
                </a:solidFill>
                <a:latin typeface="Arial"/>
              </a:rPr>
              <a:t>RENCANA TIM · TOTAL PERSONEL SUMBER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98911" y="4375029"/>
            <a:ext cx="121793" cy="1225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20704" y="4360647"/>
            <a:ext cx="121685" cy="1438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42389" y="4343908"/>
            <a:ext cx="121548" cy="16739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63937" y="4324601"/>
            <a:ext cx="121372" cy="19307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5309" y="4302513"/>
            <a:ext cx="121155" cy="22088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6464" y="4277430"/>
            <a:ext cx="120887" cy="25083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7351" y="4249200"/>
            <a:ext cx="120569" cy="28230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47920" y="4217681"/>
            <a:ext cx="120194" cy="31519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68114" y="4182817"/>
            <a:ext cx="119770" cy="3486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87884" y="4144616"/>
            <a:ext cx="119303" cy="38201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207187" y="4103167"/>
            <a:ext cx="118806" cy="41449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325993" y="4058635"/>
            <a:ext cx="118293" cy="4453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444286" y="4011260"/>
            <a:ext cx="117786" cy="47375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562072" y="3961337"/>
            <a:ext cx="117303" cy="49923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79375" y="3909191"/>
            <a:ext cx="116860" cy="52146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796235" y="3855160"/>
            <a:ext cx="116466" cy="54031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12701" y="3799587"/>
            <a:ext cx="116134" cy="55573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028835" y="3742453"/>
            <a:ext cx="115786" cy="5713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144621" y="3683562"/>
            <a:ext cx="115382" cy="58891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60003" y="3622915"/>
            <a:ext cx="114964" cy="60647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374967" y="3560528"/>
            <a:ext cx="114536" cy="62387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489503" y="3496420"/>
            <a:ext cx="114101" cy="64108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603604" y="3430606"/>
            <a:ext cx="113654" cy="6581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717258" y="3363109"/>
            <a:ext cx="113201" cy="67497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830459" y="3293957"/>
            <a:ext cx="112743" cy="6915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943202" y="3223179"/>
            <a:ext cx="112279" cy="70778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55481" y="3150805"/>
            <a:ext cx="111812" cy="7237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167293" y="3076867"/>
            <a:ext cx="111342" cy="73938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78635" y="3001399"/>
            <a:ext cx="110870" cy="75468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89505" y="2924437"/>
            <a:ext cx="110400" cy="7696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499905" y="2846018"/>
            <a:ext cx="109928" cy="78419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609833" y="2766182"/>
            <a:ext cx="109460" cy="79836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719293" y="2684968"/>
            <a:ext cx="108994" cy="8121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828287" y="2602407"/>
            <a:ext cx="108529" cy="82561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36816" y="2518570"/>
            <a:ext cx="108081" cy="83837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37543" y="4613729"/>
            <a:ext cx="7781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D1E5CF"/>
                </a:solidFill>
                <a:latin typeface="Arial"/>
              </a:rPr>
              <a:t>Y0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543" y="4715980"/>
            <a:ext cx="778105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1EDA0"/>
                </a:solidFill>
                <a:latin typeface="Arial"/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543" y="5308373"/>
            <a:ext cx="778105" cy="2360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DBE8D9"/>
                </a:solidFill>
                <a:latin typeface="Arial"/>
              </a:rPr>
              <a:t>Jakarta · awal operasi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32373" y="5001849"/>
            <a:ext cx="1094959" cy="7303"/>
          </a:xfrm>
          <a:prstGeom prst="rect">
            <a:avLst/>
          </a:prstGeom>
          <a:solidFill>
            <a:srgbClr val="A8D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76061" y="4715524"/>
            <a:ext cx="75505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D1E5CF"/>
                </a:solidFill>
                <a:latin typeface="Arial"/>
              </a:rPr>
              <a:t>Y5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6061" y="4817774"/>
            <a:ext cx="755054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1EDA0"/>
                </a:solidFill>
                <a:latin typeface="Arial"/>
              </a:rPr>
              <a:t>39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6061" y="5410168"/>
            <a:ext cx="75505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DBE8D9"/>
                </a:solidFill>
                <a:latin typeface="Arial"/>
              </a:rPr>
              <a:t>ekspansi bertahap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47840" y="5001849"/>
            <a:ext cx="1094959" cy="7303"/>
          </a:xfrm>
          <a:prstGeom prst="rect">
            <a:avLst/>
          </a:prstGeom>
          <a:solidFill>
            <a:srgbClr val="A8D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91528" y="4613729"/>
            <a:ext cx="7781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D1E5CF"/>
                </a:solidFill>
                <a:latin typeface="Arial"/>
              </a:rPr>
              <a:t>Y10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1528" y="4715980"/>
            <a:ext cx="778105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1EDA0"/>
                </a:solidFill>
                <a:latin typeface="Arial"/>
              </a:rPr>
              <a:t>85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1528" y="5308373"/>
            <a:ext cx="778105" cy="2360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DBE8D9"/>
                </a:solidFill>
                <a:latin typeface="Arial"/>
              </a:rPr>
              <a:t>Jakarta · Surabaya · Bali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37543" y="5616724"/>
            <a:ext cx="4600087" cy="0"/>
          </a:xfrm>
          <a:prstGeom prst="line">
            <a:avLst/>
          </a:prstGeom>
          <a:ln w="7303">
            <a:solidFill>
              <a:srgbClr val="E9FADA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37543" y="5715437"/>
            <a:ext cx="4632091" cy="292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E1EBDB"/>
                </a:solidFill>
                <a:latin typeface="Arial"/>
              </a:rPr>
              <a:t>Slide sumber merencanakan posisi inti secara full-time untuk menjaga standar dan kontinuitas.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5611855" y="2182645"/>
            <a:ext cx="5994948" cy="0"/>
          </a:xfrm>
          <a:prstGeom prst="line">
            <a:avLst/>
          </a:prstGeom>
          <a:ln w="14607">
            <a:solidFill>
              <a:srgbClr val="91B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11855" y="1924622"/>
            <a:ext cx="6026952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3A6846"/>
                </a:solidFill>
                <a:latin typeface="Arial"/>
              </a:rPr>
              <a:t>PENGADAAN SDM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11855" y="2261730"/>
            <a:ext cx="5994948" cy="1061081"/>
          </a:xfrm>
          <a:prstGeom prst="rect">
            <a:avLst/>
          </a:prstGeom>
          <a:solidFill>
            <a:srgbClr val="DC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5611855" y="2261730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606803" y="2261730"/>
            <a:ext cx="0" cy="1061081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5611855" y="3322811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611855" y="2261730"/>
            <a:ext cx="0" cy="1061081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728825" y="2631933"/>
            <a:ext cx="482997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79A86B"/>
                </a:solidFill>
                <a:latin typeface="Arial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77275" y="2596784"/>
            <a:ext cx="5244561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2" b="1" i="0">
                <a:solidFill>
                  <a:srgbClr val="536E57"/>
                </a:solidFill>
                <a:latin typeface="Arial"/>
              </a:rPr>
              <a:t>Seleksi kompetensi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77275" y="2830273"/>
            <a:ext cx="524456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536E57"/>
                </a:solidFill>
                <a:latin typeface="Arial"/>
              </a:rPr>
              <a:t>Agrikultur, adaptasi teknologi, disiplin, integritas, dan keselarasan nilai.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11855" y="3377589"/>
            <a:ext cx="5994948" cy="1061195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5611855" y="3377589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606803" y="3377589"/>
            <a:ext cx="0" cy="1061195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5611855" y="4438784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611855" y="3377589"/>
            <a:ext cx="0" cy="1061195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728825" y="3747906"/>
            <a:ext cx="482997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79A86B"/>
                </a:solidFill>
                <a:latin typeface="Arial"/>
              </a:rPr>
              <a:t>02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77275" y="3712757"/>
            <a:ext cx="5244561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2" b="1" i="0">
                <a:solidFill>
                  <a:srgbClr val="536E57"/>
                </a:solidFill>
                <a:latin typeface="Arial"/>
              </a:rPr>
              <a:t>Onboarding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77275" y="3946245"/>
            <a:ext cx="524456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536E57"/>
                </a:solidFill>
                <a:latin typeface="Arial"/>
              </a:rPr>
              <a:t>Orientasi budaya dan SOP teknis sebelum menangani mutu panen.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11855" y="4493561"/>
            <a:ext cx="5994948" cy="1061195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5611855" y="4493561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606803" y="4493561"/>
            <a:ext cx="0" cy="1061196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5611855" y="5554757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611855" y="4493561"/>
            <a:ext cx="0" cy="1061196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728825" y="4863879"/>
            <a:ext cx="482997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79A86B"/>
                </a:solidFill>
                <a:latin typeface="Arial"/>
              </a:rPr>
              <a:t>03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7275" y="4828730"/>
            <a:ext cx="5244561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2" b="1" i="0">
                <a:solidFill>
                  <a:srgbClr val="536E57"/>
                </a:solidFill>
                <a:latin typeface="Arial"/>
              </a:rPr>
              <a:t>Reality check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77275" y="5062218"/>
            <a:ext cx="524456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536E57"/>
                </a:solidFill>
                <a:latin typeface="Arial"/>
              </a:rPr>
              <a:t>Penilaian kinerja dan pemahaman sistem menentukan kelulusan probation.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11855" y="5609534"/>
            <a:ext cx="5994948" cy="512053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09311" y="5660660"/>
            <a:ext cx="583203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3" b="1" i="0">
                <a:solidFill>
                  <a:srgbClr val="CAEC9B"/>
                </a:solidFill>
                <a:latin typeface="Arial"/>
              </a:rPr>
              <a:t>01 / 03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09311" y="5759259"/>
            <a:ext cx="583203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F5F9EE"/>
                </a:solidFill>
                <a:latin typeface="Arial"/>
              </a:rPr>
              <a:t>Seleksi kompetensi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09311" y="5921765"/>
            <a:ext cx="58320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E0ECDF"/>
                </a:solidFill>
                <a:latin typeface="Arial"/>
              </a:rPr>
              <a:t>Uji kemampuan agrikultur, adaptasi teknologi, kedisiplinan, integritas, dan keselarasan nilai.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85195" y="6182527"/>
            <a:ext cx="11021608" cy="0"/>
          </a:xfrm>
          <a:prstGeom prst="line">
            <a:avLst/>
          </a:prstGeom>
          <a:ln w="7303">
            <a:solidFill>
              <a:srgbClr val="B7C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85195" y="6238560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57A66"/>
                </a:solidFill>
                <a:latin typeface="Arial"/>
              </a:rPr>
              <a:t>18 → 39 → 85 personel adalah proyeksi pada materi sidang, bukan jumlah karyawan saat ini.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13526" y="6544057"/>
            <a:ext cx="244970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SUMBER: PDF SDM REVISI + SLIDE ASLI · HALAMAN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MELOOLOO / TIM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PRESENTASI 38 / 66 · ASLI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75460"/>
            <a:ext cx="9994028" cy="5505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65" b="1" i="0">
                <a:solidFill>
                  <a:srgbClr val="253F36"/>
                </a:solidFill>
                <a:latin typeface="Arial Narrow"/>
              </a:rPr>
              <a:t>Siapa menjaga apa?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631792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66786D"/>
                </a:solidFill>
                <a:latin typeface="Arial"/>
              </a:rPr>
              <a:t>CEO mengoordinasikan tiga direktorat; setiap peran sumber tetap terlihat dalam bagan.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8700" y="1930214"/>
            <a:ext cx="2194484" cy="433425"/>
          </a:xfrm>
          <a:prstGeom prst="rect">
            <a:avLst/>
          </a:prstGeom>
          <a:solidFill>
            <a:srgbClr val="14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578" y="1978942"/>
            <a:ext cx="198273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CFE9B0"/>
                </a:solidFill>
                <a:latin typeface="Arial"/>
              </a:rPr>
              <a:t>ARAH &amp; TATA KELOLA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578" y="2073890"/>
            <a:ext cx="1982733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FFFFFF"/>
                </a:solidFill>
                <a:latin typeface="Arial"/>
              </a:rPr>
              <a:t>CEO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395902" y="2570879"/>
            <a:ext cx="7400195" cy="0"/>
          </a:xfrm>
          <a:prstGeom prst="line">
            <a:avLst/>
          </a:prstGeom>
          <a:ln w="14607">
            <a:solidFill>
              <a:srgbClr val="4F8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095942" y="2363639"/>
            <a:ext cx="0" cy="192633"/>
          </a:xfrm>
          <a:prstGeom prst="line">
            <a:avLst/>
          </a:prstGeom>
          <a:ln w="14607">
            <a:solidFill>
              <a:srgbClr val="4F8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91814" y="2653730"/>
            <a:ext cx="3608517" cy="2833924"/>
          </a:xfrm>
          <a:prstGeom prst="rect">
            <a:avLst/>
          </a:prstGeom>
          <a:solidFill>
            <a:srgbClr val="DC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91814" y="2653730"/>
            <a:ext cx="3608518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00332" y="2653730"/>
            <a:ext cx="0" cy="2833925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91814" y="5487655"/>
            <a:ext cx="3608518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91814" y="2653730"/>
            <a:ext cx="0" cy="2833925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6574" y="2748791"/>
            <a:ext cx="343100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5C825B"/>
                </a:solidFill>
                <a:latin typeface="Arial"/>
              </a:rPr>
              <a:t>01 / KOMERSIAL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574" y="2875350"/>
            <a:ext cx="3431001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253F36"/>
                </a:solidFill>
                <a:latin typeface="Arial"/>
              </a:rPr>
              <a:t>Commercial Director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6574" y="3373823"/>
            <a:ext cx="1666005" cy="975834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96574" y="3373823"/>
            <a:ext cx="1666006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62580" y="3373823"/>
            <a:ext cx="0" cy="975834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96574" y="4349657"/>
            <a:ext cx="1666006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96574" y="3373823"/>
            <a:ext cx="0" cy="975834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96574" y="3729076"/>
            <a:ext cx="1698009" cy="2887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Business Development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2216" y="4349657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574" y="4416645"/>
            <a:ext cx="1666005" cy="975948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96574" y="4416645"/>
            <a:ext cx="1666006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62580" y="4416645"/>
            <a:ext cx="0" cy="975948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96574" y="5392593"/>
            <a:ext cx="1666006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96574" y="4416645"/>
            <a:ext cx="0" cy="975948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6574" y="4834664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Staff Business 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9567" y="3373823"/>
            <a:ext cx="1666005" cy="975834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429567" y="337382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95572" y="3373823"/>
            <a:ext cx="0" cy="975834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429567" y="4349657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429567" y="3373823"/>
            <a:ext cx="0" cy="975834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429567" y="3791728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Marketing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55209" y="4349657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29567" y="4416645"/>
            <a:ext cx="1666005" cy="975948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429567" y="4416645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095572" y="4416645"/>
            <a:ext cx="0" cy="975948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429567" y="539259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429567" y="4416645"/>
            <a:ext cx="0" cy="975948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9567" y="4834664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Staff Marketing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1740" y="2653730"/>
            <a:ext cx="3608517" cy="2833924"/>
          </a:xfrm>
          <a:prstGeom prst="rect">
            <a:avLst/>
          </a:prstGeom>
          <a:solidFill>
            <a:srgbClr val="E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291740" y="2653730"/>
            <a:ext cx="3608518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00258" y="2653730"/>
            <a:ext cx="0" cy="2833925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4291740" y="5487655"/>
            <a:ext cx="3608518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291740" y="2653730"/>
            <a:ext cx="0" cy="2833925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396501" y="2748791"/>
            <a:ext cx="343100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5C825B"/>
                </a:solidFill>
                <a:latin typeface="Arial"/>
              </a:rPr>
              <a:t>02 / OPERASI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96501" y="2875350"/>
            <a:ext cx="3431001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253F36"/>
                </a:solidFill>
                <a:latin typeface="Arial"/>
              </a:rPr>
              <a:t>Operation Director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96501" y="3373823"/>
            <a:ext cx="1666005" cy="628226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4396501" y="337382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062506" y="3373823"/>
            <a:ext cx="0" cy="62822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4396501" y="4002050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396501" y="3373823"/>
            <a:ext cx="0" cy="62822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396501" y="3617924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HRGA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22143" y="4002050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96501" y="4069038"/>
            <a:ext cx="1666005" cy="628340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396501" y="4069038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062506" y="4069038"/>
            <a:ext cx="0" cy="628341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4396501" y="4697379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396501" y="4069038"/>
            <a:ext cx="0" cy="628341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396501" y="4313253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Staff HRGA / Admin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22143" y="4697379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96501" y="4764367"/>
            <a:ext cx="1666005" cy="628226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4396501" y="4764367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062506" y="4764367"/>
            <a:ext cx="0" cy="628226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4396501" y="539259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396501" y="4764367"/>
            <a:ext cx="0" cy="628226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396501" y="5008468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Driver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9493" y="3373823"/>
            <a:ext cx="1666005" cy="628226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6129493" y="337382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795498" y="3373823"/>
            <a:ext cx="0" cy="62822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6129493" y="4002050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129493" y="3373823"/>
            <a:ext cx="0" cy="62822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129493" y="3617924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Operation / GM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55135" y="4002050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29493" y="4069038"/>
            <a:ext cx="1666005" cy="628340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6129493" y="4069038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795498" y="4069038"/>
            <a:ext cx="0" cy="628341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6129493" y="4697379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129493" y="4069038"/>
            <a:ext cx="0" cy="628341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129493" y="4313253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Grower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55135" y="4697379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29493" y="4764367"/>
            <a:ext cx="1666005" cy="628226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6129493" y="4764367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795498" y="4764367"/>
            <a:ext cx="0" cy="628226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6129493" y="539259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129493" y="4764367"/>
            <a:ext cx="0" cy="628226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129493" y="5008468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Farmer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91667" y="2653730"/>
            <a:ext cx="3608517" cy="2833924"/>
          </a:xfrm>
          <a:prstGeom prst="rect">
            <a:avLst/>
          </a:prstGeom>
          <a:solidFill>
            <a:srgbClr val="E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7991667" y="2653730"/>
            <a:ext cx="3608517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1600184" y="2653730"/>
            <a:ext cx="0" cy="2833925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991667" y="5487655"/>
            <a:ext cx="3608517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991667" y="2653730"/>
            <a:ext cx="0" cy="2833925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096427" y="2748791"/>
            <a:ext cx="343100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5C825B"/>
                </a:solidFill>
                <a:latin typeface="Arial"/>
              </a:rPr>
              <a:t>03 / KEUANGAN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96427" y="2875350"/>
            <a:ext cx="3431001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253F36"/>
                </a:solidFill>
                <a:latin typeface="Arial"/>
              </a:rPr>
              <a:t>Finance Director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96427" y="3373823"/>
            <a:ext cx="3398997" cy="975834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8096427" y="3373823"/>
            <a:ext cx="3398997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495424" y="3373823"/>
            <a:ext cx="0" cy="975834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8096427" y="4349657"/>
            <a:ext cx="3398997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096427" y="3373823"/>
            <a:ext cx="0" cy="975834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096427" y="3791728"/>
            <a:ext cx="343100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Finance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788565" y="4349657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096427" y="4416645"/>
            <a:ext cx="3398997" cy="975948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8096427" y="4416645"/>
            <a:ext cx="3398997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1495424" y="4416645"/>
            <a:ext cx="0" cy="975948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8096427" y="5392593"/>
            <a:ext cx="3398997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096427" y="4416645"/>
            <a:ext cx="0" cy="975948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096427" y="4834664"/>
            <a:ext cx="343100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Staff Finance &amp; Accounting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91814" y="5542432"/>
            <a:ext cx="6177308" cy="572993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89271" y="5605768"/>
            <a:ext cx="60143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3" b="1" i="0">
                <a:solidFill>
                  <a:srgbClr val="CAEC9B"/>
                </a:solidFill>
                <a:latin typeface="Arial"/>
              </a:rPr>
              <a:t>01 / 03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9271" y="5700716"/>
            <a:ext cx="601439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1" i="0">
                <a:solidFill>
                  <a:srgbClr val="F5F9EE"/>
                </a:solidFill>
                <a:latin typeface="Arial"/>
              </a:rPr>
              <a:t>Komersial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9271" y="5862993"/>
            <a:ext cx="60143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E0ECDF"/>
                </a:solidFill>
                <a:latin typeface="Arial"/>
              </a:rPr>
              <a:t>Business Development dan Marketing memiliki kepala fungsi serta staf pendukung.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48321" y="5542432"/>
            <a:ext cx="4751863" cy="572993"/>
          </a:xfrm>
          <a:prstGeom prst="rect">
            <a:avLst/>
          </a:prstGeom>
          <a:solidFill>
            <a:srgbClr val="E2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48321" y="5763824"/>
            <a:ext cx="478386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4" b="0" i="0">
                <a:solidFill>
                  <a:srgbClr val="4E6B55"/>
                </a:solidFill>
                <a:latin typeface="Arial"/>
              </a:rPr>
              <a:t>Seluruh peran dari halaman sumber ditampilkan tanpa nama individu.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591814" y="6176365"/>
            <a:ext cx="11008370" cy="0"/>
          </a:xfrm>
          <a:prstGeom prst="line">
            <a:avLst/>
          </a:prstGeom>
          <a:ln w="7303">
            <a:solidFill>
              <a:srgbClr val="B7C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591814" y="6232397"/>
            <a:ext cx="1104037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657A66"/>
                </a:solidFill>
                <a:latin typeface="Arial"/>
              </a:rPr>
              <a:t>Bagan ini memetakan fungsi dan jalur pelaporan, bukan jumlah orang per kotak jabatan.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206907" y="6537324"/>
            <a:ext cx="244970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SUMBER: PDF SDM REVISI + SLIDE ASLI · HALAMAN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MELOOLOO / TIM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PRESENTASI 39 / 66 · ASLI 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75460"/>
            <a:ext cx="9994028" cy="5505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65" b="1" i="0">
                <a:solidFill>
                  <a:srgbClr val="253F36"/>
                </a:solidFill>
                <a:latin typeface="Arial Narrow"/>
              </a:rPr>
              <a:t>Tim tumbuh bersama 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631792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66786D"/>
                </a:solidFill>
                <a:latin typeface="Arial"/>
              </a:rPr>
              <a:t>Total personel pada tabel sumber diproyeksikan naik dari 18 ke 85 sepanjang Y0–Y10.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91814" y="2290945"/>
            <a:ext cx="11008370" cy="0"/>
          </a:xfrm>
          <a:prstGeom prst="line">
            <a:avLst/>
          </a:prstGeom>
          <a:ln w="7303">
            <a:solidFill>
              <a:srgbClr val="9DB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1814" y="1900999"/>
            <a:ext cx="1624403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253F36"/>
                </a:solidFill>
                <a:latin typeface="Arial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946" y="1900999"/>
            <a:ext cx="324259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80AE69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814" y="1900999"/>
            <a:ext cx="1624403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253F36"/>
                </a:solidFill>
                <a:latin typeface="Arial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4120" y="2090894"/>
            <a:ext cx="51209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253F36"/>
                </a:solidFill>
                <a:latin typeface="Arial"/>
              </a:rPr>
              <a:t>personel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5099" y="2124216"/>
            <a:ext cx="1857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253F36"/>
                </a:solidFill>
                <a:latin typeface="Arial"/>
              </a:rPr>
              <a:t>35 → 237 GREENHOUSE · Y0–Y10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91814" y="5118251"/>
            <a:ext cx="11008370" cy="0"/>
          </a:xfrm>
          <a:prstGeom prst="line">
            <a:avLst/>
          </a:prstGeom>
          <a:ln w="14607">
            <a:solidFill>
              <a:srgbClr val="759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37901" y="4434904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2939" y="462274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2939" y="4637773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939" y="4652801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2939" y="4667829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939" y="4682857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939" y="469788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939" y="4712913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2939" y="4727941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2939" y="4742969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2939" y="4757997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2939" y="477302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2939" y="4788054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2939" y="4803082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2939" y="4818110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2939" y="4833138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2939" y="4848166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2939" y="4863194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939" y="4878222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2939" y="4893250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2939" y="4908278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2939" y="4923306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2939" y="4938334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2939" y="4953362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2939" y="4968391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2939" y="4983419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2939" y="4998447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2939" y="501347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2939" y="5028503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2939" y="5043531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2939" y="5058559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2939" y="5073587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2939" y="508861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35632" y="4434904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0671" y="462274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40671" y="4637773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40671" y="4652801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40671" y="4667829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40671" y="4682857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40671" y="469788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40671" y="4712913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640671" y="4727941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40671" y="4742969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40671" y="4757997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640671" y="477302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640671" y="4788054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40671" y="4803082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40671" y="4818110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40671" y="4833138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40671" y="4848166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40671" y="4863194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40671" y="4878222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40671" y="4893250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640671" y="4908278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640671" y="4923306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40671" y="4938334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640671" y="4953362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640671" y="4968391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0671" y="4983419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640671" y="4998447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640671" y="501347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640671" y="5028503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40671" y="5043531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640671" y="5058559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40671" y="5073587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40671" y="5088615"/>
            <a:ext cx="928348" cy="1648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33478" y="4302298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23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38402" y="4490138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38402" y="4509310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38402" y="4528482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38402" y="4547654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638402" y="4566826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638402" y="4585998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638402" y="4605170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638402" y="4624342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638402" y="4643514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638402" y="4662686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38402" y="4681858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638402" y="4701030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638402" y="4720202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638402" y="4739374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638402" y="4758547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638402" y="4777719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638402" y="4796891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638402" y="4816063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38402" y="4835235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638402" y="4854407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638402" y="4873579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638402" y="4892751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638402" y="4911923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638402" y="4931095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638402" y="4950267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638402" y="4969439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638402" y="4988611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638402" y="5007783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638402" y="5026955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638402" y="5046127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638402" y="5065299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638402" y="5084471"/>
            <a:ext cx="928462" cy="2063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031210" y="4197194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27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36248" y="4385034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6248" y="4407491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6248" y="4429947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6248" y="4452404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636248" y="4474860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6248" y="4497317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636248" y="4519773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636248" y="4542230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636248" y="4564686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636248" y="4587143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636248" y="4609599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636248" y="4632056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636248" y="4654513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636248" y="4676969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36248" y="4699426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636248" y="4721882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636248" y="4744339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636248" y="4766795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636248" y="4789252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636248" y="4811708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636248" y="4834165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636248" y="4856621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636248" y="4879078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636248" y="4901534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636248" y="4923991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36248" y="4946448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636248" y="4968904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636248" y="4991361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636248" y="5013817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636248" y="5036274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636248" y="5058730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636248" y="5081187"/>
            <a:ext cx="928348" cy="2391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028941" y="4061848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32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633980" y="4249689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633980" y="4276375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633980" y="4303061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633980" y="4329747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633980" y="4356433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633980" y="4383119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633980" y="4409805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633980" y="4436491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633980" y="4463177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633980" y="4489863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633980" y="4516549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633980" y="4543235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633980" y="4569922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633980" y="4596608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633980" y="4623294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633980" y="4649980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633980" y="4676666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633980" y="4703352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633980" y="4730038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633980" y="4756724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633980" y="4783410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633980" y="4810096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633980" y="4836782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633980" y="4863469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633980" y="4890155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633980" y="4916841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633980" y="4943527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633980" y="4970213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633980" y="4996899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633980" y="5023585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633980" y="5050271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633980" y="5076957"/>
            <a:ext cx="928348" cy="2814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026787" y="3876632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39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631711" y="4064473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631711" y="4096947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631711" y="4129421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631711" y="4161895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631711" y="4194369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631711" y="4226843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631711" y="4259317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631711" y="4291791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631711" y="4324265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631711" y="4356740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631711" y="4389214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631711" y="4421688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631711" y="4454162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631711" y="4486636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631711" y="4519110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631711" y="4551584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31711" y="4584058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31711" y="4616532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31711" y="4649006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31711" y="4681480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631711" y="4713954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31711" y="4746428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631711" y="4778903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631711" y="4811377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631711" y="4843851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631711" y="4876325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631711" y="4908799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631711" y="4941273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5631711" y="4973747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631711" y="5006221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631711" y="5038695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5631711" y="5071169"/>
            <a:ext cx="928462" cy="3393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7024519" y="3528340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52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629557" y="3716181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29557" y="3759539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629557" y="3802897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629557" y="3846255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629557" y="3889614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629557" y="3932972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629557" y="3976330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629557" y="4019688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629557" y="4063046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629557" y="4106405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629557" y="4149763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629557" y="4193121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629557" y="4236479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629557" y="4279837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629557" y="4323196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6629557" y="4366554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629557" y="4409912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629557" y="4453270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629557" y="4496628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629557" y="4539987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629557" y="4583345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629557" y="4626703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629557" y="4670061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629557" y="4713419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629557" y="4756778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629557" y="4800136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29557" y="4843494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29557" y="4886852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29557" y="4930211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29557" y="4973569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29557" y="5016927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29557" y="5060285"/>
            <a:ext cx="928348" cy="44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022250" y="3368003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58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627289" y="3555843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627289" y="3604212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627289" y="3652581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7627289" y="3700949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627289" y="3749318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627289" y="3797687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7627289" y="3846056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7627289" y="3894424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7627289" y="3942793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7627289" y="3991162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627289" y="4039531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7627289" y="4087899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7627289" y="4136268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7627289" y="4184637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7627289" y="4233006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627289" y="4281374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627289" y="4329743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7627289" y="4378112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627289" y="4426481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7627289" y="4474849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627289" y="4523218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7627289" y="4571587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7627289" y="4619956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7627289" y="4668325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627289" y="4716693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7627289" y="4765062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7627289" y="4813431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7627289" y="4861800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7627289" y="4910168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7627289" y="4958537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627289" y="5006906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7627289" y="5055275"/>
            <a:ext cx="928348" cy="498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9020096" y="3210518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64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625020" y="3398358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8625020" y="3451649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8625020" y="3504939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8625020" y="3558229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8625020" y="3611519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8625020" y="3664809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8625020" y="3718099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8625020" y="3771390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625020" y="3824680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625020" y="3877970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8625020" y="3931260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8625020" y="3984550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8625020" y="4037840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8625020" y="4091130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625020" y="4144421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8625020" y="4197711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625020" y="4251001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8625020" y="4304291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625020" y="4357581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625020" y="4410871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8625020" y="4464162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8625020" y="4517452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8625020" y="4570742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8625020" y="4624032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8625020" y="4677322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8625020" y="4730612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8625020" y="4783902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8625020" y="4837193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8625020" y="4890483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8625020" y="4943773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625020" y="4997063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8625020" y="5050353"/>
            <a:ext cx="928462" cy="5475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0017828" y="2757236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81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622866" y="2945077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9622866" y="3012532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9622866" y="3079987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9622866" y="3147442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9622866" y="3214897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9622866" y="3282353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9622866" y="3349808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9622866" y="3417263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9622866" y="3484718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9622866" y="3552173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9622866" y="3619629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9622866" y="3687084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622866" y="3754539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9622866" y="3821994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622866" y="3889450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9622866" y="3956905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9622866" y="4024360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9622866" y="4091815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9622866" y="4159270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9622866" y="4226726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9622866" y="4294181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9622866" y="4361636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9622866" y="4429091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9622866" y="4496546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9622866" y="4564002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9622866" y="4631457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9622866" y="4698912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9622866" y="4766367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9622866" y="4833822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9622866" y="4901278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622866" y="4968733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9622866" y="5036188"/>
            <a:ext cx="928348" cy="6891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11015673" y="2649393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85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10620598" y="2837234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620598" y="2908059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620598" y="2978884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620598" y="3049710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620598" y="3120535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620598" y="3191360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620598" y="3262186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620598" y="3333011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620598" y="3403836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620598" y="3474661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620598" y="3545487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620598" y="3616312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620598" y="3687137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620598" y="3757963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620598" y="3828788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620598" y="3899613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620598" y="3970439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620598" y="4041264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620598" y="4112089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620598" y="4182914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620598" y="4253740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620598" y="4324565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620598" y="4395390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620598" y="4466216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620598" y="4537041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620598" y="4607866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620598" y="4678692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620598" y="4749517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620598" y="4820342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620598" y="4891167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620598" y="4961993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20598" y="5032818"/>
            <a:ext cx="928462" cy="72286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591814" y="5201558"/>
            <a:ext cx="91408" cy="9140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591814" y="5188890"/>
            <a:ext cx="46485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4F6E54"/>
                </a:solidFill>
                <a:latin typeface="Arial"/>
              </a:rPr>
              <a:t>Farmer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1207480" y="5201558"/>
            <a:ext cx="91408" cy="91409"/>
          </a:xfrm>
          <a:prstGeom prst="rect">
            <a:avLst/>
          </a:prstGeom>
          <a:solidFill>
            <a:srgbClr val="AFD9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1207480" y="5188890"/>
            <a:ext cx="181475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4F6E54"/>
                </a:solidFill>
                <a:latin typeface="Arial"/>
              </a:rPr>
              <a:t>Personel lainnya menurut total sumber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588162" y="5562517"/>
            <a:ext cx="3930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3F36"/>
                </a:solidFill>
                <a:latin typeface="Arial"/>
              </a:rPr>
              <a:t>Proyeksi jumlah farmer dan total personel tiap tahun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595466" y="5358129"/>
            <a:ext cx="1320114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>
            <a:off x="595466" y="5358129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1915580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H="1">
            <a:off x="595466" y="5566169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595466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TextBox 391"/>
          <p:cNvSpPr txBox="1"/>
          <p:nvPr/>
        </p:nvSpPr>
        <p:spPr>
          <a:xfrm>
            <a:off x="977418" y="5406858"/>
            <a:ext cx="58821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PERSONEL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1915580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4" name="Connector 393"/>
          <p:cNvCxnSpPr/>
          <p:nvPr/>
        </p:nvCxnSpPr>
        <p:spPr>
          <a:xfrm>
            <a:off x="1915580" y="5358129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2795657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H="1">
            <a:off x="1915580" y="5566169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1915580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TextBox 397"/>
          <p:cNvSpPr txBox="1"/>
          <p:nvPr/>
        </p:nvSpPr>
        <p:spPr>
          <a:xfrm>
            <a:off x="2292397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Y0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2795657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0" name="Connector 399"/>
          <p:cNvCxnSpPr/>
          <p:nvPr/>
        </p:nvCxnSpPr>
        <p:spPr>
          <a:xfrm>
            <a:off x="2795657" y="535812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3675733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H="1">
            <a:off x="2795657" y="556616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2795657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TextBox 403"/>
          <p:cNvSpPr txBox="1"/>
          <p:nvPr/>
        </p:nvSpPr>
        <p:spPr>
          <a:xfrm>
            <a:off x="3172473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Y1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3675733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6" name="Connector 405"/>
          <p:cNvCxnSpPr/>
          <p:nvPr/>
        </p:nvCxnSpPr>
        <p:spPr>
          <a:xfrm>
            <a:off x="3675733" y="535812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4555809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H="1">
            <a:off x="3675733" y="556616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3675733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TextBox 409"/>
          <p:cNvSpPr txBox="1"/>
          <p:nvPr/>
        </p:nvSpPr>
        <p:spPr>
          <a:xfrm>
            <a:off x="4052550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Y2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4555809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2" name="Connector 411"/>
          <p:cNvCxnSpPr/>
          <p:nvPr/>
        </p:nvCxnSpPr>
        <p:spPr>
          <a:xfrm>
            <a:off x="4555809" y="535812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5435885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H="1">
            <a:off x="4555809" y="556616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4555809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TextBox 415"/>
          <p:cNvSpPr txBox="1"/>
          <p:nvPr/>
        </p:nvSpPr>
        <p:spPr>
          <a:xfrm>
            <a:off x="4932626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Y3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5435885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8" name="Connector 417"/>
          <p:cNvCxnSpPr/>
          <p:nvPr/>
        </p:nvCxnSpPr>
        <p:spPr>
          <a:xfrm>
            <a:off x="5435885" y="535812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6315961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H="1">
            <a:off x="5435885" y="556616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5435885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5812702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Y4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6315961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4" name="Connector 423"/>
          <p:cNvCxnSpPr/>
          <p:nvPr/>
        </p:nvCxnSpPr>
        <p:spPr>
          <a:xfrm>
            <a:off x="6315961" y="5358129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7196038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H="1">
            <a:off x="6315961" y="5566169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6315961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6692778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Y5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7196038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0" name="Connector 429"/>
          <p:cNvCxnSpPr/>
          <p:nvPr/>
        </p:nvCxnSpPr>
        <p:spPr>
          <a:xfrm>
            <a:off x="7196038" y="535812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8076114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H="1">
            <a:off x="7196038" y="556616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7196038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TextBox 433"/>
          <p:cNvSpPr txBox="1"/>
          <p:nvPr/>
        </p:nvSpPr>
        <p:spPr>
          <a:xfrm>
            <a:off x="7572854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Y6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8076114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6" name="Connector 435"/>
          <p:cNvCxnSpPr/>
          <p:nvPr/>
        </p:nvCxnSpPr>
        <p:spPr>
          <a:xfrm>
            <a:off x="8076114" y="535812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8956190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H="1">
            <a:off x="8076114" y="556616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8076114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439"/>
          <p:cNvSpPr txBox="1"/>
          <p:nvPr/>
        </p:nvSpPr>
        <p:spPr>
          <a:xfrm>
            <a:off x="8452931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Y7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8956190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Connector 441"/>
          <p:cNvCxnSpPr/>
          <p:nvPr/>
        </p:nvCxnSpPr>
        <p:spPr>
          <a:xfrm>
            <a:off x="8956190" y="535812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9836266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H="1">
            <a:off x="8956190" y="556616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8956190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/>
          <p:cNvSpPr txBox="1"/>
          <p:nvPr/>
        </p:nvSpPr>
        <p:spPr>
          <a:xfrm>
            <a:off x="9333007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Y8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9836266" y="5358129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8" name="Connector 447"/>
          <p:cNvCxnSpPr/>
          <p:nvPr/>
        </p:nvCxnSpPr>
        <p:spPr>
          <a:xfrm>
            <a:off x="9836266" y="535812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0716342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9836266" y="5566169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9836266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10213083" y="5406858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Y9</a:t>
            </a:r>
          </a:p>
        </p:txBody>
      </p:sp>
      <p:sp>
        <p:nvSpPr>
          <p:cNvPr id="453" name="Rectangle 452"/>
          <p:cNvSpPr/>
          <p:nvPr/>
        </p:nvSpPr>
        <p:spPr>
          <a:xfrm>
            <a:off x="10716342" y="5358129"/>
            <a:ext cx="880190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4" name="Connector 453"/>
          <p:cNvCxnSpPr/>
          <p:nvPr/>
        </p:nvCxnSpPr>
        <p:spPr>
          <a:xfrm>
            <a:off x="10716342" y="5358129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11596533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H="1">
            <a:off x="10716342" y="5566169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10716342" y="5358129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TextBox 457"/>
          <p:cNvSpPr txBox="1"/>
          <p:nvPr/>
        </p:nvSpPr>
        <p:spPr>
          <a:xfrm>
            <a:off x="11064173" y="5406858"/>
            <a:ext cx="21653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Y10</a:t>
            </a:r>
          </a:p>
        </p:txBody>
      </p:sp>
      <p:sp>
        <p:nvSpPr>
          <p:cNvPr id="459" name="Rectangle 458"/>
          <p:cNvSpPr/>
          <p:nvPr/>
        </p:nvSpPr>
        <p:spPr>
          <a:xfrm>
            <a:off x="595466" y="5573473"/>
            <a:ext cx="11001066" cy="263159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0" name="Connector 459"/>
          <p:cNvCxnSpPr/>
          <p:nvPr/>
        </p:nvCxnSpPr>
        <p:spPr>
          <a:xfrm>
            <a:off x="595466" y="5573473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1915580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595466" y="5836632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595466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TextBox 463"/>
          <p:cNvSpPr txBox="1"/>
          <p:nvPr/>
        </p:nvSpPr>
        <p:spPr>
          <a:xfrm>
            <a:off x="696574" y="5625169"/>
            <a:ext cx="457777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05439"/>
                </a:solidFill>
                <a:latin typeface="Arial"/>
              </a:rPr>
              <a:t>Farmer</a:t>
            </a:r>
          </a:p>
        </p:txBody>
      </p:sp>
      <p:cxnSp>
        <p:nvCxnSpPr>
          <p:cNvPr id="465" name="Connector 464"/>
          <p:cNvCxnSpPr/>
          <p:nvPr/>
        </p:nvCxnSpPr>
        <p:spPr>
          <a:xfrm>
            <a:off x="1915580" y="5573473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2795657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H="1">
            <a:off x="1915580" y="5836632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1915580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TextBox 468"/>
          <p:cNvSpPr txBox="1"/>
          <p:nvPr/>
        </p:nvSpPr>
        <p:spPr>
          <a:xfrm>
            <a:off x="2315563" y="5614898"/>
            <a:ext cx="112000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6</a:t>
            </a:r>
          </a:p>
        </p:txBody>
      </p:sp>
      <p:cxnSp>
        <p:nvCxnSpPr>
          <p:cNvPr id="470" name="Connector 469"/>
          <p:cNvCxnSpPr/>
          <p:nvPr/>
        </p:nvCxnSpPr>
        <p:spPr>
          <a:xfrm>
            <a:off x="2795657" y="5573473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3675733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2795657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2795657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/>
          <p:cNvSpPr txBox="1"/>
          <p:nvPr/>
        </p:nvSpPr>
        <p:spPr>
          <a:xfrm>
            <a:off x="3195639" y="5614898"/>
            <a:ext cx="112000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6</a:t>
            </a:r>
          </a:p>
        </p:txBody>
      </p:sp>
      <p:cxnSp>
        <p:nvCxnSpPr>
          <p:cNvPr id="475" name="Connector 474"/>
          <p:cNvCxnSpPr/>
          <p:nvPr/>
        </p:nvCxnSpPr>
        <p:spPr>
          <a:xfrm>
            <a:off x="3675733" y="5573473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4555809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>
            <a:off x="3675733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3675733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TextBox 478"/>
          <p:cNvSpPr txBox="1"/>
          <p:nvPr/>
        </p:nvSpPr>
        <p:spPr>
          <a:xfrm>
            <a:off x="4075715" y="5614898"/>
            <a:ext cx="112000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9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4555809" y="5573473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5435885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4555809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4555809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TextBox 483"/>
          <p:cNvSpPr txBox="1"/>
          <p:nvPr/>
        </p:nvSpPr>
        <p:spPr>
          <a:xfrm>
            <a:off x="4915850" y="5614898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12</a:t>
            </a:r>
          </a:p>
        </p:txBody>
      </p:sp>
      <p:cxnSp>
        <p:nvCxnSpPr>
          <p:cNvPr id="485" name="Connector 484"/>
          <p:cNvCxnSpPr/>
          <p:nvPr/>
        </p:nvCxnSpPr>
        <p:spPr>
          <a:xfrm>
            <a:off x="5435885" y="5573473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6315961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5435885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5435885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TextBox 488"/>
          <p:cNvSpPr txBox="1"/>
          <p:nvPr/>
        </p:nvSpPr>
        <p:spPr>
          <a:xfrm>
            <a:off x="5795927" y="5614898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15</a:t>
            </a:r>
          </a:p>
        </p:txBody>
      </p:sp>
      <p:cxnSp>
        <p:nvCxnSpPr>
          <p:cNvPr id="490" name="Connector 489"/>
          <p:cNvCxnSpPr/>
          <p:nvPr/>
        </p:nvCxnSpPr>
        <p:spPr>
          <a:xfrm>
            <a:off x="6315961" y="5573473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7196038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>
            <a:off x="6315961" y="5836632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6315961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TextBox 493"/>
          <p:cNvSpPr txBox="1"/>
          <p:nvPr/>
        </p:nvSpPr>
        <p:spPr>
          <a:xfrm>
            <a:off x="6676003" y="5614898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18</a:t>
            </a:r>
          </a:p>
        </p:txBody>
      </p:sp>
      <p:cxnSp>
        <p:nvCxnSpPr>
          <p:cNvPr id="495" name="Connector 494"/>
          <p:cNvCxnSpPr/>
          <p:nvPr/>
        </p:nvCxnSpPr>
        <p:spPr>
          <a:xfrm>
            <a:off x="7196038" y="5573473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8076114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>
            <a:off x="7196038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7196038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7556079" y="5614898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22</a:t>
            </a:r>
          </a:p>
        </p:txBody>
      </p:sp>
      <p:cxnSp>
        <p:nvCxnSpPr>
          <p:cNvPr id="500" name="Connector 499"/>
          <p:cNvCxnSpPr/>
          <p:nvPr/>
        </p:nvCxnSpPr>
        <p:spPr>
          <a:xfrm>
            <a:off x="8076114" y="5573473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8956190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H="1">
            <a:off x="8076114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V="1">
            <a:off x="8076114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TextBox 503"/>
          <p:cNvSpPr txBox="1"/>
          <p:nvPr/>
        </p:nvSpPr>
        <p:spPr>
          <a:xfrm>
            <a:off x="8436155" y="5614898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25</a:t>
            </a:r>
          </a:p>
        </p:txBody>
      </p:sp>
      <p:cxnSp>
        <p:nvCxnSpPr>
          <p:cNvPr id="505" name="Connector 504"/>
          <p:cNvCxnSpPr/>
          <p:nvPr/>
        </p:nvCxnSpPr>
        <p:spPr>
          <a:xfrm>
            <a:off x="8956190" y="5573473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9836266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H="1">
            <a:off x="8956190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8956190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9316232" y="5614898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30</a:t>
            </a:r>
          </a:p>
        </p:txBody>
      </p:sp>
      <p:cxnSp>
        <p:nvCxnSpPr>
          <p:cNvPr id="510" name="Connector 509"/>
          <p:cNvCxnSpPr/>
          <p:nvPr/>
        </p:nvCxnSpPr>
        <p:spPr>
          <a:xfrm>
            <a:off x="9836266" y="5573473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10716342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H="1">
            <a:off x="9836266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V="1">
            <a:off x="9836266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10196308" y="5614898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39</a:t>
            </a:r>
          </a:p>
        </p:txBody>
      </p:sp>
      <p:cxnSp>
        <p:nvCxnSpPr>
          <p:cNvPr id="515" name="Connector 514"/>
          <p:cNvCxnSpPr/>
          <p:nvPr/>
        </p:nvCxnSpPr>
        <p:spPr>
          <a:xfrm>
            <a:off x="10716342" y="5573473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11596533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H="1">
            <a:off x="10716342" y="5836632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V="1">
            <a:off x="10716342" y="5573473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9" name="TextBox 518"/>
          <p:cNvSpPr txBox="1"/>
          <p:nvPr/>
        </p:nvSpPr>
        <p:spPr>
          <a:xfrm>
            <a:off x="11076384" y="5614898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41</a:t>
            </a:r>
          </a:p>
        </p:txBody>
      </p:sp>
      <p:sp>
        <p:nvSpPr>
          <p:cNvPr id="520" name="Rectangle 519"/>
          <p:cNvSpPr/>
          <p:nvPr/>
        </p:nvSpPr>
        <p:spPr>
          <a:xfrm>
            <a:off x="595466" y="5836632"/>
            <a:ext cx="11001066" cy="263159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1" name="Connector 520"/>
          <p:cNvCxnSpPr/>
          <p:nvPr/>
        </p:nvCxnSpPr>
        <p:spPr>
          <a:xfrm>
            <a:off x="595466" y="5836632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1915580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H="1">
            <a:off x="595466" y="6099791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595466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696574" y="5888328"/>
            <a:ext cx="31729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F4FAEC"/>
                </a:solidFill>
                <a:latin typeface="Arial"/>
              </a:rPr>
              <a:t>Total</a:t>
            </a:r>
          </a:p>
        </p:txBody>
      </p:sp>
      <p:cxnSp>
        <p:nvCxnSpPr>
          <p:cNvPr id="526" name="Connector 525"/>
          <p:cNvCxnSpPr/>
          <p:nvPr/>
        </p:nvCxnSpPr>
        <p:spPr>
          <a:xfrm>
            <a:off x="1915580" y="5836632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2795657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H="1">
            <a:off x="1915580" y="6099791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V="1">
            <a:off x="1915580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TextBox 529"/>
          <p:cNvSpPr txBox="1"/>
          <p:nvPr/>
        </p:nvSpPr>
        <p:spPr>
          <a:xfrm>
            <a:off x="2275622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18</a:t>
            </a:r>
          </a:p>
        </p:txBody>
      </p:sp>
      <p:cxnSp>
        <p:nvCxnSpPr>
          <p:cNvPr id="531" name="Connector 530"/>
          <p:cNvCxnSpPr/>
          <p:nvPr/>
        </p:nvCxnSpPr>
        <p:spPr>
          <a:xfrm>
            <a:off x="2795657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3675733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H="1">
            <a:off x="2795657" y="609979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2795657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TextBox 534"/>
          <p:cNvSpPr txBox="1"/>
          <p:nvPr/>
        </p:nvSpPr>
        <p:spPr>
          <a:xfrm>
            <a:off x="3155698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18</a:t>
            </a:r>
          </a:p>
        </p:txBody>
      </p:sp>
      <p:cxnSp>
        <p:nvCxnSpPr>
          <p:cNvPr id="536" name="Connector 535"/>
          <p:cNvCxnSpPr/>
          <p:nvPr/>
        </p:nvCxnSpPr>
        <p:spPr>
          <a:xfrm>
            <a:off x="3675733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4555809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H="1">
            <a:off x="3675733" y="609979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3675733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0" name="TextBox 539"/>
          <p:cNvSpPr txBox="1"/>
          <p:nvPr/>
        </p:nvSpPr>
        <p:spPr>
          <a:xfrm>
            <a:off x="4035774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23</a:t>
            </a:r>
          </a:p>
        </p:txBody>
      </p:sp>
      <p:cxnSp>
        <p:nvCxnSpPr>
          <p:cNvPr id="541" name="Connector 540"/>
          <p:cNvCxnSpPr/>
          <p:nvPr/>
        </p:nvCxnSpPr>
        <p:spPr>
          <a:xfrm>
            <a:off x="4555809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5435885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H="1">
            <a:off x="4555809" y="609979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V="1">
            <a:off x="4555809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4915850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27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5435885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6315961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H="1">
            <a:off x="5435885" y="609979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V="1">
            <a:off x="5435885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5795927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32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6315961" y="5836632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7196038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H="1">
            <a:off x="6315961" y="6099791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6315961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6676003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39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7196038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8076114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>
            <a:off x="7196038" y="609979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7196038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7556079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52</a:t>
            </a:r>
          </a:p>
        </p:txBody>
      </p:sp>
      <p:cxnSp>
        <p:nvCxnSpPr>
          <p:cNvPr id="561" name="Connector 560"/>
          <p:cNvCxnSpPr/>
          <p:nvPr/>
        </p:nvCxnSpPr>
        <p:spPr>
          <a:xfrm>
            <a:off x="8076114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8956190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H="1">
            <a:off x="8076114" y="609979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8076114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8436155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58</a:t>
            </a:r>
          </a:p>
        </p:txBody>
      </p:sp>
      <p:cxnSp>
        <p:nvCxnSpPr>
          <p:cNvPr id="566" name="Connector 565"/>
          <p:cNvCxnSpPr/>
          <p:nvPr/>
        </p:nvCxnSpPr>
        <p:spPr>
          <a:xfrm>
            <a:off x="8956190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9836266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8956190" y="609979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8956190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9316232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64</a:t>
            </a:r>
          </a:p>
        </p:txBody>
      </p:sp>
      <p:cxnSp>
        <p:nvCxnSpPr>
          <p:cNvPr id="571" name="Connector 570"/>
          <p:cNvCxnSpPr/>
          <p:nvPr/>
        </p:nvCxnSpPr>
        <p:spPr>
          <a:xfrm>
            <a:off x="9836266" y="5836632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10716342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9836266" y="609979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9836266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10196308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81</a:t>
            </a:r>
          </a:p>
        </p:txBody>
      </p:sp>
      <p:cxnSp>
        <p:nvCxnSpPr>
          <p:cNvPr id="576" name="Connector 575"/>
          <p:cNvCxnSpPr/>
          <p:nvPr/>
        </p:nvCxnSpPr>
        <p:spPr>
          <a:xfrm>
            <a:off x="10716342" y="5836632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596533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H="1">
            <a:off x="10716342" y="6099791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10716342" y="5836632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0" name="TextBox 579"/>
          <p:cNvSpPr txBox="1"/>
          <p:nvPr/>
        </p:nvSpPr>
        <p:spPr>
          <a:xfrm>
            <a:off x="11076384" y="58780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85</a:t>
            </a:r>
          </a:p>
        </p:txBody>
      </p:sp>
      <p:cxnSp>
        <p:nvCxnSpPr>
          <p:cNvPr id="581" name="Connector 580"/>
          <p:cNvCxnSpPr/>
          <p:nvPr/>
        </p:nvCxnSpPr>
        <p:spPr>
          <a:xfrm>
            <a:off x="591814" y="6164382"/>
            <a:ext cx="11008370" cy="0"/>
          </a:xfrm>
          <a:prstGeom prst="line">
            <a:avLst/>
          </a:prstGeom>
          <a:ln w="7303">
            <a:solidFill>
              <a:srgbClr val="B7C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591814" y="6220415"/>
            <a:ext cx="110403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657A66"/>
                </a:solidFill>
                <a:latin typeface="Arial"/>
              </a:rPr>
              <a:t>Farmer dan total mengikuti tabel sumber. Rincian jabatan lain belum sepenuhnya menjumlah ke total tercetak.</a:t>
            </a:r>
          </a:p>
        </p:txBody>
      </p:sp>
      <p:cxnSp>
        <p:nvCxnSpPr>
          <p:cNvPr id="583" name="Connector 582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9206907" y="6537324"/>
            <a:ext cx="244970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SUMBER: PDF SDM REVISI + SLIDE ASLI · HALAMAN 51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MELOOLOO / TIM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PRESENTASI 40 / 66 · ASLI 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75460"/>
            <a:ext cx="9994028" cy="5505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65" b="1" i="0">
                <a:solidFill>
                  <a:srgbClr val="253F36"/>
                </a:solidFill>
                <a:latin typeface="Arial Narrow"/>
              </a:rPr>
              <a:t>Biaya orang, tahun demi tahun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631792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66786D"/>
                </a:solidFill>
                <a:latin typeface="Arial"/>
              </a:rPr>
              <a:t>Payroll, hiring, training, dan teknologi pada tabel SDM sumber membentuk rencana biaya.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91814" y="2450483"/>
            <a:ext cx="11008370" cy="0"/>
          </a:xfrm>
          <a:prstGeom prst="line">
            <a:avLst/>
          </a:prstGeom>
          <a:ln w="14607">
            <a:solidFill>
              <a:srgbClr val="A4C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1814" y="1930214"/>
            <a:ext cx="273921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07452"/>
                </a:solidFill>
                <a:latin typeface="Arial"/>
              </a:rPr>
              <a:t>PROYEKSI PENGELUARAN SDM · RP JUTA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814" y="2027557"/>
            <a:ext cx="2739219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53E2B"/>
                </a:solidFill>
                <a:latin typeface="Arial"/>
              </a:rPr>
              <a:t>Rp1.713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3520" y="2027557"/>
            <a:ext cx="321634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7CAB68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814" y="2027557"/>
            <a:ext cx="2739219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53E2B"/>
                </a:solidFill>
                <a:latin typeface="Arial"/>
              </a:rPr>
              <a:t>Rp11.905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083" y="2092263"/>
            <a:ext cx="2836105" cy="30178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496B51"/>
                </a:solidFill>
                <a:latin typeface="Arial"/>
              </a:rPr>
              <a:t>Payroll, rekrutmen, pelatihan, dan teknologi HR ditampilkan untuk setiap tahun.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162" y="2727451"/>
            <a:ext cx="3930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3F36"/>
                </a:solidFill>
                <a:latin typeface="Arial"/>
              </a:rPr>
              <a:t>Rincian proyeksi biaya SDM Tahun 0 sampai Tahun 10, dalam juta rupiah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466" y="2515075"/>
            <a:ext cx="1870276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95466" y="2515075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65742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95466" y="2731103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95466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2737" y="2563804"/>
            <a:ext cx="105347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KOMPONEN · RP JT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5742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465742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95721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465742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65742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816084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5721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295721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25699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295721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295721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46062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25699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125699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55678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125699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125699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476041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5678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4955678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785656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4955678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955678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06019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85656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785656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615635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5785656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85656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135998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15635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6615635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445613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6615635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615635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965976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45613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7445613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75592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7445613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445613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95955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75592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8275592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105570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8275592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275592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25933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05570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9105570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935549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9105570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105570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455912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935549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9935549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765527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9935549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935549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0285890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765527" y="2515075"/>
            <a:ext cx="831005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10765527" y="2515075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1596533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0765527" y="2731103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765527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1086655" y="2563804"/>
            <a:ext cx="22064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Y10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5466" y="2748677"/>
            <a:ext cx="11001066" cy="599012"/>
          </a:xfrm>
          <a:prstGeom prst="rect">
            <a:avLst/>
          </a:prstGeom>
          <a:solidFill>
            <a:srgbClr val="F7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595466" y="2748677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465742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595466" y="3347689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95466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02737" y="2965732"/>
            <a:ext cx="61286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244B31"/>
                </a:solidFill>
                <a:latin typeface="Arial"/>
              </a:rPr>
              <a:t>Payroll all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2465742" y="274867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295721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2465742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465742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25132" y="2966417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1.682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295721" y="274867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125699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3295721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295721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3555110" y="2966417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1.721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4125699" y="274867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955678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4125699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125699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4385089" y="2966417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2.243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4955678" y="274867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785656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4955678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955678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215067" y="2966417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3.064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5785656" y="274867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615635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5785656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5785656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045046" y="2966417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3.644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6615635" y="274867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445613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6615635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615635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875024" y="2966417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5.094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7445613" y="274867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75592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7445613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445613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7705003" y="2966417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7.732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8275592" y="274867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105570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8275592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275592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8534981" y="2966417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8.579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9105570" y="274867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9935549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9105570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105570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9364960" y="2966417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9.452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9935549" y="274867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765527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9935549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935549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0160361" y="2966417"/>
            <a:ext cx="41224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11.161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0765527" y="2748677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1596533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10765527" y="3347689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765527" y="2748677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10990910" y="2966417"/>
            <a:ext cx="41224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11.822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95466" y="3347689"/>
            <a:ext cx="11001066" cy="599012"/>
          </a:xfrm>
          <a:prstGeom prst="rect">
            <a:avLst/>
          </a:prstGeom>
          <a:solidFill>
            <a:srgbClr val="E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595466" y="3347689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465742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595466" y="3946702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95466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702737" y="3564744"/>
            <a:ext cx="69457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244B31"/>
                </a:solidFill>
                <a:latin typeface="Arial"/>
              </a:rPr>
              <a:t>Rekrutmen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2465742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295721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2465742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465742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2759709" y="3565429"/>
            <a:ext cx="27393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12,6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3295721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125699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>
            <a:off x="3295721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295721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3624266" y="3565429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0,7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4125699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4955678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4125699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125699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4454244" y="3565429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4,2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4955678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5785656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4955678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4955678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5284223" y="3565429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3,5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785656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615635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5785656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5785656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6114201" y="3565429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4,9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6615635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445613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6615635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615635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6944180" y="3565429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6,3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7445613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275592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>
            <a:off x="7445613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445613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7739580" y="3565429"/>
            <a:ext cx="27393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11,2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8275592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105570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>
            <a:off x="8275592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75592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8604137" y="3565429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6,3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9105570" y="334768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935549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H="1">
            <a:off x="9105570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9105570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9434115" y="3565429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6,3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9935549" y="334768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765527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H="1">
            <a:off x="9935549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935549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10229516" y="3565429"/>
            <a:ext cx="27393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14,7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10765527" y="3347689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1596533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>
            <a:off x="10765527" y="3946702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0765527" y="3347689"/>
            <a:ext cx="0" cy="599013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11094529" y="3565429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5,6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95466" y="3946702"/>
            <a:ext cx="11001066" cy="599012"/>
          </a:xfrm>
          <a:prstGeom prst="rect">
            <a:avLst/>
          </a:prstGeom>
          <a:solidFill>
            <a:srgbClr val="F7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595466" y="3946702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2465742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H="1">
            <a:off x="595466" y="4545714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595466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/>
          <p:cNvSpPr txBox="1"/>
          <p:nvPr/>
        </p:nvSpPr>
        <p:spPr>
          <a:xfrm>
            <a:off x="702737" y="4163757"/>
            <a:ext cx="589925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244B31"/>
                </a:solidFill>
                <a:latin typeface="Arial"/>
              </a:rPr>
              <a:t>Pelatihan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2465742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3295721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H="1">
            <a:off x="2465742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2465742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2811519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11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3295721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4125699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H="1">
            <a:off x="3295721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3295721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3641497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36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4125699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955678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H="1">
            <a:off x="4125699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4125699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4471476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40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4955678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5785656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4955678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4955678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5301454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42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5785656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6615635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>
            <a:off x="5785656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5785656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6131433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44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6615635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7445613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6615635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6615635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6961411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48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7445613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275592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H="1">
            <a:off x="7445613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7445613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TextBox 252"/>
          <p:cNvSpPr txBox="1"/>
          <p:nvPr/>
        </p:nvSpPr>
        <p:spPr>
          <a:xfrm>
            <a:off x="7791390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56</a:t>
            </a:r>
          </a:p>
        </p:txBody>
      </p:sp>
      <p:cxnSp>
        <p:nvCxnSpPr>
          <p:cNvPr id="254" name="Connector 253"/>
          <p:cNvCxnSpPr/>
          <p:nvPr/>
        </p:nvCxnSpPr>
        <p:spPr>
          <a:xfrm>
            <a:off x="8275592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9105570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8275592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8275592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8621368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58</a:t>
            </a:r>
          </a:p>
        </p:txBody>
      </p:sp>
      <p:cxnSp>
        <p:nvCxnSpPr>
          <p:cNvPr id="259" name="Connector 258"/>
          <p:cNvCxnSpPr/>
          <p:nvPr/>
        </p:nvCxnSpPr>
        <p:spPr>
          <a:xfrm>
            <a:off x="9105570" y="3946702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935549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9105570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9105570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9451347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61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9935549" y="3946702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765527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>
            <a:off x="9935549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9935549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TextBox 267"/>
          <p:cNvSpPr txBox="1"/>
          <p:nvPr/>
        </p:nvSpPr>
        <p:spPr>
          <a:xfrm>
            <a:off x="10281325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72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10765527" y="3946702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1596533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>
            <a:off x="10765527" y="4545714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0765527" y="3946702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11111875" y="4164441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71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95466" y="4545714"/>
            <a:ext cx="11001066" cy="599012"/>
          </a:xfrm>
          <a:prstGeom prst="rect">
            <a:avLst/>
          </a:prstGeom>
          <a:solidFill>
            <a:srgbClr val="E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595466" y="4545714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2465742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H="1">
            <a:off x="595466" y="5144726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595466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702737" y="4762769"/>
            <a:ext cx="82694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244B31"/>
                </a:solidFill>
                <a:latin typeface="Arial"/>
              </a:rPr>
              <a:t>Teknologi HR</a:t>
            </a:r>
          </a:p>
        </p:txBody>
      </p:sp>
      <p:cxnSp>
        <p:nvCxnSpPr>
          <p:cNvPr id="280" name="Connector 279"/>
          <p:cNvCxnSpPr/>
          <p:nvPr/>
        </p:nvCxnSpPr>
        <p:spPr>
          <a:xfrm>
            <a:off x="2465742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3295721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>
            <a:off x="2465742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2465742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extBox 283"/>
          <p:cNvSpPr txBox="1"/>
          <p:nvPr/>
        </p:nvSpPr>
        <p:spPr>
          <a:xfrm>
            <a:off x="2846097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3295721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4125699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H="1">
            <a:off x="3295721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3295721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TextBox 288"/>
          <p:cNvSpPr txBox="1"/>
          <p:nvPr/>
        </p:nvSpPr>
        <p:spPr>
          <a:xfrm>
            <a:off x="3676075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4125699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4955678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H="1">
            <a:off x="4125699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125699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4506054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4955678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5785656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H="1">
            <a:off x="4955678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955678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/>
          <p:cNvSpPr txBox="1"/>
          <p:nvPr/>
        </p:nvSpPr>
        <p:spPr>
          <a:xfrm>
            <a:off x="5336032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00" name="Connector 299"/>
          <p:cNvCxnSpPr/>
          <p:nvPr/>
        </p:nvCxnSpPr>
        <p:spPr>
          <a:xfrm>
            <a:off x="5785656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6615635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>
            <a:off x="5785656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5785656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TextBox 303"/>
          <p:cNvSpPr txBox="1"/>
          <p:nvPr/>
        </p:nvSpPr>
        <p:spPr>
          <a:xfrm>
            <a:off x="6166011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6615635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7445613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6615635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6615635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TextBox 308"/>
          <p:cNvSpPr txBox="1"/>
          <p:nvPr/>
        </p:nvSpPr>
        <p:spPr>
          <a:xfrm>
            <a:off x="6995989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10" name="Connector 309"/>
          <p:cNvCxnSpPr/>
          <p:nvPr/>
        </p:nvCxnSpPr>
        <p:spPr>
          <a:xfrm>
            <a:off x="7445613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8275592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7445613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7445613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7825968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15" name="Connector 314"/>
          <p:cNvCxnSpPr/>
          <p:nvPr/>
        </p:nvCxnSpPr>
        <p:spPr>
          <a:xfrm>
            <a:off x="8275592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9105570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H="1">
            <a:off x="8275592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8275592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8655946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20" name="Connector 319"/>
          <p:cNvCxnSpPr/>
          <p:nvPr/>
        </p:nvCxnSpPr>
        <p:spPr>
          <a:xfrm>
            <a:off x="9105570" y="4545714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9935549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H="1">
            <a:off x="9105570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105570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TextBox 323"/>
          <p:cNvSpPr txBox="1"/>
          <p:nvPr/>
        </p:nvSpPr>
        <p:spPr>
          <a:xfrm>
            <a:off x="9485925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25" name="Connector 324"/>
          <p:cNvCxnSpPr/>
          <p:nvPr/>
        </p:nvCxnSpPr>
        <p:spPr>
          <a:xfrm>
            <a:off x="9935549" y="4545714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10765527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H="1">
            <a:off x="9935549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9935549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/>
          <p:cNvSpPr txBox="1"/>
          <p:nvPr/>
        </p:nvSpPr>
        <p:spPr>
          <a:xfrm>
            <a:off x="10315903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30" name="Connector 329"/>
          <p:cNvCxnSpPr/>
          <p:nvPr/>
        </p:nvCxnSpPr>
        <p:spPr>
          <a:xfrm>
            <a:off x="10765527" y="4545714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1596533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H="1">
            <a:off x="10765527" y="5144726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10765527" y="4545714"/>
            <a:ext cx="0" cy="599012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TextBox 333"/>
          <p:cNvSpPr txBox="1"/>
          <p:nvPr/>
        </p:nvSpPr>
        <p:spPr>
          <a:xfrm>
            <a:off x="11146452" y="4763454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95466" y="5144726"/>
            <a:ext cx="11001066" cy="633019"/>
          </a:xfrm>
          <a:prstGeom prst="rect">
            <a:avLst/>
          </a:prstGeom>
          <a:solidFill>
            <a:srgbClr val="F7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595466" y="5144726"/>
            <a:ext cx="1870276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595466" y="5144726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2465742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H="1">
            <a:off x="595466" y="5777746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595466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/>
          <p:cNvSpPr txBox="1"/>
          <p:nvPr/>
        </p:nvSpPr>
        <p:spPr>
          <a:xfrm>
            <a:off x="702737" y="5375476"/>
            <a:ext cx="1043315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Total biaya SDM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2465742" y="5144726"/>
            <a:ext cx="829978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Connector 342"/>
          <p:cNvCxnSpPr/>
          <p:nvPr/>
        </p:nvCxnSpPr>
        <p:spPr>
          <a:xfrm>
            <a:off x="2465742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3295721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>
            <a:off x="2465742" y="577774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2465742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2716002" y="5375476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1.713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3295721" y="5144726"/>
            <a:ext cx="829978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9" name="Connector 348"/>
          <p:cNvCxnSpPr/>
          <p:nvPr/>
        </p:nvCxnSpPr>
        <p:spPr>
          <a:xfrm>
            <a:off x="3295721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125699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H="1">
            <a:off x="3295721" y="577774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3295721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TextBox 352"/>
          <p:cNvSpPr txBox="1"/>
          <p:nvPr/>
        </p:nvSpPr>
        <p:spPr>
          <a:xfrm>
            <a:off x="3545981" y="5375476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1.765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4125699" y="5144726"/>
            <a:ext cx="829978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5" name="Connector 354"/>
          <p:cNvCxnSpPr/>
          <p:nvPr/>
        </p:nvCxnSpPr>
        <p:spPr>
          <a:xfrm>
            <a:off x="4125699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4955678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H="1">
            <a:off x="4125699" y="577774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4125699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TextBox 358"/>
          <p:cNvSpPr txBox="1"/>
          <p:nvPr/>
        </p:nvSpPr>
        <p:spPr>
          <a:xfrm>
            <a:off x="4375959" y="5375476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2.294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4955678" y="5144726"/>
            <a:ext cx="829978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1" name="Connector 360"/>
          <p:cNvCxnSpPr/>
          <p:nvPr/>
        </p:nvCxnSpPr>
        <p:spPr>
          <a:xfrm>
            <a:off x="4955678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5785656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H="1">
            <a:off x="4955678" y="577774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4955678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TextBox 364"/>
          <p:cNvSpPr txBox="1"/>
          <p:nvPr/>
        </p:nvSpPr>
        <p:spPr>
          <a:xfrm>
            <a:off x="5205938" y="5375476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3.116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5785656" y="5144726"/>
            <a:ext cx="829978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>
            <a:off x="5785656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6615635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H="1">
            <a:off x="5785656" y="577774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5785656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TextBox 370"/>
          <p:cNvSpPr txBox="1"/>
          <p:nvPr/>
        </p:nvSpPr>
        <p:spPr>
          <a:xfrm>
            <a:off x="6035916" y="5375476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3.700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6615635" y="5144726"/>
            <a:ext cx="829978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6615635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7445613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H="1">
            <a:off x="6615635" y="577774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6615635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TextBox 376"/>
          <p:cNvSpPr txBox="1"/>
          <p:nvPr/>
        </p:nvSpPr>
        <p:spPr>
          <a:xfrm>
            <a:off x="6865895" y="5375476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5.156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7445613" y="5144726"/>
            <a:ext cx="829978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7445613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8275592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H="1">
            <a:off x="7445613" y="577774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7445613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TextBox 382"/>
          <p:cNvSpPr txBox="1"/>
          <p:nvPr/>
        </p:nvSpPr>
        <p:spPr>
          <a:xfrm>
            <a:off x="7695873" y="5375476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7.806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8275592" y="5144726"/>
            <a:ext cx="829978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5" name="Connector 384"/>
          <p:cNvCxnSpPr/>
          <p:nvPr/>
        </p:nvCxnSpPr>
        <p:spPr>
          <a:xfrm>
            <a:off x="8275592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9105570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H="1">
            <a:off x="8275592" y="577774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8275592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TextBox 388"/>
          <p:cNvSpPr txBox="1"/>
          <p:nvPr/>
        </p:nvSpPr>
        <p:spPr>
          <a:xfrm>
            <a:off x="8525852" y="5375476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8.650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9105570" y="5144726"/>
            <a:ext cx="829978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>
            <a:off x="9105570" y="514472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9935549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H="1">
            <a:off x="9105570" y="5777746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9105570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TextBox 394"/>
          <p:cNvSpPr txBox="1"/>
          <p:nvPr/>
        </p:nvSpPr>
        <p:spPr>
          <a:xfrm>
            <a:off x="9355830" y="5375476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9.526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9935549" y="5144726"/>
            <a:ext cx="829978" cy="633019"/>
          </a:xfrm>
          <a:prstGeom prst="rect">
            <a:avLst/>
          </a:prstGeom>
          <a:solidFill>
            <a:srgbClr val="EDC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7" name="Connector 396"/>
          <p:cNvCxnSpPr/>
          <p:nvPr/>
        </p:nvCxnSpPr>
        <p:spPr>
          <a:xfrm>
            <a:off x="9935549" y="514472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10765527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H="1">
            <a:off x="9935549" y="5777746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9935549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TextBox 400"/>
          <p:cNvSpPr txBox="1"/>
          <p:nvPr/>
        </p:nvSpPr>
        <p:spPr>
          <a:xfrm>
            <a:off x="10131831" y="5379127"/>
            <a:ext cx="43449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173E29"/>
                </a:solidFill>
                <a:latin typeface="Arial"/>
              </a:rPr>
              <a:t>11.524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0534325" y="5379127"/>
            <a:ext cx="6692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3" b="1" i="0">
                <a:solidFill>
                  <a:srgbClr val="173E29"/>
                </a:solidFill>
                <a:latin typeface="Arial"/>
              </a:rPr>
              <a:t>*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0765527" y="5144726"/>
            <a:ext cx="831005" cy="633019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4" name="Connector 403"/>
          <p:cNvCxnSpPr/>
          <p:nvPr/>
        </p:nvCxnSpPr>
        <p:spPr>
          <a:xfrm>
            <a:off x="10765527" y="5144726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11596533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H="1">
            <a:off x="10765527" y="5777746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10765527" y="5144726"/>
            <a:ext cx="0" cy="63302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TextBox 407"/>
          <p:cNvSpPr txBox="1"/>
          <p:nvPr/>
        </p:nvSpPr>
        <p:spPr>
          <a:xfrm>
            <a:off x="10979726" y="5375476"/>
            <a:ext cx="43449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11.905</a:t>
            </a:r>
          </a:p>
        </p:txBody>
      </p:sp>
      <p:cxnSp>
        <p:nvCxnSpPr>
          <p:cNvPr id="409" name="Connector 408"/>
          <p:cNvCxnSpPr/>
          <p:nvPr/>
        </p:nvCxnSpPr>
        <p:spPr>
          <a:xfrm>
            <a:off x="591814" y="5842338"/>
            <a:ext cx="11008370" cy="0"/>
          </a:xfrm>
          <a:prstGeom prst="line">
            <a:avLst/>
          </a:prstGeom>
          <a:ln w="7303">
            <a:solidFill>
              <a:srgbClr val="9FB8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TextBox 409"/>
          <p:cNvSpPr txBox="1"/>
          <p:nvPr/>
        </p:nvSpPr>
        <p:spPr>
          <a:xfrm>
            <a:off x="610073" y="5937285"/>
            <a:ext cx="16552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6B9362"/>
                </a:solidFill>
                <a:latin typeface="Arial"/>
              </a:rPr>
              <a:t>Y0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610073" y="5908070"/>
            <a:ext cx="79773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0" i="0">
                <a:solidFill>
                  <a:srgbClr val="385F41"/>
                </a:solidFill>
                <a:latin typeface="Arial"/>
              </a:rPr>
              <a:t>Rp1.713 jt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5647459" y="5937285"/>
            <a:ext cx="16552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6B9362"/>
                </a:solidFill>
                <a:latin typeface="Arial"/>
              </a:rPr>
              <a:t>Y5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5647459" y="5908070"/>
            <a:ext cx="79773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0" i="0">
                <a:solidFill>
                  <a:srgbClr val="385F41"/>
                </a:solidFill>
                <a:latin typeface="Arial"/>
              </a:rPr>
              <a:t>Rp5.156 jt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0684732" y="5937285"/>
            <a:ext cx="22794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6B9362"/>
                </a:solidFill>
                <a:latin typeface="Arial"/>
              </a:rPr>
              <a:t>Y10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0684732" y="5908070"/>
            <a:ext cx="929197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0" i="0">
                <a:solidFill>
                  <a:srgbClr val="385F41"/>
                </a:solidFill>
                <a:latin typeface="Arial"/>
              </a:rPr>
              <a:t>Rp11.905 jt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591814" y="6173512"/>
            <a:ext cx="11008370" cy="0"/>
          </a:xfrm>
          <a:prstGeom prst="line">
            <a:avLst/>
          </a:prstGeom>
          <a:ln w="7303">
            <a:solidFill>
              <a:srgbClr val="B7C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591814" y="6222241"/>
            <a:ext cx="1104037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657A66"/>
                </a:solidFill>
                <a:latin typeface="Arial"/>
              </a:rPr>
              <a:t>* Total Y9 Rp11.524 jt tercetak pada sumber, tetapi empat komponennya berjumlah Rp11.255 jt setelah pembulatan. Klasifikasi payroll SDM vs OPEX keuangan juga perlu direkonsiliasi.</a:t>
            </a:r>
          </a:p>
        </p:txBody>
      </p:sp>
      <p:cxnSp>
        <p:nvCxnSpPr>
          <p:cNvPr id="418" name="Connector 417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Box 418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06907" y="6537324"/>
            <a:ext cx="244970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SUMBER: PDF SDM REVISI + SLIDE ASLI · HALAMAN 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69116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CBE1CE"/>
                </a:solidFill>
                <a:latin typeface="Arial"/>
              </a:rPr>
              <a:t>MELOOLOO / INVESTASI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CBE1CE"/>
                </a:solidFill>
                <a:latin typeface="Arial"/>
              </a:rPr>
              <a:t>PRESENTASI 41 / 66 · ASLI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02" y="1165842"/>
            <a:ext cx="6506018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C5EC92"/>
                </a:solidFill>
                <a:latin typeface="Arial"/>
              </a:rPr>
              <a:t>INVESTASI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02" y="1346151"/>
            <a:ext cx="6506018" cy="1756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70" b="1" i="0">
                <a:solidFill>
                  <a:srgbClr val="F6F8EE"/>
                </a:solidFill>
                <a:latin typeface="Arial Narrow"/>
              </a:rPr>
              <a:t>Rencana keuangan Melooloo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02" y="3219762"/>
            <a:ext cx="5757976" cy="56334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DBEADC"/>
                </a:solidFill>
                <a:latin typeface="Arial"/>
              </a:rPr>
              <a:t>Dari investasi awal, pertumbuhan kapasitas, hingga keputusan kelayakan.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383748" y="3648639"/>
            <a:ext cx="188555" cy="3042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572303" y="3645598"/>
            <a:ext cx="188554" cy="304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760857" y="3645598"/>
            <a:ext cx="188240" cy="483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097" y="3650429"/>
            <a:ext cx="187702" cy="1816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6799" y="3668594"/>
            <a:ext cx="187702" cy="1816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24501" y="3677508"/>
            <a:ext cx="187615" cy="925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512116" y="3658144"/>
            <a:ext cx="187583" cy="19364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699699" y="3637177"/>
            <a:ext cx="187337" cy="2096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887036" y="3599620"/>
            <a:ext cx="184802" cy="3755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071838" y="3562063"/>
            <a:ext cx="184802" cy="3755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256640" y="3513738"/>
            <a:ext cx="181780" cy="4832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438420" y="3449658"/>
            <a:ext cx="177358" cy="64080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615778" y="3385580"/>
            <a:ext cx="177360" cy="64078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793138" y="3329523"/>
            <a:ext cx="179930" cy="5605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973068" y="3278567"/>
            <a:ext cx="181565" cy="5095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154633" y="3227611"/>
            <a:ext cx="181564" cy="5095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336197" y="3139154"/>
            <a:ext cx="165877" cy="8845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502074" y="3045648"/>
            <a:ext cx="163765" cy="9350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665839" y="2952142"/>
            <a:ext cx="163766" cy="9350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829605" y="2852107"/>
            <a:ext cx="159829" cy="10003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989434" y="2750961"/>
            <a:ext cx="159161" cy="10114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148595" y="2649816"/>
            <a:ext cx="159161" cy="10114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307756" y="2541304"/>
            <a:ext cx="154142" cy="108512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461898" y="2430210"/>
            <a:ext cx="152384" cy="111094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614282" y="2319117"/>
            <a:ext cx="152383" cy="111093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766665" y="2187659"/>
            <a:ext cx="131933" cy="131458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898598" y="2034808"/>
            <a:ext cx="110451" cy="15285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009049" y="1881956"/>
            <a:ext cx="110451" cy="152852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119500" y="1729105"/>
            <a:ext cx="110451" cy="15285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229951" y="1576254"/>
            <a:ext cx="110450" cy="15285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383514" y="3857375"/>
            <a:ext cx="253398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2F8ED"/>
                </a:solidFill>
                <a:latin typeface="Arial"/>
              </a:rPr>
              <a:t>Y0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1009" y="3857375"/>
            <a:ext cx="1145229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2F8ED"/>
                </a:solidFill>
                <a:latin typeface="Arial"/>
              </a:rPr>
              <a:t>Y6 · POSITIF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7328" y="3857375"/>
            <a:ext cx="355076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2F8ED"/>
                </a:solidFill>
                <a:latin typeface="Arial"/>
              </a:rPr>
              <a:t>Y10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0380" y="825767"/>
            <a:ext cx="123412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D3ECC2"/>
                </a:solidFill>
                <a:latin typeface="Arial"/>
              </a:rPr>
              <a:t>10 TAHUN PROYEKSI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02" y="5742940"/>
            <a:ext cx="352708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D3E9CB"/>
                </a:solidFill>
                <a:latin typeface="Arial"/>
              </a:rPr>
              <a:t>DANA AWAL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5897571"/>
            <a:ext cx="352708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72" b="1" i="0">
                <a:solidFill>
                  <a:srgbClr val="D0F09D"/>
                </a:solidFill>
                <a:latin typeface="Arial"/>
              </a:rPr>
              <a:t>Rp10.462 jt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8343" y="5742940"/>
            <a:ext cx="352720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D3E9CB"/>
                </a:solidFill>
                <a:latin typeface="Arial"/>
              </a:rPr>
              <a:t>WACC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8343" y="5897571"/>
            <a:ext cx="3527202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72" b="1" i="0">
                <a:solidFill>
                  <a:srgbClr val="D0F09D"/>
                </a:solidFill>
                <a:latin typeface="Arial"/>
              </a:rPr>
              <a:t>12,77%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7297" y="5742940"/>
            <a:ext cx="352708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D3E9CB"/>
                </a:solidFill>
                <a:latin typeface="Arial"/>
              </a:rPr>
              <a:t>NPV MOST LIKELY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7297" y="5897571"/>
            <a:ext cx="352708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72" b="1" i="0">
                <a:solidFill>
                  <a:srgbClr val="D0F09D"/>
                </a:solidFill>
                <a:latin typeface="Arial"/>
              </a:rPr>
              <a:t>Rp23,5 M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DF3D2">
                <a:alpha val="3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CBE1CE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CBE1CE"/>
                </a:solidFill>
                <a:latin typeface="Arial"/>
              </a:rPr>
              <a:t>SUMBER: FINANCIAL STRATEGY (MERY) · HALAMAN 01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69116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INVESTASI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42 / 66 · ASLI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INVESTASI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Asumsi yang menggerakkan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Kapasitas, hasil panen, harga, dan biaya modal membentuk proyeksi sepuluh tahun.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774" y="2095915"/>
            <a:ext cx="6270885" cy="3613131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60774" y="2095915"/>
            <a:ext cx="6270886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31660" y="2095915"/>
            <a:ext cx="0" cy="3613131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60774" y="5709046"/>
            <a:ext cx="6270886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60774" y="2095915"/>
            <a:ext cx="0" cy="3613131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0894" y="2255568"/>
            <a:ext cx="592264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426C48"/>
                </a:solidFill>
                <a:latin typeface="Arial"/>
              </a:rPr>
              <a:t>01 / MESIN PROYEKSI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0894" y="2506402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0894" y="2562435"/>
            <a:ext cx="70769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Kapasitas 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9003" y="2562435"/>
            <a:ext cx="141454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35 Y0 → 103 Y5 → 237 Y10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0894" y="2748107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0894" y="2804139"/>
            <a:ext cx="65919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Siklus panen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637" y="2804139"/>
            <a:ext cx="120490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2 Y0 · 4 Y1 · 5 mulai Y2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0894" y="2989811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0894" y="3045844"/>
            <a:ext cx="10301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Hasil per GH / siklus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4670" y="3045844"/>
            <a:ext cx="14988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420 tanaman × 1,8 kg × 95%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0894" y="3231516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0894" y="3287549"/>
            <a:ext cx="43575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Grade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28" y="3287549"/>
            <a:ext cx="162611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80% Y0 → 85% Y1 → 90% Y2+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0894" y="3473221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50894" y="3529253"/>
            <a:ext cx="75927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Harga Grade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8654" y="3529253"/>
            <a:ext cx="160488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B2B Rp75 rb · B2C Rp99 rb/kg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0894" y="3714925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0894" y="3770958"/>
            <a:ext cx="61628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Grade B / 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3769" y="3770958"/>
            <a:ext cx="111977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Rp35 rb / Rp15 rb/kg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0894" y="3956630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0894" y="4012663"/>
            <a:ext cx="95715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Porsi B2B Grade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79412" y="4012663"/>
            <a:ext cx="99413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75% Y0 → 40% Y5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0894" y="4198335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0894" y="4254367"/>
            <a:ext cx="102094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Harga / inflasi OPEX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89031" y="4254367"/>
            <a:ext cx="108451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+3% / +5% mulai Y2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6217" y="2095915"/>
            <a:ext cx="4635007" cy="3613131"/>
          </a:xfrm>
          <a:prstGeom prst="rect">
            <a:avLst/>
          </a:prstGeom>
          <a:solidFill>
            <a:srgbClr val="113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996217" y="2095915"/>
            <a:ext cx="46350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631224" y="2095915"/>
            <a:ext cx="0" cy="3613131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996217" y="5709046"/>
            <a:ext cx="46350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996217" y="2095915"/>
            <a:ext cx="0" cy="3613131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186338" y="2255568"/>
            <a:ext cx="428677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C7ED94"/>
                </a:solidFill>
                <a:latin typeface="Arial"/>
              </a:rPr>
              <a:t>02 / BIAYA MODAL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86338" y="2506402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186338" y="2562435"/>
            <a:ext cx="100805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Risk-free SUN 10 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18265" y="2562435"/>
            <a:ext cx="35484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6,59%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86338" y="2748107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186338" y="2804139"/>
            <a:ext cx="56961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Beta / ERP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03528" y="2804139"/>
            <a:ext cx="66957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1,33 / 7,50%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186338" y="2989811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86338" y="3045844"/>
            <a:ext cx="71785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Cost of equity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57440" y="3045844"/>
            <a:ext cx="41566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16,57%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186338" y="3231516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186338" y="3287549"/>
            <a:ext cx="62267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Bunga bank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57440" y="3287549"/>
            <a:ext cx="41566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11,50%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186338" y="3473221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186338" y="3529253"/>
            <a:ext cx="94323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Debt setelah pajak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18265" y="3529253"/>
            <a:ext cx="35484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8,97%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186338" y="3714925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186338" y="3770958"/>
            <a:ext cx="66729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Bobot modal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6948" y="3770958"/>
            <a:ext cx="5861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50% : 50%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186338" y="3974889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86338" y="4067440"/>
            <a:ext cx="3600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WACC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58109" y="4067440"/>
            <a:ext cx="714998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CEEF9D"/>
                </a:solidFill>
                <a:latin typeface="Arial"/>
              </a:rPr>
              <a:t>12,77%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60774" y="5830926"/>
            <a:ext cx="11070450" cy="0"/>
          </a:xfrm>
          <a:prstGeom prst="line">
            <a:avLst/>
          </a:prstGeom>
          <a:ln w="7303">
            <a:solidFill>
              <a:srgbClr val="1E472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60774" y="6058023"/>
            <a:ext cx="154155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48674D"/>
                </a:solidFill>
                <a:latin typeface="Arial"/>
              </a:rPr>
              <a:t>Piutang: B2B 40 hari · B2C 7 hari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38501" y="6058023"/>
            <a:ext cx="272872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48674D"/>
                </a:solidFill>
                <a:latin typeface="Arial"/>
              </a:rPr>
              <a:t>WACC 50:50 adalah asumsi valuasi; dana Y0 100% pendiri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69116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INVESTASI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43 / 66 · ASLI 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INVESTASI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Rp10.462 juta untuk memulai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Dana Tahun 0 menggabungkan aset tetap dan modal kerja termasuk buffer kas.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774" y="2095915"/>
            <a:ext cx="5186081" cy="3827561"/>
          </a:xfrm>
          <a:prstGeom prst="rect">
            <a:avLst/>
          </a:prstGeom>
          <a:solidFill>
            <a:srgbClr val="13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12" y="2303155"/>
            <a:ext cx="480361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B8D49F"/>
                </a:solidFill>
                <a:latin typeface="Arial"/>
              </a:rPr>
              <a:t>TOTAL DANA TAHUN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12" y="2490768"/>
            <a:ext cx="4803610" cy="7258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Rp10.462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12" y="3111577"/>
            <a:ext cx="480361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Arial"/>
              </a:rPr>
              <a:t>juta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12" y="4739032"/>
            <a:ext cx="4771606" cy="341330"/>
          </a:xfrm>
          <a:prstGeom prst="rect">
            <a:avLst/>
          </a:prstGeom>
          <a:solidFill>
            <a:srgbClr val="97A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12" y="4739032"/>
            <a:ext cx="3201688" cy="341330"/>
          </a:xfrm>
          <a:prstGeom prst="rect">
            <a:avLst/>
          </a:prstGeom>
          <a:solidFill>
            <a:srgbClr val="D2F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9700" y="4739032"/>
            <a:ext cx="1569803" cy="341330"/>
          </a:xfrm>
          <a:prstGeom prst="rect">
            <a:avLst/>
          </a:prstGeom>
          <a:solidFill>
            <a:srgbClr val="65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12" y="5177821"/>
            <a:ext cx="126002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FFFF"/>
                </a:solidFill>
                <a:latin typeface="Arial"/>
              </a:rPr>
              <a:t>67,1% CAPEX ASET TETAP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430" y="5177821"/>
            <a:ext cx="103019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FFFF"/>
                </a:solidFill>
                <a:latin typeface="Arial"/>
              </a:rPr>
              <a:t>32,9% MODAL KERJA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12" y="5433676"/>
            <a:ext cx="4771606" cy="0"/>
          </a:xfrm>
          <a:prstGeom prst="line">
            <a:avLst/>
          </a:prstGeom>
          <a:ln w="7303">
            <a:solidFill>
              <a:srgbClr val="FFFFF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8012" y="5577467"/>
            <a:ext cx="480361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6E8D3"/>
                </a:solidFill>
                <a:latin typeface="Arial"/>
              </a:rPr>
              <a:t>OPEX Y0 Rp3.137 juta · pendapatan trial Y0 Rp3.509 juta.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9203" y="2095915"/>
            <a:ext cx="5731907" cy="2135742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899203" y="2095915"/>
            <a:ext cx="57319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631110" y="2095915"/>
            <a:ext cx="0" cy="2135743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899203" y="4231658"/>
            <a:ext cx="57319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899203" y="2095915"/>
            <a:ext cx="0" cy="2135743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52806" y="2212887"/>
            <a:ext cx="5456706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426C48"/>
                </a:solidFill>
                <a:latin typeface="Arial"/>
              </a:rPr>
              <a:t>CAPEX · RP7.024 JUTA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52806" y="2463721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52806" y="2517243"/>
            <a:ext cx="99002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Greenhouse 35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3397" y="2517243"/>
            <a:ext cx="30611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5.066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52806" y="2700405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52806" y="2753927"/>
            <a:ext cx="130829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Cold storage &amp; kendaraan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4691" y="2753927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650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52806" y="2937088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52806" y="2990610"/>
            <a:ext cx="132667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Rooftop &amp; deposit 2 lokasi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4691" y="2990610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600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52806" y="3173772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52806" y="3227294"/>
            <a:ext cx="73827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Legal &amp; kantor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4691" y="3227294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351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52806" y="3410455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52806" y="3463977"/>
            <a:ext cx="61035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Kontingensi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4691" y="3463977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357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9203" y="4341326"/>
            <a:ext cx="5731907" cy="158215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5899203" y="4341326"/>
            <a:ext cx="57319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631110" y="4341326"/>
            <a:ext cx="0" cy="158215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899203" y="5923476"/>
            <a:ext cx="57319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899203" y="4341326"/>
            <a:ext cx="0" cy="158215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052806" y="4458299"/>
            <a:ext cx="5456706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426C48"/>
                </a:solidFill>
                <a:latin typeface="Arial"/>
              </a:rPr>
              <a:t>MODAL KERJA · RP3.438 JUTA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52806" y="4709133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52806" y="4762655"/>
            <a:ext cx="60202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Pra-operasi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94691" y="4762655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479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52806" y="4945816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052806" y="4999338"/>
            <a:ext cx="52750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Buffer kas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3397" y="4999338"/>
            <a:ext cx="30611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2.959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2806" y="5270258"/>
            <a:ext cx="545670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4705A"/>
                </a:solidFill>
                <a:latin typeface="Arial"/>
              </a:rPr>
              <a:t>Buffer kas setara 5,3 bulan biaya kas operasi Y1.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69116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INVESTASI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44 / 66 · ASLI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INVESTASI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Pendanaan sesuai fase pertumbuhan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Pendiri menanggung seluruh dana awal; ekspansi menggabungkan kas internal dan kredit investasi.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774" y="2095915"/>
            <a:ext cx="4364776" cy="3827561"/>
          </a:xfrm>
          <a:prstGeom prst="rect">
            <a:avLst/>
          </a:prstGeom>
          <a:solidFill>
            <a:srgbClr val="164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801" y="2290945"/>
            <a:ext cx="3974721" cy="17528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55801" y="2290945"/>
            <a:ext cx="3974722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30523" y="2290945"/>
            <a:ext cx="0" cy="175287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55801" y="2466232"/>
            <a:ext cx="3974722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55801" y="2290945"/>
            <a:ext cx="0" cy="175287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5801" y="2312856"/>
            <a:ext cx="400672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000000"/>
                </a:solidFill>
                <a:latin typeface="Arial"/>
              </a:rPr>
              <a:t>01 / TAHUN 0 · MODAL PENDIRI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801" y="2556500"/>
            <a:ext cx="4006725" cy="9887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5" b="1" i="0">
                <a:solidFill>
                  <a:srgbClr val="D4F2A2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801" y="3625456"/>
            <a:ext cx="4006725" cy="39855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9ED"/>
                </a:solidFill>
                <a:latin typeface="Arial"/>
              </a:rPr>
              <a:t>Rp10.462 juta dari lima pendiri. Masing-masing Rp2.092,4 juta dan 20% saham.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5801" y="5445887"/>
            <a:ext cx="3974722" cy="0"/>
          </a:xfrm>
          <a:prstGeom prst="line">
            <a:avLst/>
          </a:prstGeom>
          <a:ln w="7303">
            <a:solidFill>
              <a:srgbClr val="E7FAE0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5801" y="5589677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Emily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581" y="5582374"/>
            <a:ext cx="62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89C"/>
                </a:solidFill>
                <a:latin typeface="Arial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801" y="5589677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Thoriq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5382" y="5582374"/>
            <a:ext cx="62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89C"/>
                </a:solidFill>
                <a:latin typeface="Arial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801" y="5589677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Carlos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4178" y="5582374"/>
            <a:ext cx="62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89C"/>
                </a:solidFill>
                <a:latin typeface="Arial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801" y="5589677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Nindio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3088" y="5582374"/>
            <a:ext cx="62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89C"/>
                </a:solidFill>
                <a:latin typeface="Arial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801" y="5589677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Mery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3946" y="2095915"/>
            <a:ext cx="6547278" cy="3827561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083946" y="2095915"/>
            <a:ext cx="6547278" cy="0"/>
          </a:xfrm>
          <a:prstGeom prst="line">
            <a:avLst/>
          </a:prstGeom>
          <a:ln w="7303">
            <a:solidFill>
              <a:srgbClr val="18462A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631224" y="2095915"/>
            <a:ext cx="0" cy="3827561"/>
          </a:xfrm>
          <a:prstGeom prst="line">
            <a:avLst/>
          </a:prstGeom>
          <a:ln w="7303">
            <a:solidFill>
              <a:srgbClr val="18462A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083946" y="5923476"/>
            <a:ext cx="6547278" cy="0"/>
          </a:xfrm>
          <a:prstGeom prst="line">
            <a:avLst/>
          </a:prstGeom>
          <a:ln w="7303">
            <a:solidFill>
              <a:srgbClr val="18462A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83946" y="2095915"/>
            <a:ext cx="0" cy="3827561"/>
          </a:xfrm>
          <a:prstGeom prst="line">
            <a:avLst/>
          </a:prstGeom>
          <a:ln w="7303">
            <a:solidFill>
              <a:srgbClr val="18462A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286277" y="2298248"/>
            <a:ext cx="6142616" cy="17528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286277" y="2298248"/>
            <a:ext cx="6142617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28894" y="2298248"/>
            <a:ext cx="0" cy="175288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286277" y="2473536"/>
            <a:ext cx="6142617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286277" y="2298248"/>
            <a:ext cx="0" cy="175288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86277" y="2320159"/>
            <a:ext cx="61746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000000"/>
                </a:solidFill>
                <a:latin typeface="Arial"/>
              </a:rPr>
              <a:t>02 / Y1–Y10 · CAPEX EKSPANSI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6277" y="2639237"/>
            <a:ext cx="6174620" cy="6601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140" b="1" i="0">
                <a:solidFill>
                  <a:srgbClr val="153E29"/>
                </a:solidFill>
                <a:latin typeface="Arial"/>
              </a:rPr>
              <a:t>Rp46.094 juta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6277" y="3433051"/>
            <a:ext cx="1842773" cy="1219136"/>
          </a:xfrm>
          <a:prstGeom prst="rect">
            <a:avLst/>
          </a:prstGeom>
          <a:solidFill>
            <a:srgbClr val="D8E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32576" y="3586655"/>
            <a:ext cx="762129" cy="4775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76" b="1" i="0">
                <a:solidFill>
                  <a:srgbClr val="143722"/>
                </a:solidFill>
                <a:latin typeface="Arial"/>
              </a:rPr>
              <a:t>30%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32576" y="4179962"/>
            <a:ext cx="77822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143722"/>
                </a:solidFill>
                <a:latin typeface="Arial"/>
              </a:rPr>
              <a:t>Kas internal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2576" y="4342924"/>
            <a:ext cx="77822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143722"/>
                </a:solidFill>
                <a:latin typeface="Arial"/>
              </a:rPr>
              <a:t>Rp13.830 jt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29050" y="3433051"/>
            <a:ext cx="4299729" cy="1219136"/>
          </a:xfrm>
          <a:prstGeom prst="rect">
            <a:avLst/>
          </a:prstGeom>
          <a:solidFill>
            <a:srgbClr val="A4D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75349" y="3586655"/>
            <a:ext cx="762129" cy="4775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76" b="1" i="0">
                <a:solidFill>
                  <a:srgbClr val="143722"/>
                </a:solidFill>
                <a:latin typeface="Arial"/>
              </a:rPr>
              <a:t>70%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75349" y="4179962"/>
            <a:ext cx="99333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143722"/>
                </a:solidFill>
                <a:latin typeface="Arial"/>
              </a:rPr>
              <a:t>Kredit investasi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75349" y="4342924"/>
            <a:ext cx="99333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143722"/>
                </a:solidFill>
                <a:latin typeface="Arial"/>
              </a:rPr>
              <a:t>Rp32.264 jt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6277" y="4674098"/>
            <a:ext cx="33510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6" b="0" i="0">
                <a:solidFill>
                  <a:srgbClr val="193C2B"/>
                </a:solidFill>
                <a:latin typeface="Arial"/>
              </a:rPr>
              <a:t>01 /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89374" y="4652187"/>
            <a:ext cx="670036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Modal awal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86277" y="4907815"/>
            <a:ext cx="61746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Lima pendiri menanggung 100% dana awal Rp10.462 juta, masing-masing 20% saham.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286277" y="5360754"/>
            <a:ext cx="1476227" cy="0"/>
          </a:xfrm>
          <a:prstGeom prst="line">
            <a:avLst/>
          </a:prstGeom>
          <a:ln w="7303">
            <a:solidFill>
              <a:srgbClr val="BBD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286277" y="5428997"/>
            <a:ext cx="150823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57725C"/>
                </a:solidFill>
                <a:latin typeface="Arial"/>
              </a:rPr>
              <a:t>Bunga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86277" y="5545856"/>
            <a:ext cx="1508231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D4B32"/>
                </a:solidFill>
                <a:latin typeface="Arial"/>
              </a:rPr>
              <a:t>11,5%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841702" y="5360754"/>
            <a:ext cx="1476341" cy="0"/>
          </a:xfrm>
          <a:prstGeom prst="line">
            <a:avLst/>
          </a:prstGeom>
          <a:ln w="7303">
            <a:solidFill>
              <a:srgbClr val="BBD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841702" y="5428997"/>
            <a:ext cx="150834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57725C"/>
                </a:solidFill>
                <a:latin typeface="Arial"/>
              </a:rPr>
              <a:t>Tenor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1702" y="5545856"/>
            <a:ext cx="1508345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D4B32"/>
                </a:solidFill>
                <a:latin typeface="Arial"/>
              </a:rPr>
              <a:t>5 tahun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397241" y="5360754"/>
            <a:ext cx="1476228" cy="0"/>
          </a:xfrm>
          <a:prstGeom prst="line">
            <a:avLst/>
          </a:prstGeom>
          <a:ln w="7303">
            <a:solidFill>
              <a:srgbClr val="BBD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397241" y="5428997"/>
            <a:ext cx="150823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57725C"/>
                </a:solidFill>
                <a:latin typeface="Arial"/>
              </a:rPr>
              <a:t>Grace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97241" y="5545856"/>
            <a:ext cx="1508231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D4B32"/>
                </a:solidFill>
                <a:latin typeface="Arial"/>
              </a:rPr>
              <a:t>1 tahun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952666" y="5360754"/>
            <a:ext cx="1476228" cy="0"/>
          </a:xfrm>
          <a:prstGeom prst="line">
            <a:avLst/>
          </a:prstGeom>
          <a:ln w="7303">
            <a:solidFill>
              <a:srgbClr val="BBD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952666" y="5428997"/>
            <a:ext cx="150823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57725C"/>
                </a:solidFill>
                <a:latin typeface="Arial"/>
              </a:rPr>
              <a:t>D/E maks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52666" y="5545856"/>
            <a:ext cx="1508231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D4B32"/>
                </a:solidFill>
                <a:latin typeface="Arial"/>
              </a:rPr>
              <a:t>0,39×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7549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KELAYAKAN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45 / 66 · ASLI 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Belanja bangun, biaya 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CAPEX dan OPEX tiap tahun awal ditampilkan terpisah dari agregat lima tahun berikutnya.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774" y="2103218"/>
            <a:ext cx="41064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CAPEX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417" y="2103218"/>
            <a:ext cx="37184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OPEX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9260" y="2095915"/>
            <a:ext cx="854678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Rp juta / tahun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774" y="2234684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7.503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774" y="2366149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3.137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774" y="249761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Y0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774" y="2636384"/>
            <a:ext cx="16198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774" y="2767849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3.808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774" y="289931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Y1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774" y="3038084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3.368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774" y="3169549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5.202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774" y="330101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Y2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774" y="3439784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3.365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774" y="3571249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6.774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774" y="370271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Y3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774" y="3841484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4.069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774" y="3972949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8.567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774" y="410441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Y4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774" y="4243184"/>
            <a:ext cx="32448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3.670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774" y="4374649"/>
            <a:ext cx="3894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11.296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774" y="450611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Y5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774" y="4666795"/>
            <a:ext cx="149978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6" b="0" i="0">
                <a:solidFill>
                  <a:srgbClr val="193C2B"/>
                </a:solidFill>
                <a:latin typeface="Arial"/>
              </a:rPr>
              <a:t>Y6–Y10 · AGREGAT LIMA TAHUN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8557" y="4644884"/>
            <a:ext cx="577715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Rp31.569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4268" y="4644884"/>
            <a:ext cx="24403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1">
                <a:solidFill>
                  <a:srgbClr val="193C2B"/>
                </a:solidFill>
                <a:latin typeface="Arial"/>
              </a:rPr>
              <a:t>juta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6299" y="4652187"/>
            <a:ext cx="201925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CAPEX untuk ekspansi &amp; penggantian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546" y="4644884"/>
            <a:ext cx="642648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Rp102.827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84190" y="4644884"/>
            <a:ext cx="24403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1">
                <a:solidFill>
                  <a:srgbClr val="193C2B"/>
                </a:solidFill>
                <a:latin typeface="Arial"/>
              </a:rPr>
              <a:t>juta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221" y="4652187"/>
            <a:ext cx="132655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OPEX seluruh lima tahun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774" y="4783653"/>
            <a:ext cx="111024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Y0 CAPEX Rp7.503 jt sudah mencakup Rp479 jt modal kerja praoperasi. Kolom agregat tidak setara satu tahun.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560774" y="5301070"/>
            <a:ext cx="2658602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0774" y="5073402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41010" y="5029580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774" y="5301070"/>
            <a:ext cx="451523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Y1 menjadi dasar operasi 35 GH; pembelian greenhouse kembali meningkat mulai Y2.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05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7549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KELAYAKAN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46 / 66 · ASLI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Pendapatan tumbuh, laba positif sejak Y1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Proyeksi most likely menaikkan pendapatan dari Rp3,5 miliar di Y0 ke Rp86,6 miliar di Y10.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774" y="2234684"/>
            <a:ext cx="162349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5725A"/>
                </a:solidFill>
                <a:latin typeface="Arial"/>
              </a:rPr>
              <a:t>PENDAPATAN / RP MILIAR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36036" y="2095915"/>
            <a:ext cx="1127192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A4830"/>
                </a:solidFill>
                <a:latin typeface="Arial"/>
              </a:rPr>
              <a:t>3,5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3724" y="2095915"/>
            <a:ext cx="266059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86A663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36036" y="2095915"/>
            <a:ext cx="1127192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A4830"/>
                </a:solidFill>
                <a:latin typeface="Arial"/>
              </a:rPr>
              <a:t>86,6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0774" y="2395364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0774" y="2483007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0774" y="2570651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0774" y="2658295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0774" y="2745938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0774" y="2833582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0774" y="2921226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0774" y="3008869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0774" y="3096513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0774" y="3184157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0774" y="3271800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0774" y="3359444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774" y="3447087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0774" y="3534731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0774" y="3622375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0774" y="3710018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0774" y="3797662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0774" y="3885306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0774" y="3972949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0774" y="4060593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0774" y="4148236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0774" y="4235880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0774" y="4323524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0774" y="4411167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0774" y="4498811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0774" y="4586455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0774" y="4674098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0774" y="4761742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0774" y="4849386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0774" y="4937029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0774" y="5024673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0774" y="5112316"/>
            <a:ext cx="11070450" cy="891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H="1">
            <a:off x="560774" y="5199960"/>
            <a:ext cx="11070450" cy="0"/>
          </a:xfrm>
          <a:prstGeom prst="line">
            <a:avLst/>
          </a:prstGeom>
          <a:ln w="7303">
            <a:solidFill>
              <a:srgbClr val="8FA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89368" y="2639123"/>
            <a:ext cx="1640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3,5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7073" y="4907929"/>
            <a:ext cx="896623" cy="4235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7073" y="4910703"/>
            <a:ext cx="896623" cy="4235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7073" y="4913478"/>
            <a:ext cx="896623" cy="4235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7073" y="4916252"/>
            <a:ext cx="896623" cy="4235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07073" y="4919027"/>
            <a:ext cx="896623" cy="4235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7073" y="4921801"/>
            <a:ext cx="896623" cy="4235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7073" y="4924576"/>
            <a:ext cx="896623" cy="4235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7073" y="4927350"/>
            <a:ext cx="896623" cy="4235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7073" y="4930125"/>
            <a:ext cx="896623" cy="4235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7073" y="4932899"/>
            <a:ext cx="896623" cy="4235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7073" y="4935674"/>
            <a:ext cx="896623" cy="4235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7073" y="4938448"/>
            <a:ext cx="896623" cy="4235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7073" y="4941223"/>
            <a:ext cx="896623" cy="4235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7073" y="4943998"/>
            <a:ext cx="896623" cy="4235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7073" y="4946772"/>
            <a:ext cx="896623" cy="4235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7073" y="4949547"/>
            <a:ext cx="896623" cy="4235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7073" y="4952321"/>
            <a:ext cx="896623" cy="4235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7073" y="4955096"/>
            <a:ext cx="896623" cy="4235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7073" y="4957870"/>
            <a:ext cx="896623" cy="4235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7073" y="4960645"/>
            <a:ext cx="896623" cy="4235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7073" y="4963419"/>
            <a:ext cx="896623" cy="4235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7073" y="4966194"/>
            <a:ext cx="896623" cy="4235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07073" y="4968968"/>
            <a:ext cx="896623" cy="4235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7073" y="4971743"/>
            <a:ext cx="896623" cy="4235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7073" y="4974517"/>
            <a:ext cx="896623" cy="4235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7073" y="4977292"/>
            <a:ext cx="896623" cy="4235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7073" y="4980066"/>
            <a:ext cx="896623" cy="4235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07073" y="4982841"/>
            <a:ext cx="896623" cy="4235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7073" y="4985615"/>
            <a:ext cx="896623" cy="4235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7073" y="4988390"/>
            <a:ext cx="896623" cy="4235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7073" y="4991164"/>
            <a:ext cx="896623" cy="4235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7073" y="4993939"/>
            <a:ext cx="896623" cy="4235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97242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77399" y="2639123"/>
            <a:ext cx="1640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7,4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95105" y="4808873"/>
            <a:ext cx="896737" cy="7330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695105" y="4814743"/>
            <a:ext cx="896737" cy="7330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95105" y="4820613"/>
            <a:ext cx="896737" cy="7330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95105" y="4826483"/>
            <a:ext cx="896737" cy="7330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95105" y="4832353"/>
            <a:ext cx="896737" cy="7330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95105" y="4838223"/>
            <a:ext cx="896737" cy="7330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95105" y="4844093"/>
            <a:ext cx="896737" cy="7330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695105" y="4849963"/>
            <a:ext cx="896737" cy="7330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95105" y="4855833"/>
            <a:ext cx="896737" cy="7330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695105" y="4861703"/>
            <a:ext cx="896737" cy="7330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695105" y="4867573"/>
            <a:ext cx="896737" cy="7330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695105" y="4873443"/>
            <a:ext cx="896737" cy="7330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695105" y="4879313"/>
            <a:ext cx="896737" cy="7330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95105" y="4885183"/>
            <a:ext cx="896737" cy="7330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95105" y="4891053"/>
            <a:ext cx="896737" cy="7330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695105" y="4896923"/>
            <a:ext cx="896737" cy="7330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695105" y="4902793"/>
            <a:ext cx="896737" cy="7330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695105" y="4908663"/>
            <a:ext cx="896737" cy="7330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695105" y="4914533"/>
            <a:ext cx="896737" cy="7330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695105" y="4920403"/>
            <a:ext cx="896737" cy="7330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695105" y="4926273"/>
            <a:ext cx="896737" cy="7330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695105" y="4932143"/>
            <a:ext cx="896737" cy="7330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695105" y="4938013"/>
            <a:ext cx="896737" cy="7330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95105" y="4943883"/>
            <a:ext cx="896737" cy="7330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95105" y="4949753"/>
            <a:ext cx="896737" cy="7330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95105" y="4955623"/>
            <a:ext cx="896737" cy="7330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695105" y="4961493"/>
            <a:ext cx="896737" cy="7330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695105" y="4967363"/>
            <a:ext cx="896737" cy="7330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695105" y="4973233"/>
            <a:ext cx="896737" cy="7330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695105" y="4979103"/>
            <a:ext cx="896737" cy="7330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95105" y="4984974"/>
            <a:ext cx="896737" cy="7330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695105" y="4990844"/>
            <a:ext cx="896737" cy="7330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085388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39070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13,2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683251" y="4661773"/>
            <a:ext cx="896623" cy="11927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683251" y="4672240"/>
            <a:ext cx="896623" cy="11927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683251" y="4682707"/>
            <a:ext cx="896623" cy="11927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683251" y="4693174"/>
            <a:ext cx="896623" cy="11927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83251" y="4703641"/>
            <a:ext cx="896623" cy="11927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683251" y="4714108"/>
            <a:ext cx="896623" cy="11927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683251" y="4724575"/>
            <a:ext cx="896623" cy="11927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683251" y="4735042"/>
            <a:ext cx="896623" cy="11927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683251" y="4745508"/>
            <a:ext cx="896623" cy="11927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683251" y="4755975"/>
            <a:ext cx="896623" cy="11927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683251" y="4766442"/>
            <a:ext cx="896623" cy="11927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683251" y="4776909"/>
            <a:ext cx="896623" cy="11927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683251" y="4787376"/>
            <a:ext cx="896623" cy="11927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683251" y="4797843"/>
            <a:ext cx="896623" cy="11927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683251" y="4808310"/>
            <a:ext cx="896623" cy="11927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83251" y="4818777"/>
            <a:ext cx="896623" cy="11927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683251" y="4829243"/>
            <a:ext cx="896623" cy="11927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683251" y="4839710"/>
            <a:ext cx="896623" cy="11927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683251" y="4850177"/>
            <a:ext cx="896623" cy="11927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683251" y="4860644"/>
            <a:ext cx="896623" cy="11927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683251" y="4871111"/>
            <a:ext cx="896623" cy="11927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683251" y="4881578"/>
            <a:ext cx="896623" cy="11927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683251" y="4892045"/>
            <a:ext cx="896623" cy="11927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683251" y="4902512"/>
            <a:ext cx="896623" cy="11927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683251" y="4912978"/>
            <a:ext cx="896623" cy="11927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683251" y="4923445"/>
            <a:ext cx="896623" cy="11927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683251" y="4933912"/>
            <a:ext cx="896623" cy="11927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683251" y="4944379"/>
            <a:ext cx="896623" cy="11927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683251" y="4954846"/>
            <a:ext cx="896623" cy="11927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683251" y="4965313"/>
            <a:ext cx="896623" cy="11927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683251" y="4975780"/>
            <a:ext cx="896623" cy="11927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683251" y="4986247"/>
            <a:ext cx="896623" cy="11927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073419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027215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19,1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71282" y="4511821"/>
            <a:ext cx="896737" cy="16613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671282" y="4526973"/>
            <a:ext cx="896737" cy="16613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671282" y="4542126"/>
            <a:ext cx="896737" cy="16613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671282" y="4557279"/>
            <a:ext cx="896737" cy="16613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671282" y="4572432"/>
            <a:ext cx="896737" cy="16613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671282" y="4587585"/>
            <a:ext cx="896737" cy="16613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671282" y="4602738"/>
            <a:ext cx="896737" cy="16613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671282" y="4617891"/>
            <a:ext cx="896737" cy="16613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671282" y="4633044"/>
            <a:ext cx="896737" cy="16613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671282" y="4648197"/>
            <a:ext cx="896737" cy="16613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671282" y="4663350"/>
            <a:ext cx="896737" cy="16613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671282" y="4678503"/>
            <a:ext cx="896737" cy="16613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671282" y="4693655"/>
            <a:ext cx="896737" cy="16613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671282" y="4708808"/>
            <a:ext cx="896737" cy="16613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671282" y="4723961"/>
            <a:ext cx="896737" cy="16613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671282" y="4739114"/>
            <a:ext cx="896737" cy="16613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671282" y="4754267"/>
            <a:ext cx="896737" cy="16613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671282" y="4769420"/>
            <a:ext cx="896737" cy="16613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671282" y="4784573"/>
            <a:ext cx="896737" cy="16613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671282" y="4799726"/>
            <a:ext cx="896737" cy="16613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671282" y="4814879"/>
            <a:ext cx="896737" cy="16613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671282" y="4830032"/>
            <a:ext cx="896737" cy="16613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671282" y="4845184"/>
            <a:ext cx="896737" cy="16613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671282" y="4860337"/>
            <a:ext cx="896737" cy="16613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671282" y="4875490"/>
            <a:ext cx="896737" cy="16613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671282" y="4890643"/>
            <a:ext cx="896737" cy="16613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671282" y="4905796"/>
            <a:ext cx="896737" cy="16613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671282" y="4920949"/>
            <a:ext cx="896737" cy="16613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671282" y="4936102"/>
            <a:ext cx="896737" cy="16613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671282" y="4951255"/>
            <a:ext cx="896737" cy="16613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671282" y="4966408"/>
            <a:ext cx="896737" cy="16613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671282" y="4981561"/>
            <a:ext cx="896737" cy="16613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061565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Y3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015247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25,4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659428" y="4352054"/>
            <a:ext cx="896623" cy="21606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659428" y="4372199"/>
            <a:ext cx="896623" cy="21606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659428" y="4392345"/>
            <a:ext cx="896623" cy="21606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659428" y="4412490"/>
            <a:ext cx="896623" cy="21606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659428" y="4432636"/>
            <a:ext cx="896623" cy="21606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659428" y="4452782"/>
            <a:ext cx="896623" cy="21606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659428" y="4472927"/>
            <a:ext cx="896623" cy="21606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659428" y="4493073"/>
            <a:ext cx="896623" cy="21606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659428" y="4513219"/>
            <a:ext cx="896623" cy="21606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659428" y="4533364"/>
            <a:ext cx="896623" cy="21606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659428" y="4553510"/>
            <a:ext cx="896623" cy="21606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659428" y="4573655"/>
            <a:ext cx="896623" cy="21606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659428" y="4593801"/>
            <a:ext cx="896623" cy="21606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659428" y="4613947"/>
            <a:ext cx="896623" cy="21606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659428" y="4634092"/>
            <a:ext cx="896623" cy="21606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659428" y="4654238"/>
            <a:ext cx="896623" cy="21606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659428" y="4674384"/>
            <a:ext cx="896623" cy="21606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659428" y="4694529"/>
            <a:ext cx="896623" cy="21606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659428" y="4714675"/>
            <a:ext cx="896623" cy="21606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659428" y="4734820"/>
            <a:ext cx="896623" cy="21606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659428" y="4754966"/>
            <a:ext cx="896623" cy="21606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659428" y="4775112"/>
            <a:ext cx="896623" cy="21606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659428" y="4795257"/>
            <a:ext cx="896623" cy="21606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659428" y="4815403"/>
            <a:ext cx="896623" cy="21606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659428" y="4835549"/>
            <a:ext cx="896623" cy="21606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659428" y="4855694"/>
            <a:ext cx="896623" cy="21606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659428" y="4875840"/>
            <a:ext cx="896623" cy="21606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659428" y="4895985"/>
            <a:ext cx="896623" cy="21606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659428" y="4916131"/>
            <a:ext cx="896623" cy="21606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659428" y="4936277"/>
            <a:ext cx="896623" cy="21606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659428" y="4956422"/>
            <a:ext cx="896623" cy="21606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659428" y="4976568"/>
            <a:ext cx="896623" cy="21606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5049596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003393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32,3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5647459" y="4176880"/>
            <a:ext cx="896737" cy="27080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647459" y="4202500"/>
            <a:ext cx="896737" cy="27080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647459" y="4228120"/>
            <a:ext cx="896737" cy="27080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647459" y="4253740"/>
            <a:ext cx="896737" cy="27080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647459" y="4279360"/>
            <a:ext cx="896737" cy="27080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647459" y="4304979"/>
            <a:ext cx="896737" cy="27080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647459" y="4330599"/>
            <a:ext cx="896737" cy="27080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647459" y="4356219"/>
            <a:ext cx="896737" cy="27080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647459" y="4381839"/>
            <a:ext cx="896737" cy="27080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647459" y="4407458"/>
            <a:ext cx="896737" cy="27080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647459" y="4433078"/>
            <a:ext cx="896737" cy="27080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5647459" y="4458698"/>
            <a:ext cx="896737" cy="27080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647459" y="4484318"/>
            <a:ext cx="896737" cy="27080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647459" y="4509938"/>
            <a:ext cx="896737" cy="27080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47459" y="4535557"/>
            <a:ext cx="896737" cy="27080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47459" y="4561177"/>
            <a:ext cx="896737" cy="27080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47459" y="4586797"/>
            <a:ext cx="896737" cy="27080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47459" y="4612417"/>
            <a:ext cx="896737" cy="27080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47459" y="4638037"/>
            <a:ext cx="896737" cy="27080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47459" y="4663656"/>
            <a:ext cx="896737" cy="27080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47459" y="4689276"/>
            <a:ext cx="896737" cy="27080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647459" y="4714896"/>
            <a:ext cx="896737" cy="27080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647459" y="4740516"/>
            <a:ext cx="896737" cy="27080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647459" y="4766135"/>
            <a:ext cx="896737" cy="27080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647459" y="4791755"/>
            <a:ext cx="896737" cy="27080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647459" y="4817375"/>
            <a:ext cx="896737" cy="27080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647459" y="4842995"/>
            <a:ext cx="896737" cy="27080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5647459" y="4868615"/>
            <a:ext cx="896737" cy="27080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647459" y="4894234"/>
            <a:ext cx="896737" cy="27080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647459" y="4919854"/>
            <a:ext cx="896737" cy="27080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647459" y="4945474"/>
            <a:ext cx="896737" cy="27080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647459" y="4971094"/>
            <a:ext cx="896737" cy="27080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037742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Y5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91539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40,3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635605" y="3973748"/>
            <a:ext cx="896737" cy="33428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6635605" y="4005716"/>
            <a:ext cx="896737" cy="33428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6635605" y="4037683"/>
            <a:ext cx="896737" cy="33428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6635605" y="4069651"/>
            <a:ext cx="896737" cy="33428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6635605" y="4101619"/>
            <a:ext cx="896737" cy="33428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6635605" y="4133586"/>
            <a:ext cx="896737" cy="33428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6635605" y="4165554"/>
            <a:ext cx="896737" cy="33428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6635605" y="4197522"/>
            <a:ext cx="896737" cy="33428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6635605" y="4229489"/>
            <a:ext cx="896737" cy="33428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635605" y="4261457"/>
            <a:ext cx="896737" cy="33428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6635605" y="4293425"/>
            <a:ext cx="896737" cy="33428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6635605" y="4325392"/>
            <a:ext cx="896737" cy="33428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6635605" y="4357360"/>
            <a:ext cx="896737" cy="33428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635605" y="4389328"/>
            <a:ext cx="896737" cy="33428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6635605" y="4421295"/>
            <a:ext cx="896737" cy="33428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635605" y="4453263"/>
            <a:ext cx="896737" cy="33428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635605" y="4485231"/>
            <a:ext cx="896737" cy="33428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635605" y="4517198"/>
            <a:ext cx="896737" cy="33428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6635605" y="4549166"/>
            <a:ext cx="896737" cy="33428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635605" y="4581134"/>
            <a:ext cx="896737" cy="33428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635605" y="4613101"/>
            <a:ext cx="896737" cy="33428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635605" y="4645069"/>
            <a:ext cx="896737" cy="33428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635605" y="4677037"/>
            <a:ext cx="896737" cy="33428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635605" y="4709004"/>
            <a:ext cx="896737" cy="33428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635605" y="4740972"/>
            <a:ext cx="896737" cy="33428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6635605" y="4772940"/>
            <a:ext cx="896737" cy="33428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635605" y="4804908"/>
            <a:ext cx="896737" cy="33428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635605" y="4836875"/>
            <a:ext cx="896737" cy="33428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6635605" y="4868843"/>
            <a:ext cx="896737" cy="33428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6635605" y="4900811"/>
            <a:ext cx="896737" cy="33428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6635605" y="4932778"/>
            <a:ext cx="896737" cy="33428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635605" y="4964746"/>
            <a:ext cx="896737" cy="33428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025888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Y6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7979684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48,1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623751" y="3775865"/>
            <a:ext cx="896737" cy="39612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623751" y="3814017"/>
            <a:ext cx="896737" cy="39612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623751" y="3852168"/>
            <a:ext cx="896737" cy="39612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623751" y="3890320"/>
            <a:ext cx="896737" cy="39612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623751" y="3928471"/>
            <a:ext cx="896737" cy="39612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7623751" y="3966623"/>
            <a:ext cx="896737" cy="39612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623751" y="4004774"/>
            <a:ext cx="896737" cy="39612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623751" y="4042926"/>
            <a:ext cx="896737" cy="39612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7623751" y="4081077"/>
            <a:ext cx="896737" cy="39612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7623751" y="4119229"/>
            <a:ext cx="896737" cy="39612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623751" y="4157380"/>
            <a:ext cx="896737" cy="39612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7623751" y="4195532"/>
            <a:ext cx="896737" cy="39612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623751" y="4233683"/>
            <a:ext cx="896737" cy="39612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623751" y="4271835"/>
            <a:ext cx="896737" cy="39612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623751" y="4309986"/>
            <a:ext cx="896737" cy="39612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7623751" y="4348138"/>
            <a:ext cx="896737" cy="39612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7623751" y="4386289"/>
            <a:ext cx="896737" cy="39612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7623751" y="4424441"/>
            <a:ext cx="896737" cy="39612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7623751" y="4462592"/>
            <a:ext cx="896737" cy="39612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7623751" y="4500744"/>
            <a:ext cx="896737" cy="39612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7623751" y="4538895"/>
            <a:ext cx="896737" cy="39612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7623751" y="4577047"/>
            <a:ext cx="896737" cy="39612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7623751" y="4615198"/>
            <a:ext cx="896737" cy="39612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7623751" y="4653350"/>
            <a:ext cx="896737" cy="39612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7623751" y="4691501"/>
            <a:ext cx="896737" cy="39612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623751" y="4729653"/>
            <a:ext cx="896737" cy="39612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623751" y="4767804"/>
            <a:ext cx="896737" cy="39612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623751" y="4805956"/>
            <a:ext cx="896737" cy="39612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7623751" y="4844107"/>
            <a:ext cx="896737" cy="39612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623751" y="4882259"/>
            <a:ext cx="896737" cy="39612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623751" y="4920411"/>
            <a:ext cx="896737" cy="39612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623751" y="4958562"/>
            <a:ext cx="896737" cy="39612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8014034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Y7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967830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58,3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8611897" y="3516928"/>
            <a:ext cx="896737" cy="47704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8611897" y="3563172"/>
            <a:ext cx="896737" cy="47704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611897" y="3609415"/>
            <a:ext cx="896737" cy="47704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8611897" y="3655658"/>
            <a:ext cx="896737" cy="47704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8611897" y="3701902"/>
            <a:ext cx="896737" cy="47704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8611897" y="3748145"/>
            <a:ext cx="896737" cy="47704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8611897" y="3794388"/>
            <a:ext cx="896737" cy="47704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8611897" y="3840631"/>
            <a:ext cx="896737" cy="47704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8611897" y="3886875"/>
            <a:ext cx="896737" cy="47704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611897" y="3933118"/>
            <a:ext cx="896737" cy="47704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8611897" y="3979361"/>
            <a:ext cx="896737" cy="47704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8611897" y="4025605"/>
            <a:ext cx="896737" cy="47704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8611897" y="4071848"/>
            <a:ext cx="896737" cy="47704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8611897" y="4118091"/>
            <a:ext cx="896737" cy="47704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8611897" y="4164334"/>
            <a:ext cx="896737" cy="47704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8611897" y="4210578"/>
            <a:ext cx="896737" cy="47704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8611897" y="4256821"/>
            <a:ext cx="896737" cy="47704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8611897" y="4303064"/>
            <a:ext cx="896737" cy="47704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8611897" y="4349308"/>
            <a:ext cx="896737" cy="47704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8611897" y="4395551"/>
            <a:ext cx="896737" cy="47704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8611897" y="4441794"/>
            <a:ext cx="896737" cy="47704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8611897" y="4488037"/>
            <a:ext cx="896737" cy="47704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8611897" y="4534281"/>
            <a:ext cx="896737" cy="47704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8611897" y="4580524"/>
            <a:ext cx="896737" cy="47704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8611897" y="4626767"/>
            <a:ext cx="896737" cy="47704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8611897" y="4673011"/>
            <a:ext cx="896737" cy="47704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8611897" y="4719254"/>
            <a:ext cx="896737" cy="47704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8611897" y="4765497"/>
            <a:ext cx="896737" cy="47704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8611897" y="4811740"/>
            <a:ext cx="896737" cy="47704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8611897" y="4857984"/>
            <a:ext cx="896737" cy="47704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8611897" y="4904227"/>
            <a:ext cx="896737" cy="47704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8611897" y="4950470"/>
            <a:ext cx="896737" cy="47704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9002179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Y8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9955976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73,0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9600042" y="3143758"/>
            <a:ext cx="896737" cy="59365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9600042" y="3201663"/>
            <a:ext cx="896737" cy="59365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600042" y="3259568"/>
            <a:ext cx="896737" cy="59365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9600042" y="3317473"/>
            <a:ext cx="896737" cy="59365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9600042" y="3375378"/>
            <a:ext cx="896737" cy="59365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9600042" y="3433283"/>
            <a:ext cx="896737" cy="59365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9600042" y="3491187"/>
            <a:ext cx="896737" cy="59365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9600042" y="3549092"/>
            <a:ext cx="896737" cy="59365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9600042" y="3606997"/>
            <a:ext cx="896737" cy="59365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9600042" y="3664902"/>
            <a:ext cx="896737" cy="59365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9600042" y="3722807"/>
            <a:ext cx="896737" cy="59365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9600042" y="3780712"/>
            <a:ext cx="896737" cy="59365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9600042" y="3838617"/>
            <a:ext cx="896737" cy="59365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9600042" y="3896521"/>
            <a:ext cx="896737" cy="59365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600042" y="3954426"/>
            <a:ext cx="896737" cy="59365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600042" y="4012331"/>
            <a:ext cx="896737" cy="59365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9600042" y="4070236"/>
            <a:ext cx="896737" cy="59365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9600042" y="4128141"/>
            <a:ext cx="896737" cy="59365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9600042" y="4186046"/>
            <a:ext cx="896737" cy="59365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9600042" y="4243950"/>
            <a:ext cx="896737" cy="59365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9600042" y="4301855"/>
            <a:ext cx="896737" cy="59365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9600042" y="4359760"/>
            <a:ext cx="896737" cy="59365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9600042" y="4417665"/>
            <a:ext cx="896737" cy="59365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9600042" y="4475570"/>
            <a:ext cx="896737" cy="59365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600042" y="4533475"/>
            <a:ext cx="896737" cy="59365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9600042" y="4591380"/>
            <a:ext cx="896737" cy="59365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9600042" y="4649284"/>
            <a:ext cx="896737" cy="59365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9600042" y="4707189"/>
            <a:ext cx="896737" cy="59365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9600042" y="4765094"/>
            <a:ext cx="896737" cy="59365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9600042" y="4822999"/>
            <a:ext cx="896737" cy="59365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9600042" y="4880904"/>
            <a:ext cx="896737" cy="59365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9600042" y="4938809"/>
            <a:ext cx="896737" cy="59365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9990325" y="5039280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Y9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0944121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86,6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10588188" y="2798547"/>
            <a:ext cx="896737" cy="70153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588188" y="2867240"/>
            <a:ext cx="896737" cy="70153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588188" y="2935933"/>
            <a:ext cx="896737" cy="70153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588188" y="3004625"/>
            <a:ext cx="896737" cy="70153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588188" y="3073318"/>
            <a:ext cx="896737" cy="70153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588188" y="3142011"/>
            <a:ext cx="896737" cy="70153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588188" y="3210704"/>
            <a:ext cx="896737" cy="70153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588188" y="3279396"/>
            <a:ext cx="896737" cy="70153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588188" y="3348089"/>
            <a:ext cx="896737" cy="70153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588188" y="3416782"/>
            <a:ext cx="896737" cy="70153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588188" y="3485474"/>
            <a:ext cx="896737" cy="70153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588188" y="3554167"/>
            <a:ext cx="896737" cy="70153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588188" y="3622860"/>
            <a:ext cx="896737" cy="70153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588188" y="3691552"/>
            <a:ext cx="896737" cy="70153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588188" y="3760245"/>
            <a:ext cx="896737" cy="70153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588188" y="3828938"/>
            <a:ext cx="896737" cy="70153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588188" y="3897630"/>
            <a:ext cx="896737" cy="70153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588188" y="3966323"/>
            <a:ext cx="896737" cy="70153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588188" y="4035016"/>
            <a:ext cx="896737" cy="70153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588188" y="4103709"/>
            <a:ext cx="896737" cy="70153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588188" y="4172401"/>
            <a:ext cx="896737" cy="70153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588188" y="4241094"/>
            <a:ext cx="896737" cy="70153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588188" y="4309787"/>
            <a:ext cx="896737" cy="70153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588188" y="4378479"/>
            <a:ext cx="896737" cy="70153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588188" y="4447172"/>
            <a:ext cx="896737" cy="70153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588188" y="4515865"/>
            <a:ext cx="896737" cy="70153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588188" y="4584557"/>
            <a:ext cx="896737" cy="70153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588188" y="4653250"/>
            <a:ext cx="896737" cy="70153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588188" y="4721943"/>
            <a:ext cx="896737" cy="70153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588188" y="4790635"/>
            <a:ext cx="896737" cy="70153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588188" y="4859328"/>
            <a:ext cx="896737" cy="70153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588188" y="4928021"/>
            <a:ext cx="896737" cy="70153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10951996" y="5039280"/>
            <a:ext cx="2010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Y10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60774" y="5345006"/>
            <a:ext cx="127189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4684C"/>
                </a:solidFill>
                <a:latin typeface="Arial"/>
              </a:rPr>
              <a:t>LABA BERSIH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1861603" y="5334050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A85B34"/>
                </a:solidFill>
                <a:latin typeface="Arial"/>
              </a:rPr>
              <a:t>-1,3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2757998" y="5334050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0,1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3654507" y="5334050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2,0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4550902" y="5334050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3,8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5447411" y="5334050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5,3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6343806" y="5334050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6,4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240315" y="5334050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6,5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8136710" y="5334050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9,0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033219" y="5334050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11,9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929614" y="5334050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14,9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0826124" y="5334050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19,6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560774" y="5599606"/>
            <a:ext cx="11070450" cy="323870"/>
          </a:xfrm>
          <a:prstGeom prst="rect">
            <a:avLst/>
          </a:prstGeom>
          <a:solidFill>
            <a:srgbClr val="DC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707073" y="5684853"/>
            <a:ext cx="18389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31583B"/>
                </a:solidFill>
                <a:latin typeface="Arial"/>
              </a:rPr>
              <a:t>Y1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560774" y="5692157"/>
            <a:ext cx="11102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31583B"/>
                </a:solidFill>
                <a:latin typeface="Arial"/>
              </a:rPr>
              <a:t>laba bersih mulai positif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2350825" y="5692157"/>
            <a:ext cx="66581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8CA886"/>
                </a:solidFill>
                <a:latin typeface="Arial"/>
              </a:rPr>
              <a:t>·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2529648" y="5684853"/>
            <a:ext cx="80184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31583B"/>
                </a:solidFill>
                <a:latin typeface="Arial"/>
              </a:rPr>
              <a:t>Rp78,3 miliar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560774" y="5692157"/>
            <a:ext cx="11102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31583B"/>
                </a:solidFill>
                <a:latin typeface="Arial"/>
              </a:rPr>
              <a:t>kumulatif Y0–Y10</a:t>
            </a:r>
          </a:p>
        </p:txBody>
      </p:sp>
      <p:cxnSp>
        <p:nvCxnSpPr>
          <p:cNvPr id="438" name="Connector 437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TextBox 438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441" name="Connector 44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TextBox 44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06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7549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KELAYAKAN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47 / 66 · ASLI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Aset dan ekuitas bertumbuh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Neraca memproyeksikan aset Rp81,6 miliar dan ekuitas Rp65,5 miliar pada Tahun 10.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774" y="2115315"/>
            <a:ext cx="85245" cy="85247"/>
          </a:xfrm>
          <a:prstGeom prst="rect">
            <a:avLst/>
          </a:prstGeom>
          <a:solidFill>
            <a:srgbClr val="689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774" y="2095915"/>
            <a:ext cx="58490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7735B"/>
                </a:solidFill>
                <a:latin typeface="Arial"/>
              </a:rPr>
              <a:t>Ekuitas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9974" y="2115315"/>
            <a:ext cx="85245" cy="85247"/>
          </a:xfrm>
          <a:prstGeom prst="rect">
            <a:avLst/>
          </a:prstGeom>
          <a:solidFill>
            <a:srgbClr val="D8E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9974" y="2095915"/>
            <a:ext cx="68475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7735B"/>
                </a:solidFill>
                <a:latin typeface="Arial"/>
              </a:rPr>
              <a:t>Liabilitas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2602" y="2095915"/>
            <a:ext cx="54062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7735B"/>
                </a:solidFill>
                <a:latin typeface="Arial"/>
              </a:rPr>
              <a:t>Rp miliar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774" y="2220077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0774" y="2324161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0774" y="2428244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0774" y="2532328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0774" y="2636412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0774" y="2740496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0774" y="2844580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0774" y="2948664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0774" y="3052748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0774" y="3156832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0774" y="3260916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774" y="3365000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0774" y="3469084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0774" y="3573168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0774" y="3677252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0774" y="3781336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0774" y="3885420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0774" y="3989504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0774" y="4093588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0774" y="4197672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0774" y="4301755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0774" y="4405839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0774" y="4509923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0774" y="4614007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0774" y="4718091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0774" y="4822175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0774" y="4926259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0774" y="5030343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0774" y="5134427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0774" y="5238511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0774" y="5342595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0774" y="5446679"/>
            <a:ext cx="11070450" cy="1055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H="1">
            <a:off x="560774" y="5550763"/>
            <a:ext cx="11070450" cy="0"/>
          </a:xfrm>
          <a:prstGeom prst="line">
            <a:avLst/>
          </a:prstGeom>
          <a:ln w="7303">
            <a:solidFill>
              <a:srgbClr val="9CB3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666119" y="4536356"/>
            <a:ext cx="21482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255A39"/>
                </a:solidFill>
                <a:latin typeface="Arial"/>
              </a:rPr>
              <a:t>9,4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52311" y="4740858"/>
            <a:ext cx="24243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0" i="0">
                <a:solidFill>
                  <a:srgbClr val="255A39"/>
                </a:solidFill>
                <a:latin typeface="Arial"/>
              </a:rPr>
              <a:t>ASET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61115" y="4889441"/>
            <a:ext cx="992824" cy="14607"/>
          </a:xfrm>
          <a:prstGeom prst="rect">
            <a:avLst/>
          </a:prstGeom>
          <a:solidFill>
            <a:srgbClr val="D8E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61115" y="4904049"/>
            <a:ext cx="992824" cy="11849"/>
          </a:xfrm>
          <a:prstGeom prst="rect">
            <a:avLst/>
          </a:prstGeom>
          <a:solidFill>
            <a:srgbClr val="82B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61115" y="4914437"/>
            <a:ext cx="992824" cy="11849"/>
          </a:xfrm>
          <a:prstGeom prst="rect">
            <a:avLst/>
          </a:prstGeom>
          <a:solidFill>
            <a:srgbClr val="7F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61115" y="4924826"/>
            <a:ext cx="992824" cy="11849"/>
          </a:xfrm>
          <a:prstGeom prst="rect">
            <a:avLst/>
          </a:prstGeom>
          <a:solidFill>
            <a:srgbClr val="7DB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61115" y="4935214"/>
            <a:ext cx="992824" cy="11849"/>
          </a:xfrm>
          <a:prstGeom prst="rect">
            <a:avLst/>
          </a:prstGeom>
          <a:solidFill>
            <a:srgbClr val="7AA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61115" y="4945602"/>
            <a:ext cx="992824" cy="11849"/>
          </a:xfrm>
          <a:prstGeom prst="rect">
            <a:avLst/>
          </a:prstGeom>
          <a:solidFill>
            <a:srgbClr val="78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61115" y="4955991"/>
            <a:ext cx="992824" cy="11849"/>
          </a:xfrm>
          <a:prstGeom prst="rect">
            <a:avLst/>
          </a:prstGeom>
          <a:solidFill>
            <a:srgbClr val="75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61115" y="4966379"/>
            <a:ext cx="992824" cy="11849"/>
          </a:xfrm>
          <a:prstGeom prst="rect">
            <a:avLst/>
          </a:prstGeom>
          <a:solidFill>
            <a:srgbClr val="73A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61115" y="4976768"/>
            <a:ext cx="992824" cy="11849"/>
          </a:xfrm>
          <a:prstGeom prst="rect">
            <a:avLst/>
          </a:prstGeom>
          <a:solidFill>
            <a:srgbClr val="70A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61115" y="4987156"/>
            <a:ext cx="992824" cy="11849"/>
          </a:xfrm>
          <a:prstGeom prst="rect">
            <a:avLst/>
          </a:prstGeom>
          <a:solidFill>
            <a:srgbClr val="6DA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61115" y="4997544"/>
            <a:ext cx="992824" cy="11849"/>
          </a:xfrm>
          <a:prstGeom prst="rect">
            <a:avLst/>
          </a:prstGeom>
          <a:solidFill>
            <a:srgbClr val="6B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61115" y="5007933"/>
            <a:ext cx="992824" cy="11849"/>
          </a:xfrm>
          <a:prstGeom prst="rect">
            <a:avLst/>
          </a:prstGeom>
          <a:solidFill>
            <a:srgbClr val="68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61115" y="5018321"/>
            <a:ext cx="992824" cy="11849"/>
          </a:xfrm>
          <a:prstGeom prst="rect">
            <a:avLst/>
          </a:prstGeom>
          <a:solidFill>
            <a:srgbClr val="669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61115" y="5028710"/>
            <a:ext cx="992824" cy="11849"/>
          </a:xfrm>
          <a:prstGeom prst="rect">
            <a:avLst/>
          </a:prstGeom>
          <a:solidFill>
            <a:srgbClr val="639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261115" y="5039098"/>
            <a:ext cx="992824" cy="11849"/>
          </a:xfrm>
          <a:prstGeom prst="rect">
            <a:avLst/>
          </a:prstGeom>
          <a:solidFill>
            <a:srgbClr val="619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261115" y="5049487"/>
            <a:ext cx="992824" cy="11849"/>
          </a:xfrm>
          <a:prstGeom prst="rect">
            <a:avLst/>
          </a:prstGeom>
          <a:solidFill>
            <a:srgbClr val="5E9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61115" y="5059875"/>
            <a:ext cx="992824" cy="11849"/>
          </a:xfrm>
          <a:prstGeom prst="rect">
            <a:avLst/>
          </a:prstGeom>
          <a:solidFill>
            <a:srgbClr val="5C9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61115" y="5070263"/>
            <a:ext cx="992824" cy="11849"/>
          </a:xfrm>
          <a:prstGeom prst="rect">
            <a:avLst/>
          </a:prstGeom>
          <a:solidFill>
            <a:srgbClr val="59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261115" y="5080652"/>
            <a:ext cx="992824" cy="11849"/>
          </a:xfrm>
          <a:prstGeom prst="rect">
            <a:avLst/>
          </a:prstGeom>
          <a:solidFill>
            <a:srgbClr val="578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61115" y="5091040"/>
            <a:ext cx="992824" cy="11849"/>
          </a:xfrm>
          <a:prstGeom prst="rect">
            <a:avLst/>
          </a:prstGeom>
          <a:solidFill>
            <a:srgbClr val="54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261115" y="5101429"/>
            <a:ext cx="992824" cy="11849"/>
          </a:xfrm>
          <a:prstGeom prst="rect">
            <a:avLst/>
          </a:prstGeom>
          <a:solidFill>
            <a:srgbClr val="52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261115" y="5111817"/>
            <a:ext cx="992824" cy="11849"/>
          </a:xfrm>
          <a:prstGeom prst="rect">
            <a:avLst/>
          </a:prstGeom>
          <a:solidFill>
            <a:srgbClr val="4F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61115" y="5122206"/>
            <a:ext cx="992824" cy="11849"/>
          </a:xfrm>
          <a:prstGeom prst="rect">
            <a:avLst/>
          </a:prstGeom>
          <a:solidFill>
            <a:srgbClr val="4D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61115" y="5132594"/>
            <a:ext cx="992824" cy="11849"/>
          </a:xfrm>
          <a:prstGeom prst="rect">
            <a:avLst/>
          </a:prstGeom>
          <a:solidFill>
            <a:srgbClr val="4A8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61115" y="5142982"/>
            <a:ext cx="992824" cy="11849"/>
          </a:xfrm>
          <a:prstGeom prst="rect">
            <a:avLst/>
          </a:prstGeom>
          <a:solidFill>
            <a:srgbClr val="48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61115" y="5153371"/>
            <a:ext cx="992824" cy="11849"/>
          </a:xfrm>
          <a:prstGeom prst="rect">
            <a:avLst/>
          </a:prstGeom>
          <a:solidFill>
            <a:srgbClr val="45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61115" y="5163759"/>
            <a:ext cx="992824" cy="11849"/>
          </a:xfrm>
          <a:prstGeom prst="rect">
            <a:avLst/>
          </a:prstGeom>
          <a:solidFill>
            <a:srgbClr val="4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61115" y="5174148"/>
            <a:ext cx="992824" cy="11849"/>
          </a:xfrm>
          <a:prstGeom prst="rect">
            <a:avLst/>
          </a:prstGeom>
          <a:solidFill>
            <a:srgbClr val="407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61115" y="5184536"/>
            <a:ext cx="992824" cy="11849"/>
          </a:xfrm>
          <a:prstGeom prst="rect">
            <a:avLst/>
          </a:prstGeom>
          <a:solidFill>
            <a:srgbClr val="3D7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261115" y="5194925"/>
            <a:ext cx="992824" cy="11849"/>
          </a:xfrm>
          <a:prstGeom prst="rect">
            <a:avLst/>
          </a:prstGeom>
          <a:solidFill>
            <a:srgbClr val="3B7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61115" y="5205313"/>
            <a:ext cx="992824" cy="11849"/>
          </a:xfrm>
          <a:prstGeom prst="rect">
            <a:avLst/>
          </a:prstGeom>
          <a:solidFill>
            <a:srgbClr val="387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261115" y="5215701"/>
            <a:ext cx="992824" cy="11849"/>
          </a:xfrm>
          <a:prstGeom prst="rect">
            <a:avLst/>
          </a:prstGeom>
          <a:solidFill>
            <a:srgbClr val="36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261115" y="5226090"/>
            <a:ext cx="992824" cy="11849"/>
          </a:xfrm>
          <a:prstGeom prst="rect">
            <a:avLst/>
          </a:prstGeom>
          <a:solidFill>
            <a:srgbClr val="336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94991" y="5297418"/>
            <a:ext cx="15707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41644A"/>
                </a:solidFill>
                <a:latin typeface="Arial"/>
              </a:rPr>
              <a:t>Y0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64990" y="4358216"/>
            <a:ext cx="28785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255A39"/>
                </a:solidFill>
                <a:latin typeface="Arial"/>
              </a:rPr>
              <a:t>14,2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87699" y="4562718"/>
            <a:ext cx="24243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0" i="0">
                <a:solidFill>
                  <a:srgbClr val="255A39"/>
                </a:solidFill>
                <a:latin typeface="Arial"/>
              </a:rPr>
              <a:t>ASET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96390" y="4711415"/>
            <a:ext cx="992938" cy="107043"/>
          </a:xfrm>
          <a:prstGeom prst="rect">
            <a:avLst/>
          </a:prstGeom>
          <a:solidFill>
            <a:srgbClr val="D8E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996390" y="4818459"/>
            <a:ext cx="992938" cy="14523"/>
          </a:xfrm>
          <a:prstGeom prst="rect">
            <a:avLst/>
          </a:prstGeom>
          <a:solidFill>
            <a:srgbClr val="82B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996390" y="4831522"/>
            <a:ext cx="992938" cy="14523"/>
          </a:xfrm>
          <a:prstGeom prst="rect">
            <a:avLst/>
          </a:prstGeom>
          <a:solidFill>
            <a:srgbClr val="7F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96390" y="4844585"/>
            <a:ext cx="992938" cy="14523"/>
          </a:xfrm>
          <a:prstGeom prst="rect">
            <a:avLst/>
          </a:prstGeom>
          <a:solidFill>
            <a:srgbClr val="7DB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996390" y="4857648"/>
            <a:ext cx="992938" cy="14523"/>
          </a:xfrm>
          <a:prstGeom prst="rect">
            <a:avLst/>
          </a:prstGeom>
          <a:solidFill>
            <a:srgbClr val="7AA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996390" y="4870712"/>
            <a:ext cx="992938" cy="14523"/>
          </a:xfrm>
          <a:prstGeom prst="rect">
            <a:avLst/>
          </a:prstGeom>
          <a:solidFill>
            <a:srgbClr val="78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996390" y="4883775"/>
            <a:ext cx="992938" cy="14523"/>
          </a:xfrm>
          <a:prstGeom prst="rect">
            <a:avLst/>
          </a:prstGeom>
          <a:solidFill>
            <a:srgbClr val="75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996390" y="4896838"/>
            <a:ext cx="992938" cy="14523"/>
          </a:xfrm>
          <a:prstGeom prst="rect">
            <a:avLst/>
          </a:prstGeom>
          <a:solidFill>
            <a:srgbClr val="73A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996390" y="4909901"/>
            <a:ext cx="992938" cy="14523"/>
          </a:xfrm>
          <a:prstGeom prst="rect">
            <a:avLst/>
          </a:prstGeom>
          <a:solidFill>
            <a:srgbClr val="70A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996390" y="4922964"/>
            <a:ext cx="992938" cy="14523"/>
          </a:xfrm>
          <a:prstGeom prst="rect">
            <a:avLst/>
          </a:prstGeom>
          <a:solidFill>
            <a:srgbClr val="6DA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996390" y="4936027"/>
            <a:ext cx="992938" cy="14523"/>
          </a:xfrm>
          <a:prstGeom prst="rect">
            <a:avLst/>
          </a:prstGeom>
          <a:solidFill>
            <a:srgbClr val="6B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996390" y="4949090"/>
            <a:ext cx="992938" cy="14523"/>
          </a:xfrm>
          <a:prstGeom prst="rect">
            <a:avLst/>
          </a:prstGeom>
          <a:solidFill>
            <a:srgbClr val="68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996390" y="4962153"/>
            <a:ext cx="992938" cy="14523"/>
          </a:xfrm>
          <a:prstGeom prst="rect">
            <a:avLst/>
          </a:prstGeom>
          <a:solidFill>
            <a:srgbClr val="669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996390" y="4975216"/>
            <a:ext cx="992938" cy="14523"/>
          </a:xfrm>
          <a:prstGeom prst="rect">
            <a:avLst/>
          </a:prstGeom>
          <a:solidFill>
            <a:srgbClr val="639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996390" y="4988279"/>
            <a:ext cx="992938" cy="14523"/>
          </a:xfrm>
          <a:prstGeom prst="rect">
            <a:avLst/>
          </a:prstGeom>
          <a:solidFill>
            <a:srgbClr val="619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996390" y="5001343"/>
            <a:ext cx="992938" cy="14523"/>
          </a:xfrm>
          <a:prstGeom prst="rect">
            <a:avLst/>
          </a:prstGeom>
          <a:solidFill>
            <a:srgbClr val="5E9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996390" y="5014406"/>
            <a:ext cx="992938" cy="14523"/>
          </a:xfrm>
          <a:prstGeom prst="rect">
            <a:avLst/>
          </a:prstGeom>
          <a:solidFill>
            <a:srgbClr val="5C9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996390" y="5027469"/>
            <a:ext cx="992938" cy="14523"/>
          </a:xfrm>
          <a:prstGeom prst="rect">
            <a:avLst/>
          </a:prstGeom>
          <a:solidFill>
            <a:srgbClr val="59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996390" y="5040532"/>
            <a:ext cx="992938" cy="14523"/>
          </a:xfrm>
          <a:prstGeom prst="rect">
            <a:avLst/>
          </a:prstGeom>
          <a:solidFill>
            <a:srgbClr val="578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996390" y="5053595"/>
            <a:ext cx="992938" cy="14523"/>
          </a:xfrm>
          <a:prstGeom prst="rect">
            <a:avLst/>
          </a:prstGeom>
          <a:solidFill>
            <a:srgbClr val="54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996390" y="5066658"/>
            <a:ext cx="992938" cy="14523"/>
          </a:xfrm>
          <a:prstGeom prst="rect">
            <a:avLst/>
          </a:prstGeom>
          <a:solidFill>
            <a:srgbClr val="52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996390" y="5079721"/>
            <a:ext cx="992938" cy="14523"/>
          </a:xfrm>
          <a:prstGeom prst="rect">
            <a:avLst/>
          </a:prstGeom>
          <a:solidFill>
            <a:srgbClr val="4F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996390" y="5092784"/>
            <a:ext cx="992938" cy="14523"/>
          </a:xfrm>
          <a:prstGeom prst="rect">
            <a:avLst/>
          </a:prstGeom>
          <a:solidFill>
            <a:srgbClr val="4D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996390" y="5105847"/>
            <a:ext cx="992938" cy="14523"/>
          </a:xfrm>
          <a:prstGeom prst="rect">
            <a:avLst/>
          </a:prstGeom>
          <a:solidFill>
            <a:srgbClr val="4A8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996390" y="5118910"/>
            <a:ext cx="992938" cy="14523"/>
          </a:xfrm>
          <a:prstGeom prst="rect">
            <a:avLst/>
          </a:prstGeom>
          <a:solidFill>
            <a:srgbClr val="48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996390" y="5131973"/>
            <a:ext cx="992938" cy="14523"/>
          </a:xfrm>
          <a:prstGeom prst="rect">
            <a:avLst/>
          </a:prstGeom>
          <a:solidFill>
            <a:srgbClr val="45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996390" y="5145037"/>
            <a:ext cx="992938" cy="14523"/>
          </a:xfrm>
          <a:prstGeom prst="rect">
            <a:avLst/>
          </a:prstGeom>
          <a:solidFill>
            <a:srgbClr val="4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996390" y="5158100"/>
            <a:ext cx="992938" cy="14523"/>
          </a:xfrm>
          <a:prstGeom prst="rect">
            <a:avLst/>
          </a:prstGeom>
          <a:solidFill>
            <a:srgbClr val="407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996390" y="5171163"/>
            <a:ext cx="992938" cy="14523"/>
          </a:xfrm>
          <a:prstGeom prst="rect">
            <a:avLst/>
          </a:prstGeom>
          <a:solidFill>
            <a:srgbClr val="3D7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996390" y="5184226"/>
            <a:ext cx="992938" cy="14523"/>
          </a:xfrm>
          <a:prstGeom prst="rect">
            <a:avLst/>
          </a:prstGeom>
          <a:solidFill>
            <a:srgbClr val="3B7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996390" y="5197289"/>
            <a:ext cx="992938" cy="14523"/>
          </a:xfrm>
          <a:prstGeom prst="rect">
            <a:avLst/>
          </a:prstGeom>
          <a:solidFill>
            <a:srgbClr val="387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996390" y="5210352"/>
            <a:ext cx="992938" cy="14523"/>
          </a:xfrm>
          <a:prstGeom prst="rect">
            <a:avLst/>
          </a:prstGeom>
          <a:solidFill>
            <a:srgbClr val="36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996390" y="5223415"/>
            <a:ext cx="992938" cy="14523"/>
          </a:xfrm>
          <a:prstGeom prst="rect">
            <a:avLst/>
          </a:prstGeom>
          <a:solidFill>
            <a:srgbClr val="336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430380" y="5297418"/>
            <a:ext cx="15707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41644A"/>
                </a:solidFill>
                <a:latin typeface="Arial"/>
              </a:rPr>
              <a:t>Y2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00265" y="3977856"/>
            <a:ext cx="28785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255A39"/>
                </a:solidFill>
                <a:latin typeface="Arial"/>
              </a:rPr>
              <a:t>24,5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22974" y="4182358"/>
            <a:ext cx="24243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0" i="0">
                <a:solidFill>
                  <a:srgbClr val="255A39"/>
                </a:solidFill>
                <a:latin typeface="Arial"/>
              </a:rPr>
              <a:t>ASET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31779" y="4331056"/>
            <a:ext cx="992824" cy="251633"/>
          </a:xfrm>
          <a:prstGeom prst="rect">
            <a:avLst/>
          </a:prstGeom>
          <a:solidFill>
            <a:srgbClr val="D8E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731779" y="4582689"/>
            <a:ext cx="992824" cy="21891"/>
          </a:xfrm>
          <a:prstGeom prst="rect">
            <a:avLst/>
          </a:prstGeom>
          <a:solidFill>
            <a:srgbClr val="82B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731779" y="4603120"/>
            <a:ext cx="992824" cy="21891"/>
          </a:xfrm>
          <a:prstGeom prst="rect">
            <a:avLst/>
          </a:prstGeom>
          <a:solidFill>
            <a:srgbClr val="7F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731779" y="4623551"/>
            <a:ext cx="992824" cy="21891"/>
          </a:xfrm>
          <a:prstGeom prst="rect">
            <a:avLst/>
          </a:prstGeom>
          <a:solidFill>
            <a:srgbClr val="7DB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731779" y="4643981"/>
            <a:ext cx="992824" cy="21891"/>
          </a:xfrm>
          <a:prstGeom prst="rect">
            <a:avLst/>
          </a:prstGeom>
          <a:solidFill>
            <a:srgbClr val="7AA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731779" y="4664412"/>
            <a:ext cx="992824" cy="21891"/>
          </a:xfrm>
          <a:prstGeom prst="rect">
            <a:avLst/>
          </a:prstGeom>
          <a:solidFill>
            <a:srgbClr val="78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731779" y="4684843"/>
            <a:ext cx="992824" cy="21891"/>
          </a:xfrm>
          <a:prstGeom prst="rect">
            <a:avLst/>
          </a:prstGeom>
          <a:solidFill>
            <a:srgbClr val="75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731779" y="4705274"/>
            <a:ext cx="992824" cy="21891"/>
          </a:xfrm>
          <a:prstGeom prst="rect">
            <a:avLst/>
          </a:prstGeom>
          <a:solidFill>
            <a:srgbClr val="73A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731779" y="4725705"/>
            <a:ext cx="992824" cy="21891"/>
          </a:xfrm>
          <a:prstGeom prst="rect">
            <a:avLst/>
          </a:prstGeom>
          <a:solidFill>
            <a:srgbClr val="70A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731779" y="4746136"/>
            <a:ext cx="992824" cy="21891"/>
          </a:xfrm>
          <a:prstGeom prst="rect">
            <a:avLst/>
          </a:prstGeom>
          <a:solidFill>
            <a:srgbClr val="6DA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731779" y="4766567"/>
            <a:ext cx="992824" cy="21891"/>
          </a:xfrm>
          <a:prstGeom prst="rect">
            <a:avLst/>
          </a:prstGeom>
          <a:solidFill>
            <a:srgbClr val="6B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731779" y="4786998"/>
            <a:ext cx="992824" cy="21891"/>
          </a:xfrm>
          <a:prstGeom prst="rect">
            <a:avLst/>
          </a:prstGeom>
          <a:solidFill>
            <a:srgbClr val="68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731779" y="4807429"/>
            <a:ext cx="992824" cy="21891"/>
          </a:xfrm>
          <a:prstGeom prst="rect">
            <a:avLst/>
          </a:prstGeom>
          <a:solidFill>
            <a:srgbClr val="669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31779" y="4827860"/>
            <a:ext cx="992824" cy="21891"/>
          </a:xfrm>
          <a:prstGeom prst="rect">
            <a:avLst/>
          </a:prstGeom>
          <a:solidFill>
            <a:srgbClr val="639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31779" y="4848291"/>
            <a:ext cx="992824" cy="21891"/>
          </a:xfrm>
          <a:prstGeom prst="rect">
            <a:avLst/>
          </a:prstGeom>
          <a:solidFill>
            <a:srgbClr val="619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31779" y="4868722"/>
            <a:ext cx="992824" cy="21891"/>
          </a:xfrm>
          <a:prstGeom prst="rect">
            <a:avLst/>
          </a:prstGeom>
          <a:solidFill>
            <a:srgbClr val="5E9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31779" y="4889153"/>
            <a:ext cx="992824" cy="21891"/>
          </a:xfrm>
          <a:prstGeom prst="rect">
            <a:avLst/>
          </a:prstGeom>
          <a:solidFill>
            <a:srgbClr val="5C9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731779" y="4909583"/>
            <a:ext cx="992824" cy="21891"/>
          </a:xfrm>
          <a:prstGeom prst="rect">
            <a:avLst/>
          </a:prstGeom>
          <a:solidFill>
            <a:srgbClr val="59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31779" y="4930014"/>
            <a:ext cx="992824" cy="21891"/>
          </a:xfrm>
          <a:prstGeom prst="rect">
            <a:avLst/>
          </a:prstGeom>
          <a:solidFill>
            <a:srgbClr val="578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731779" y="4950445"/>
            <a:ext cx="992824" cy="21891"/>
          </a:xfrm>
          <a:prstGeom prst="rect">
            <a:avLst/>
          </a:prstGeom>
          <a:solidFill>
            <a:srgbClr val="54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731779" y="4970876"/>
            <a:ext cx="992824" cy="21891"/>
          </a:xfrm>
          <a:prstGeom prst="rect">
            <a:avLst/>
          </a:prstGeom>
          <a:solidFill>
            <a:srgbClr val="52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731779" y="4991307"/>
            <a:ext cx="992824" cy="21891"/>
          </a:xfrm>
          <a:prstGeom prst="rect">
            <a:avLst/>
          </a:prstGeom>
          <a:solidFill>
            <a:srgbClr val="4F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731779" y="5011738"/>
            <a:ext cx="992824" cy="21891"/>
          </a:xfrm>
          <a:prstGeom prst="rect">
            <a:avLst/>
          </a:prstGeom>
          <a:solidFill>
            <a:srgbClr val="4D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731779" y="5032169"/>
            <a:ext cx="992824" cy="21891"/>
          </a:xfrm>
          <a:prstGeom prst="rect">
            <a:avLst/>
          </a:prstGeom>
          <a:solidFill>
            <a:srgbClr val="4A8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731779" y="5052600"/>
            <a:ext cx="992824" cy="21891"/>
          </a:xfrm>
          <a:prstGeom prst="rect">
            <a:avLst/>
          </a:prstGeom>
          <a:solidFill>
            <a:srgbClr val="48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731779" y="5073031"/>
            <a:ext cx="992824" cy="21891"/>
          </a:xfrm>
          <a:prstGeom prst="rect">
            <a:avLst/>
          </a:prstGeom>
          <a:solidFill>
            <a:srgbClr val="45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731779" y="5093462"/>
            <a:ext cx="992824" cy="21891"/>
          </a:xfrm>
          <a:prstGeom prst="rect">
            <a:avLst/>
          </a:prstGeom>
          <a:solidFill>
            <a:srgbClr val="4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731779" y="5113893"/>
            <a:ext cx="992824" cy="21891"/>
          </a:xfrm>
          <a:prstGeom prst="rect">
            <a:avLst/>
          </a:prstGeom>
          <a:solidFill>
            <a:srgbClr val="407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731779" y="5134324"/>
            <a:ext cx="992824" cy="21891"/>
          </a:xfrm>
          <a:prstGeom prst="rect">
            <a:avLst/>
          </a:prstGeom>
          <a:solidFill>
            <a:srgbClr val="3D7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731779" y="5154755"/>
            <a:ext cx="992824" cy="21891"/>
          </a:xfrm>
          <a:prstGeom prst="rect">
            <a:avLst/>
          </a:prstGeom>
          <a:solidFill>
            <a:srgbClr val="3B7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731779" y="5175185"/>
            <a:ext cx="992824" cy="21891"/>
          </a:xfrm>
          <a:prstGeom prst="rect">
            <a:avLst/>
          </a:prstGeom>
          <a:solidFill>
            <a:srgbClr val="387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731779" y="5195616"/>
            <a:ext cx="992824" cy="21891"/>
          </a:xfrm>
          <a:prstGeom prst="rect">
            <a:avLst/>
          </a:prstGeom>
          <a:solidFill>
            <a:srgbClr val="36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731779" y="5216047"/>
            <a:ext cx="992824" cy="21891"/>
          </a:xfrm>
          <a:prstGeom prst="rect">
            <a:avLst/>
          </a:prstGeom>
          <a:solidFill>
            <a:srgbClr val="336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165654" y="5297418"/>
            <a:ext cx="15707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41644A"/>
                </a:solidFill>
                <a:latin typeface="Arial"/>
              </a:rPr>
              <a:t>Y4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835654" y="3552191"/>
            <a:ext cx="28785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255A39"/>
                </a:solidFill>
                <a:latin typeface="Arial"/>
              </a:rPr>
              <a:t>36,0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858363" y="3756693"/>
            <a:ext cx="24243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0" i="0">
                <a:solidFill>
                  <a:srgbClr val="255A39"/>
                </a:solidFill>
                <a:latin typeface="Arial"/>
              </a:rPr>
              <a:t>ASET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467053" y="3905391"/>
            <a:ext cx="992938" cy="343385"/>
          </a:xfrm>
          <a:prstGeom prst="rect">
            <a:avLst/>
          </a:prstGeom>
          <a:solidFill>
            <a:srgbClr val="D8E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67053" y="4248776"/>
            <a:ext cx="992938" cy="32326"/>
          </a:xfrm>
          <a:prstGeom prst="rect">
            <a:avLst/>
          </a:prstGeom>
          <a:solidFill>
            <a:srgbClr val="82B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67053" y="4279641"/>
            <a:ext cx="992938" cy="32326"/>
          </a:xfrm>
          <a:prstGeom prst="rect">
            <a:avLst/>
          </a:prstGeom>
          <a:solidFill>
            <a:srgbClr val="7F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467053" y="4310507"/>
            <a:ext cx="992938" cy="32326"/>
          </a:xfrm>
          <a:prstGeom prst="rect">
            <a:avLst/>
          </a:prstGeom>
          <a:solidFill>
            <a:srgbClr val="7DB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67053" y="4341373"/>
            <a:ext cx="992938" cy="32326"/>
          </a:xfrm>
          <a:prstGeom prst="rect">
            <a:avLst/>
          </a:prstGeom>
          <a:solidFill>
            <a:srgbClr val="7AA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467053" y="4372238"/>
            <a:ext cx="992938" cy="32326"/>
          </a:xfrm>
          <a:prstGeom prst="rect">
            <a:avLst/>
          </a:prstGeom>
          <a:solidFill>
            <a:srgbClr val="78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467053" y="4403104"/>
            <a:ext cx="992938" cy="32326"/>
          </a:xfrm>
          <a:prstGeom prst="rect">
            <a:avLst/>
          </a:prstGeom>
          <a:solidFill>
            <a:srgbClr val="75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467053" y="4433970"/>
            <a:ext cx="992938" cy="32326"/>
          </a:xfrm>
          <a:prstGeom prst="rect">
            <a:avLst/>
          </a:prstGeom>
          <a:solidFill>
            <a:srgbClr val="73A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467053" y="4464836"/>
            <a:ext cx="992938" cy="32326"/>
          </a:xfrm>
          <a:prstGeom prst="rect">
            <a:avLst/>
          </a:prstGeom>
          <a:solidFill>
            <a:srgbClr val="70A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467053" y="4495701"/>
            <a:ext cx="992938" cy="32326"/>
          </a:xfrm>
          <a:prstGeom prst="rect">
            <a:avLst/>
          </a:prstGeom>
          <a:solidFill>
            <a:srgbClr val="6DA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467053" y="4526567"/>
            <a:ext cx="992938" cy="32326"/>
          </a:xfrm>
          <a:prstGeom prst="rect">
            <a:avLst/>
          </a:prstGeom>
          <a:solidFill>
            <a:srgbClr val="6B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467053" y="4557433"/>
            <a:ext cx="992938" cy="32326"/>
          </a:xfrm>
          <a:prstGeom prst="rect">
            <a:avLst/>
          </a:prstGeom>
          <a:solidFill>
            <a:srgbClr val="68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467053" y="4588298"/>
            <a:ext cx="992938" cy="32326"/>
          </a:xfrm>
          <a:prstGeom prst="rect">
            <a:avLst/>
          </a:prstGeom>
          <a:solidFill>
            <a:srgbClr val="669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467053" y="4619164"/>
            <a:ext cx="992938" cy="32326"/>
          </a:xfrm>
          <a:prstGeom prst="rect">
            <a:avLst/>
          </a:prstGeom>
          <a:solidFill>
            <a:srgbClr val="639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467053" y="4650030"/>
            <a:ext cx="992938" cy="32326"/>
          </a:xfrm>
          <a:prstGeom prst="rect">
            <a:avLst/>
          </a:prstGeom>
          <a:solidFill>
            <a:srgbClr val="619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467053" y="4680895"/>
            <a:ext cx="992938" cy="32326"/>
          </a:xfrm>
          <a:prstGeom prst="rect">
            <a:avLst/>
          </a:prstGeom>
          <a:solidFill>
            <a:srgbClr val="5E9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467053" y="4711761"/>
            <a:ext cx="992938" cy="32326"/>
          </a:xfrm>
          <a:prstGeom prst="rect">
            <a:avLst/>
          </a:prstGeom>
          <a:solidFill>
            <a:srgbClr val="5C9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467053" y="4742627"/>
            <a:ext cx="992938" cy="32326"/>
          </a:xfrm>
          <a:prstGeom prst="rect">
            <a:avLst/>
          </a:prstGeom>
          <a:solidFill>
            <a:srgbClr val="59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467053" y="4773493"/>
            <a:ext cx="992938" cy="32326"/>
          </a:xfrm>
          <a:prstGeom prst="rect">
            <a:avLst/>
          </a:prstGeom>
          <a:solidFill>
            <a:srgbClr val="578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467053" y="4804358"/>
            <a:ext cx="992938" cy="32326"/>
          </a:xfrm>
          <a:prstGeom prst="rect">
            <a:avLst/>
          </a:prstGeom>
          <a:solidFill>
            <a:srgbClr val="54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467053" y="4835224"/>
            <a:ext cx="992938" cy="32326"/>
          </a:xfrm>
          <a:prstGeom prst="rect">
            <a:avLst/>
          </a:prstGeom>
          <a:solidFill>
            <a:srgbClr val="52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467053" y="4866090"/>
            <a:ext cx="992938" cy="32326"/>
          </a:xfrm>
          <a:prstGeom prst="rect">
            <a:avLst/>
          </a:prstGeom>
          <a:solidFill>
            <a:srgbClr val="4F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467053" y="4896955"/>
            <a:ext cx="992938" cy="32326"/>
          </a:xfrm>
          <a:prstGeom prst="rect">
            <a:avLst/>
          </a:prstGeom>
          <a:solidFill>
            <a:srgbClr val="4D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467053" y="4927821"/>
            <a:ext cx="992938" cy="32326"/>
          </a:xfrm>
          <a:prstGeom prst="rect">
            <a:avLst/>
          </a:prstGeom>
          <a:solidFill>
            <a:srgbClr val="4A8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467053" y="4958687"/>
            <a:ext cx="992938" cy="32326"/>
          </a:xfrm>
          <a:prstGeom prst="rect">
            <a:avLst/>
          </a:prstGeom>
          <a:solidFill>
            <a:srgbClr val="48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467053" y="4989553"/>
            <a:ext cx="992938" cy="32326"/>
          </a:xfrm>
          <a:prstGeom prst="rect">
            <a:avLst/>
          </a:prstGeom>
          <a:solidFill>
            <a:srgbClr val="45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467053" y="5020418"/>
            <a:ext cx="992938" cy="32326"/>
          </a:xfrm>
          <a:prstGeom prst="rect">
            <a:avLst/>
          </a:prstGeom>
          <a:solidFill>
            <a:srgbClr val="4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467053" y="5051284"/>
            <a:ext cx="992938" cy="32326"/>
          </a:xfrm>
          <a:prstGeom prst="rect">
            <a:avLst/>
          </a:prstGeom>
          <a:solidFill>
            <a:srgbClr val="407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467053" y="5082150"/>
            <a:ext cx="992938" cy="32326"/>
          </a:xfrm>
          <a:prstGeom prst="rect">
            <a:avLst/>
          </a:prstGeom>
          <a:solidFill>
            <a:srgbClr val="3D7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467053" y="5113015"/>
            <a:ext cx="992938" cy="32326"/>
          </a:xfrm>
          <a:prstGeom prst="rect">
            <a:avLst/>
          </a:prstGeom>
          <a:solidFill>
            <a:srgbClr val="3B7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467053" y="5143881"/>
            <a:ext cx="992938" cy="32326"/>
          </a:xfrm>
          <a:prstGeom prst="rect">
            <a:avLst/>
          </a:prstGeom>
          <a:solidFill>
            <a:srgbClr val="387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467053" y="5174747"/>
            <a:ext cx="992938" cy="32326"/>
          </a:xfrm>
          <a:prstGeom prst="rect">
            <a:avLst/>
          </a:prstGeom>
          <a:solidFill>
            <a:srgbClr val="36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467053" y="5205613"/>
            <a:ext cx="992938" cy="32326"/>
          </a:xfrm>
          <a:prstGeom prst="rect">
            <a:avLst/>
          </a:prstGeom>
          <a:solidFill>
            <a:srgbClr val="336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901043" y="5297418"/>
            <a:ext cx="15707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41644A"/>
                </a:solidFill>
                <a:latin typeface="Arial"/>
              </a:rPr>
              <a:t>Y6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571043" y="2903195"/>
            <a:ext cx="28785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255A39"/>
                </a:solidFill>
                <a:latin typeface="Arial"/>
              </a:rPr>
              <a:t>53,5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593752" y="3107697"/>
            <a:ext cx="24243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0" i="0">
                <a:solidFill>
                  <a:srgbClr val="255A39"/>
                </a:solidFill>
                <a:latin typeface="Arial"/>
              </a:rPr>
              <a:t>ASET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202442" y="3260388"/>
            <a:ext cx="992938" cy="447461"/>
          </a:xfrm>
          <a:prstGeom prst="rect">
            <a:avLst/>
          </a:prstGeom>
          <a:solidFill>
            <a:srgbClr val="D8E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202442" y="3707850"/>
            <a:ext cx="992938" cy="49230"/>
          </a:xfrm>
          <a:prstGeom prst="rect">
            <a:avLst/>
          </a:prstGeom>
          <a:solidFill>
            <a:srgbClr val="82B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202442" y="3755620"/>
            <a:ext cx="992938" cy="49230"/>
          </a:xfrm>
          <a:prstGeom prst="rect">
            <a:avLst/>
          </a:prstGeom>
          <a:solidFill>
            <a:srgbClr val="7F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202442" y="3803389"/>
            <a:ext cx="992938" cy="49230"/>
          </a:xfrm>
          <a:prstGeom prst="rect">
            <a:avLst/>
          </a:prstGeom>
          <a:solidFill>
            <a:srgbClr val="7DB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202442" y="3851159"/>
            <a:ext cx="992938" cy="49230"/>
          </a:xfrm>
          <a:prstGeom prst="rect">
            <a:avLst/>
          </a:prstGeom>
          <a:solidFill>
            <a:srgbClr val="7AA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202442" y="3898929"/>
            <a:ext cx="992938" cy="49230"/>
          </a:xfrm>
          <a:prstGeom prst="rect">
            <a:avLst/>
          </a:prstGeom>
          <a:solidFill>
            <a:srgbClr val="78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202442" y="3946698"/>
            <a:ext cx="992938" cy="49230"/>
          </a:xfrm>
          <a:prstGeom prst="rect">
            <a:avLst/>
          </a:prstGeom>
          <a:solidFill>
            <a:srgbClr val="75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202442" y="3994468"/>
            <a:ext cx="992938" cy="49230"/>
          </a:xfrm>
          <a:prstGeom prst="rect">
            <a:avLst/>
          </a:prstGeom>
          <a:solidFill>
            <a:srgbClr val="73A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202442" y="4042237"/>
            <a:ext cx="992938" cy="49230"/>
          </a:xfrm>
          <a:prstGeom prst="rect">
            <a:avLst/>
          </a:prstGeom>
          <a:solidFill>
            <a:srgbClr val="70A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202442" y="4090007"/>
            <a:ext cx="992938" cy="49230"/>
          </a:xfrm>
          <a:prstGeom prst="rect">
            <a:avLst/>
          </a:prstGeom>
          <a:solidFill>
            <a:srgbClr val="6DA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202442" y="4137777"/>
            <a:ext cx="992938" cy="49230"/>
          </a:xfrm>
          <a:prstGeom prst="rect">
            <a:avLst/>
          </a:prstGeom>
          <a:solidFill>
            <a:srgbClr val="6B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202442" y="4185546"/>
            <a:ext cx="992938" cy="49230"/>
          </a:xfrm>
          <a:prstGeom prst="rect">
            <a:avLst/>
          </a:prstGeom>
          <a:solidFill>
            <a:srgbClr val="68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202442" y="4233316"/>
            <a:ext cx="992938" cy="49230"/>
          </a:xfrm>
          <a:prstGeom prst="rect">
            <a:avLst/>
          </a:prstGeom>
          <a:solidFill>
            <a:srgbClr val="669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202442" y="4281086"/>
            <a:ext cx="992938" cy="49230"/>
          </a:xfrm>
          <a:prstGeom prst="rect">
            <a:avLst/>
          </a:prstGeom>
          <a:solidFill>
            <a:srgbClr val="639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202442" y="4328855"/>
            <a:ext cx="992938" cy="49230"/>
          </a:xfrm>
          <a:prstGeom prst="rect">
            <a:avLst/>
          </a:prstGeom>
          <a:solidFill>
            <a:srgbClr val="619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202442" y="4376625"/>
            <a:ext cx="992938" cy="49230"/>
          </a:xfrm>
          <a:prstGeom prst="rect">
            <a:avLst/>
          </a:prstGeom>
          <a:solidFill>
            <a:srgbClr val="5E9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202442" y="4424394"/>
            <a:ext cx="992938" cy="49230"/>
          </a:xfrm>
          <a:prstGeom prst="rect">
            <a:avLst/>
          </a:prstGeom>
          <a:solidFill>
            <a:srgbClr val="5C9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202442" y="4472164"/>
            <a:ext cx="992938" cy="49230"/>
          </a:xfrm>
          <a:prstGeom prst="rect">
            <a:avLst/>
          </a:prstGeom>
          <a:solidFill>
            <a:srgbClr val="59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202442" y="4519934"/>
            <a:ext cx="992938" cy="49230"/>
          </a:xfrm>
          <a:prstGeom prst="rect">
            <a:avLst/>
          </a:prstGeom>
          <a:solidFill>
            <a:srgbClr val="578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202442" y="4567703"/>
            <a:ext cx="992938" cy="49230"/>
          </a:xfrm>
          <a:prstGeom prst="rect">
            <a:avLst/>
          </a:prstGeom>
          <a:solidFill>
            <a:srgbClr val="54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202442" y="4615473"/>
            <a:ext cx="992938" cy="49230"/>
          </a:xfrm>
          <a:prstGeom prst="rect">
            <a:avLst/>
          </a:prstGeom>
          <a:solidFill>
            <a:srgbClr val="52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202442" y="4663243"/>
            <a:ext cx="992938" cy="49230"/>
          </a:xfrm>
          <a:prstGeom prst="rect">
            <a:avLst/>
          </a:prstGeom>
          <a:solidFill>
            <a:srgbClr val="4F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202442" y="4711012"/>
            <a:ext cx="992938" cy="49230"/>
          </a:xfrm>
          <a:prstGeom prst="rect">
            <a:avLst/>
          </a:prstGeom>
          <a:solidFill>
            <a:srgbClr val="4D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202442" y="4758782"/>
            <a:ext cx="992938" cy="49230"/>
          </a:xfrm>
          <a:prstGeom prst="rect">
            <a:avLst/>
          </a:prstGeom>
          <a:solidFill>
            <a:srgbClr val="4A8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202442" y="4806552"/>
            <a:ext cx="992938" cy="49230"/>
          </a:xfrm>
          <a:prstGeom prst="rect">
            <a:avLst/>
          </a:prstGeom>
          <a:solidFill>
            <a:srgbClr val="48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202442" y="4854321"/>
            <a:ext cx="992938" cy="49230"/>
          </a:xfrm>
          <a:prstGeom prst="rect">
            <a:avLst/>
          </a:prstGeom>
          <a:solidFill>
            <a:srgbClr val="45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202442" y="4902091"/>
            <a:ext cx="992938" cy="49230"/>
          </a:xfrm>
          <a:prstGeom prst="rect">
            <a:avLst/>
          </a:prstGeom>
          <a:solidFill>
            <a:srgbClr val="4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202442" y="4949860"/>
            <a:ext cx="992938" cy="49230"/>
          </a:xfrm>
          <a:prstGeom prst="rect">
            <a:avLst/>
          </a:prstGeom>
          <a:solidFill>
            <a:srgbClr val="407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202442" y="4997630"/>
            <a:ext cx="992938" cy="49230"/>
          </a:xfrm>
          <a:prstGeom prst="rect">
            <a:avLst/>
          </a:prstGeom>
          <a:solidFill>
            <a:srgbClr val="3D7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202442" y="5045400"/>
            <a:ext cx="992938" cy="49230"/>
          </a:xfrm>
          <a:prstGeom prst="rect">
            <a:avLst/>
          </a:prstGeom>
          <a:solidFill>
            <a:srgbClr val="3B7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202442" y="5093169"/>
            <a:ext cx="992938" cy="49230"/>
          </a:xfrm>
          <a:prstGeom prst="rect">
            <a:avLst/>
          </a:prstGeom>
          <a:solidFill>
            <a:srgbClr val="387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202442" y="5140939"/>
            <a:ext cx="992938" cy="49230"/>
          </a:xfrm>
          <a:prstGeom prst="rect">
            <a:avLst/>
          </a:prstGeom>
          <a:solidFill>
            <a:srgbClr val="36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202442" y="5188709"/>
            <a:ext cx="992938" cy="49230"/>
          </a:xfrm>
          <a:prstGeom prst="rect">
            <a:avLst/>
          </a:prstGeom>
          <a:solidFill>
            <a:srgbClr val="336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636432" y="5297418"/>
            <a:ext cx="15707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41644A"/>
                </a:solidFill>
                <a:latin typeface="Arial"/>
              </a:rPr>
              <a:t>Y8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06431" y="2402896"/>
            <a:ext cx="28785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255A39"/>
                </a:solidFill>
                <a:latin typeface="Arial"/>
              </a:rPr>
              <a:t>81,6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329141" y="2607398"/>
            <a:ext cx="24243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0" i="0">
                <a:solidFill>
                  <a:srgbClr val="255A39"/>
                </a:solidFill>
                <a:latin typeface="Arial"/>
              </a:rPr>
              <a:t>ASET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937831" y="2756095"/>
            <a:ext cx="992938" cy="488544"/>
          </a:xfrm>
          <a:prstGeom prst="rect">
            <a:avLst/>
          </a:prstGeom>
          <a:solidFill>
            <a:srgbClr val="D8E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937831" y="3244640"/>
            <a:ext cx="992938" cy="63705"/>
          </a:xfrm>
          <a:prstGeom prst="rect">
            <a:avLst/>
          </a:prstGeom>
          <a:solidFill>
            <a:srgbClr val="82B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937831" y="3306885"/>
            <a:ext cx="992938" cy="63705"/>
          </a:xfrm>
          <a:prstGeom prst="rect">
            <a:avLst/>
          </a:prstGeom>
          <a:solidFill>
            <a:srgbClr val="7F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937831" y="3369130"/>
            <a:ext cx="992938" cy="63705"/>
          </a:xfrm>
          <a:prstGeom prst="rect">
            <a:avLst/>
          </a:prstGeom>
          <a:solidFill>
            <a:srgbClr val="7DB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937831" y="3431375"/>
            <a:ext cx="992938" cy="63705"/>
          </a:xfrm>
          <a:prstGeom prst="rect">
            <a:avLst/>
          </a:prstGeom>
          <a:solidFill>
            <a:srgbClr val="7AA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937831" y="3493620"/>
            <a:ext cx="992938" cy="63705"/>
          </a:xfrm>
          <a:prstGeom prst="rect">
            <a:avLst/>
          </a:prstGeom>
          <a:solidFill>
            <a:srgbClr val="78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937831" y="3555865"/>
            <a:ext cx="992938" cy="63705"/>
          </a:xfrm>
          <a:prstGeom prst="rect">
            <a:avLst/>
          </a:prstGeom>
          <a:solidFill>
            <a:srgbClr val="75A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937831" y="3618109"/>
            <a:ext cx="992938" cy="63705"/>
          </a:xfrm>
          <a:prstGeom prst="rect">
            <a:avLst/>
          </a:prstGeom>
          <a:solidFill>
            <a:srgbClr val="73A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937831" y="3680354"/>
            <a:ext cx="992938" cy="63705"/>
          </a:xfrm>
          <a:prstGeom prst="rect">
            <a:avLst/>
          </a:prstGeom>
          <a:solidFill>
            <a:srgbClr val="70A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937831" y="3742599"/>
            <a:ext cx="992938" cy="63705"/>
          </a:xfrm>
          <a:prstGeom prst="rect">
            <a:avLst/>
          </a:prstGeom>
          <a:solidFill>
            <a:srgbClr val="6DA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937831" y="3804844"/>
            <a:ext cx="992938" cy="63705"/>
          </a:xfrm>
          <a:prstGeom prst="rect">
            <a:avLst/>
          </a:prstGeom>
          <a:solidFill>
            <a:srgbClr val="6B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937831" y="3867089"/>
            <a:ext cx="992938" cy="63705"/>
          </a:xfrm>
          <a:prstGeom prst="rect">
            <a:avLst/>
          </a:prstGeom>
          <a:solidFill>
            <a:srgbClr val="68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937831" y="3929334"/>
            <a:ext cx="992938" cy="63705"/>
          </a:xfrm>
          <a:prstGeom prst="rect">
            <a:avLst/>
          </a:prstGeom>
          <a:solidFill>
            <a:srgbClr val="669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937831" y="3991579"/>
            <a:ext cx="992938" cy="63705"/>
          </a:xfrm>
          <a:prstGeom prst="rect">
            <a:avLst/>
          </a:prstGeom>
          <a:solidFill>
            <a:srgbClr val="639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937831" y="4053824"/>
            <a:ext cx="992938" cy="63705"/>
          </a:xfrm>
          <a:prstGeom prst="rect">
            <a:avLst/>
          </a:prstGeom>
          <a:solidFill>
            <a:srgbClr val="619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937831" y="4116069"/>
            <a:ext cx="992938" cy="63705"/>
          </a:xfrm>
          <a:prstGeom prst="rect">
            <a:avLst/>
          </a:prstGeom>
          <a:solidFill>
            <a:srgbClr val="5E9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937831" y="4178314"/>
            <a:ext cx="992938" cy="63705"/>
          </a:xfrm>
          <a:prstGeom prst="rect">
            <a:avLst/>
          </a:prstGeom>
          <a:solidFill>
            <a:srgbClr val="5C9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937831" y="4240559"/>
            <a:ext cx="992938" cy="63705"/>
          </a:xfrm>
          <a:prstGeom prst="rect">
            <a:avLst/>
          </a:prstGeom>
          <a:solidFill>
            <a:srgbClr val="59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937831" y="4302804"/>
            <a:ext cx="992938" cy="63705"/>
          </a:xfrm>
          <a:prstGeom prst="rect">
            <a:avLst/>
          </a:prstGeom>
          <a:solidFill>
            <a:srgbClr val="578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937831" y="4365049"/>
            <a:ext cx="992938" cy="63705"/>
          </a:xfrm>
          <a:prstGeom prst="rect">
            <a:avLst/>
          </a:prstGeom>
          <a:solidFill>
            <a:srgbClr val="54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937831" y="4427294"/>
            <a:ext cx="992938" cy="63705"/>
          </a:xfrm>
          <a:prstGeom prst="rect">
            <a:avLst/>
          </a:prstGeom>
          <a:solidFill>
            <a:srgbClr val="52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937831" y="4489539"/>
            <a:ext cx="992938" cy="63705"/>
          </a:xfrm>
          <a:prstGeom prst="rect">
            <a:avLst/>
          </a:prstGeom>
          <a:solidFill>
            <a:srgbClr val="4F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937831" y="4551784"/>
            <a:ext cx="992938" cy="63705"/>
          </a:xfrm>
          <a:prstGeom prst="rect">
            <a:avLst/>
          </a:prstGeom>
          <a:solidFill>
            <a:srgbClr val="4D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937831" y="4614029"/>
            <a:ext cx="992938" cy="63705"/>
          </a:xfrm>
          <a:prstGeom prst="rect">
            <a:avLst/>
          </a:prstGeom>
          <a:solidFill>
            <a:srgbClr val="4A8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937831" y="4676274"/>
            <a:ext cx="992938" cy="63705"/>
          </a:xfrm>
          <a:prstGeom prst="rect">
            <a:avLst/>
          </a:prstGeom>
          <a:solidFill>
            <a:srgbClr val="48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937831" y="4738519"/>
            <a:ext cx="992938" cy="63705"/>
          </a:xfrm>
          <a:prstGeom prst="rect">
            <a:avLst/>
          </a:prstGeom>
          <a:solidFill>
            <a:srgbClr val="45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937831" y="4800764"/>
            <a:ext cx="992938" cy="63705"/>
          </a:xfrm>
          <a:prstGeom prst="rect">
            <a:avLst/>
          </a:prstGeom>
          <a:solidFill>
            <a:srgbClr val="4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937831" y="4863008"/>
            <a:ext cx="992938" cy="63705"/>
          </a:xfrm>
          <a:prstGeom prst="rect">
            <a:avLst/>
          </a:prstGeom>
          <a:solidFill>
            <a:srgbClr val="407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937831" y="4925253"/>
            <a:ext cx="992938" cy="63705"/>
          </a:xfrm>
          <a:prstGeom prst="rect">
            <a:avLst/>
          </a:prstGeom>
          <a:solidFill>
            <a:srgbClr val="3D7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937831" y="4987498"/>
            <a:ext cx="992938" cy="63705"/>
          </a:xfrm>
          <a:prstGeom prst="rect">
            <a:avLst/>
          </a:prstGeom>
          <a:solidFill>
            <a:srgbClr val="3B7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937831" y="5049743"/>
            <a:ext cx="992938" cy="63705"/>
          </a:xfrm>
          <a:prstGeom prst="rect">
            <a:avLst/>
          </a:prstGeom>
          <a:solidFill>
            <a:srgbClr val="387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937831" y="5111988"/>
            <a:ext cx="992938" cy="63705"/>
          </a:xfrm>
          <a:prstGeom prst="rect">
            <a:avLst/>
          </a:prstGeom>
          <a:solidFill>
            <a:srgbClr val="36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937831" y="5174233"/>
            <a:ext cx="992938" cy="63705"/>
          </a:xfrm>
          <a:prstGeom prst="rect">
            <a:avLst/>
          </a:prstGeom>
          <a:solidFill>
            <a:srgbClr val="336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343406" y="5297418"/>
            <a:ext cx="21390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41644A"/>
                </a:solidFill>
                <a:latin typeface="Arial"/>
              </a:rPr>
              <a:t>Y10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60774" y="5667735"/>
            <a:ext cx="11102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496C51"/>
                </a:solidFill>
                <a:latin typeface="Arial"/>
              </a:rPr>
              <a:t>Y10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551244" y="5660431"/>
            <a:ext cx="58627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1A4B30"/>
                </a:solidFill>
                <a:latin typeface="Arial"/>
              </a:rPr>
              <a:t>Rp81,6 M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60774" y="5667735"/>
            <a:ext cx="11102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496C51"/>
                </a:solidFill>
                <a:latin typeface="Arial"/>
              </a:rPr>
              <a:t>aset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482331" y="5667735"/>
            <a:ext cx="66581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9AB995"/>
                </a:solidFill>
                <a:latin typeface="Arial"/>
              </a:rPr>
              <a:t>·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5624636" y="5660431"/>
            <a:ext cx="58627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1A4B30"/>
                </a:solidFill>
                <a:latin typeface="Arial"/>
              </a:rPr>
              <a:t>Rp65,5 M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60774" y="5667735"/>
            <a:ext cx="11102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496C51"/>
                </a:solidFill>
                <a:latin typeface="Arial"/>
              </a:rPr>
              <a:t>ekuitas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6716743" y="5667735"/>
            <a:ext cx="66581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9AB995"/>
                </a:solidFill>
                <a:latin typeface="Arial"/>
              </a:rPr>
              <a:t>·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859048" y="5660431"/>
            <a:ext cx="58627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1A4B30"/>
                </a:solidFill>
                <a:latin typeface="Arial"/>
              </a:rPr>
              <a:t>Rp16,1 M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60774" y="5667735"/>
            <a:ext cx="11102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496C51"/>
                </a:solidFill>
                <a:latin typeface="Arial"/>
              </a:rPr>
              <a:t>liabilitas</a:t>
            </a:r>
          </a:p>
        </p:txBody>
      </p:sp>
      <p:cxnSp>
        <p:nvCxnSpPr>
          <p:cNvPr id="272" name="Connector 271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07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7549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KELAYAKAN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48 / 66 · ASLI 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Kas kembali pada Tahun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Arus kas bebas kumulatif melewati nol di Y6; payback diperkirakan sekitar 5,4 tahun.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774" y="2234684"/>
            <a:ext cx="265408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5725A"/>
                </a:solidFill>
                <a:latin typeface="Arial"/>
              </a:rPr>
              <a:t>ARUS KAS BEBAS KUMULATIF / RP MILIAR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5059" y="2095915"/>
            <a:ext cx="1628169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A4830"/>
                </a:solidFill>
                <a:latin typeface="Arial"/>
              </a:rPr>
              <a:t>Balik 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2549" y="2095915"/>
            <a:ext cx="310679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86A663"/>
                </a:solidFill>
                <a:latin typeface="Arial"/>
              </a:rPr>
              <a:t>Y6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774" y="2395364"/>
            <a:ext cx="492418" cy="18259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60774" y="2395364"/>
            <a:ext cx="492418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53192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60774" y="2577955"/>
            <a:ext cx="492418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0774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9202" y="241727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Y0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192" y="2417275"/>
            <a:ext cx="264576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−8,8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192" y="2395364"/>
            <a:ext cx="492418" cy="18259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053192" y="2395364"/>
            <a:ext cx="492419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45611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53192" y="2577955"/>
            <a:ext cx="492419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53192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11621" y="241727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Y2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4610" y="2417275"/>
            <a:ext cx="264576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−9,8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45611" y="2395364"/>
            <a:ext cx="492418" cy="18259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545611" y="2395364"/>
            <a:ext cx="492418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38029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545611" y="2577955"/>
            <a:ext cx="492418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545611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604039" y="241727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Y5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47028" y="2417275"/>
            <a:ext cx="264576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−1,5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38029" y="2395364"/>
            <a:ext cx="492418" cy="18259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038029" y="2395364"/>
            <a:ext cx="492418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30447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038029" y="2577955"/>
            <a:ext cx="492418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038029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096457" y="2417275"/>
            <a:ext cx="17499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Y6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9447" y="2417275"/>
            <a:ext cx="264576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+2,0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30447" y="2395364"/>
            <a:ext cx="622398" cy="18259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530447" y="2395364"/>
            <a:ext cx="622398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152845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530447" y="2577955"/>
            <a:ext cx="622398" cy="0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530447" y="2395364"/>
            <a:ext cx="0" cy="182591"/>
          </a:xfrm>
          <a:prstGeom prst="line">
            <a:avLst/>
          </a:prstGeom>
          <a:ln w="1460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588875" y="2417275"/>
            <a:ext cx="239926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Y10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96798" y="2417275"/>
            <a:ext cx="329623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0000"/>
                </a:solidFill>
                <a:latin typeface="Arial"/>
              </a:rPr>
              <a:t>+43,3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2850750" y="4438851"/>
            <a:ext cx="187196" cy="1505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037946" y="4437344"/>
            <a:ext cx="187196" cy="150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225142" y="4435838"/>
            <a:ext cx="187196" cy="1506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412338" y="4435838"/>
            <a:ext cx="187061" cy="4714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599399" y="4440552"/>
            <a:ext cx="186952" cy="9670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86351" y="4450222"/>
            <a:ext cx="186952" cy="9670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973303" y="4459892"/>
            <a:ext cx="186947" cy="747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160250" y="4456842"/>
            <a:ext cx="186907" cy="1052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347157" y="4446315"/>
            <a:ext cx="186905" cy="1052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534062" y="4435788"/>
            <a:ext cx="186907" cy="1052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720969" y="4419079"/>
            <a:ext cx="186401" cy="1670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07370" y="4399180"/>
            <a:ext cx="186142" cy="1989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093512" y="4379282"/>
            <a:ext cx="186142" cy="19898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279654" y="4356315"/>
            <a:ext cx="185682" cy="2296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465336" y="4320821"/>
            <a:ext cx="183807" cy="35494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649143" y="4285327"/>
            <a:ext cx="183806" cy="35494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32949" y="4249833"/>
            <a:ext cx="183807" cy="35494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16756" y="4219738"/>
            <a:ext cx="184731" cy="30095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01487" y="4192073"/>
            <a:ext cx="185147" cy="27665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86634" y="4164406"/>
            <a:ext cx="185146" cy="2766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571780" y="4131143"/>
            <a:ext cx="183883" cy="33263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55663" y="4076595"/>
            <a:ext cx="179080" cy="54548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934743" y="4022047"/>
            <a:ext cx="179079" cy="54548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113822" y="3967500"/>
            <a:ext cx="179078" cy="5454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292900" y="3909674"/>
            <a:ext cx="178028" cy="57826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470928" y="3849741"/>
            <a:ext cx="177349" cy="59933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648277" y="3789809"/>
            <a:ext cx="177349" cy="59932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825626" y="3729876"/>
            <a:ext cx="177350" cy="59933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002976" y="3661948"/>
            <a:ext cx="174438" cy="67928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177414" y="3593806"/>
            <a:ext cx="174360" cy="68142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351774" y="3525664"/>
            <a:ext cx="174360" cy="68142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526134" y="3445637"/>
            <a:ext cx="167809" cy="8002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693943" y="3334593"/>
            <a:ext cx="150713" cy="111044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844656" y="3223549"/>
            <a:ext cx="150712" cy="111044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995368" y="3112506"/>
            <a:ext cx="150713" cy="111043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146081" y="3001462"/>
            <a:ext cx="150713" cy="111044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750896" y="4242092"/>
            <a:ext cx="23171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-8,8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81904" y="4549378"/>
            <a:ext cx="16880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95501" y="4236569"/>
            <a:ext cx="23171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-8,6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6508" y="4549378"/>
            <a:ext cx="16880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40105" y="4269708"/>
            <a:ext cx="23171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-9,8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71112" y="4549378"/>
            <a:ext cx="16880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84709" y="4233807"/>
            <a:ext cx="23171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-8,5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15717" y="4549378"/>
            <a:ext cx="16880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29314" y="4164765"/>
            <a:ext cx="23171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-6,0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60321" y="4549378"/>
            <a:ext cx="16880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73918" y="4040490"/>
            <a:ext cx="23171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-1,5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04926" y="4549378"/>
            <a:ext cx="16880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41119" y="3943832"/>
            <a:ext cx="18651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2,0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49529" y="4549378"/>
            <a:ext cx="16880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85723" y="3977444"/>
            <a:ext cx="18651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9,1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94134" y="4549378"/>
            <a:ext cx="16880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99459" y="3759272"/>
            <a:ext cx="24825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17,0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38739" y="4549378"/>
            <a:ext cx="16880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44063" y="3507960"/>
            <a:ext cx="24825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26,1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83343" y="4549378"/>
            <a:ext cx="16880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88667" y="3032954"/>
            <a:ext cx="24825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43,3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97078" y="4549378"/>
            <a:ext cx="23054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Y10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0774" y="4799287"/>
            <a:ext cx="33510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6" b="0" i="0">
                <a:solidFill>
                  <a:srgbClr val="193C2B"/>
                </a:solidFill>
                <a:latin typeface="Arial"/>
              </a:rPr>
              <a:t>01 / 05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3871" y="4777376"/>
            <a:ext cx="763612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Y0 · investasi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0774" y="5033003"/>
            <a:ext cx="111024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FCF kumulatif −Rp8,8 miliar setelah modal awal dan masa trial.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60774" y="5403207"/>
            <a:ext cx="3527609" cy="0"/>
          </a:xfrm>
          <a:prstGeom prst="line">
            <a:avLst/>
          </a:prstGeom>
          <a:ln w="7303">
            <a:solidFill>
              <a:srgbClr val="A9B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60774" y="5495757"/>
            <a:ext cx="35596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PAYBACK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0774" y="5650389"/>
            <a:ext cx="3559612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E4C31"/>
                </a:solidFill>
                <a:latin typeface="Arial"/>
              </a:rPr>
              <a:t>±5,4 tahun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332138" y="5403207"/>
            <a:ext cx="3527723" cy="0"/>
          </a:xfrm>
          <a:prstGeom prst="line">
            <a:avLst/>
          </a:prstGeom>
          <a:ln w="7303">
            <a:solidFill>
              <a:srgbClr val="A9B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332138" y="5495757"/>
            <a:ext cx="355972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DISCOUNTED PAYBACK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32138" y="5650389"/>
            <a:ext cx="3559726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E4C31"/>
                </a:solidFill>
                <a:latin typeface="Arial"/>
              </a:rPr>
              <a:t>Tahun 7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8103616" y="5403207"/>
            <a:ext cx="3527608" cy="0"/>
          </a:xfrm>
          <a:prstGeom prst="line">
            <a:avLst/>
          </a:prstGeom>
          <a:ln w="7303">
            <a:solidFill>
              <a:srgbClr val="A9B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103616" y="5495757"/>
            <a:ext cx="35596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KAS AKHIR Y10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103616" y="5650389"/>
            <a:ext cx="3559612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E4C31"/>
                </a:solidFill>
                <a:latin typeface="Arial"/>
              </a:rPr>
              <a:t>Rp39,64 M</a:t>
            </a:r>
          </a:p>
        </p:txBody>
      </p:sp>
      <p:cxnSp>
        <p:nvCxnSpPr>
          <p:cNvPr id="117" name="Connector 116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08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7549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KELAYAKAN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49 / 66 · ASLI 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Tahun 1 adalah titik kritis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Produksi baru 3,3% di atas volume titik impas; bantalan membesar mulai Tahun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774" y="2095915"/>
            <a:ext cx="191951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C7C60"/>
                </a:solidFill>
                <a:latin typeface="Arial"/>
              </a:rPr>
              <a:t>VOLUME PANEN VS TITIK IMPAS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4540" y="2103218"/>
            <a:ext cx="115868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C7C60"/>
                </a:solidFill>
                <a:latin typeface="Arial"/>
              </a:rPr>
              <a:t>SAFETY MARGIN 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0774" y="2249291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0774" y="2355194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774" y="2683857"/>
            <a:ext cx="32334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3,3%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35518" y="2377561"/>
            <a:ext cx="2705960" cy="197997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0764" y="2418074"/>
            <a:ext cx="67939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97.251 kg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5518" y="2609680"/>
            <a:ext cx="2792347" cy="197882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20764" y="2650192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100.548 kg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0774" y="2928529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0774" y="3034432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774" y="3363096"/>
            <a:ext cx="391132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29,7%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35518" y="3056799"/>
            <a:ext cx="3166539" cy="197997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20764" y="3097312"/>
            <a:ext cx="73223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114.044 kg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35518" y="3288918"/>
            <a:ext cx="4509934" cy="197882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20764" y="3329430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162.313 kg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0774" y="3607882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0774" y="3713784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774" y="4042448"/>
            <a:ext cx="391132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37,3%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35518" y="3736152"/>
            <a:ext cx="3886166" cy="197997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0764" y="3776664"/>
            <a:ext cx="73223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140.040 kg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35518" y="3968270"/>
            <a:ext cx="6208348" cy="197882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20764" y="4008783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223.360 kg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0774" y="4287120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0774" y="4393022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774" y="4721686"/>
            <a:ext cx="391132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39,2%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35518" y="4415390"/>
            <a:ext cx="4807439" cy="197997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20764" y="4455902"/>
            <a:ext cx="73223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172.935 kg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35518" y="4647508"/>
            <a:ext cx="7897177" cy="197882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20764" y="4688021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284.407 kg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0774" y="4966472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0774" y="5072375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774" y="5401038"/>
            <a:ext cx="391132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37,5%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35518" y="5094742"/>
            <a:ext cx="5997230" cy="197997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20764" y="5135254"/>
            <a:ext cx="73223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215.986 kg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35518" y="5326861"/>
            <a:ext cx="9595706" cy="197882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20764" y="5367373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345.454 kg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0774" y="5645710"/>
            <a:ext cx="11070450" cy="277766"/>
          </a:xfrm>
          <a:prstGeom prst="rect">
            <a:avLst/>
          </a:prstGeom>
          <a:solidFill>
            <a:srgbClr val="E6F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0774" y="5718861"/>
            <a:ext cx="111024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376042"/>
                </a:solidFill>
                <a:latin typeface="Arial"/>
              </a:rPr>
              <a:t>Y0 adalah masa trial dua siklus dan belum mencapai BEP.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09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7549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KELAYAKAN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50 / 66 · ASLI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Indikator kelayakan melewati ambang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NPV dengan nilai likuidasi Y10, IRR, payback, dan profitability index mendukung keputusan 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774" y="2095915"/>
            <a:ext cx="6569075" cy="2042963"/>
          </a:xfrm>
          <a:prstGeom prst="rect">
            <a:avLst/>
          </a:prstGeom>
          <a:solidFill>
            <a:srgbClr val="12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3591" y="2278734"/>
            <a:ext cx="623544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6C1"/>
                </a:solidFill>
                <a:latin typeface="Arial"/>
              </a:rPr>
              <a:t>NPV / NILAI LIKUIDASI Y10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591" y="2766822"/>
            <a:ext cx="6235445" cy="7258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D0EF9B"/>
                </a:solidFill>
                <a:latin typeface="Arial"/>
              </a:rPr>
              <a:t>Rp23,5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5696" y="3095486"/>
            <a:ext cx="621536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32" b="1" i="0">
                <a:solidFill>
                  <a:srgbClr val="D0EF9B"/>
                </a:solidFill>
                <a:latin typeface="Arial"/>
              </a:rPr>
              <a:t>miliar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591" y="3824594"/>
            <a:ext cx="623544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6C1"/>
                </a:solidFill>
                <a:latin typeface="Arial"/>
              </a:rPr>
              <a:t>Lebih besar dari nol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51727" y="2095915"/>
            <a:ext cx="4379497" cy="2042963"/>
          </a:xfrm>
          <a:prstGeom prst="rect">
            <a:avLst/>
          </a:prstGeom>
          <a:solidFill>
            <a:srgbClr val="27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544" y="2278734"/>
            <a:ext cx="404586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6C1"/>
                </a:solidFill>
                <a:latin typeface="Arial"/>
              </a:rPr>
              <a:t>IRR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544" y="2766822"/>
            <a:ext cx="4045868" cy="7258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D0EF9B"/>
                </a:solidFill>
                <a:latin typeface="Arial"/>
              </a:rPr>
              <a:t>26,1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68" y="3095486"/>
            <a:ext cx="267543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32" b="1" i="0">
                <a:solidFill>
                  <a:srgbClr val="D0EF9B"/>
                </a:solidFill>
                <a:latin typeface="Arial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544" y="3824594"/>
            <a:ext cx="404586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6C1"/>
                </a:solidFill>
                <a:latin typeface="Arial"/>
              </a:rPr>
              <a:t>Di atas WACC 12,77%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0774" y="4260758"/>
            <a:ext cx="2676176" cy="0"/>
          </a:xfrm>
          <a:prstGeom prst="line">
            <a:avLst/>
          </a:prstGeom>
          <a:ln w="7303">
            <a:solidFill>
              <a:srgbClr val="A6B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231" y="4365520"/>
            <a:ext cx="2513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231" y="4512848"/>
            <a:ext cx="251326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E4C31"/>
                </a:solidFill>
                <a:latin typeface="Arial"/>
              </a:rPr>
              <a:t>5,4 tahun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58828" y="4260758"/>
            <a:ext cx="2676175" cy="0"/>
          </a:xfrm>
          <a:prstGeom prst="line">
            <a:avLst/>
          </a:prstGeom>
          <a:ln w="7303">
            <a:solidFill>
              <a:srgbClr val="A6B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56284" y="4365520"/>
            <a:ext cx="2513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PROFITABILITY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284" y="4512848"/>
            <a:ext cx="251326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E4C31"/>
                </a:solidFill>
                <a:latin typeface="Arial"/>
              </a:rPr>
              <a:t>4,14×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56881" y="4260758"/>
            <a:ext cx="2676176" cy="0"/>
          </a:xfrm>
          <a:prstGeom prst="line">
            <a:avLst/>
          </a:prstGeom>
          <a:ln w="7303">
            <a:solidFill>
              <a:srgbClr val="A6B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54338" y="4365520"/>
            <a:ext cx="2513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MIRR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338" y="4512848"/>
            <a:ext cx="251326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E4C31"/>
                </a:solidFill>
                <a:latin typeface="Arial"/>
              </a:rPr>
              <a:t>21,9%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54935" y="4260758"/>
            <a:ext cx="2676289" cy="0"/>
          </a:xfrm>
          <a:prstGeom prst="line">
            <a:avLst/>
          </a:prstGeom>
          <a:ln w="7303">
            <a:solidFill>
              <a:srgbClr val="A6B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52391" y="4365520"/>
            <a:ext cx="251338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DISCOUNTED PAYBACK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391" y="4512848"/>
            <a:ext cx="2513380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E4C31"/>
                </a:solidFill>
                <a:latin typeface="Arial"/>
              </a:rPr>
              <a:t>Y7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774" y="5690901"/>
            <a:ext cx="111024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4C7253"/>
                </a:solidFill>
                <a:latin typeface="Arial"/>
              </a:rPr>
              <a:t>LAYAK INVESTASI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72020" y="5589792"/>
            <a:ext cx="574697" cy="333684"/>
          </a:xfrm>
          <a:prstGeom prst="rect">
            <a:avLst/>
          </a:prstGeom>
          <a:solidFill>
            <a:srgbClr val="D0E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72020" y="5650731"/>
            <a:ext cx="606701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1B4A2D"/>
                </a:solidFill>
                <a:latin typeface="Arial"/>
              </a:rPr>
              <a:t>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6258" y="5698205"/>
            <a:ext cx="263697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4C7253"/>
                </a:solidFill>
                <a:latin typeface="Arial"/>
              </a:rPr>
              <a:t>berdasarkan skenario most likely pada materi keuangan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10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7549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KELAYAKAN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51 / 66 · ASLI 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Pendapatan adalah variabel paling peka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Skenario pesimis menghasilkan NPV negatif; expected NPV berbobot tetap positif.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774" y="2095915"/>
            <a:ext cx="2694434" cy="2795238"/>
          </a:xfrm>
          <a:prstGeom prst="rect">
            <a:avLst/>
          </a:prstGeom>
          <a:solidFill>
            <a:srgbClr val="F1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60774" y="2095915"/>
            <a:ext cx="2694435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55209" y="2095915"/>
            <a:ext cx="0" cy="2795238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60774" y="4891153"/>
            <a:ext cx="2694435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60774" y="2095915"/>
            <a:ext cx="0" cy="2795238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9956" y="2225098"/>
            <a:ext cx="246807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7705A"/>
                </a:solidFill>
                <a:latin typeface="Arial"/>
              </a:rPr>
              <a:t>Pesimis ·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956" y="3334680"/>
            <a:ext cx="2468075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9F5A37"/>
                </a:solidFill>
                <a:latin typeface="Arial"/>
              </a:rPr>
              <a:t>−Rp19,9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9956" y="4640091"/>
            <a:ext cx="2436071" cy="121879"/>
          </a:xfrm>
          <a:prstGeom prst="rect">
            <a:avLst/>
          </a:prstGeom>
          <a:solidFill>
            <a:srgbClr val="2759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9956" y="4640091"/>
            <a:ext cx="906209" cy="121879"/>
          </a:xfrm>
          <a:prstGeom prst="rect">
            <a:avLst/>
          </a:prstGeom>
          <a:solidFill>
            <a:srgbClr val="B67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52665" y="2095915"/>
            <a:ext cx="2694548" cy="2795238"/>
          </a:xfrm>
          <a:prstGeom prst="rect">
            <a:avLst/>
          </a:prstGeom>
          <a:solidFill>
            <a:srgbClr val="174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352665" y="2095915"/>
            <a:ext cx="2694549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47214" y="2095915"/>
            <a:ext cx="0" cy="2795238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352665" y="4891153"/>
            <a:ext cx="2694549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352665" y="2095915"/>
            <a:ext cx="0" cy="2795238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81847" y="2225098"/>
            <a:ext cx="246819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C9E4BD"/>
                </a:solidFill>
                <a:latin typeface="Arial"/>
              </a:rPr>
              <a:t>Most likely · 55%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1847" y="3334680"/>
            <a:ext cx="2468190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D2F09D"/>
                </a:solidFill>
                <a:latin typeface="Arial"/>
              </a:rPr>
              <a:t>+Rp23,5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81847" y="4640091"/>
            <a:ext cx="2436186" cy="121879"/>
          </a:xfrm>
          <a:prstGeom prst="rect">
            <a:avLst/>
          </a:prstGeom>
          <a:solidFill>
            <a:srgbClr val="2759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81847" y="4640091"/>
            <a:ext cx="1069397" cy="121879"/>
          </a:xfrm>
          <a:prstGeom prst="rect">
            <a:avLst/>
          </a:prstGeom>
          <a:solidFill>
            <a:srgbClr val="C7E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671" y="2095915"/>
            <a:ext cx="2694548" cy="2795238"/>
          </a:xfrm>
          <a:prstGeom prst="rect">
            <a:avLst/>
          </a:prstGeom>
          <a:solidFill>
            <a:srgbClr val="E5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144671" y="2095915"/>
            <a:ext cx="2694548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39219" y="2095915"/>
            <a:ext cx="0" cy="2795238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144671" y="4891153"/>
            <a:ext cx="2694548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144671" y="2095915"/>
            <a:ext cx="0" cy="2795238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73852" y="2225098"/>
            <a:ext cx="246819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7705A"/>
                </a:solidFill>
                <a:latin typeface="Arial"/>
              </a:rPr>
              <a:t>Optimis · 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52" y="3334680"/>
            <a:ext cx="2468190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255938"/>
                </a:solidFill>
                <a:latin typeface="Arial"/>
              </a:rPr>
              <a:t>+Rp53,5 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3852" y="4640091"/>
            <a:ext cx="2436186" cy="121879"/>
          </a:xfrm>
          <a:prstGeom prst="rect">
            <a:avLst/>
          </a:prstGeom>
          <a:solidFill>
            <a:srgbClr val="2759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73852" y="4640091"/>
            <a:ext cx="2436186" cy="121879"/>
          </a:xfrm>
          <a:prstGeom prst="rect">
            <a:avLst/>
          </a:prstGeom>
          <a:solidFill>
            <a:srgbClr val="6F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36676" y="2095915"/>
            <a:ext cx="2694548" cy="2795238"/>
          </a:xfrm>
          <a:prstGeom prst="rect">
            <a:avLst/>
          </a:prstGeom>
          <a:solidFill>
            <a:srgbClr val="E5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936676" y="2095915"/>
            <a:ext cx="2694548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631224" y="2095915"/>
            <a:ext cx="0" cy="2795238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936676" y="4891153"/>
            <a:ext cx="2694548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936676" y="2095915"/>
            <a:ext cx="0" cy="2795238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065857" y="2225098"/>
            <a:ext cx="246819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7705A"/>
                </a:solidFill>
                <a:latin typeface="Arial"/>
              </a:rPr>
              <a:t>Expected NPV · bobot 25/55/20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5857" y="3334680"/>
            <a:ext cx="2468190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255938"/>
                </a:solidFill>
                <a:latin typeface="Arial"/>
              </a:rPr>
              <a:t>+Rp18,7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65857" y="4640091"/>
            <a:ext cx="2436186" cy="121879"/>
          </a:xfrm>
          <a:prstGeom prst="rect">
            <a:avLst/>
          </a:prstGeom>
          <a:solidFill>
            <a:srgbClr val="2759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65857" y="4640091"/>
            <a:ext cx="852573" cy="121879"/>
          </a:xfrm>
          <a:prstGeom prst="rect">
            <a:avLst/>
          </a:prstGeom>
          <a:solidFill>
            <a:srgbClr val="6F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0774" y="4891153"/>
            <a:ext cx="204138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UJI SATU VARIABEL · NPV RP MILIAR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0160" y="4891153"/>
            <a:ext cx="3490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−25%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7179" y="4891153"/>
            <a:ext cx="33498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90162" y="4891153"/>
            <a:ext cx="3490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+25%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07181" y="4891153"/>
            <a:ext cx="46359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NPV = 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0774" y="5022619"/>
            <a:ext cx="700848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Pendapatan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9618" y="5029922"/>
            <a:ext cx="45948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−11,195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57104" y="5029922"/>
            <a:ext cx="3894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23,547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14520" y="5029922"/>
            <a:ext cx="3894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57,793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71937" y="5029922"/>
            <a:ext cx="67939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turun 14,4%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774" y="5161388"/>
            <a:ext cx="35461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OPEX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3385" y="5168691"/>
            <a:ext cx="3894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36,485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40802" y="5168691"/>
            <a:ext cx="3894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23,547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98219" y="5168691"/>
            <a:ext cx="3894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10,447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55636" y="5168691"/>
            <a:ext cx="62313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naik 35,9%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0774" y="5300157"/>
            <a:ext cx="39284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WACC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615" y="5307460"/>
            <a:ext cx="3894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32,597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79031" y="5307460"/>
            <a:ext cx="3894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23,547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36448" y="5307460"/>
            <a:ext cx="3894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16,723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3865" y="5307460"/>
            <a:ext cx="75870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29,3% WACC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774" y="5460837"/>
            <a:ext cx="33510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6" b="0" i="0">
                <a:solidFill>
                  <a:srgbClr val="193C2B"/>
                </a:solidFill>
                <a:latin typeface="Arial"/>
              </a:rPr>
              <a:t>01 / 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3871" y="5438926"/>
            <a:ext cx="813025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193C2B"/>
                </a:solidFill>
                <a:latin typeface="Arial"/>
              </a:rPr>
              <a:t>Pesimis · 25%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0774" y="5675153"/>
            <a:ext cx="1110245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527258"/>
                </a:solidFill>
                <a:latin typeface="Arial"/>
              </a:rPr>
              <a:t>Pendapatan turun 25% dan OPEX naik 15% menghasilkan NPV negatif Rp19,9 miliar.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0774" y="5792011"/>
            <a:ext cx="568140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93C2B"/>
                </a:solidFill>
                <a:latin typeface="Arial"/>
              </a:rPr>
              <a:t>Pendapatan paling sensitif. Pesimis: pendapatan −25% dan OPEX +15%; nilai NPV mencakup likuidasi Y10.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11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7549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KELAYAKAN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PRESENTASI 52 / 66 · ASLI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Layak, dengan tiga risiko yang dikawal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Keputusan investasi GO bergantung pada penerimaan harga, ketahanan produksi, dan disiplin penagihan.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774" y="2095915"/>
            <a:ext cx="11070450" cy="1190949"/>
          </a:xfrm>
          <a:prstGeom prst="rect">
            <a:avLst/>
          </a:prstGeom>
          <a:solidFill>
            <a:srgbClr val="143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801" y="2629308"/>
            <a:ext cx="145071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D4E8CA"/>
                </a:solidFill>
                <a:latin typeface="Arial"/>
              </a:rPr>
              <a:t>KEPUTUSAN INVESTASI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1751" y="2249519"/>
            <a:ext cx="1023116" cy="9084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0" b="1" i="0">
                <a:solidFill>
                  <a:srgbClr val="D0ED9E"/>
                </a:solidFill>
                <a:latin typeface="Arial"/>
              </a:rPr>
              <a:t>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820" y="2417503"/>
            <a:ext cx="52503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E3F0DF"/>
                </a:solidFill>
                <a:latin typeface="Arial"/>
              </a:rPr>
              <a:t>NPV Rp23,5 M · IRR 26,1%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820" y="2614701"/>
            <a:ext cx="52503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E3F0DF"/>
                </a:solidFill>
                <a:latin typeface="Arial"/>
              </a:rPr>
              <a:t>MIRR 21,9% · PI 4,14×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820" y="2811899"/>
            <a:ext cx="52503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E3F0DF"/>
                </a:solidFill>
                <a:latin typeface="Arial"/>
              </a:rPr>
              <a:t>Payback ±5,4 tahun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0774" y="3408743"/>
            <a:ext cx="3616962" cy="2514733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60774" y="3408743"/>
            <a:ext cx="3616963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77737" y="3408743"/>
            <a:ext cx="0" cy="2514733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60774" y="5923476"/>
            <a:ext cx="3616963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60774" y="3408743"/>
            <a:ext cx="0" cy="2514733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4377" y="3562348"/>
            <a:ext cx="334176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9A05D"/>
                </a:solidFill>
                <a:latin typeface="Arial"/>
              </a:rPr>
              <a:t>01 / RISIKO TINGGI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7" y="3825507"/>
            <a:ext cx="3341761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1B4B2E"/>
                </a:solidFill>
                <a:latin typeface="Arial"/>
              </a:rPr>
              <a:t>Harga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7" y="4258932"/>
            <a:ext cx="3341761" cy="351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58725D"/>
                </a:solidFill>
                <a:latin typeface="Arial"/>
              </a:rPr>
              <a:t>Kontrak pra-jual B2B, bukti Brix dan label per buah; Grade A tanpa diskon.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7404" y="3408743"/>
            <a:ext cx="3617076" cy="2514733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287404" y="3408743"/>
            <a:ext cx="3617077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04481" y="3408743"/>
            <a:ext cx="0" cy="2514733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287404" y="5923476"/>
            <a:ext cx="3617077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287404" y="3408743"/>
            <a:ext cx="0" cy="2514733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41006" y="3562348"/>
            <a:ext cx="33418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9A05D"/>
                </a:solidFill>
                <a:latin typeface="Arial"/>
              </a:rPr>
              <a:t>02 / RISIKO TINGGI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1006" y="3825507"/>
            <a:ext cx="3341875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1B4B2E"/>
                </a:solidFill>
                <a:latin typeface="Arial"/>
              </a:rPr>
              <a:t>IoT / gagal panen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1006" y="4258932"/>
            <a:ext cx="3341875" cy="351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58725D"/>
                </a:solidFill>
                <a:latin typeface="Arial"/>
              </a:rPr>
              <a:t>Sensor multi-vendor, SOP manual cadangan, dua lokasi sejak Y1, IPM hama.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4148" y="3408743"/>
            <a:ext cx="3616962" cy="2514733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014148" y="3408743"/>
            <a:ext cx="3616962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631110" y="3408743"/>
            <a:ext cx="0" cy="2514733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014148" y="5923476"/>
            <a:ext cx="3616962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014148" y="3408743"/>
            <a:ext cx="0" cy="2514733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67750" y="3562348"/>
            <a:ext cx="334176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9A05D"/>
                </a:solidFill>
                <a:latin typeface="Arial"/>
              </a:rPr>
              <a:t>03 / RISIKO TINGGI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7750" y="3825507"/>
            <a:ext cx="3341761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1B4B2E"/>
                </a:solidFill>
                <a:latin typeface="Arial"/>
              </a:rPr>
              <a:t>Piutang B2B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7750" y="4258932"/>
            <a:ext cx="3341761" cy="351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58725D"/>
                </a:solidFill>
                <a:latin typeface="Arial"/>
              </a:rPr>
              <a:t>SOP penagihan otomatis, invoice financing siaga, kas minimal 4,5 bulan biaya.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972623" y="6309428"/>
            <a:ext cx="2658601" cy="0"/>
          </a:xfrm>
          <a:prstGeom prst="line">
            <a:avLst/>
          </a:prstGeom>
          <a:ln w="7303">
            <a:solidFill>
              <a:srgbClr val="98B2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972623" y="6081760"/>
            <a:ext cx="26906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57454"/>
                </a:solidFill>
                <a:latin typeface="Arial"/>
              </a:rPr>
              <a:t>LIHAT TABEL &amp; ANGKA LENGKAP SUMBER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52858" y="6037938"/>
            <a:ext cx="21037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557454"/>
                </a:solidFill>
                <a:latin typeface="Arial"/>
              </a:rPr>
              <a:t>↗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1784" y="6544057"/>
            <a:ext cx="24314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SUMBER: FINANCIAL STRATEGY (MERY) · HALAMAN 12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PRESENTASI 53 / 66 · ASLI 08</a:t>
            </a:r>
          </a:p>
        </p:txBody>
      </p:sp>
      <p:pic>
        <p:nvPicPr>
          <p:cNvPr id="6" name="Picture 5" descr="picture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PASAR &amp; MEREK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331544"/>
            <a:ext cx="7603261" cy="10545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Tiga sasaran pemasaran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2438843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Meningkatkan penjualan, membangun merek, dan meningkatkan kepuasan pelanggan.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02" y="5550192"/>
            <a:ext cx="231339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9502" y="5642743"/>
            <a:ext cx="23453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5742597"/>
            <a:ext cx="234539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Rp 7,4 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02" y="6103899"/>
            <a:ext cx="234539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pendapatan Y1 menurut model keuangan baru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3285" y="5550192"/>
            <a:ext cx="2313510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3285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3285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20 outlet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3285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B2B aktif Tahun 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797182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797182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7182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10%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7182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aided brand awareness Tahun 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91079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391079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1079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≥80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1079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Customer Satisfaction Index Tahun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36902" y="6544057"/>
            <a:ext cx="202632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SUMBER: PDF ASLI + CATATAN · HALAMAN 08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54 / 66 · ASLI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Enam segmen, dua jalur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Prioritas B2B adalah ritel premium dan HoReCa; B2C melayani keluarga premium, gifting, dan komunitas.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3533932"/>
            <a:ext cx="7163970" cy="2215169"/>
          </a:xfrm>
          <a:prstGeom prst="rect">
            <a:avLst/>
          </a:prstGeom>
          <a:solidFill>
            <a:srgbClr val="1C5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3533932"/>
            <a:ext cx="7163971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8951" y="3784995"/>
            <a:ext cx="3034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1F6E7"/>
                </a:solidFill>
                <a:latin typeface="Arial"/>
              </a:rPr>
              <a:t>B2B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951" y="3936089"/>
            <a:ext cx="6708463" cy="13393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F1F6E7"/>
                </a:solidFill>
                <a:latin typeface="Arial"/>
              </a:rPr>
              <a:t>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951" y="5282925"/>
            <a:ext cx="32505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F1F6E7"/>
                </a:solidFill>
                <a:latin typeface="Arial"/>
              </a:rPr>
              <a:t>Ritel premium · HoReCa · pembelian institusi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9166" y="3533932"/>
            <a:ext cx="3857522" cy="2215169"/>
          </a:xfrm>
          <a:prstGeom prst="rect">
            <a:avLst/>
          </a:prstGeom>
          <a:solidFill>
            <a:srgbClr val="DF9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749166" y="3533932"/>
            <a:ext cx="3857523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92922" y="3784995"/>
            <a:ext cx="30748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40291E"/>
                </a:solidFill>
                <a:latin typeface="Arial"/>
              </a:rPr>
              <a:t>B2C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2922" y="3936089"/>
            <a:ext cx="3402015" cy="13393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40291E"/>
                </a:solidFill>
                <a:latin typeface="Arial"/>
              </a:rP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922" y="5282925"/>
            <a:ext cx="32505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40291E"/>
                </a:solidFill>
                <a:latin typeface="Arial"/>
              </a:rPr>
              <a:t>Keluarga premium · gifting · komunitas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195" y="5870982"/>
            <a:ext cx="7163970" cy="182819"/>
          </a:xfrm>
          <a:prstGeom prst="rect">
            <a:avLst/>
          </a:prstGeom>
          <a:solidFill>
            <a:srgbClr val="1C5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49166" y="5870982"/>
            <a:ext cx="3857522" cy="182819"/>
          </a:xfrm>
          <a:prstGeom prst="rect">
            <a:avLst/>
          </a:prstGeom>
          <a:solidFill>
            <a:srgbClr val="DF9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195" y="6175680"/>
            <a:ext cx="11053611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4C2F25"/>
                </a:solidFill>
                <a:latin typeface="Arial"/>
              </a:rPr>
              <a:t>Dua jalur, satu standar buah premium.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SIDANG AKHIR · HALAMAN 09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55 / 66 · ASLI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68156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Dari TAM ke SOM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761203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Estimasi pasar disusun top-down dari konsumsi dan bottom-up dari pintu distribusi.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814" y="2194856"/>
            <a:ext cx="5198748" cy="3628651"/>
          </a:xfrm>
          <a:prstGeom prst="rect">
            <a:avLst/>
          </a:prstGeom>
          <a:solidFill>
            <a:srgbClr val="234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631" y="4555300"/>
            <a:ext cx="486511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EEF6E8"/>
                </a:solidFill>
                <a:latin typeface="Arial"/>
              </a:rPr>
              <a:t>01 / TOTAL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631" y="4788674"/>
            <a:ext cx="4865119" cy="7039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16" b="1" i="0">
                <a:solidFill>
                  <a:srgbClr val="EEF6E8"/>
                </a:solidFill>
                <a:latin typeface="Arial"/>
              </a:rPr>
              <a:t>16.800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2055" y="5131945"/>
            <a:ext cx="354500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EEF6E8"/>
                </a:solidFill>
                <a:latin typeface="Arial"/>
              </a:rPr>
              <a:t>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631" y="5482291"/>
            <a:ext cx="4865119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EF6E8"/>
                </a:solidFill>
                <a:latin typeface="Arial"/>
              </a:rPr>
              <a:t>Jabodetabek · tahunan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88020" y="3174685"/>
            <a:ext cx="3327217" cy="2648823"/>
          </a:xfrm>
          <a:prstGeom prst="rect">
            <a:avLst/>
          </a:prstGeom>
          <a:solidFill>
            <a:srgbClr val="7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0836" y="4555300"/>
            <a:ext cx="299358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EEF6E8"/>
                </a:solidFill>
                <a:latin typeface="Arial"/>
              </a:rPr>
              <a:t>02 / SERVICEABLE AVAILABLE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0836" y="4788674"/>
            <a:ext cx="2993588" cy="7039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16" b="1" i="0">
                <a:solidFill>
                  <a:srgbClr val="EEF6E8"/>
                </a:solidFill>
                <a:latin typeface="Arial"/>
              </a:rPr>
              <a:t>236,9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6931" y="5131945"/>
            <a:ext cx="354500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EEF6E8"/>
                </a:solidFill>
                <a:latin typeface="Arial"/>
              </a:rPr>
              <a:t>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0836" y="5482291"/>
            <a:ext cx="2993588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EF6E8"/>
                </a:solidFill>
                <a:latin typeface="Arial"/>
              </a:rPr>
              <a:t>Saluran yang dapat dilayani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12694" y="3972949"/>
            <a:ext cx="2287490" cy="1850558"/>
          </a:xfrm>
          <a:prstGeom prst="rect">
            <a:avLst/>
          </a:prstGeom>
          <a:solidFill>
            <a:srgbClr val="DC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5511" y="4436502"/>
            <a:ext cx="1953861" cy="2603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4D3124"/>
                </a:solidFill>
                <a:latin typeface="Arial"/>
              </a:rPr>
              <a:t>03 / SERVICEABLE OBTAINABLE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5511" y="4788674"/>
            <a:ext cx="1953861" cy="7039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16" b="1" i="0">
                <a:solidFill>
                  <a:srgbClr val="4D3124"/>
                </a:solidFill>
                <a:latin typeface="Arial"/>
              </a:rPr>
              <a:t>90,5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90389" y="5131945"/>
            <a:ext cx="354500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4D3124"/>
                </a:solidFill>
                <a:latin typeface="Arial"/>
              </a:rPr>
              <a:t>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5511" y="5482291"/>
            <a:ext cx="1953861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D3124"/>
                </a:solidFill>
                <a:latin typeface="Arial"/>
              </a:rPr>
              <a:t>Target Tahun 1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8902669" y="6337501"/>
            <a:ext cx="2697515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02669" y="6075712"/>
            <a:ext cx="272951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4C2F25"/>
                </a:solidFill>
                <a:latin typeface="Arial"/>
              </a:rPr>
              <a:t>BUKA PERHITUNGAN TAM / SAM / SOM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18281" y="6042845"/>
            <a:ext cx="213907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4C2F25"/>
                </a:solidFill>
                <a:latin typeface="Arial"/>
              </a:rPr>
              <a:t>↗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2550" y="6537324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SIDANG AKHIR · HALAMAN 10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56 / 66 · ASLI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8298124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Apa yang setara. Apa yang berbeda.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755611"/>
            <a:ext cx="8298124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Standar premium menjadi titik kesetaraan; kesegaran urban, konsistensi, dan kedekatan lokasi menjadi pembeda.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2238107"/>
            <a:ext cx="5413290" cy="4105556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85195" y="2238107"/>
            <a:ext cx="5413291" cy="0"/>
          </a:xfrm>
          <a:prstGeom prst="line">
            <a:avLst/>
          </a:prstGeom>
          <a:ln w="65731">
            <a:solidFill>
              <a:srgbClr val="6E9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3372" y="2572021"/>
            <a:ext cx="490894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01 / PARITY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372" y="2801058"/>
            <a:ext cx="4695426" cy="7235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4C2F25"/>
                </a:solidFill>
                <a:latin typeface="Arial"/>
              </a:rPr>
              <a:t>Layak dibandingkan sebagai melon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372" y="4810813"/>
            <a:ext cx="4908940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4C2F25"/>
                </a:solidFill>
                <a:latin typeface="Arial"/>
              </a:rPr>
              <a:t>Point of parity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372" y="5503175"/>
            <a:ext cx="490894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4C2F25"/>
                </a:solidFill>
                <a:latin typeface="Arial"/>
              </a:rPr>
              <a:t>syarat untuk masuk pasar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3372" y="5793038"/>
            <a:ext cx="4876937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3372" y="5885589"/>
            <a:ext cx="602136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4C2F25"/>
                </a:solidFill>
                <a:latin typeface="Arial"/>
              </a:rPr>
              <a:t>Standar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282" y="5929411"/>
            <a:ext cx="106203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4C2F25"/>
                </a:solidFill>
                <a:latin typeface="Arial"/>
              </a:rPr>
              <a:t>syarat dasar kategori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3513" y="2238107"/>
            <a:ext cx="5413290" cy="4105556"/>
          </a:xfrm>
          <a:prstGeom prst="rect">
            <a:avLst/>
          </a:prstGeom>
          <a:solidFill>
            <a:srgbClr val="E3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193513" y="2238107"/>
            <a:ext cx="5413290" cy="0"/>
          </a:xfrm>
          <a:prstGeom prst="line">
            <a:avLst/>
          </a:prstGeom>
          <a:ln w="65731">
            <a:solidFill>
              <a:srgbClr val="D49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61690" y="2572021"/>
            <a:ext cx="490894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02 / DIFFERENCE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90" y="2801058"/>
            <a:ext cx="469542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4C2F25"/>
                </a:solidFill>
                <a:latin typeface="Arial"/>
              </a:rPr>
              <a:t>Alasan memilih Melooloo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90" y="4810813"/>
            <a:ext cx="4908940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4C2F25"/>
                </a:solidFill>
                <a:latin typeface="Arial"/>
              </a:rPr>
              <a:t>Point of difference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90" y="5503175"/>
            <a:ext cx="490894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4C2F25"/>
                </a:solidFill>
                <a:latin typeface="Arial"/>
              </a:rPr>
              <a:t>alasan dipilih pelanggan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61690" y="5793038"/>
            <a:ext cx="4876937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61690" y="5885589"/>
            <a:ext cx="475123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4C2F25"/>
                </a:solidFill>
                <a:latin typeface="Arial"/>
              </a:rPr>
              <a:t>Urban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4658" y="5929411"/>
            <a:ext cx="129597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4C2F25"/>
                </a:solidFill>
                <a:latin typeface="Arial"/>
              </a:rPr>
              <a:t>kesegaran dan kedekatan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SIDANG AKHIR · HALAMAN 11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57 / 66 · ASLI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68156"/>
            <a:ext cx="3475393" cy="579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44" b="1" i="0">
                <a:solidFill>
                  <a:srgbClr val="4C2F25"/>
                </a:solidFill>
                <a:latin typeface="Arial Narrow"/>
              </a:rPr>
              <a:t>Peta kompetitif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1719321"/>
            <a:ext cx="3475393" cy="37367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766054"/>
                </a:solidFill>
                <a:latin typeface="Arial"/>
              </a:rPr>
              <a:t>Posisi pemain dilihat dari dua sumbu yang disusun dari sumber publik di dalam deck.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814" y="4598095"/>
            <a:ext cx="3742835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1814" y="4678549"/>
            <a:ext cx="27575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509" y="4656638"/>
            <a:ext cx="3470144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4C2F25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509" y="4926644"/>
            <a:ext cx="347014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4C2F25">
                    <a:alpha val="83000"/>
                  </a:srgbClr>
                </a:solidFill>
                <a:latin typeface="Arial"/>
              </a:rPr>
              <a:t>pemain dipetakan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1814" y="5208519"/>
            <a:ext cx="3742835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1814" y="5288973"/>
            <a:ext cx="27575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509" y="5267062"/>
            <a:ext cx="3470144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4C2F25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509" y="5537068"/>
            <a:ext cx="347014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4C2F25">
                    <a:alpha val="83000"/>
                  </a:srgbClr>
                </a:solidFill>
                <a:latin typeface="Arial"/>
              </a:rPr>
              <a:t>ruang strategi yang dituju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814" y="5758003"/>
            <a:ext cx="37748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766054"/>
                </a:solidFill>
                <a:latin typeface="Arial"/>
              </a:rPr>
              <a:t>Data dan bagan dari materi sumber.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91814" y="6337501"/>
            <a:ext cx="2364406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1814" y="6075712"/>
            <a:ext cx="239640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4C2F25"/>
                </a:solidFill>
                <a:latin typeface="Arial"/>
              </a:rPr>
              <a:t>LIHAT DATA PADA HALAMAN ASLI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4316" y="6042845"/>
            <a:ext cx="213907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4C2F25"/>
                </a:solidFill>
                <a:latin typeface="Arial"/>
              </a:rPr>
              <a:t>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396" y="814811"/>
            <a:ext cx="6899788" cy="55226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700396" y="814811"/>
            <a:ext cx="689978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600184" y="814811"/>
            <a:ext cx="0" cy="552269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700396" y="6337501"/>
            <a:ext cx="689978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700396" y="814811"/>
            <a:ext cx="0" cy="552269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2550" y="6537324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SIDANG AKHIR · HALAMAN 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1344168"/>
            <a:ext cx="4443984" cy="4425696"/>
          </a:xfrm>
          <a:prstGeom prst="rect">
            <a:avLst/>
          </a:prstGeom>
          <a:solidFill>
            <a:srgbClr val="FFFFFF"/>
          </a:solidFill>
          <a:ln w="8890">
            <a:solidFill>
              <a:srgbClr val="B2C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74920" y="1344168"/>
            <a:ext cx="2088672" cy="4425696"/>
          </a:xfrm>
          <a:prstGeom prst="rect">
            <a:avLst/>
          </a:prstGeom>
          <a:solidFill>
            <a:srgbClr val="DEEFD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963716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74920" y="2229307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2513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74920" y="3114446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41310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74920" y="3999585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630107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74920" y="4884724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074920" y="5769864"/>
            <a:ext cx="4443984" cy="0"/>
          </a:xfrm>
          <a:prstGeom prst="line">
            <a:avLst/>
          </a:prstGeom>
          <a:ln w="12700">
            <a:solidFill>
              <a:srgbClr val="384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074920" y="1344168"/>
            <a:ext cx="0" cy="4425696"/>
          </a:xfrm>
          <a:prstGeom prst="line">
            <a:avLst/>
          </a:prstGeom>
          <a:ln w="12700">
            <a:solidFill>
              <a:srgbClr val="384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5-Point Star 43"/>
          <p:cNvSpPr/>
          <p:nvPr/>
        </p:nvSpPr>
        <p:spPr>
          <a:xfrm>
            <a:off x="5139659" y="1895185"/>
            <a:ext cx="137160" cy="137160"/>
          </a:xfrm>
          <a:prstGeom prst="star5">
            <a:avLst/>
          </a:prstGeom>
          <a:solidFill>
            <a:srgbClr val="21844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81391" y="187232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1</a:t>
            </a:r>
          </a:p>
        </p:txBody>
      </p:sp>
      <p:sp>
        <p:nvSpPr>
          <p:cNvPr id="46" name="Oval 45"/>
          <p:cNvSpPr/>
          <p:nvPr/>
        </p:nvSpPr>
        <p:spPr>
          <a:xfrm>
            <a:off x="9646920" y="1531619"/>
            <a:ext cx="100584" cy="100584"/>
          </a:xfrm>
          <a:prstGeom prst="ellipse">
            <a:avLst/>
          </a:prstGeom>
          <a:solidFill>
            <a:srgbClr val="21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11512" y="15087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3E27"/>
                </a:solidFill>
                <a:latin typeface="Arial"/>
              </a:rPr>
              <a:t>01  Melooloo</a:t>
            </a:r>
          </a:p>
        </p:txBody>
      </p:sp>
      <p:sp>
        <p:nvSpPr>
          <p:cNvPr id="48" name="Oval 47"/>
          <p:cNvSpPr/>
          <p:nvPr/>
        </p:nvSpPr>
        <p:spPr>
          <a:xfrm>
            <a:off x="6517294" y="3045866"/>
            <a:ext cx="137160" cy="137160"/>
          </a:xfrm>
          <a:prstGeom prst="ellipse">
            <a:avLst/>
          </a:prstGeom>
          <a:solidFill>
            <a:srgbClr val="3072A0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59026" y="302300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9646920" y="1897379"/>
            <a:ext cx="100584" cy="100584"/>
          </a:xfrm>
          <a:prstGeom prst="ellipse">
            <a:avLst/>
          </a:prstGeom>
          <a:solidFill>
            <a:srgbClr val="307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11512" y="1874519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02  Ir. Yoga Purnomo</a:t>
            </a:r>
          </a:p>
        </p:txBody>
      </p:sp>
      <p:sp>
        <p:nvSpPr>
          <p:cNvPr id="52" name="Oval 51"/>
          <p:cNvSpPr/>
          <p:nvPr/>
        </p:nvSpPr>
        <p:spPr>
          <a:xfrm>
            <a:off x="7095012" y="3045866"/>
            <a:ext cx="137160" cy="137160"/>
          </a:xfrm>
          <a:prstGeom prst="ellipse">
            <a:avLst/>
          </a:prstGeom>
          <a:solidFill>
            <a:srgbClr val="BE5341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36744" y="302300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3</a:t>
            </a:r>
          </a:p>
        </p:txBody>
      </p:sp>
      <p:sp>
        <p:nvSpPr>
          <p:cNvPr id="54" name="Oval 53"/>
          <p:cNvSpPr/>
          <p:nvPr/>
        </p:nvSpPr>
        <p:spPr>
          <a:xfrm>
            <a:off x="9646920" y="2263140"/>
            <a:ext cx="100584" cy="100584"/>
          </a:xfrm>
          <a:prstGeom prst="ellipse">
            <a:avLst/>
          </a:prstGeom>
          <a:solidFill>
            <a:srgbClr val="BE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11512" y="224028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03  Sweet Greens</a:t>
            </a:r>
          </a:p>
        </p:txBody>
      </p:sp>
      <p:sp>
        <p:nvSpPr>
          <p:cNvPr id="56" name="Oval 55"/>
          <p:cNvSpPr/>
          <p:nvPr/>
        </p:nvSpPr>
        <p:spPr>
          <a:xfrm>
            <a:off x="8072688" y="3045866"/>
            <a:ext cx="137160" cy="137160"/>
          </a:xfrm>
          <a:prstGeom prst="ellipse">
            <a:avLst/>
          </a:prstGeom>
          <a:solidFill>
            <a:srgbClr val="CF7C2E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4420" y="302300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4</a:t>
            </a:r>
          </a:p>
        </p:txBody>
      </p:sp>
      <p:sp>
        <p:nvSpPr>
          <p:cNvPr id="58" name="Oval 57"/>
          <p:cNvSpPr/>
          <p:nvPr/>
        </p:nvSpPr>
        <p:spPr>
          <a:xfrm>
            <a:off x="9646920" y="2628900"/>
            <a:ext cx="100584" cy="100584"/>
          </a:xfrm>
          <a:prstGeom prst="ellipse">
            <a:avLst/>
          </a:prstGeom>
          <a:solidFill>
            <a:srgbClr val="CF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11512" y="260604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04  Wohsae</a:t>
            </a:r>
          </a:p>
        </p:txBody>
      </p:sp>
      <p:sp>
        <p:nvSpPr>
          <p:cNvPr id="60" name="Oval 59"/>
          <p:cNvSpPr/>
          <p:nvPr/>
        </p:nvSpPr>
        <p:spPr>
          <a:xfrm>
            <a:off x="7539410" y="1895185"/>
            <a:ext cx="137160" cy="137160"/>
          </a:xfrm>
          <a:prstGeom prst="ellipse">
            <a:avLst/>
          </a:prstGeom>
          <a:solidFill>
            <a:srgbClr val="954EA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1142" y="187232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5</a:t>
            </a:r>
          </a:p>
        </p:txBody>
      </p:sp>
      <p:sp>
        <p:nvSpPr>
          <p:cNvPr id="62" name="Oval 61"/>
          <p:cNvSpPr/>
          <p:nvPr/>
        </p:nvSpPr>
        <p:spPr>
          <a:xfrm>
            <a:off x="9646920" y="2994660"/>
            <a:ext cx="100584" cy="100584"/>
          </a:xfrm>
          <a:prstGeom prst="ellipse">
            <a:avLst/>
          </a:prstGeom>
          <a:solidFill>
            <a:srgbClr val="95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11512" y="297180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05  Sunpride</a:t>
            </a:r>
          </a:p>
        </p:txBody>
      </p:sp>
      <p:sp>
        <p:nvSpPr>
          <p:cNvPr id="64" name="Oval 63"/>
          <p:cNvSpPr/>
          <p:nvPr/>
        </p:nvSpPr>
        <p:spPr>
          <a:xfrm>
            <a:off x="7850489" y="1895185"/>
            <a:ext cx="137160" cy="137160"/>
          </a:xfrm>
          <a:prstGeom prst="ellipse">
            <a:avLst/>
          </a:prstGeom>
          <a:solidFill>
            <a:srgbClr val="C44F3C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92221" y="187232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6</a:t>
            </a:r>
          </a:p>
        </p:txBody>
      </p:sp>
      <p:sp>
        <p:nvSpPr>
          <p:cNvPr id="66" name="Oval 65"/>
          <p:cNvSpPr/>
          <p:nvPr/>
        </p:nvSpPr>
        <p:spPr>
          <a:xfrm>
            <a:off x="9646920" y="3360420"/>
            <a:ext cx="100584" cy="100584"/>
          </a:xfrm>
          <a:prstGeom prst="ellipse">
            <a:avLst/>
          </a:prstGeom>
          <a:solidFill>
            <a:srgbClr val="C44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11512" y="33375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06  Urbana Farm</a:t>
            </a:r>
          </a:p>
        </p:txBody>
      </p:sp>
      <p:sp>
        <p:nvSpPr>
          <p:cNvPr id="68" name="Oval 67"/>
          <p:cNvSpPr/>
          <p:nvPr/>
        </p:nvSpPr>
        <p:spPr>
          <a:xfrm>
            <a:off x="9183684" y="1895185"/>
            <a:ext cx="137160" cy="137160"/>
          </a:xfrm>
          <a:prstGeom prst="ellipse">
            <a:avLst/>
          </a:prstGeom>
          <a:solidFill>
            <a:srgbClr val="964DA3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5416" y="187232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7</a:t>
            </a:r>
          </a:p>
        </p:txBody>
      </p:sp>
      <p:sp>
        <p:nvSpPr>
          <p:cNvPr id="70" name="Oval 69"/>
          <p:cNvSpPr/>
          <p:nvPr/>
        </p:nvSpPr>
        <p:spPr>
          <a:xfrm>
            <a:off x="9646920" y="3726180"/>
            <a:ext cx="100584" cy="100584"/>
          </a:xfrm>
          <a:prstGeom prst="ellipse">
            <a:avLst/>
          </a:prstGeom>
          <a:solidFill>
            <a:srgbClr val="96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11512" y="370332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07  Crown Melon</a:t>
            </a:r>
          </a:p>
        </p:txBody>
      </p:sp>
      <p:sp>
        <p:nvSpPr>
          <p:cNvPr id="72" name="Oval 71"/>
          <p:cNvSpPr/>
          <p:nvPr/>
        </p:nvSpPr>
        <p:spPr>
          <a:xfrm>
            <a:off x="7806049" y="4063776"/>
            <a:ext cx="137160" cy="137160"/>
          </a:xfrm>
          <a:prstGeom prst="ellipse">
            <a:avLst/>
          </a:prstGeom>
          <a:solidFill>
            <a:srgbClr val="DC842D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47781" y="404091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8</a:t>
            </a:r>
          </a:p>
        </p:txBody>
      </p:sp>
      <p:sp>
        <p:nvSpPr>
          <p:cNvPr id="74" name="Oval 73"/>
          <p:cNvSpPr/>
          <p:nvPr/>
        </p:nvSpPr>
        <p:spPr>
          <a:xfrm>
            <a:off x="9646920" y="4091940"/>
            <a:ext cx="100584" cy="100584"/>
          </a:xfrm>
          <a:prstGeom prst="ellipse">
            <a:avLst/>
          </a:prstGeom>
          <a:solidFill>
            <a:srgbClr val="DC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11512" y="406908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08  Kabul Pamudji</a:t>
            </a:r>
          </a:p>
        </p:txBody>
      </p:sp>
      <p:sp>
        <p:nvSpPr>
          <p:cNvPr id="76" name="Oval 75"/>
          <p:cNvSpPr/>
          <p:nvPr/>
        </p:nvSpPr>
        <p:spPr>
          <a:xfrm>
            <a:off x="6650614" y="5081686"/>
            <a:ext cx="137160" cy="137160"/>
          </a:xfrm>
          <a:prstGeom prst="ellipse">
            <a:avLst/>
          </a:prstGeom>
          <a:solidFill>
            <a:srgbClr val="7A898E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92346" y="505882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9</a:t>
            </a:r>
          </a:p>
        </p:txBody>
      </p:sp>
      <p:sp>
        <p:nvSpPr>
          <p:cNvPr id="78" name="Oval 77"/>
          <p:cNvSpPr/>
          <p:nvPr/>
        </p:nvSpPr>
        <p:spPr>
          <a:xfrm>
            <a:off x="9646920" y="4457700"/>
            <a:ext cx="100584" cy="100584"/>
          </a:xfrm>
          <a:prstGeom prst="ellipse">
            <a:avLst/>
          </a:prstGeom>
          <a:solidFill>
            <a:srgbClr val="7A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11512" y="443484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09  Akaruku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03520" y="5907024"/>
            <a:ext cx="4018788" cy="3246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3E27"/>
                </a:solidFill>
                <a:latin typeface="Arial"/>
              </a:rPr>
              <a:t>Jarak produksi ke konsumen Jakarta (km, skala logaritmik)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4098" y="328891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58 / 66 · ASLI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068156"/>
            <a:ext cx="3475393" cy="10457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44" b="1" i="0">
                <a:solidFill>
                  <a:srgbClr val="4C2F25"/>
                </a:solidFill>
                <a:latin typeface="Arial Narrow"/>
              </a:rPr>
              <a:t>Ruang menuju titik ideal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814" y="2185270"/>
            <a:ext cx="3475393" cy="37367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766054"/>
                </a:solidFill>
                <a:latin typeface="Arial"/>
              </a:rPr>
              <a:t>Posisi Melooloo dibandingkan dengan merek yang dapat ditemui konsumen Jakarta.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814" y="4598095"/>
            <a:ext cx="3742835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1814" y="4678549"/>
            <a:ext cx="27575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509" y="4656638"/>
            <a:ext cx="3470144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4C2F25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509" y="4926644"/>
            <a:ext cx="347014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4C2F25">
                    <a:alpha val="83000"/>
                  </a:srgbClr>
                </a:solidFill>
                <a:latin typeface="Arial"/>
              </a:rPr>
              <a:t>merek dalam peta positioning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1814" y="5208519"/>
            <a:ext cx="3742835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1814" y="5288973"/>
            <a:ext cx="27575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509" y="5267062"/>
            <a:ext cx="3470144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4C2F25"/>
                </a:solidFill>
                <a:latin typeface="Arial"/>
              </a:rPr>
              <a:t>Jakarta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509" y="5537068"/>
            <a:ext cx="347014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4C2F25">
                    <a:alpha val="83000"/>
                  </a:srgbClr>
                </a:solidFill>
                <a:latin typeface="Arial"/>
              </a:rPr>
              <a:t>fokus pasar awal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814" y="5758003"/>
            <a:ext cx="37748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766054"/>
                </a:solidFill>
                <a:latin typeface="Arial"/>
              </a:rPr>
              <a:t>Data dan bagan dari materi sumber.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91814" y="6337501"/>
            <a:ext cx="2364406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1814" y="6075712"/>
            <a:ext cx="239640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4C2F25"/>
                </a:solidFill>
                <a:latin typeface="Arial"/>
              </a:rPr>
              <a:t>LIHAT DATA PADA HALAMAN ASLI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4316" y="6042845"/>
            <a:ext cx="213907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4C2F25"/>
                </a:solidFill>
                <a:latin typeface="Arial"/>
              </a:rPr>
              <a:t>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396" y="814811"/>
            <a:ext cx="6899788" cy="55226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700396" y="814811"/>
            <a:ext cx="689978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600184" y="814811"/>
            <a:ext cx="0" cy="552269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700396" y="6337501"/>
            <a:ext cx="689978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700396" y="814811"/>
            <a:ext cx="0" cy="552269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2550" y="6537324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SIDANG AKHIR · HALAMAN 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1344168"/>
            <a:ext cx="4443984" cy="4425696"/>
          </a:xfrm>
          <a:prstGeom prst="rect">
            <a:avLst/>
          </a:prstGeom>
          <a:solidFill>
            <a:srgbClr val="FFFFFF"/>
          </a:solidFill>
          <a:ln w="8890">
            <a:solidFill>
              <a:srgbClr val="B2C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96912" y="1344168"/>
            <a:ext cx="2221992" cy="2212848"/>
          </a:xfrm>
          <a:prstGeom prst="rect">
            <a:avLst/>
          </a:prstGeom>
          <a:solidFill>
            <a:srgbClr val="DDF1D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963716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74920" y="2229307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2513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74920" y="3114446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41310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74920" y="3999585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630107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74920" y="4884724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074920" y="5769864"/>
            <a:ext cx="4443984" cy="0"/>
          </a:xfrm>
          <a:prstGeom prst="line">
            <a:avLst/>
          </a:prstGeom>
          <a:ln w="12700">
            <a:solidFill>
              <a:srgbClr val="384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074920" y="1344168"/>
            <a:ext cx="0" cy="4425696"/>
          </a:xfrm>
          <a:prstGeom prst="line">
            <a:avLst/>
          </a:prstGeom>
          <a:ln w="12700">
            <a:solidFill>
              <a:srgbClr val="384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5-Point Star 43"/>
          <p:cNvSpPr/>
          <p:nvPr/>
        </p:nvSpPr>
        <p:spPr>
          <a:xfrm>
            <a:off x="8383767" y="2426268"/>
            <a:ext cx="137160" cy="137160"/>
          </a:xfrm>
          <a:prstGeom prst="star5">
            <a:avLst/>
          </a:prstGeom>
          <a:solidFill>
            <a:srgbClr val="21844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5499" y="2403408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1</a:t>
            </a:r>
          </a:p>
        </p:txBody>
      </p:sp>
      <p:sp>
        <p:nvSpPr>
          <p:cNvPr id="46" name="Oval 45"/>
          <p:cNvSpPr/>
          <p:nvPr/>
        </p:nvSpPr>
        <p:spPr>
          <a:xfrm>
            <a:off x="9646920" y="1531619"/>
            <a:ext cx="100584" cy="100584"/>
          </a:xfrm>
          <a:prstGeom prst="ellipse">
            <a:avLst/>
          </a:prstGeom>
          <a:solidFill>
            <a:srgbClr val="21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11512" y="15087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3E27"/>
                </a:solidFill>
                <a:latin typeface="Arial"/>
              </a:rPr>
              <a:t>01  Melooloo</a:t>
            </a:r>
          </a:p>
        </p:txBody>
      </p:sp>
      <p:sp>
        <p:nvSpPr>
          <p:cNvPr id="48" name="Oval 47"/>
          <p:cNvSpPr/>
          <p:nvPr/>
        </p:nvSpPr>
        <p:spPr>
          <a:xfrm>
            <a:off x="8250448" y="2160727"/>
            <a:ext cx="137160" cy="137160"/>
          </a:xfrm>
          <a:prstGeom prst="ellipse">
            <a:avLst/>
          </a:prstGeom>
          <a:solidFill>
            <a:srgbClr val="21844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2180" y="2137867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9646920" y="1897379"/>
            <a:ext cx="100584" cy="100584"/>
          </a:xfrm>
          <a:prstGeom prst="ellipse">
            <a:avLst/>
          </a:prstGeom>
          <a:solidFill>
            <a:srgbClr val="21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11512" y="1874519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02  Titik ideal</a:t>
            </a:r>
          </a:p>
        </p:txBody>
      </p:sp>
      <p:sp>
        <p:nvSpPr>
          <p:cNvPr id="52" name="Oval 51"/>
          <p:cNvSpPr/>
          <p:nvPr/>
        </p:nvSpPr>
        <p:spPr>
          <a:xfrm>
            <a:off x="6783933" y="2027956"/>
            <a:ext cx="137160" cy="137160"/>
          </a:xfrm>
          <a:prstGeom prst="ellipse">
            <a:avLst/>
          </a:prstGeom>
          <a:solidFill>
            <a:srgbClr val="854A9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25665" y="200509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3</a:t>
            </a:r>
          </a:p>
        </p:txBody>
      </p:sp>
      <p:sp>
        <p:nvSpPr>
          <p:cNvPr id="54" name="Oval 53"/>
          <p:cNvSpPr/>
          <p:nvPr/>
        </p:nvSpPr>
        <p:spPr>
          <a:xfrm>
            <a:off x="9646920" y="2263140"/>
            <a:ext cx="100584" cy="100584"/>
          </a:xfrm>
          <a:prstGeom prst="ellipse">
            <a:avLst/>
          </a:prstGeom>
          <a:solidFill>
            <a:srgbClr val="854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11512" y="224028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03  Crown Melon</a:t>
            </a:r>
          </a:p>
        </p:txBody>
      </p:sp>
      <p:sp>
        <p:nvSpPr>
          <p:cNvPr id="56" name="Oval 55"/>
          <p:cNvSpPr/>
          <p:nvPr/>
        </p:nvSpPr>
        <p:spPr>
          <a:xfrm>
            <a:off x="7406091" y="2824581"/>
            <a:ext cx="137160" cy="137160"/>
          </a:xfrm>
          <a:prstGeom prst="ellipse">
            <a:avLst/>
          </a:prstGeom>
          <a:solidFill>
            <a:srgbClr val="C95042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7823" y="2801721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4</a:t>
            </a:r>
          </a:p>
        </p:txBody>
      </p:sp>
      <p:sp>
        <p:nvSpPr>
          <p:cNvPr id="58" name="Oval 57"/>
          <p:cNvSpPr/>
          <p:nvPr/>
        </p:nvSpPr>
        <p:spPr>
          <a:xfrm>
            <a:off x="9646920" y="2628900"/>
            <a:ext cx="100584" cy="100584"/>
          </a:xfrm>
          <a:prstGeom prst="ellipse">
            <a:avLst/>
          </a:prstGeom>
          <a:solidFill>
            <a:srgbClr val="C9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11512" y="260604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04  Urbana Farm</a:t>
            </a:r>
          </a:p>
        </p:txBody>
      </p:sp>
      <p:sp>
        <p:nvSpPr>
          <p:cNvPr id="60" name="Oval 59"/>
          <p:cNvSpPr/>
          <p:nvPr/>
        </p:nvSpPr>
        <p:spPr>
          <a:xfrm>
            <a:off x="7717170" y="2736067"/>
            <a:ext cx="137160" cy="137160"/>
          </a:xfrm>
          <a:prstGeom prst="ellipse">
            <a:avLst/>
          </a:prstGeom>
          <a:solidFill>
            <a:srgbClr val="BD4B3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58902" y="2713207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5</a:t>
            </a:r>
          </a:p>
        </p:txBody>
      </p:sp>
      <p:sp>
        <p:nvSpPr>
          <p:cNvPr id="62" name="Oval 61"/>
          <p:cNvSpPr/>
          <p:nvPr/>
        </p:nvSpPr>
        <p:spPr>
          <a:xfrm>
            <a:off x="9646920" y="2994660"/>
            <a:ext cx="100584" cy="100584"/>
          </a:xfrm>
          <a:prstGeom prst="ellipse">
            <a:avLst/>
          </a:prstGeom>
          <a:solidFill>
            <a:srgbClr val="BD4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11512" y="297180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05  Dang Sweet Melon</a:t>
            </a:r>
          </a:p>
        </p:txBody>
      </p:sp>
      <p:sp>
        <p:nvSpPr>
          <p:cNvPr id="64" name="Oval 63"/>
          <p:cNvSpPr/>
          <p:nvPr/>
        </p:nvSpPr>
        <p:spPr>
          <a:xfrm>
            <a:off x="7228332" y="3045866"/>
            <a:ext cx="137160" cy="137160"/>
          </a:xfrm>
          <a:prstGeom prst="ellipse">
            <a:avLst/>
          </a:prstGeom>
          <a:solidFill>
            <a:srgbClr val="D28B31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0064" y="302300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6</a:t>
            </a:r>
          </a:p>
        </p:txBody>
      </p:sp>
      <p:sp>
        <p:nvSpPr>
          <p:cNvPr id="66" name="Oval 65"/>
          <p:cNvSpPr/>
          <p:nvPr/>
        </p:nvSpPr>
        <p:spPr>
          <a:xfrm>
            <a:off x="9646920" y="3360420"/>
            <a:ext cx="100584" cy="100584"/>
          </a:xfrm>
          <a:prstGeom prst="ellipse">
            <a:avLst/>
          </a:prstGeom>
          <a:solidFill>
            <a:srgbClr val="D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11512" y="33375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06  Wohsae</a:t>
            </a:r>
          </a:p>
        </p:txBody>
      </p:sp>
      <p:sp>
        <p:nvSpPr>
          <p:cNvPr id="68" name="Oval 67"/>
          <p:cNvSpPr/>
          <p:nvPr/>
        </p:nvSpPr>
        <p:spPr>
          <a:xfrm>
            <a:off x="7494971" y="3267151"/>
            <a:ext cx="137160" cy="137160"/>
          </a:xfrm>
          <a:prstGeom prst="ellipse">
            <a:avLst/>
          </a:prstGeom>
          <a:solidFill>
            <a:srgbClr val="CE8029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36703" y="3244291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7</a:t>
            </a:r>
          </a:p>
        </p:txBody>
      </p:sp>
      <p:sp>
        <p:nvSpPr>
          <p:cNvPr id="70" name="Oval 69"/>
          <p:cNvSpPr/>
          <p:nvPr/>
        </p:nvSpPr>
        <p:spPr>
          <a:xfrm>
            <a:off x="9646920" y="3726180"/>
            <a:ext cx="100584" cy="100584"/>
          </a:xfrm>
          <a:prstGeom prst="ellipse">
            <a:avLst/>
          </a:prstGeom>
          <a:solidFill>
            <a:srgbClr val="CE8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11512" y="370332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07  Mirai Melon</a:t>
            </a:r>
          </a:p>
        </p:txBody>
      </p:sp>
      <p:sp>
        <p:nvSpPr>
          <p:cNvPr id="72" name="Oval 71"/>
          <p:cNvSpPr/>
          <p:nvPr/>
        </p:nvSpPr>
        <p:spPr>
          <a:xfrm>
            <a:off x="7894929" y="3488435"/>
            <a:ext cx="137160" cy="137160"/>
          </a:xfrm>
          <a:prstGeom prst="ellipse">
            <a:avLst/>
          </a:prstGeom>
          <a:solidFill>
            <a:srgbClr val="D38E3B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36661" y="346557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8</a:t>
            </a:r>
          </a:p>
        </p:txBody>
      </p:sp>
      <p:sp>
        <p:nvSpPr>
          <p:cNvPr id="74" name="Oval 73"/>
          <p:cNvSpPr/>
          <p:nvPr/>
        </p:nvSpPr>
        <p:spPr>
          <a:xfrm>
            <a:off x="9646920" y="4091940"/>
            <a:ext cx="100584" cy="100584"/>
          </a:xfrm>
          <a:prstGeom prst="ellipse">
            <a:avLst/>
          </a:prstGeom>
          <a:solidFill>
            <a:srgbClr val="D38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11512" y="406908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08  Akaruku</a:t>
            </a:r>
          </a:p>
        </p:txBody>
      </p:sp>
      <p:sp>
        <p:nvSpPr>
          <p:cNvPr id="76" name="Oval 75"/>
          <p:cNvSpPr/>
          <p:nvPr/>
        </p:nvSpPr>
        <p:spPr>
          <a:xfrm>
            <a:off x="7361651" y="3842491"/>
            <a:ext cx="137160" cy="137160"/>
          </a:xfrm>
          <a:prstGeom prst="ellipse">
            <a:avLst/>
          </a:prstGeom>
          <a:solidFill>
            <a:srgbClr val="327CAA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03383" y="3819631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9</a:t>
            </a:r>
          </a:p>
        </p:txBody>
      </p:sp>
      <p:sp>
        <p:nvSpPr>
          <p:cNvPr id="78" name="Oval 77"/>
          <p:cNvSpPr/>
          <p:nvPr/>
        </p:nvSpPr>
        <p:spPr>
          <a:xfrm>
            <a:off x="9646920" y="4457700"/>
            <a:ext cx="100584" cy="100584"/>
          </a:xfrm>
          <a:prstGeom prst="ellipse">
            <a:avLst/>
          </a:prstGeom>
          <a:solidFill>
            <a:srgbClr val="327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11512" y="443484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09  Sunpride</a:t>
            </a:r>
          </a:p>
        </p:txBody>
      </p:sp>
      <p:sp>
        <p:nvSpPr>
          <p:cNvPr id="80" name="Oval 79"/>
          <p:cNvSpPr/>
          <p:nvPr/>
        </p:nvSpPr>
        <p:spPr>
          <a:xfrm>
            <a:off x="7628290" y="3753977"/>
            <a:ext cx="137160" cy="137160"/>
          </a:xfrm>
          <a:prstGeom prst="ellipse">
            <a:avLst/>
          </a:prstGeom>
          <a:solidFill>
            <a:srgbClr val="259D83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70022" y="3731117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10</a:t>
            </a:r>
          </a:p>
        </p:txBody>
      </p:sp>
      <p:sp>
        <p:nvSpPr>
          <p:cNvPr id="82" name="Oval 81"/>
          <p:cNvSpPr/>
          <p:nvPr/>
        </p:nvSpPr>
        <p:spPr>
          <a:xfrm>
            <a:off x="9646920" y="4823460"/>
            <a:ext cx="100584" cy="100584"/>
          </a:xfrm>
          <a:prstGeom prst="ellipse">
            <a:avLst/>
          </a:prstGeom>
          <a:solidFill>
            <a:srgbClr val="25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11512" y="480060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10  Mama Melon</a:t>
            </a:r>
          </a:p>
        </p:txBody>
      </p:sp>
      <p:sp>
        <p:nvSpPr>
          <p:cNvPr id="84" name="Oval 83"/>
          <p:cNvSpPr/>
          <p:nvPr/>
        </p:nvSpPr>
        <p:spPr>
          <a:xfrm>
            <a:off x="6339535" y="4683373"/>
            <a:ext cx="137160" cy="137160"/>
          </a:xfrm>
          <a:prstGeom prst="ellipse">
            <a:avLst/>
          </a:prstGeom>
          <a:solidFill>
            <a:srgbClr val="67808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81267" y="4660513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11</a:t>
            </a:r>
          </a:p>
        </p:txBody>
      </p:sp>
      <p:sp>
        <p:nvSpPr>
          <p:cNvPr id="86" name="Oval 85"/>
          <p:cNvSpPr/>
          <p:nvPr/>
        </p:nvSpPr>
        <p:spPr>
          <a:xfrm>
            <a:off x="9646920" y="5189220"/>
            <a:ext cx="100584" cy="100584"/>
          </a:xfrm>
          <a:prstGeom prst="ellipse">
            <a:avLst/>
          </a:prstGeom>
          <a:solidFill>
            <a:srgbClr val="67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11512" y="51663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11  Melon tanpa merek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03520" y="5907024"/>
            <a:ext cx="4018788" cy="3246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3E27"/>
                </a:solidFill>
                <a:latin typeface="Arial"/>
              </a:rPr>
              <a:t>Persepsi kesegaran &amp; kejelasan asal produk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PRESENTASI 59 / 66 · ASLI 14</a:t>
            </a:r>
          </a:p>
        </p:txBody>
      </p:sp>
      <p:pic>
        <p:nvPicPr>
          <p:cNvPr id="6" name="Picture 5" descr="picture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PASAR &amp; MEREK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331544"/>
            <a:ext cx="7603261" cy="18207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Posisi merek: kebun di kota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3205040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Janji merek bertumpu pada asal yang dekat, kesegaran, kualitas konsisten, dan pengalaman smart farming.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502" y="5550192"/>
            <a:ext cx="317806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9502" y="5642743"/>
            <a:ext cx="321006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5742597"/>
            <a:ext cx="321006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Lokal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02" y="6103899"/>
            <a:ext cx="321006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asal yang dekat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067955" y="5550192"/>
            <a:ext cx="3178180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067955" y="5642743"/>
            <a:ext cx="321018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7955" y="5742597"/>
            <a:ext cx="321018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Premium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7955" y="6103899"/>
            <a:ext cx="321018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rasa dan penampilan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526523" y="5550192"/>
            <a:ext cx="3178065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526523" y="5642743"/>
            <a:ext cx="321006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6523" y="5742597"/>
            <a:ext cx="321006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Terukur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26523" y="6103899"/>
            <a:ext cx="321006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budidaya presisi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SUMBER: PDF SIDANG AKHIR · HALAMAN 14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60 / 66 · ASLI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Produk dan harga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Tiga lini produk melayani meja makan, hadiah, dan kebutuhan HoReCa.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2128325"/>
            <a:ext cx="5425500" cy="3504375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cture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2128325"/>
            <a:ext cx="5425500" cy="3504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7073" y="5410396"/>
            <a:ext cx="521374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195" y="5717948"/>
            <a:ext cx="5457504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4C2F25"/>
                </a:solidFill>
                <a:latin typeface="Arial"/>
              </a:rPr>
              <a:t>Signature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195" y="6002789"/>
            <a:ext cx="545750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766054"/>
                </a:solidFill>
                <a:latin typeface="Arial"/>
              </a:rPr>
              <a:t>Rp 75.000/kg · jalur B2B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02" y="2128325"/>
            <a:ext cx="5425500" cy="3504375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cture-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02" y="2128325"/>
            <a:ext cx="5425500" cy="35043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3180" y="5410396"/>
            <a:ext cx="521374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02" y="5717948"/>
            <a:ext cx="5457504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4C2F25"/>
                </a:solidFill>
                <a:latin typeface="Arial"/>
              </a:rPr>
              <a:t>Gift Edition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02" y="6002789"/>
            <a:ext cx="545750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766054"/>
                </a:solidFill>
                <a:latin typeface="Arial"/>
              </a:rPr>
              <a:t>Rp 535.000 · kotak tiga buah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195" y="6234109"/>
            <a:ext cx="1105361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766054"/>
                </a:solidFill>
                <a:latin typeface="Arial"/>
              </a:rPr>
              <a:t>253 responden dalam pengujian kesediaan membayar · kemasan adalah visualisasi konsep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SIDANG AKHIR · HALAMAN 15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61 / 66 · ASLI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Lima kanal distribusi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Harga, marjin perantara, dan dukungan channel dirancang per kanal dalam sumber deck.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195" y="3113403"/>
            <a:ext cx="1102160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85195" y="4485117"/>
            <a:ext cx="1102160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5195" y="3401097"/>
            <a:ext cx="21388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195" y="3625228"/>
            <a:ext cx="186678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Ritel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597" y="3772099"/>
            <a:ext cx="300294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82A968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9494" y="3401097"/>
            <a:ext cx="213896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9494" y="3625228"/>
            <a:ext cx="186678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Hotel &amp; restoran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010" y="3772099"/>
            <a:ext cx="300294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82A968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3907" y="3401097"/>
            <a:ext cx="21388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3907" y="3625228"/>
            <a:ext cx="1866789" cy="621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Direct to consumer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9309" y="3772099"/>
            <a:ext cx="300294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82A968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8206" y="3401097"/>
            <a:ext cx="21388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8206" y="3625228"/>
            <a:ext cx="186678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3608" y="3772099"/>
            <a:ext cx="300294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82A968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2505" y="3401097"/>
            <a:ext cx="21388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2505" y="3625228"/>
            <a:ext cx="186678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Marketplace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5195" y="5653014"/>
            <a:ext cx="3441792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5195" y="5745564"/>
            <a:ext cx="347379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195" y="5845419"/>
            <a:ext cx="3473795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C2F25"/>
                </a:solidFill>
                <a:latin typeface="Arial"/>
              </a:rPr>
              <a:t>Ritel 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195" y="6206721"/>
            <a:ext cx="347379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C2F25">
                    <a:alpha val="83000"/>
                  </a:srgbClr>
                </a:solidFill>
                <a:latin typeface="Arial"/>
              </a:rPr>
              <a:t>B2B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07375" y="5653014"/>
            <a:ext cx="3441791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07375" y="5745564"/>
            <a:ext cx="347379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7375" y="5845419"/>
            <a:ext cx="3473795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C2F25"/>
                </a:solidFill>
                <a:latin typeface="Arial"/>
              </a:rPr>
              <a:t>Hotel &amp; restoran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7375" y="6206721"/>
            <a:ext cx="347379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C2F25">
                    <a:alpha val="83000"/>
                  </a:srgbClr>
                </a:solidFill>
                <a:latin typeface="Arial"/>
              </a:rPr>
              <a:t>HoReCa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SIDANG AKHIR · HALAMAN 16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62 / 66 · ASLI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Komunikasi yang terukur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IMC Tahun 1 menggabungkan digital, personal selling, sampling, event, PR, dan materi di titik jual.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195" y="2189264"/>
            <a:ext cx="1102160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85195" y="3307177"/>
            <a:ext cx="1102160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5195" y="2890642"/>
            <a:ext cx="359441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4C2F25"/>
                </a:solidFill>
                <a:latin typeface="Arial"/>
              </a:rPr>
              <a:t>ANGGARAN PEMASARAN &amp; PENJUALAN Y1 · MODEL BARU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5162" y="2350173"/>
            <a:ext cx="2333645" cy="8207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183" b="1" i="0">
                <a:solidFill>
                  <a:srgbClr val="4C2F25"/>
                </a:solidFill>
                <a:latin typeface="Arial"/>
              </a:rPr>
              <a:t>Rp 768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8258" y="2817605"/>
            <a:ext cx="360549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4C2F25"/>
                </a:solidFill>
                <a:latin typeface="Arial"/>
              </a:rPr>
              <a:t>juta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195" y="3429057"/>
            <a:ext cx="7629799" cy="2724598"/>
          </a:xfrm>
          <a:prstGeom prst="rect">
            <a:avLst/>
          </a:prstGeom>
          <a:solidFill>
            <a:srgbClr val="264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33" y="3495018"/>
            <a:ext cx="7247327" cy="9595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43" b="1" i="0">
                <a:solidFill>
                  <a:srgbClr val="F5F8ED"/>
                </a:solidFill>
                <a:latin typeface="Arial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33" y="4355705"/>
            <a:ext cx="724732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5F8ED"/>
                </a:solidFill>
                <a:latin typeface="Arial"/>
              </a:rPr>
              <a:t>MEMBANGUN KESADARAN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33" y="5909896"/>
            <a:ext cx="7215323" cy="974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6873" y="3429057"/>
            <a:ext cx="3269930" cy="2724598"/>
          </a:xfrm>
          <a:prstGeom prst="rect">
            <a:avLst/>
          </a:prstGeom>
          <a:solidFill>
            <a:srgbClr val="DB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4111" y="3495018"/>
            <a:ext cx="2887458" cy="9595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43" b="1" i="0">
                <a:solidFill>
                  <a:srgbClr val="452B20"/>
                </a:solidFill>
                <a:latin typeface="Arial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4111" y="4355705"/>
            <a:ext cx="288745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452B20"/>
                </a:solidFill>
                <a:latin typeface="Arial"/>
              </a:rPr>
              <a:t>KONVERSI PROSPEK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4111" y="5909896"/>
            <a:ext cx="2855454" cy="974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195" y="6226806"/>
            <a:ext cx="110536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6054"/>
                </a:solidFill>
                <a:latin typeface="Arial"/>
              </a:rPr>
              <a:t>Pembagian 70/30 berasal dari materi Canva dan perlu dibaca sebagai rencana alokasi, bukan realisasi.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6902" y="6544057"/>
            <a:ext cx="202632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ASLI + CATATAN · HALAMAN 17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63 / 66 · ASLI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Brand di titik temu pelanggan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Materi produk, kemasan, rak ritel, halaman digital, dan booth menjadi satu pengalaman merek.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195" y="2116114"/>
            <a:ext cx="3383249" cy="4037541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cture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2116114"/>
            <a:ext cx="3383249" cy="40375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7073" y="5931351"/>
            <a:ext cx="317149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7073" y="2237993"/>
            <a:ext cx="998644" cy="238737"/>
          </a:xfrm>
          <a:prstGeom prst="rect">
            <a:avLst/>
          </a:prstGeom>
          <a:solidFill>
            <a:srgbClr val="F4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073" y="2298933"/>
            <a:ext cx="103064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3D392D"/>
                </a:solidFill>
                <a:latin typeface="Arial"/>
              </a:rPr>
              <a:t>01 · UJI MANIS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5901" y="2116114"/>
            <a:ext cx="4060081" cy="4037541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cture-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901" y="2116114"/>
            <a:ext cx="4060081" cy="40375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87779" y="5931351"/>
            <a:ext cx="384833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779" y="2237993"/>
            <a:ext cx="1011311" cy="238737"/>
          </a:xfrm>
          <a:prstGeom prst="rect">
            <a:avLst/>
          </a:prstGeom>
          <a:solidFill>
            <a:srgbClr val="F4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779" y="2298933"/>
            <a:ext cx="104331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3D392D"/>
                </a:solidFill>
                <a:latin typeface="Arial"/>
              </a:rPr>
              <a:t>02 · RAK RITEL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3440" y="2116114"/>
            <a:ext cx="3383363" cy="4037541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icture-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440" y="2116114"/>
            <a:ext cx="3383363" cy="40375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45318" y="5931351"/>
            <a:ext cx="317161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45318" y="2237993"/>
            <a:ext cx="1586008" cy="238737"/>
          </a:xfrm>
          <a:prstGeom prst="rect">
            <a:avLst/>
          </a:prstGeom>
          <a:solidFill>
            <a:srgbClr val="F4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5318" y="2298933"/>
            <a:ext cx="16180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3D392D"/>
                </a:solidFill>
                <a:latin typeface="Arial"/>
              </a:rPr>
              <a:t>03 · KOMUNITAS PILATES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195" y="6226806"/>
            <a:ext cx="110536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766054"/>
                </a:solidFill>
                <a:latin typeface="Arial"/>
              </a:rPr>
              <a:t>Tiga titik pengalaman merek: cicip di booth, temukan di rak, lalu bawa ke komunitas. Semua foto adalah konsep tanpa wajah manusia.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SIDANG AKHIR · HALAMAN 18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PRESENTASI 64 / 66 · ASLI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Ekonomi pemasaran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Deck mengukur kontribusi pemasaran melalui NMC, MROS, dan MROI sepanjang horizon.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195" y="4867188"/>
            <a:ext cx="3576337" cy="0"/>
          </a:xfrm>
          <a:prstGeom prst="line">
            <a:avLst/>
          </a:prstGeom>
          <a:ln w="36517">
            <a:solidFill>
              <a:srgbClr val="DD97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85195" y="5983047"/>
            <a:ext cx="3576337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5195" y="5074315"/>
            <a:ext cx="353519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01 / NMC kumulatif Y0–Y10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195" y="5403435"/>
            <a:ext cx="3535191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5" b="1" i="0">
                <a:solidFill>
                  <a:srgbClr val="4C2F25"/>
                </a:solidFill>
                <a:latin typeface="Arial"/>
              </a:rPr>
              <a:t>Rp 83.712 Jt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07831" y="4867188"/>
            <a:ext cx="3576337" cy="0"/>
          </a:xfrm>
          <a:prstGeom prst="line">
            <a:avLst/>
          </a:prstGeom>
          <a:ln w="36517">
            <a:solidFill>
              <a:srgbClr val="DD97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307831" y="5983047"/>
            <a:ext cx="3576337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07831" y="5074315"/>
            <a:ext cx="353519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02 / MROS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831" y="5403435"/>
            <a:ext cx="3535191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5" b="1" i="0">
                <a:solidFill>
                  <a:srgbClr val="4C2F25"/>
                </a:solidFill>
                <a:latin typeface="Arial"/>
              </a:rPr>
              <a:t>52–59%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30467" y="4867188"/>
            <a:ext cx="3576336" cy="0"/>
          </a:xfrm>
          <a:prstGeom prst="line">
            <a:avLst/>
          </a:prstGeom>
          <a:ln w="36517">
            <a:solidFill>
              <a:srgbClr val="DD97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030467" y="5983047"/>
            <a:ext cx="3576336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30467" y="5074315"/>
            <a:ext cx="353519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03 / MROI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0467" y="5403435"/>
            <a:ext cx="3535191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5" b="1" i="0">
                <a:solidFill>
                  <a:srgbClr val="4C2F25"/>
                </a:solidFill>
                <a:latin typeface="Arial"/>
              </a:rPr>
              <a:t>780–904%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195" y="6226806"/>
            <a:ext cx="110536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766054"/>
                </a:solidFill>
                <a:latin typeface="Arial"/>
              </a:rPr>
              <a:t>Ukuran NMC, MROS, dan MROI sesuai halaman pemasaran Canva; periksa kesesuaian dengan model keuangan terbaru sebelum mengutipnya.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SUMBER: PDF SIDANG AKHIR · HALAMAN 19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63079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PRESENTASI 65 / 66 · ASLI 65</a:t>
            </a:r>
          </a:p>
        </p:txBody>
      </p:sp>
      <p:pic>
        <p:nvPicPr>
          <p:cNvPr id="6" name="Picture 5" descr="pictur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C14">
              <a:alpha val="96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C14">
              <a:alpha val="95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C14">
              <a:alpha val="94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C14">
              <a:alpha val="94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C14">
              <a:alpha val="9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C14">
              <a:alpha val="92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C14">
              <a:alpha val="91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C14">
              <a:alpha val="90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C14">
              <a:alpha val="89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C14">
              <a:alpha val="88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C14">
              <a:alpha val="88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C14">
              <a:alpha val="8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C14">
              <a:alpha val="86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C14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C14">
              <a:alpha val="84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C14">
              <a:alpha val="8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C14">
              <a:alpha val="83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C14">
              <a:alpha val="82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C14">
              <a:alpha val="81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C14">
              <a:alpha val="80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C14">
              <a:alpha val="79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C14">
              <a:alpha val="78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C14">
              <a:alpha val="78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C14">
              <a:alpha val="77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C14">
              <a:alpha val="76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C14">
              <a:alpha val="75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C14">
              <a:alpha val="74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C14">
              <a:alpha val="73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C14">
              <a:alpha val="72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C14">
              <a:alpha val="72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C14">
              <a:alpha val="71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C14">
              <a:alpha val="70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02" y="1097257"/>
            <a:ext cx="1100499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D2EE9C"/>
                </a:solidFill>
                <a:latin typeface="Arial"/>
              </a:rPr>
              <a:t>KEPUTUSAN INVESTASI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228722"/>
            <a:ext cx="10127089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PENUTUP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1474763"/>
            <a:ext cx="9541665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92" b="1" i="0">
                <a:solidFill>
                  <a:srgbClr val="F7F8EF"/>
                </a:solidFill>
                <a:latin typeface="Arial Narrow"/>
              </a:rPr>
              <a:t>Dari peluang ke keputusan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02" y="2288548"/>
            <a:ext cx="6176675" cy="40471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E0EBE0"/>
                </a:solidFill>
                <a:latin typeface="Arial"/>
              </a:rPr>
              <a:t>Melooloo membangun pasokan melon premium melalui smart greenhouse; model keuangan terbaru mendukung investasi dengan mitigasi terukur.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02" y="3185868"/>
            <a:ext cx="11004997" cy="163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D0F09D"/>
                </a:solidFill>
                <a:latin typeface="Arial"/>
              </a:rPr>
              <a:t>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41255" y="3901625"/>
            <a:ext cx="507532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0" i="0">
                <a:solidFill>
                  <a:srgbClr val="D0F09D"/>
                </a:solidFill>
                <a:latin typeface="Arial"/>
              </a:rPr>
              <a:t>↗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9502" y="5299586"/>
            <a:ext cx="9546408" cy="0"/>
          </a:xfrm>
          <a:prstGeom prst="line">
            <a:avLst/>
          </a:prstGeom>
          <a:ln w="7303">
            <a:solidFill>
              <a:srgbClr val="EEFBE6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09502" y="5428769"/>
            <a:ext cx="2176226" cy="0"/>
          </a:xfrm>
          <a:prstGeom prst="line">
            <a:avLst/>
          </a:prstGeom>
          <a:ln w="7303">
            <a:solidFill>
              <a:srgbClr val="F1FCE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9502" y="5521320"/>
            <a:ext cx="220822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3F8EE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02" y="5621174"/>
            <a:ext cx="220822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9F"/>
                </a:solidFill>
                <a:latin typeface="Arial"/>
              </a:rPr>
              <a:t>35 → 237 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502" y="5982476"/>
            <a:ext cx="220822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3F8EE">
                    <a:alpha val="83000"/>
                  </a:srgbClr>
                </a:solidFill>
                <a:latin typeface="Arial"/>
              </a:rPr>
              <a:t>kapasitas Y0–Y10 dalam model baru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066116" y="5428769"/>
            <a:ext cx="2176340" cy="0"/>
          </a:xfrm>
          <a:prstGeom prst="line">
            <a:avLst/>
          </a:prstGeom>
          <a:ln w="7303">
            <a:solidFill>
              <a:srgbClr val="F1FCE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066116" y="5521320"/>
            <a:ext cx="220834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3F8EE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6116" y="5621174"/>
            <a:ext cx="220834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9F"/>
                </a:solidFill>
                <a:latin typeface="Arial"/>
              </a:rPr>
              <a:t>IoT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6116" y="5982476"/>
            <a:ext cx="220834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3F8EE">
                    <a:alpha val="83000"/>
                  </a:srgbClr>
                </a:solidFill>
                <a:latin typeface="Arial"/>
              </a:rPr>
              <a:t>kendali budidaya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522843" y="5428769"/>
            <a:ext cx="2176340" cy="0"/>
          </a:xfrm>
          <a:prstGeom prst="line">
            <a:avLst/>
          </a:prstGeom>
          <a:ln w="7303">
            <a:solidFill>
              <a:srgbClr val="F1FCE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522843" y="5521320"/>
            <a:ext cx="220834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3F8EE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22843" y="5621174"/>
            <a:ext cx="220834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9F"/>
                </a:solidFill>
                <a:latin typeface="Arial"/>
              </a:rPr>
              <a:t>Rp23,5 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22843" y="5982476"/>
            <a:ext cx="220834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3F8EE">
                    <a:alpha val="83000"/>
                  </a:srgbClr>
                </a:solidFill>
                <a:latin typeface="Arial"/>
              </a:rPr>
              <a:t>NPV skenario most likely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979570" y="5428769"/>
            <a:ext cx="2176340" cy="0"/>
          </a:xfrm>
          <a:prstGeom prst="line">
            <a:avLst/>
          </a:prstGeom>
          <a:ln w="7303">
            <a:solidFill>
              <a:srgbClr val="F1FCE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979570" y="5521320"/>
            <a:ext cx="220834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3F8EE">
                    <a:alpha val="65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79570" y="5621174"/>
            <a:ext cx="220834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9F"/>
                </a:solidFill>
                <a:latin typeface="Arial"/>
              </a:rPr>
              <a:t>GO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79570" y="5982476"/>
            <a:ext cx="220834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3F8EE">
                    <a:alpha val="83000"/>
                  </a:srgbClr>
                </a:solidFill>
                <a:latin typeface="Arial"/>
              </a:rPr>
              <a:t>dengan mitigasi risiko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502" y="6192570"/>
            <a:ext cx="110049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E5EFE3"/>
                </a:solidFill>
                <a:latin typeface="Arial"/>
              </a:rPr>
              <a:t>Dengan mitigasi penerimaan harga, ketahanan produksi, dan piutang B2B · memakai model keuangan Mery.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36902" y="6544057"/>
            <a:ext cx="202632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SUMBER: PDF ASLI + CATATAN · HALAMAN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63079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0717" y="322272"/>
            <a:ext cx="18225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PRESENTASI 66 / 66 · ASLI 66</a:t>
            </a:r>
          </a:p>
        </p:txBody>
      </p:sp>
      <p:pic>
        <p:nvPicPr>
          <p:cNvPr id="6" name="Picture 5" descr="picture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4360" y="1327778"/>
            <a:ext cx="2230140" cy="44100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760" b="0" i="0">
                <a:solidFill>
                  <a:srgbClr val="F8FAEF">
                    <a:alpha val="75000"/>
                  </a:srgbClr>
                </a:solidFill>
                <a:latin typeface="Arial"/>
              </a:rPr>
              <a:t>TERIMA KASIH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4360" y="1787450"/>
            <a:ext cx="223014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F8FAEF"/>
                </a:solidFill>
                <a:latin typeface="Arial"/>
              </a:rPr>
              <a:t>MELOOLOO / JAKARTA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1714414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PENUTUP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02" y="1850901"/>
            <a:ext cx="7603261" cy="128822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F7F8EF"/>
                </a:solidFill>
                <a:latin typeface="Arial Narrow"/>
              </a:rPr>
              <a:t>Terima kasih.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02" y="3163387"/>
            <a:ext cx="6145064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PT Melooloo Segar Indonesia · Sidang business plan.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9502" y="5550192"/>
            <a:ext cx="4907293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9502" y="5642743"/>
            <a:ext cx="493929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502" y="5742597"/>
            <a:ext cx="4939296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01–66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502" y="6103899"/>
            <a:ext cx="493929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sumber presentasi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797182" y="5550192"/>
            <a:ext cx="490740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797182" y="5642743"/>
            <a:ext cx="493941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97182" y="5742597"/>
            <a:ext cx="4939410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3D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97182" y="6103899"/>
            <a:ext cx="493941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walkthrough greenhouse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89168" y="6544057"/>
            <a:ext cx="197406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SUMBER: PDF SIDANG AKHIR · HALAMAN 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Melooloo — Presentasi Sidang Akhir (Editable)</dc:title>
  <dc:subject>PowerPoint objects rebuilt from the 66-slide web deck</dc:subject>
  <dc:creator>Melooloo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