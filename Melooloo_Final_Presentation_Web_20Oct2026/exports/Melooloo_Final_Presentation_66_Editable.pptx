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1/66 · source slide 1</a:t>
            </a:r>
          </a:p>
          <a:p>
            <a:r>
              <a:t>Melooloo</a:t>
            </a:r>
          </a:p>
          <a:p>
            <a:r>
              <a:t>Interactive web version: https://mthoriqzi383.github.io/melooloo-project-hub/Melooloo_Final_Presentation_Web_20Oct2026/index.html#slide=1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2/66 · source slide 2</a:t>
            </a:r>
          </a:p>
          <a:p>
            <a:r>
              <a:t>Our Shareholders</a:t>
            </a:r>
          </a:p>
          <a:p>
            <a:r>
              <a:t>Interactive web version: https://mthoriqzi383.github.io/melooloo-project-hub/Melooloo_Final_Presentation_Web_20Oct2026/index.html#slide=2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3/66 · source slide 3</a:t>
            </a:r>
          </a:p>
          <a:p>
            <a:r>
              <a:t>Peluang di pasar premium</a:t>
            </a:r>
          </a:p>
          <a:p>
            <a:r>
              <a:t>Interactive web version: https://mthoriqzi383.github.io/melooloo-project-hub/Melooloo_Final_Presentation_Web_20Oct2026/index.html#slide=3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4/66 · source slide 4</a:t>
            </a:r>
          </a:p>
          <a:p>
            <a:r>
              <a:t>Dua masalah. Satu model.</a:t>
            </a:r>
          </a:p>
          <a:p>
            <a:r>
              <a:t>Interactive web version: https://mthoriqzi383.github.io/melooloo-project-hub/Melooloo_Final_Presentation_Web_20Oct2026/index.html#slide=4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5/66 · source slide 5</a:t>
            </a:r>
          </a:p>
          <a:p>
            <a:r>
              <a:t>Struktur industri membuka ruang</a:t>
            </a:r>
          </a:p>
          <a:p>
            <a:r>
              <a:t>Interactive web version: https://mthoriqzi383.github.io/melooloo-project-hub/Melooloo_Final_Presentation_Web_20Oct2026/index.html#slide=5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6/66 · source slide 6</a:t>
            </a:r>
          </a:p>
          <a:p>
            <a:r>
              <a:t>Visi dan standar produk</a:t>
            </a:r>
          </a:p>
          <a:p>
            <a:r>
              <a:t>Interactive web version: https://mthoriqzi383.github.io/melooloo-project-hub/Melooloo_Final_Presentation_Web_20Oct2026/index.html#slide=6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7/66 · source slide 7</a:t>
            </a:r>
          </a:p>
          <a:p>
            <a:r>
              <a:t>Business Model Canvas</a:t>
            </a:r>
          </a:p>
          <a:p>
            <a:r>
              <a:t>Interactive web version: https://mthoriqzi383.github.io/melooloo-project-hub/Melooloo_Final_Presentation_Web_20Oct2026/index.html#slide=7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8/66 · source slide 20</a:t>
            </a:r>
          </a:p>
          <a:p>
            <a:r>
              <a:t>Operasi: mutu yang berulang</a:t>
            </a:r>
          </a:p>
          <a:p>
            <a:r>
              <a:t>Interactive web version: https://mthoriqzi383.github.io/melooloo-project-hub/Melooloo_Final_Presentation_Web_20Oct2026/index.html#slide=20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9/66 · source slide 21</a:t>
            </a:r>
          </a:p>
          <a:p>
            <a:r>
              <a:t>Lokasi dan rantai pasok</a:t>
            </a:r>
          </a:p>
          <a:p>
            <a:r>
              <a:t>Interactive web version: https://mthoriqzi383.github.io/melooloo-project-hub/Melooloo_Final_Presentation_Web_20Oct2026/index.html#slide=21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10/66 · source slide 22</a:t>
            </a:r>
          </a:p>
          <a:p>
            <a:r>
              <a:t>Rooftop sebagai lokasi konsep</a:t>
            </a:r>
          </a:p>
          <a:p>
            <a:r>
              <a:t>Interactive web version: https://mthoriqzi383.github.io/melooloo-project-hub/Melooloo_Final_Presentation_Web_20Oct2026/index.html#slide=22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11/66 · source slide 23</a:t>
            </a:r>
          </a:p>
          <a:p>
            <a:r>
              <a:t>Kinerja dan biaya operasi</a:t>
            </a:r>
          </a:p>
          <a:p>
            <a:r>
              <a:t>Interactive web version: https://mthoriqzi383.github.io/melooloo-project-hub/Melooloo_Final_Presentation_Web_20Oct2026/index.html#slide=23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12/66 · source slide 24</a:t>
            </a:r>
          </a:p>
          <a:p>
            <a:r>
              <a:t>Lima prioritas operasi</a:t>
            </a:r>
          </a:p>
          <a:p>
            <a:r>
              <a:t>Interactive web version: https://mthoriqzi383.github.io/melooloo-project-hub/Melooloo_Final_Presentation_Web_20Oct2026/index.html#slide=24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13/66 · source slide 25</a:t>
            </a:r>
          </a:p>
          <a:p>
            <a:r>
              <a:t>Tiga divisi operasional</a:t>
            </a:r>
          </a:p>
          <a:p>
            <a:r>
              <a:t>Interactive web version: https://mthoriqzi383.github.io/melooloo-project-hub/Melooloo_Final_Presentation_Web_20Oct2026/index.html#slide=25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14/66 · source slide 26</a:t>
            </a:r>
          </a:p>
          <a:p>
            <a:r>
              <a:t>Risiko rantai pasok</a:t>
            </a:r>
          </a:p>
          <a:p>
            <a:r>
              <a:t>Interactive web version: https://mthoriqzi383.github.io/melooloo-project-hub/Melooloo_Final_Presentation_Web_20Oct2026/index.html#slide=26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15/66 · source slide 27</a:t>
            </a:r>
          </a:p>
          <a:p>
            <a:r>
              <a:t>Strategi operasi</a:t>
            </a:r>
          </a:p>
          <a:p>
            <a:r>
              <a:t>Interactive web version: https://mthoriqzi383.github.io/melooloo-project-hub/Melooloo_Final_Presentation_Web_20Oct2026/index.html#slide=27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16/66 · source slide 28</a:t>
            </a:r>
          </a:p>
          <a:p>
            <a:r>
              <a:t>Enam pertanyaan operasional</a:t>
            </a:r>
          </a:p>
          <a:p>
            <a:r>
              <a:t>Interactive web version: https://mthoriqzi383.github.io/melooloo-project-hub/Melooloo_Final_Presentation_Web_20Oct2026/index.html#slide=28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17/66 · source slide 29</a:t>
            </a:r>
          </a:p>
          <a:p>
            <a:r>
              <a:t>Di dalam satu greenhouse</a:t>
            </a:r>
          </a:p>
          <a:p>
            <a:r>
              <a:t>Interactive web version: https://mthoriqzi383.github.io/melooloo-project-hub/Melooloo_Final_Presentation_Web_20Oct2026/index.html#slide=29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18/66 · source slide 30</a:t>
            </a:r>
          </a:p>
          <a:p>
            <a:r>
              <a:t>Teknologi produksi</a:t>
            </a:r>
          </a:p>
          <a:p>
            <a:r>
              <a:t>Interactive web version: https://mthoriqzi383.github.io/melooloo-project-hub/Melooloo_Final_Presentation_Web_20Oct2026/index.html#slide=30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19/66 · source slide 31</a:t>
            </a:r>
          </a:p>
          <a:p>
            <a:r>
              <a:t>Sensor → keputusan → aktuator</a:t>
            </a:r>
          </a:p>
          <a:p>
            <a:r>
              <a:t>Interactive web version: https://mthoriqzi383.github.io/melooloo-project-hub/Melooloo_Final_Presentation_Web_20Oct2026/index.html#slide=31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20/66 · source slide 32</a:t>
            </a:r>
          </a:p>
          <a:p>
            <a:r>
              <a:t>Mengapa memilih DFT</a:t>
            </a:r>
          </a:p>
          <a:p>
            <a:r>
              <a:t>Interactive web version: https://mthoriqzi383.github.io/melooloo-project-hub/Melooloo_Final_Presentation_Web_20Oct2026/index.html#slide=32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21/66 · source slide 33</a:t>
            </a:r>
          </a:p>
          <a:p>
            <a:r>
              <a:t>Produksi tahun demi tahun</a:t>
            </a:r>
          </a:p>
          <a:p>
            <a:r>
              <a:t>Interactive web version: https://mthoriqzi383.github.io/melooloo-project-hub/Melooloo_Final_Presentation_Web_20Oct2026/index.html#slide=33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22/66 · source slide 34</a:t>
            </a:r>
          </a:p>
          <a:p>
            <a:r>
              <a:t>Pertumbuhan dari unit yang sama</a:t>
            </a:r>
          </a:p>
          <a:p>
            <a:r>
              <a:t>Interactive web version: https://mthoriqzi383.github.io/melooloo-project-hub/Melooloo_Final_Presentation_Web_20Oct2026/index.html#slide=34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23/66 · source slide 35</a:t>
            </a:r>
          </a:p>
          <a:p>
            <a:r>
              <a:t>Banyak. Seragam. Aman.</a:t>
            </a:r>
          </a:p>
          <a:p>
            <a:r>
              <a:t>Interactive web version: https://mthoriqzi383.github.io/melooloo-project-hub/Melooloo_Final_Presentation_Web_20Oct2026/index.html#slide=35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24/66 · source slide 36</a:t>
            </a:r>
          </a:p>
          <a:p>
            <a:r>
              <a:t>Kemanisan dibangun per fase</a:t>
            </a:r>
          </a:p>
          <a:p>
            <a:r>
              <a:t>Interactive web version: https://mthoriqzi383.github.io/melooloo-project-hub/Melooloo_Final_Presentation_Web_20Oct2026/index.html#slide=36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25/66 · source slide 37</a:t>
            </a:r>
          </a:p>
          <a:p>
            <a:r>
              <a:t>Kapan petani bertindak</a:t>
            </a:r>
          </a:p>
          <a:p>
            <a:r>
              <a:t>Interactive web version: https://mthoriqzi383.github.io/melooloo-project-hub/Melooloo_Final_Presentation_Web_20Oct2026/index.html#slide=37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26/66 · source slide 38</a:t>
            </a:r>
          </a:p>
          <a:p>
            <a:r>
              <a:t>Nursery berjalan paralel</a:t>
            </a:r>
          </a:p>
          <a:p>
            <a:r>
              <a:t>Interactive web version: https://mthoriqzi383.github.io/melooloo-project-hub/Melooloo_Final_Presentation_Web_20Oct2026/index.html#slide=38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27/66 · source slide 39</a:t>
            </a:r>
          </a:p>
          <a:p>
            <a:r>
              <a:t>Delapan tahap kerja</a:t>
            </a:r>
          </a:p>
          <a:p>
            <a:r>
              <a:t>Interactive web version: https://mthoriqzi383.github.io/melooloo-project-hub/Melooloo_Final_Presentation_Web_20Oct2026/index.html#slide=39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28/66 · source slide 40</a:t>
            </a:r>
          </a:p>
          <a:p>
            <a:r>
              <a:t>Apakah tenaga kerja cukup?</a:t>
            </a:r>
          </a:p>
          <a:p>
            <a:r>
              <a:t>Interactive web version: https://mthoriqzi383.github.io/melooloo-project-hub/Melooloo_Final_Presentation_Web_20Oct2026/index.html#slide=40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29/66 · source slide 41</a:t>
            </a:r>
          </a:p>
          <a:p>
            <a:r>
              <a:t>Lima panen dari slot 73 hari</a:t>
            </a:r>
          </a:p>
          <a:p>
            <a:r>
              <a:t>Interactive web version: https://mthoriqzi383.github.io/melooloo-project-hub/Melooloo_Final_Presentation_Web_20Oct2026/index.html#slide=41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30/66 · source slide 42</a:t>
            </a:r>
          </a:p>
          <a:p>
            <a:r>
              <a:t>Benih dapat ditiru. Sistem tidak.</a:t>
            </a:r>
          </a:p>
          <a:p>
            <a:r>
              <a:t>Interactive web version: https://mthoriqzi383.github.io/melooloo-project-hub/Melooloo_Final_Presentation_Web_20Oct2026/index.html#slide=42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31/66 · source slide 43</a:t>
            </a:r>
          </a:p>
          <a:p>
            <a:r>
              <a:t>Investasi benih bertahap</a:t>
            </a:r>
          </a:p>
          <a:p>
            <a:r>
              <a:t>Interactive web version: https://mthoriqzi383.github.io/melooloo-project-hub/Melooloo_Final_Presentation_Web_20Oct2026/index.html#slide=43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32/66 · source slide 44</a:t>
            </a:r>
          </a:p>
          <a:p>
            <a:r>
              <a:t>Apa yang sukar disalin</a:t>
            </a:r>
          </a:p>
          <a:p>
            <a:r>
              <a:t>Interactive web version: https://mthoriqzi383.github.io/melooloo-project-hub/Melooloo_Final_Presentation_Web_20Oct2026/index.html#slide=44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33/66 · source slide 45</a:t>
            </a:r>
          </a:p>
          <a:p>
            <a:r>
              <a:t>Dasar angka kapasitas</a:t>
            </a:r>
          </a:p>
          <a:p>
            <a:r>
              <a:t>Interactive web version: https://mthoriqzi383.github.io/melooloo-project-hub/Melooloo_Final_Presentation_Web_20Oct2026/index.html#slide=45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34/66 · source slide 46</a:t>
            </a:r>
          </a:p>
          <a:p>
            <a:r>
              <a:t>Jika asumsi meleset</a:t>
            </a:r>
          </a:p>
          <a:p>
            <a:r>
              <a:t>Interactive web version: https://mthoriqzi383.github.io/melooloo-project-hub/Melooloo_Final_Presentation_Web_20Oct2026/index.html#slide=46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35/66 · source slide 47</a:t>
            </a:r>
          </a:p>
          <a:p>
            <a:r>
              <a:t>Empat angka inti</a:t>
            </a:r>
          </a:p>
          <a:p>
            <a:r>
              <a:t>Interactive web version: https://mthoriqzi383.github.io/melooloo-project-hub/Melooloo_Final_Presentation_Web_20Oct2026/index.html#slide=47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36/66 · source slide 48</a:t>
            </a:r>
          </a:p>
          <a:p>
            <a:r>
              <a:t>Manusia menjaga hasil</a:t>
            </a:r>
          </a:p>
          <a:p>
            <a:r>
              <a:t>Interactive web version: https://mthoriqzi383.github.io/melooloo-project-hub/Melooloo_Final_Presentation_Web_20Oct2026/index.html#slide=48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37/66 · source slide 49</a:t>
            </a:r>
          </a:p>
          <a:p>
            <a:r>
              <a:t>Bangun tim, uji kompetensi</a:t>
            </a:r>
          </a:p>
          <a:p>
            <a:r>
              <a:t>Interactive web version: https://mthoriqzi383.github.io/melooloo-project-hub/Melooloo_Final_Presentation_Web_20Oct2026/index.html#slide=49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38/66 · source slide 50</a:t>
            </a:r>
          </a:p>
          <a:p>
            <a:r>
              <a:t>Siapa menjaga apa?</a:t>
            </a:r>
          </a:p>
          <a:p>
            <a:r>
              <a:t>Interactive web version: https://mthoriqzi383.github.io/melooloo-project-hub/Melooloo_Final_Presentation_Web_20Oct2026/index.html#slide=50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39/66 · source slide 51</a:t>
            </a:r>
          </a:p>
          <a:p>
            <a:r>
              <a:t>Tim tumbuh bersama unit</a:t>
            </a:r>
          </a:p>
          <a:p>
            <a:r>
              <a:t>Interactive web version: https://mthoriqzi383.github.io/melooloo-project-hub/Melooloo_Final_Presentation_Web_20Oct2026/index.html#slide=51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40/66 · source slide 52</a:t>
            </a:r>
          </a:p>
          <a:p>
            <a:r>
              <a:t>Biaya orang, tahun demi tahun</a:t>
            </a:r>
          </a:p>
          <a:p>
            <a:r>
              <a:t>Interactive web version: https://mthoriqzi383.github.io/melooloo-project-hub/Melooloo_Final_Presentation_Web_20Oct2026/index.html#slide=52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41/66 · source slide 53</a:t>
            </a:r>
          </a:p>
          <a:p>
            <a:r>
              <a:t>Rencana keuangan Melooloo</a:t>
            </a:r>
          </a:p>
          <a:p>
            <a:r>
              <a:t>Interactive web version: https://mthoriqzi383.github.io/melooloo-project-hub/Melooloo_Final_Presentation_Web_20Oct2026/index.html#slide=53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42/66 · source slide 54</a:t>
            </a:r>
          </a:p>
          <a:p>
            <a:r>
              <a:t>Asumsi yang menggerakkan model</a:t>
            </a:r>
          </a:p>
          <a:p>
            <a:r>
              <a:t>Interactive web version: https://mthoriqzi383.github.io/melooloo-project-hub/Melooloo_Final_Presentation_Web_20Oct2026/index.html#slide=54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43/66 · source slide 55</a:t>
            </a:r>
          </a:p>
          <a:p>
            <a:r>
              <a:t>Rp10.462 juta untuk memulai</a:t>
            </a:r>
          </a:p>
          <a:p>
            <a:r>
              <a:t>Interactive web version: https://mthoriqzi383.github.io/melooloo-project-hub/Melooloo_Final_Presentation_Web_20Oct2026/index.html#slide=55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44/66 · source slide 56</a:t>
            </a:r>
          </a:p>
          <a:p>
            <a:r>
              <a:t>Pendanaan sesuai fase pertumbuhan</a:t>
            </a:r>
          </a:p>
          <a:p>
            <a:r>
              <a:t>Interactive web version: https://mthoriqzi383.github.io/melooloo-project-hub/Melooloo_Final_Presentation_Web_20Oct2026/index.html#slide=56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45/66 · source slide 57</a:t>
            </a:r>
          </a:p>
          <a:p>
            <a:r>
              <a:t>Belanja bangun, biaya jalan</a:t>
            </a:r>
          </a:p>
          <a:p>
            <a:r>
              <a:t>Interactive web version: https://mthoriqzi383.github.io/melooloo-project-hub/Melooloo_Final_Presentation_Web_20Oct2026/index.html#slide=57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46/66 · source slide 58</a:t>
            </a:r>
          </a:p>
          <a:p>
            <a:r>
              <a:t>Pendapatan tumbuh, laba positif sejak Y1</a:t>
            </a:r>
          </a:p>
          <a:p>
            <a:r>
              <a:t>Interactive web version: https://mthoriqzi383.github.io/melooloo-project-hub/Melooloo_Final_Presentation_Web_20Oct2026/index.html#slide=58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47/66 · source slide 59</a:t>
            </a:r>
          </a:p>
          <a:p>
            <a:r>
              <a:t>Aset dan ekuitas bertumbuh</a:t>
            </a:r>
          </a:p>
          <a:p>
            <a:r>
              <a:t>Interactive web version: https://mthoriqzi383.github.io/melooloo-project-hub/Melooloo_Final_Presentation_Web_20Oct2026/index.html#slide=59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48/66 · source slide 60</a:t>
            </a:r>
          </a:p>
          <a:p>
            <a:r>
              <a:t>Kas kembali pada Tahun 6</a:t>
            </a:r>
          </a:p>
          <a:p>
            <a:r>
              <a:t>Interactive web version: https://mthoriqzi383.github.io/melooloo-project-hub/Melooloo_Final_Presentation_Web_20Oct2026/index.html#slide=60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49/66 · source slide 61</a:t>
            </a:r>
          </a:p>
          <a:p>
            <a:r>
              <a:t>Tahun 1 adalah titik kritis</a:t>
            </a:r>
          </a:p>
          <a:p>
            <a:r>
              <a:t>Interactive web version: https://mthoriqzi383.github.io/melooloo-project-hub/Melooloo_Final_Presentation_Web_20Oct2026/index.html#slide=61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50/66 · source slide 62</a:t>
            </a:r>
          </a:p>
          <a:p>
            <a:r>
              <a:t>Indikator kelayakan melewati ambang</a:t>
            </a:r>
          </a:p>
          <a:p>
            <a:r>
              <a:t>Interactive web version: https://mthoriqzi383.github.io/melooloo-project-hub/Melooloo_Final_Presentation_Web_20Oct2026/index.html#slide=62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51/66 · source slide 63</a:t>
            </a:r>
          </a:p>
          <a:p>
            <a:r>
              <a:t>Pendapatan adalah variabel paling peka</a:t>
            </a:r>
          </a:p>
          <a:p>
            <a:r>
              <a:t>Interactive web version: https://mthoriqzi383.github.io/melooloo-project-hub/Melooloo_Final_Presentation_Web_20Oct2026/index.html#slide=63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52/66 · source slide 64</a:t>
            </a:r>
          </a:p>
          <a:p>
            <a:r>
              <a:t>Layak, dengan tiga risiko yang dikawal</a:t>
            </a:r>
          </a:p>
          <a:p>
            <a:r>
              <a:t>Interactive web version: https://mthoriqzi383.github.io/melooloo-project-hub/Melooloo_Final_Presentation_Web_20Oct2026/index.html#slide=64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53/66 · source slide 8</a:t>
            </a:r>
          </a:p>
          <a:p>
            <a:r>
              <a:t>Tiga sasaran pemasaran</a:t>
            </a:r>
          </a:p>
          <a:p>
            <a:r>
              <a:t>Interactive web version: https://mthoriqzi383.github.io/melooloo-project-hub/Melooloo_Final_Presentation_Web_20Oct2026/index.html#slide=8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54/66 · source slide 9</a:t>
            </a:r>
          </a:p>
          <a:p>
            <a:r>
              <a:t>Enam segmen, dua jalur</a:t>
            </a:r>
          </a:p>
          <a:p>
            <a:r>
              <a:t>Interactive web version: https://mthoriqzi383.github.io/melooloo-project-hub/Melooloo_Final_Presentation_Web_20Oct2026/index.html#slide=9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55/66 · source slide 10</a:t>
            </a:r>
          </a:p>
          <a:p>
            <a:r>
              <a:t>Dari TAM ke SOM</a:t>
            </a:r>
          </a:p>
          <a:p>
            <a:r>
              <a:t>Interactive web version: https://mthoriqzi383.github.io/melooloo-project-hub/Melooloo_Final_Presentation_Web_20Oct2026/index.html#slide=10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56/66 · source slide 11</a:t>
            </a:r>
          </a:p>
          <a:p>
            <a:r>
              <a:t>Apa yang setara. Apa yang berbeda.</a:t>
            </a:r>
          </a:p>
          <a:p>
            <a:r>
              <a:t>Interactive web version: https://mthoriqzi383.github.io/melooloo-project-hub/Melooloo_Final_Presentation_Web_20Oct2026/index.html#slide=11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57/66 · source slide 12</a:t>
            </a:r>
          </a:p>
          <a:p>
            <a:r>
              <a:t>Peta kompetitif</a:t>
            </a:r>
          </a:p>
          <a:p>
            <a:r>
              <a:t>Interactive web version: https://mthoriqzi383.github.io/melooloo-project-hub/Melooloo_Final_Presentation_Web_20Oct2026/index.html#slide=12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58/66 · source slide 13</a:t>
            </a:r>
          </a:p>
          <a:p>
            <a:r>
              <a:t>Ruang menuju titik ideal</a:t>
            </a:r>
          </a:p>
          <a:p>
            <a:r>
              <a:t>Interactive web version: https://mthoriqzi383.github.io/melooloo-project-hub/Melooloo_Final_Presentation_Web_20Oct2026/index.html#slide=13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59/66 · source slide 14</a:t>
            </a:r>
          </a:p>
          <a:p>
            <a:r>
              <a:t>Posisi merek: kebun di kota</a:t>
            </a:r>
          </a:p>
          <a:p>
            <a:r>
              <a:t>Interactive web version: https://mthoriqzi383.github.io/melooloo-project-hub/Melooloo_Final_Presentation_Web_20Oct2026/index.html#slide=14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60/66 · source slide 15</a:t>
            </a:r>
          </a:p>
          <a:p>
            <a:r>
              <a:t>Produk dan harga</a:t>
            </a:r>
          </a:p>
          <a:p>
            <a:r>
              <a:t>Interactive web version: https://mthoriqzi383.github.io/melooloo-project-hub/Melooloo_Final_Presentation_Web_20Oct2026/index.html#slide=15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61/66 · source slide 16</a:t>
            </a:r>
          </a:p>
          <a:p>
            <a:r>
              <a:t>Lima kanal distribusi</a:t>
            </a:r>
          </a:p>
          <a:p>
            <a:r>
              <a:t>Interactive web version: https://mthoriqzi383.github.io/melooloo-project-hub/Melooloo_Final_Presentation_Web_20Oct2026/index.html#slide=16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62/66 · source slide 17</a:t>
            </a:r>
          </a:p>
          <a:p>
            <a:r>
              <a:t>Komunikasi yang terukur</a:t>
            </a:r>
          </a:p>
          <a:p>
            <a:r>
              <a:t>Interactive web version: https://mthoriqzi383.github.io/melooloo-project-hub/Melooloo_Final_Presentation_Web_20Oct2026/index.html#slide=17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63/66 · source slide 18</a:t>
            </a:r>
          </a:p>
          <a:p>
            <a:r>
              <a:t>Brand di titik temu pelanggan</a:t>
            </a:r>
          </a:p>
          <a:p>
            <a:r>
              <a:t>Interactive web version: https://mthoriqzi383.github.io/melooloo-project-hub/Melooloo_Final_Presentation_Web_20Oct2026/index.html#slide=18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64/66 · source slide 19</a:t>
            </a:r>
          </a:p>
          <a:p>
            <a:r>
              <a:t>Ekonomi pemasaran</a:t>
            </a:r>
          </a:p>
          <a:p>
            <a:r>
              <a:t>Interactive web version: https://mthoriqzi383.github.io/melooloo-project-hub/Melooloo_Final_Presentation_Web_20Oct2026/index.html#slide=19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65/66 · source slide 65</a:t>
            </a:r>
          </a:p>
          <a:p>
            <a:r>
              <a:t>Dari peluang ke keputusan</a:t>
            </a:r>
          </a:p>
          <a:p>
            <a:r>
              <a:t>Interactive web version: https://mthoriqzi383.github.io/melooloo-project-hub/Melooloo_Final_Presentation_Web_20Oct2026/index.html#slide=65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66/66 · source slide 66</a:t>
            </a:r>
          </a:p>
          <a:p>
            <a:r>
              <a:t>Terima kasih.</a:t>
            </a:r>
          </a:p>
          <a:p>
            <a:r>
              <a:t>Interactive web version: https://mthoriqzi383.github.io/melooloo-project-hub/Melooloo_Final_Presentation_Web_20Oct2026/index.html#slide=66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PRESENTASI 01 / 66 · ASLI 01</a:t>
            </a:r>
          </a:p>
        </p:txBody>
      </p:sp>
      <p:pic>
        <p:nvPicPr>
          <p:cNvPr id="6" name="Picture 5" descr="picture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1220660" cy="6858000"/>
          </a:xfrm>
          <a:prstGeom prst="rect">
            <a:avLst/>
          </a:prstGeom>
          <a:solidFill>
            <a:srgbClr val="031A12">
              <a:alpha val="950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19199" y="0"/>
            <a:ext cx="1220660" cy="6858000"/>
          </a:xfrm>
          <a:prstGeom prst="rect">
            <a:avLst/>
          </a:prstGeom>
          <a:solidFill>
            <a:srgbClr val="031A12">
              <a:alpha val="931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8399" y="0"/>
            <a:ext cx="1220660" cy="6858000"/>
          </a:xfrm>
          <a:prstGeom prst="rect">
            <a:avLst/>
          </a:prstGeom>
          <a:solidFill>
            <a:srgbClr val="031A12">
              <a:alpha val="912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599" y="0"/>
            <a:ext cx="1220660" cy="6858000"/>
          </a:xfrm>
          <a:prstGeom prst="rect">
            <a:avLst/>
          </a:prstGeom>
          <a:solidFill>
            <a:srgbClr val="031A12">
              <a:alpha val="893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799" y="0"/>
            <a:ext cx="1220660" cy="6858000"/>
          </a:xfrm>
          <a:prstGeom prst="rect">
            <a:avLst/>
          </a:prstGeom>
          <a:solidFill>
            <a:srgbClr val="031A12">
              <a:alpha val="874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99" y="0"/>
            <a:ext cx="1220660" cy="6858000"/>
          </a:xfrm>
          <a:prstGeom prst="rect">
            <a:avLst/>
          </a:prstGeom>
          <a:solidFill>
            <a:srgbClr val="031A12">
              <a:alpha val="855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199" y="0"/>
            <a:ext cx="1220660" cy="6858000"/>
          </a:xfrm>
          <a:prstGeom prst="rect">
            <a:avLst/>
          </a:prstGeom>
          <a:solidFill>
            <a:srgbClr val="031A12">
              <a:alpha val="836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34399" y="0"/>
            <a:ext cx="1220660" cy="6858000"/>
          </a:xfrm>
          <a:prstGeom prst="rect">
            <a:avLst/>
          </a:prstGeom>
          <a:solidFill>
            <a:srgbClr val="031A12">
              <a:alpha val="817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53599" y="0"/>
            <a:ext cx="1220660" cy="6858000"/>
          </a:xfrm>
          <a:prstGeom prst="rect">
            <a:avLst/>
          </a:prstGeom>
          <a:solidFill>
            <a:srgbClr val="031A12">
              <a:alpha val="798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799" y="0"/>
            <a:ext cx="1220660" cy="6858000"/>
          </a:xfrm>
          <a:prstGeom prst="rect">
            <a:avLst/>
          </a:prstGeom>
          <a:solidFill>
            <a:srgbClr val="031A12">
              <a:alpha val="779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PELUANG &amp;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Melooloo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Produsen melon premium berbasis urban farming dengan sistem smart greenhouse adaptif untuk segmen B2B2C di Jakarta.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502" y="5550192"/>
            <a:ext cx="4907293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9502" y="5642743"/>
            <a:ext cx="493929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02" y="5742597"/>
            <a:ext cx="493929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Seminar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02" y="6103899"/>
            <a:ext cx="493929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Business plan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97182" y="5550192"/>
            <a:ext cx="490740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797182" y="5642743"/>
            <a:ext cx="49394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7182" y="5742597"/>
            <a:ext cx="4939410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Kelompok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7182" y="6103899"/>
            <a:ext cx="49394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Prasetiya Mulya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SUMBER: PDF SIDANG AKHIR · HALAMAN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ictur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05" y="233145"/>
            <a:ext cx="579033" cy="5790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136" y="331174"/>
            <a:ext cx="1944845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23665"/>
                </a:solidFill>
                <a:latin typeface="Arial"/>
              </a:rPr>
              <a:t>UNIVERSITAS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136" y="466862"/>
            <a:ext cx="1944845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23665"/>
                </a:solidFill>
                <a:latin typeface="Arial"/>
              </a:rPr>
              <a:t>PRASETIYA MULYA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3420"/>
            <a:ext cx="12191999" cy="86461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855" b="1" i="0">
                <a:solidFill>
                  <a:srgbClr val="050505"/>
                </a:solidFill>
                <a:latin typeface="Arial"/>
              </a:rPr>
              <a:t>Our Shareholders</a:t>
            </a:r>
          </a:p>
        </p:txBody>
      </p:sp>
      <p:sp>
        <p:nvSpPr>
          <p:cNvPr id="7" name="Oval 6"/>
          <p:cNvSpPr/>
          <p:nvPr/>
        </p:nvSpPr>
        <p:spPr>
          <a:xfrm>
            <a:off x="426686" y="1714414"/>
            <a:ext cx="2072606" cy="2072634"/>
          </a:xfrm>
          <a:prstGeom prst="ellipse">
            <a:avLst/>
          </a:prstGeom>
          <a:solidFill>
            <a:srgbClr val="FBF5E7"/>
          </a:solidFill>
          <a:ln w="7303">
            <a:solidFill>
              <a:srgbClr val="D4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2625" y="3899228"/>
            <a:ext cx="1012617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Carlos</a:t>
            </a:r>
          </a:p>
        </p:txBody>
      </p:sp>
      <p:sp>
        <p:nvSpPr>
          <p:cNvPr id="9" name="Oval 8"/>
          <p:cNvSpPr/>
          <p:nvPr/>
        </p:nvSpPr>
        <p:spPr>
          <a:xfrm>
            <a:off x="5059639" y="1714414"/>
            <a:ext cx="2072606" cy="2072634"/>
          </a:xfrm>
          <a:prstGeom prst="ellipse">
            <a:avLst/>
          </a:prstGeom>
          <a:solidFill>
            <a:srgbClr val="FB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icture-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639" y="1714414"/>
            <a:ext cx="2072606" cy="20726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05921" y="3899228"/>
            <a:ext cx="1011933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Nindio</a:t>
            </a:r>
          </a:p>
        </p:txBody>
      </p:sp>
      <p:sp>
        <p:nvSpPr>
          <p:cNvPr id="12" name="Oval 11"/>
          <p:cNvSpPr/>
          <p:nvPr/>
        </p:nvSpPr>
        <p:spPr>
          <a:xfrm>
            <a:off x="9692592" y="1714414"/>
            <a:ext cx="2072606" cy="2072634"/>
          </a:xfrm>
          <a:prstGeom prst="ellipse">
            <a:avLst/>
          </a:prstGeom>
          <a:solidFill>
            <a:srgbClr val="FB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icture-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592" y="1714414"/>
            <a:ext cx="2072606" cy="207263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307573" y="3899228"/>
            <a:ext cx="874535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Emily</a:t>
            </a:r>
          </a:p>
        </p:txBody>
      </p:sp>
      <p:sp>
        <p:nvSpPr>
          <p:cNvPr id="15" name="Oval 14"/>
          <p:cNvSpPr/>
          <p:nvPr/>
        </p:nvSpPr>
        <p:spPr>
          <a:xfrm>
            <a:off x="2743162" y="3840457"/>
            <a:ext cx="2072606" cy="2072634"/>
          </a:xfrm>
          <a:prstGeom prst="ellipse">
            <a:avLst/>
          </a:prstGeom>
          <a:solidFill>
            <a:srgbClr val="FBF5E7"/>
          </a:solidFill>
          <a:ln w="7303">
            <a:solidFill>
              <a:srgbClr val="D4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8241" y="6025271"/>
            <a:ext cx="774340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Mery</a:t>
            </a:r>
          </a:p>
        </p:txBody>
      </p:sp>
      <p:sp>
        <p:nvSpPr>
          <p:cNvPr id="17" name="Oval 16"/>
          <p:cNvSpPr/>
          <p:nvPr/>
        </p:nvSpPr>
        <p:spPr>
          <a:xfrm>
            <a:off x="7376115" y="3840457"/>
            <a:ext cx="2072606" cy="2072634"/>
          </a:xfrm>
          <a:prstGeom prst="ellipse">
            <a:avLst/>
          </a:prstGeom>
          <a:solidFill>
            <a:srgbClr val="FBF5E7"/>
          </a:solidFill>
          <a:ln w="7303">
            <a:solidFill>
              <a:srgbClr val="D4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2397" y="6025271"/>
            <a:ext cx="1011933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Thoriq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34098" y="328891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PRESENTASI 03 / 66 · ASLI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068156"/>
            <a:ext cx="6416778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143E2B"/>
                </a:solidFill>
                <a:latin typeface="Arial Narrow"/>
              </a:rPr>
              <a:t>Peluang di pasar 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814" y="1761203"/>
            <a:ext cx="641677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715E"/>
                </a:solidFill>
                <a:latin typeface="Arial"/>
              </a:rPr>
              <a:t>Estimasi permintaan premium DKI lebih besar daripada pasokan bermerek dari produsen lokal.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91814" y="3336163"/>
            <a:ext cx="1100837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1814" y="3164528"/>
            <a:ext cx="8153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5115" y="3164528"/>
            <a:ext cx="18047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550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7241" y="3164528"/>
            <a:ext cx="25464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1.100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3658" y="3164528"/>
            <a:ext cx="25464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1.650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69960" y="3164528"/>
            <a:ext cx="46222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2.200 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814" y="4018255"/>
            <a:ext cx="20134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143E2B"/>
                </a:solidFill>
                <a:latin typeface="Arial"/>
              </a:rPr>
              <a:t>PERMINTAAN PREMIUM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997" y="3815807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5823" y="3815807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4649" y="3815807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83475" y="3815807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72302" y="3815807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1128" y="3815807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954" y="3815807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38780" y="3815807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27606" y="3815807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16433" y="3815807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90722" y="3815807"/>
            <a:ext cx="229456" cy="536360"/>
          </a:xfrm>
          <a:prstGeom prst="rect">
            <a:avLst/>
          </a:prstGeom>
          <a:solidFill>
            <a:srgbClr val="B3D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18718" y="3815807"/>
            <a:ext cx="229456" cy="536360"/>
          </a:xfrm>
          <a:prstGeom prst="rect">
            <a:avLst/>
          </a:prstGeom>
          <a:solidFill>
            <a:srgbClr val="A8D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46714" y="3815807"/>
            <a:ext cx="229456" cy="536360"/>
          </a:xfrm>
          <a:prstGeom prst="rect">
            <a:avLst/>
          </a:prstGeom>
          <a:solidFill>
            <a:srgbClr val="9DC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710" y="3815807"/>
            <a:ext cx="229456" cy="536360"/>
          </a:xfrm>
          <a:prstGeom prst="rect">
            <a:avLst/>
          </a:prstGeom>
          <a:solidFill>
            <a:srgbClr val="92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02706" y="3815807"/>
            <a:ext cx="229456" cy="536360"/>
          </a:xfrm>
          <a:prstGeom prst="rect">
            <a:avLst/>
          </a:prstGeom>
          <a:solidFill>
            <a:srgbClr val="87B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30702" y="3815807"/>
            <a:ext cx="229456" cy="536360"/>
          </a:xfrm>
          <a:prstGeom prst="rect">
            <a:avLst/>
          </a:prstGeom>
          <a:solidFill>
            <a:srgbClr val="7C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58698" y="3815807"/>
            <a:ext cx="229456" cy="536360"/>
          </a:xfrm>
          <a:prstGeom prst="rect">
            <a:avLst/>
          </a:prstGeom>
          <a:solidFill>
            <a:srgbClr val="71A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86694" y="3815807"/>
            <a:ext cx="229456" cy="536360"/>
          </a:xfrm>
          <a:prstGeom prst="rect">
            <a:avLst/>
          </a:prstGeom>
          <a:solidFill>
            <a:srgbClr val="669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4690" y="3815807"/>
            <a:ext cx="229456" cy="536360"/>
          </a:xfrm>
          <a:prstGeom prst="rect">
            <a:avLst/>
          </a:prstGeom>
          <a:solidFill>
            <a:srgbClr val="5B9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442685" y="3815807"/>
            <a:ext cx="229456" cy="536360"/>
          </a:xfrm>
          <a:prstGeom prst="rect">
            <a:avLst/>
          </a:prstGeom>
          <a:solidFill>
            <a:srgbClr val="508E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49015" y="3959825"/>
            <a:ext cx="168317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32" b="0" i="0">
                <a:solidFill>
                  <a:srgbClr val="164630"/>
                </a:solidFill>
                <a:latin typeface="Arial"/>
              </a:rPr>
              <a:t>1.460–2.190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1814" y="5034373"/>
            <a:ext cx="20134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143E2B"/>
                </a:solidFill>
                <a:latin typeface="Arial"/>
              </a:rPr>
              <a:t>PASOKAN BERMEREK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16997" y="4831925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505823" y="4831925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94649" y="4831925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83475" y="4831925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572302" y="4831925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1128" y="4831925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949954" y="4831925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638780" y="4831925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327606" y="4831925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16433" y="4831925"/>
            <a:ext cx="690286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70580" y="4831925"/>
            <a:ext cx="251504" cy="536360"/>
          </a:xfrm>
          <a:prstGeom prst="rect">
            <a:avLst/>
          </a:prstGeom>
          <a:solidFill>
            <a:srgbClr val="AC9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20624" y="4831925"/>
            <a:ext cx="251504" cy="536360"/>
          </a:xfrm>
          <a:prstGeom prst="rect">
            <a:avLst/>
          </a:prstGeom>
          <a:solidFill>
            <a:srgbClr val="A999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0667" y="4831925"/>
            <a:ext cx="251504" cy="536360"/>
          </a:xfrm>
          <a:prstGeom prst="rect">
            <a:avLst/>
          </a:prstGeom>
          <a:solidFill>
            <a:srgbClr val="A796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20710" y="4831925"/>
            <a:ext cx="251504" cy="536360"/>
          </a:xfrm>
          <a:prstGeom prst="rect">
            <a:avLst/>
          </a:prstGeom>
          <a:solidFill>
            <a:srgbClr val="A492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70754" y="4831925"/>
            <a:ext cx="251504" cy="536360"/>
          </a:xfrm>
          <a:prstGeom prst="rect">
            <a:avLst/>
          </a:prstGeom>
          <a:solidFill>
            <a:srgbClr val="A28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320797" y="4831925"/>
            <a:ext cx="251504" cy="536360"/>
          </a:xfrm>
          <a:prstGeom prst="rect">
            <a:avLst/>
          </a:prstGeom>
          <a:solidFill>
            <a:srgbClr val="9F8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570841" y="4831925"/>
            <a:ext cx="251504" cy="536360"/>
          </a:xfrm>
          <a:prstGeom prst="rect">
            <a:avLst/>
          </a:prstGeom>
          <a:solidFill>
            <a:srgbClr val="9D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820884" y="4831925"/>
            <a:ext cx="251504" cy="536360"/>
          </a:xfrm>
          <a:prstGeom prst="rect">
            <a:avLst/>
          </a:prstGeom>
          <a:solidFill>
            <a:srgbClr val="9A8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70928" y="4831925"/>
            <a:ext cx="251504" cy="536360"/>
          </a:xfrm>
          <a:prstGeom prst="rect">
            <a:avLst/>
          </a:prstGeom>
          <a:solidFill>
            <a:srgbClr val="988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20971" y="4831925"/>
            <a:ext cx="251504" cy="536360"/>
          </a:xfrm>
          <a:prstGeom prst="rect">
            <a:avLst/>
          </a:prstGeom>
          <a:solidFill>
            <a:srgbClr val="95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49015" y="4975944"/>
            <a:ext cx="168317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32" b="0" i="0">
                <a:solidFill>
                  <a:srgbClr val="143E2B"/>
                </a:solidFill>
                <a:latin typeface="Arial"/>
              </a:rPr>
              <a:t>400–1.200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89068" y="2305324"/>
            <a:ext cx="94312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143E2B"/>
                </a:solidFill>
                <a:latin typeface="Arial"/>
              </a:rPr>
              <a:t>CELAH ESTIMASI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29403" y="2356449"/>
            <a:ext cx="2102784" cy="6601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127" b="1" i="0">
                <a:solidFill>
                  <a:srgbClr val="143E2B"/>
                </a:solidFill>
                <a:latin typeface="Arial"/>
              </a:rPr>
              <a:t>260–1.790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70744" y="2939142"/>
            <a:ext cx="76144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ton per tahun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77597" y="5279844"/>
            <a:ext cx="3522587" cy="1057657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42155" y="5407771"/>
            <a:ext cx="4328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C5E99C"/>
                </a:solidFill>
                <a:latin typeface="Arial"/>
              </a:rPr>
              <a:t>01 / 03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728297" y="5462549"/>
            <a:ext cx="2707329" cy="7303"/>
          </a:xfrm>
          <a:prstGeom prst="rect">
            <a:avLst/>
          </a:prstGeom>
          <a:solidFill>
            <a:srgbClr val="D2EDB5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42155" y="5587966"/>
            <a:ext cx="3225475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EEF6E6"/>
                </a:solidFill>
                <a:latin typeface="Arial"/>
              </a:rPr>
              <a:t>Permintaan premium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42155" y="5863678"/>
            <a:ext cx="3225475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2EEE0"/>
                </a:solidFill>
                <a:latin typeface="Arial"/>
              </a:rPr>
              <a:t>Estimasi kebutuhan di DKI: 1.460–2.190 ton per tahun.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42155" y="6107323"/>
            <a:ext cx="3225475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B9D994"/>
                </a:solidFill>
                <a:latin typeface="Arial"/>
              </a:rPr>
              <a:t>KLIK ELEMEN ATAU TEKAN →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591814" y="6337501"/>
            <a:ext cx="2364406" cy="0"/>
          </a:xfrm>
          <a:prstGeom prst="line">
            <a:avLst/>
          </a:prstGeom>
          <a:ln w="7303">
            <a:solidFill>
              <a:srgbClr val="143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91814" y="6075712"/>
            <a:ext cx="239640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143E2B"/>
                </a:solidFill>
                <a:latin typeface="Arial"/>
              </a:rPr>
              <a:t>LIHAT DATA PADA HALAMAN ASLI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74316" y="6042845"/>
            <a:ext cx="213907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143E2B"/>
                </a:solidFill>
                <a:latin typeface="Arial"/>
              </a:rPr>
              <a:t>↗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82550" y="6537324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SUMBER: PDF SIDANG AKHIR · HALAMAN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PRESENTASI 04 / 66 · ASLI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2564"/>
            <a:ext cx="7804336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99" b="1" i="0">
                <a:solidFill>
                  <a:srgbClr val="143E2B"/>
                </a:solidFill>
                <a:latin typeface="Arial Narrow"/>
              </a:rPr>
              <a:t>Dua masalah. Satu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16385"/>
            <a:ext cx="784096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59715E"/>
                </a:solidFill>
                <a:latin typeface="Arial"/>
              </a:rPr>
              <a:t>Kesenjangan lokasi dan kualitas bertemu dengan inefisiensi budidaya konvensional.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09786"/>
            <a:ext cx="3085972" cy="3301243"/>
          </a:xfrm>
          <a:prstGeom prst="rect">
            <a:avLst/>
          </a:prstGeom>
          <a:solidFill>
            <a:srgbClr val="E8E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85195" y="1909786"/>
            <a:ext cx="3085973" cy="0"/>
          </a:xfrm>
          <a:prstGeom prst="line">
            <a:avLst/>
          </a:prstGeom>
          <a:ln w="43821">
            <a:solidFill>
              <a:srgbClr val="B99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7543" y="2075487"/>
            <a:ext cx="281328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37454"/>
                </a:solidFill>
                <a:latin typeface="Arial"/>
              </a:rPr>
              <a:t>01 / KESENJANGAN PASAR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543" y="2271659"/>
            <a:ext cx="2813282" cy="8207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183" b="1" i="0">
                <a:solidFill>
                  <a:srgbClr val="583B2D"/>
                </a:solidFill>
                <a:latin typeface="Arial"/>
              </a:rPr>
              <a:t>1,46%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543" y="3038312"/>
            <a:ext cx="2592236" cy="3364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Produksi di wilayah konsumsi tinggi Jabodetabek, menurut slide sumber.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7543" y="4547996"/>
            <a:ext cx="2781278" cy="7303"/>
          </a:xfrm>
          <a:prstGeom prst="rect">
            <a:avLst/>
          </a:prstGeom>
          <a:solidFill>
            <a:srgbClr val="B9AA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543" y="4587025"/>
            <a:ext cx="2813282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74533D"/>
                </a:solidFill>
                <a:latin typeface="Arial"/>
              </a:rPr>
              <a:t>30–40%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543" y="4951408"/>
            <a:ext cx="281328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5" b="0" i="0">
                <a:solidFill>
                  <a:srgbClr val="143E2B"/>
                </a:solidFill>
                <a:latin typeface="Arial"/>
              </a:rPr>
              <a:t>risiko gagal panen konvensional · hanya 1–2 panen/tahun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2576" y="1909786"/>
            <a:ext cx="3526809" cy="3301243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762576" y="1909786"/>
            <a:ext cx="3526810" cy="0"/>
          </a:xfrm>
          <a:prstGeom prst="line">
            <a:avLst/>
          </a:prstGeom>
          <a:ln w="43821">
            <a:solidFill>
              <a:srgbClr val="5383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14924" y="2075487"/>
            <a:ext cx="325411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37454"/>
                </a:solidFill>
                <a:latin typeface="Arial"/>
              </a:rPr>
              <a:t>02 / TARGET HIDROPONIK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3914924" y="3156197"/>
            <a:ext cx="3222115" cy="0"/>
          </a:xfrm>
          <a:prstGeom prst="line">
            <a:avLst/>
          </a:prstGeom>
          <a:ln w="7303">
            <a:solidFill>
              <a:srgbClr val="35673F">
                <a:alpha val="2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914924" y="2760546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&lt;10%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96890" y="2921226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risiko gagal panen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914924" y="3640748"/>
            <a:ext cx="3222115" cy="0"/>
          </a:xfrm>
          <a:prstGeom prst="line">
            <a:avLst/>
          </a:prstGeom>
          <a:ln w="7303">
            <a:solidFill>
              <a:srgbClr val="35673F">
                <a:alpha val="2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914924" y="3245096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4–5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96890" y="3405776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panen per tahun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914924" y="4125298"/>
            <a:ext cx="3222115" cy="0"/>
          </a:xfrm>
          <a:prstGeom prst="line">
            <a:avLst/>
          </a:prstGeom>
          <a:ln w="7303">
            <a:solidFill>
              <a:srgbClr val="35673F">
                <a:alpha val="2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914924" y="3729647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80–85%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96890" y="3890327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hemat air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4924" y="4214197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2×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6890" y="4374877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produktivitas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80794" y="1909786"/>
            <a:ext cx="4226009" cy="3301243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7380794" y="1909786"/>
            <a:ext cx="4226009" cy="0"/>
          </a:xfrm>
          <a:prstGeom prst="line">
            <a:avLst/>
          </a:prstGeom>
          <a:ln w="43821">
            <a:solidFill>
              <a:srgbClr val="B9E3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533141" y="2075487"/>
            <a:ext cx="395331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9E390"/>
                </a:solidFill>
                <a:latin typeface="Arial"/>
              </a:rPr>
              <a:t>03 / MODEL B2B2C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533141" y="2821029"/>
            <a:ext cx="3921315" cy="0"/>
          </a:xfrm>
          <a:prstGeom prst="line">
            <a:avLst/>
          </a:prstGeom>
          <a:ln w="7303">
            <a:solidFill>
              <a:srgbClr val="E8F8D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533141" y="2913580"/>
            <a:ext cx="395331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8E0C6"/>
                </a:solidFill>
                <a:latin typeface="Arial"/>
              </a:rPr>
              <a:t>B2B UTAMA · RITEL / HORECA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33141" y="3010923"/>
            <a:ext cx="3953318" cy="46291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48" b="1" i="0">
                <a:solidFill>
                  <a:srgbClr val="F7FAEC"/>
                </a:solidFill>
                <a:latin typeface="Arial"/>
              </a:rPr>
              <a:t>Rp75.000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442" y="3230032"/>
            <a:ext cx="240725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7FAEC"/>
                </a:solidFill>
                <a:latin typeface="Arial"/>
              </a:rPr>
              <a:t>/kg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33141" y="3492393"/>
            <a:ext cx="3921315" cy="0"/>
          </a:xfrm>
          <a:prstGeom prst="line">
            <a:avLst/>
          </a:prstGeom>
          <a:ln w="7303">
            <a:solidFill>
              <a:srgbClr val="E8F8D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533141" y="3584944"/>
            <a:ext cx="395331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8E0C6"/>
                </a:solidFill>
                <a:latin typeface="Arial"/>
              </a:rPr>
              <a:t>B2C PENDUKUNG · LANGSUNG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33141" y="3682287"/>
            <a:ext cx="3953318" cy="46291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48" b="1" i="0">
                <a:solidFill>
                  <a:srgbClr val="F7FAEC"/>
                </a:solidFill>
                <a:latin typeface="Arial"/>
              </a:rPr>
              <a:t>Rp99.000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37442" y="3901396"/>
            <a:ext cx="240725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7FAEC"/>
                </a:solidFill>
                <a:latin typeface="Arial"/>
              </a:rPr>
              <a:t>/kg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33141" y="4799744"/>
            <a:ext cx="3953318" cy="3081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DCEFD6"/>
                </a:solidFill>
                <a:latin typeface="Arial"/>
              </a:rPr>
              <a:t>Porsi B2C tumbuh bertahap · konsep rooftop Jakarta: panen dan kirim di hari yang sama.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5195" y="5290228"/>
            <a:ext cx="2950514" cy="877805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585195" y="5290228"/>
            <a:ext cx="2950515" cy="0"/>
          </a:xfrm>
          <a:prstGeom prst="line">
            <a:avLst/>
          </a:prstGeom>
          <a:ln w="7303">
            <a:solidFill>
              <a:srgbClr val="577D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64393" y="5441665"/>
            <a:ext cx="2824123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4393" y="5757319"/>
            <a:ext cx="282412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responden survei primer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393" y="5876003"/>
            <a:ext cx="282412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Mei–Agustus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14908" y="5290228"/>
            <a:ext cx="2611128" cy="877805"/>
          </a:xfrm>
          <a:prstGeom prst="rect">
            <a:avLst/>
          </a:prstGeom>
          <a:solidFill>
            <a:srgbClr val="FFFFFF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614908" y="5290228"/>
            <a:ext cx="2611129" cy="0"/>
          </a:xfrm>
          <a:prstGeom prst="line">
            <a:avLst/>
          </a:prstGeom>
          <a:ln w="7303">
            <a:solidFill>
              <a:srgbClr val="AEB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694106" y="5501007"/>
            <a:ext cx="248473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94,5%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4106" y="5816661"/>
            <a:ext cx="24847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rasa manis faktor utama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5234" y="5290228"/>
            <a:ext cx="2611128" cy="877805"/>
          </a:xfrm>
          <a:prstGeom prst="rect">
            <a:avLst/>
          </a:prstGeom>
          <a:solidFill>
            <a:srgbClr val="FFFFFF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6305234" y="5290228"/>
            <a:ext cx="2611129" cy="0"/>
          </a:xfrm>
          <a:prstGeom prst="line">
            <a:avLst/>
          </a:prstGeom>
          <a:ln w="7303">
            <a:solidFill>
              <a:srgbClr val="AEB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384432" y="5501007"/>
            <a:ext cx="248473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45,8%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84432" y="5816661"/>
            <a:ext cx="24847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bersedia ≥Rp100.000/buah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95561" y="5290228"/>
            <a:ext cx="2611128" cy="877805"/>
          </a:xfrm>
          <a:prstGeom prst="rect">
            <a:avLst/>
          </a:prstGeom>
          <a:solidFill>
            <a:srgbClr val="FFFFFF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8995561" y="5290228"/>
            <a:ext cx="2611128" cy="0"/>
          </a:xfrm>
          <a:prstGeom prst="line">
            <a:avLst/>
          </a:prstGeom>
          <a:ln w="7303">
            <a:solidFill>
              <a:srgbClr val="AEB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074758" y="5501007"/>
            <a:ext cx="248473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78,7%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74758" y="5816661"/>
            <a:ext cx="24847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tertarik memberi melon sebagai hadiah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5195" y="6239929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697565"/>
                </a:solidFill>
                <a:latin typeface="Arial"/>
              </a:rPr>
              <a:t>Perbandingan budidaya mengikuti asumsi slide sumber. Harga strategi per kg; kesediaan bayar survei per buah.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SUMBER: PDF SIDANG AKHIR · HALAMAN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PRESENTASI 05 / 66 · ASLI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143E2B"/>
                </a:solidFill>
                <a:latin typeface="Arial Narrow"/>
              </a:rPr>
              <a:t>Struktur industri membuka ruang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715E"/>
                </a:solidFill>
                <a:latin typeface="Arial"/>
              </a:rPr>
              <a:t>Lima kekuatan persaingan menunjukkan pembeli paling kuat; kualitas konsisten dan kontrak menjadi respons utama.</a:t>
            </a:r>
          </a:p>
        </p:txBody>
      </p:sp>
      <p:cxnSp>
        <p:nvCxnSpPr>
          <p:cNvPr id="8" name="Connector 7"/>
          <p:cNvCxnSpPr/>
          <p:nvPr/>
        </p:nvCxnSpPr>
        <p:spPr>
          <a:xfrm flipH="1" flipV="1">
            <a:off x="5611048" y="3538328"/>
            <a:ext cx="705384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4905666" y="3292090"/>
            <a:ext cx="705382" cy="246238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4200283" y="3045853"/>
            <a:ext cx="705383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3494900" y="2799616"/>
            <a:ext cx="705383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2789517" y="2553379"/>
            <a:ext cx="705383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316432" y="3531847"/>
            <a:ext cx="727425" cy="252718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043857" y="3279131"/>
            <a:ext cx="727427" cy="252716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771284" y="3026413"/>
            <a:ext cx="727427" cy="252718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498711" y="2773697"/>
            <a:ext cx="727425" cy="252716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226136" y="2520980"/>
            <a:ext cx="727426" cy="252717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5269379" y="37683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4222326" y="37521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3175273" y="37359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2128220" y="37197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316432" y="3784565"/>
            <a:ext cx="991944" cy="24299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308376" y="3808864"/>
            <a:ext cx="991945" cy="243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00321" y="3833164"/>
            <a:ext cx="991945" cy="243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292266" y="3857464"/>
            <a:ext cx="991944" cy="24299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279693" y="3784565"/>
            <a:ext cx="36739" cy="377995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242954" y="4162560"/>
            <a:ext cx="36739" cy="377995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206215" y="4540555"/>
            <a:ext cx="36739" cy="377996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5655105" y="3071749"/>
            <a:ext cx="1341111" cy="1341130"/>
          </a:xfrm>
          <a:prstGeom prst="ellipse">
            <a:avLst/>
          </a:prstGeom>
          <a:solidFill>
            <a:srgbClr val="14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01534" y="3327947"/>
            <a:ext cx="48025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4F7EC"/>
                </a:solidFill>
                <a:latin typeface="Arial"/>
              </a:rPr>
              <a:t>PORTER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6196" y="3379072"/>
            <a:ext cx="370933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F4F7EC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9023" y="4047127"/>
            <a:ext cx="48527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4F7EC"/>
                </a:solidFill>
                <a:latin typeface="Arial"/>
              </a:rPr>
              <a:t>FORCES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6869" y="2294140"/>
            <a:ext cx="2645135" cy="527573"/>
          </a:xfrm>
          <a:prstGeom prst="rect">
            <a:avLst/>
          </a:prstGeom>
          <a:solidFill>
            <a:srgbClr val="C5E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466869" y="2294140"/>
            <a:ext cx="2645136" cy="0"/>
          </a:xfrm>
          <a:prstGeom prst="line">
            <a:avLst/>
          </a:prstGeom>
          <a:ln w="14607">
            <a:solidFill>
              <a:srgbClr val="143D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576536" y="2431768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01 / Pendatang baru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7898" y="2387946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76536" y="2621662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CAPEX + teknis · skor 2,825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90232" y="2196910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8190232" y="2196910"/>
            <a:ext cx="2645135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299899" y="2334538"/>
            <a:ext cx="1900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02 / Pembeli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498" y="2290716"/>
            <a:ext cx="516205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Tinggi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9899" y="2524433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Alternatif lokal &amp; impor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5319" y="3460553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695319" y="3460553"/>
            <a:ext cx="2645136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04986" y="3598181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03 / Pemasok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36348" y="3554360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986" y="3788076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Diversifikasi pemasok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61668" y="3654899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8961668" y="3654899"/>
            <a:ext cx="2645135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071335" y="3792527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04 / Substitusi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02697" y="3748705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71335" y="3982421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Impor &amp; buah premium lokal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63080" y="4391082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663080" y="4391082"/>
            <a:ext cx="2645135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772747" y="4528710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05 / Rivalitas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04109" y="4484888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72747" y="4718605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Menurut sumber: 54 ton/tahun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195" y="6182984"/>
            <a:ext cx="379149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43E2B"/>
                </a:solidFill>
                <a:latin typeface="Arial"/>
              </a:rPr>
              <a:t>Pembeli paling kuat → konsistensi mutu, traceability, kontrak.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41192" y="4895946"/>
            <a:ext cx="2865611" cy="1447717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05750" y="5023874"/>
            <a:ext cx="4328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C5E99C"/>
                </a:solidFill>
                <a:latin typeface="Arial"/>
              </a:rPr>
              <a:t>01 / 05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391892" y="5078651"/>
            <a:ext cx="2050353" cy="7303"/>
          </a:xfrm>
          <a:prstGeom prst="rect">
            <a:avLst/>
          </a:prstGeom>
          <a:solidFill>
            <a:srgbClr val="D2EDB5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05750" y="5252911"/>
            <a:ext cx="256849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EEF6E6"/>
                </a:solidFill>
                <a:latin typeface="Arial"/>
              </a:rPr>
              <a:t>Pendatang baru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05750" y="5553045"/>
            <a:ext cx="2568499" cy="49487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2EEE0"/>
                </a:solidFill>
                <a:latin typeface="Arial"/>
              </a:rPr>
              <a:t>Sedang · skor 2,825 pada slide sumber. Hambatan: investasi, teknis, standar ritel, dan benih.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05750" y="6113485"/>
            <a:ext cx="256849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B9D994"/>
                </a:solidFill>
                <a:latin typeface="Arial"/>
              </a:rPr>
              <a:t>KLIK ELEMEN ATAU TEKAN →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SUMBER: PDF SIDANG AKHIR · HALAMAN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PRESENTASI 06 / 66 · ASLI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2564"/>
            <a:ext cx="7804336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99" b="1" i="0">
                <a:solidFill>
                  <a:srgbClr val="143E2B"/>
                </a:solidFill>
                <a:latin typeface="Arial Narrow"/>
              </a:rPr>
              <a:t>Visi dan standar produk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16385"/>
            <a:ext cx="784096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59715E"/>
                </a:solidFill>
                <a:latin typeface="Arial"/>
              </a:rPr>
              <a:t>PT Melooloo Segar Indonesia menggabungkan greenhouse IoT, hidroponik presisi, dan analitik untuk kualitas premium.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03738"/>
            <a:ext cx="2645135" cy="3970096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ctur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03738"/>
            <a:ext cx="2645135" cy="3970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7073" y="5551105"/>
            <a:ext cx="2433384" cy="2273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2209" y="1903738"/>
            <a:ext cx="8254594" cy="751818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6297" y="2013407"/>
            <a:ext cx="621946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3" b="1" i="0">
                <a:solidFill>
                  <a:srgbClr val="C2E397"/>
                </a:solidFill>
                <a:latin typeface="Arial"/>
              </a:rPr>
              <a:t>VISI · RINGKASAN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6297" y="2137568"/>
            <a:ext cx="6219469" cy="4370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2" b="1" i="0">
                <a:solidFill>
                  <a:srgbClr val="F7FAEF"/>
                </a:solidFill>
                <a:latin typeface="Arial"/>
              </a:rPr>
              <a:t>Standar baru kualitas dan efisiensi melon premium Indonesia, dengan daya saing global.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95640" y="2067956"/>
            <a:ext cx="1709078" cy="3387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C9EBA3"/>
                </a:solidFill>
                <a:latin typeface="Arial"/>
              </a:rPr>
              <a:t>14 → 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95640" y="2374708"/>
            <a:ext cx="17090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AEF"/>
                </a:solidFill>
                <a:latin typeface="Arial"/>
              </a:rPr>
              <a:t>karyawan · Y1 ke Y5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2209" y="2722544"/>
            <a:ext cx="2706873" cy="542066"/>
          </a:xfrm>
          <a:prstGeom prst="rect">
            <a:avLst/>
          </a:prstGeom>
          <a:solidFill>
            <a:srgbClr val="DB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52209" y="2722544"/>
            <a:ext cx="2706873" cy="0"/>
          </a:xfrm>
          <a:prstGeom prst="line">
            <a:avLst/>
          </a:prstGeom>
          <a:ln w="36517">
            <a:solidFill>
              <a:srgbClr val="5B8D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455828" y="2800487"/>
            <a:ext cx="2531639" cy="3022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76" b="1" i="0">
                <a:solidFill>
                  <a:srgbClr val="143E2B"/>
                </a:solidFill>
                <a:latin typeface="Arial"/>
              </a:rPr>
              <a:t>15–18°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5828" y="3084416"/>
            <a:ext cx="25316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E2B"/>
                </a:solidFill>
                <a:latin typeface="Arial"/>
              </a:rPr>
              <a:t>Brix · target rasa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069" y="2722544"/>
            <a:ext cx="2706873" cy="542066"/>
          </a:xfrm>
          <a:prstGeom prst="rect">
            <a:avLst/>
          </a:prstGeom>
          <a:solidFill>
            <a:srgbClr val="DB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126069" y="2722544"/>
            <a:ext cx="2706874" cy="0"/>
          </a:xfrm>
          <a:prstGeom prst="line">
            <a:avLst/>
          </a:prstGeom>
          <a:ln w="36517">
            <a:solidFill>
              <a:srgbClr val="5B8D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29688" y="2800487"/>
            <a:ext cx="2531639" cy="3022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76" b="1" i="0">
                <a:solidFill>
                  <a:srgbClr val="143E2B"/>
                </a:solidFill>
                <a:latin typeface="Arial"/>
              </a:rPr>
              <a:t>≥1,5–2,0 kg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9688" y="3084416"/>
            <a:ext cx="25316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E2B"/>
                </a:solidFill>
                <a:latin typeface="Arial"/>
              </a:rPr>
              <a:t>ukuran buah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99930" y="2722544"/>
            <a:ext cx="2706873" cy="542066"/>
          </a:xfrm>
          <a:prstGeom prst="rect">
            <a:avLst/>
          </a:prstGeom>
          <a:solidFill>
            <a:srgbClr val="DB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8899930" y="2722544"/>
            <a:ext cx="2706873" cy="0"/>
          </a:xfrm>
          <a:prstGeom prst="line">
            <a:avLst/>
          </a:prstGeom>
          <a:ln w="36517">
            <a:solidFill>
              <a:srgbClr val="5B8D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003549" y="2800487"/>
            <a:ext cx="2531639" cy="3022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76" b="1" i="0">
                <a:solidFill>
                  <a:srgbClr val="143E2B"/>
                </a:solidFill>
                <a:latin typeface="Arial"/>
              </a:rPr>
              <a:t>4–5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3549" y="3084416"/>
            <a:ext cx="25316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E2B"/>
                </a:solidFill>
                <a:latin typeface="Arial"/>
              </a:rPr>
              <a:t>panen per tahun</a:t>
            </a:r>
          </a:p>
        </p:txBody>
      </p:sp>
      <p:pic>
        <p:nvPicPr>
          <p:cNvPr id="28" name="Picture 27" descr="picture-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209" y="3331599"/>
            <a:ext cx="2706873" cy="2542235"/>
          </a:xfrm>
          <a:prstGeom prst="rect">
            <a:avLst/>
          </a:prstGeom>
        </p:spPr>
      </p:pic>
      <p:cxnSp>
        <p:nvCxnSpPr>
          <p:cNvPr id="29" name="Connector 28"/>
          <p:cNvCxnSpPr/>
          <p:nvPr/>
        </p:nvCxnSpPr>
        <p:spPr>
          <a:xfrm>
            <a:off x="3352209" y="3331599"/>
            <a:ext cx="2706873" cy="0"/>
          </a:xfrm>
          <a:prstGeom prst="line">
            <a:avLst/>
          </a:prstGeom>
          <a:ln w="36517">
            <a:solidFill>
              <a:srgbClr val="B7DE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461876" y="3453364"/>
            <a:ext cx="655035" cy="170494"/>
          </a:xfrm>
          <a:prstGeom prst="rect">
            <a:avLst/>
          </a:prstGeom>
          <a:solidFill>
            <a:srgbClr val="062418">
              <a:alpha val="8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61876" y="3483834"/>
            <a:ext cx="6870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D7F1B3"/>
                </a:solidFill>
                <a:latin typeface="Arial"/>
              </a:rPr>
              <a:t>1–2 TAHUN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1876" y="5190032"/>
            <a:ext cx="251954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FFFFFF"/>
                </a:solidFill>
                <a:latin typeface="Arial"/>
              </a:rPr>
              <a:t>100–125 ton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61876" y="5548709"/>
            <a:ext cx="2519543" cy="26880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FF8E9"/>
                </a:solidFill>
                <a:latin typeface="Arial"/>
              </a:rPr>
              <a:t>per tahun · GH IoT ±7.000 m² · ≥5 kontrak B2B · B2C mulai · target gagal panen &lt;6%</a:t>
            </a:r>
          </a:p>
        </p:txBody>
      </p:sp>
      <p:pic>
        <p:nvPicPr>
          <p:cNvPr id="34" name="Picture 33" descr="picture-0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069" y="3331599"/>
            <a:ext cx="2706873" cy="2542235"/>
          </a:xfrm>
          <a:prstGeom prst="rect">
            <a:avLst/>
          </a:prstGeom>
        </p:spPr>
      </p:pic>
      <p:cxnSp>
        <p:nvCxnSpPr>
          <p:cNvPr id="35" name="Connector 34"/>
          <p:cNvCxnSpPr/>
          <p:nvPr/>
        </p:nvCxnSpPr>
        <p:spPr>
          <a:xfrm>
            <a:off x="6126069" y="3331599"/>
            <a:ext cx="2706874" cy="0"/>
          </a:xfrm>
          <a:prstGeom prst="line">
            <a:avLst/>
          </a:prstGeom>
          <a:ln w="36517">
            <a:solidFill>
              <a:srgbClr val="B7DE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235737" y="3453364"/>
            <a:ext cx="655035" cy="170494"/>
          </a:xfrm>
          <a:prstGeom prst="rect">
            <a:avLst/>
          </a:prstGeom>
          <a:solidFill>
            <a:srgbClr val="062418">
              <a:alpha val="8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5737" y="3483834"/>
            <a:ext cx="6870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D7F1B3"/>
                </a:solidFill>
                <a:latin typeface="Arial"/>
              </a:rPr>
              <a:t>3–5 TAHUN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5737" y="5190032"/>
            <a:ext cx="251954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FFFFFF"/>
                </a:solidFill>
                <a:latin typeface="Arial"/>
              </a:rPr>
              <a:t>+17 GH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5737" y="5548709"/>
            <a:ext cx="2519543" cy="26880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FF8E9"/>
                </a:solidFill>
                <a:latin typeface="Arial"/>
              </a:rPr>
              <a:t>di 2 lokasi baru · operational excellence · pertumbuhan B2C</a:t>
            </a:r>
          </a:p>
        </p:txBody>
      </p:sp>
      <p:pic>
        <p:nvPicPr>
          <p:cNvPr id="40" name="Picture 39" descr="picture-0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9930" y="3331599"/>
            <a:ext cx="2706873" cy="2542235"/>
          </a:xfrm>
          <a:prstGeom prst="rect">
            <a:avLst/>
          </a:prstGeom>
        </p:spPr>
      </p:pic>
      <p:cxnSp>
        <p:nvCxnSpPr>
          <p:cNvPr id="41" name="Connector 40"/>
          <p:cNvCxnSpPr/>
          <p:nvPr/>
        </p:nvCxnSpPr>
        <p:spPr>
          <a:xfrm>
            <a:off x="8899930" y="3331599"/>
            <a:ext cx="2706873" cy="0"/>
          </a:xfrm>
          <a:prstGeom prst="line">
            <a:avLst/>
          </a:prstGeom>
          <a:ln w="36517">
            <a:solidFill>
              <a:srgbClr val="B7DE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9009597" y="3453364"/>
            <a:ext cx="606193" cy="170494"/>
          </a:xfrm>
          <a:prstGeom prst="rect">
            <a:avLst/>
          </a:prstGeom>
          <a:solidFill>
            <a:srgbClr val="062418">
              <a:alpha val="8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09597" y="3483834"/>
            <a:ext cx="63819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D7F1B3"/>
                </a:solidFill>
                <a:latin typeface="Arial"/>
              </a:rPr>
              <a:t>&gt;5 TAHUN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9597" y="5309971"/>
            <a:ext cx="251954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FFFFFF"/>
                </a:solidFill>
                <a:latin typeface="Arial"/>
              </a:rPr>
              <a:t>≥2 kota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9597" y="5668648"/>
            <a:ext cx="25195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FF8E9"/>
                </a:solidFill>
                <a:latin typeface="Arial"/>
              </a:rPr>
              <a:t>target: sekitar 190 ton/tahun &amp; posisi setara impor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5195" y="5944474"/>
            <a:ext cx="2150664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85195" y="5990807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789" y="6005414"/>
            <a:ext cx="190250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Modern Precision Farming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802846" y="5944474"/>
            <a:ext cx="2150777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2802846" y="5990807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40439" y="6005414"/>
            <a:ext cx="190262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Excellence in Premium Quality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020611" y="5944474"/>
            <a:ext cx="2150663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020611" y="5990807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58204" y="6005414"/>
            <a:ext cx="190250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Long-Term Partnership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238261" y="5944474"/>
            <a:ext cx="2150778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238261" y="5990807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75854" y="6005414"/>
            <a:ext cx="190262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Original Local Mastery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456026" y="5944474"/>
            <a:ext cx="2150663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456026" y="5990807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3619" y="6005414"/>
            <a:ext cx="190250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Operational Efficiency &amp; Scalability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5195" y="6244266"/>
            <a:ext cx="1105361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87B68"/>
                </a:solidFill>
                <a:latin typeface="Arial"/>
              </a:rPr>
              <a:t>Profil sumber: PT Melooloo Segar Indonesia · IoT, hidroponik presisi dan AI analitik sebagai rancangan teknologi · netting rapi, tekstur renyah.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SUMBER: PDF SIDANG AKHIR · HALAMAN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851672" y="325924"/>
            <a:ext cx="36054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477459"/>
                </a:solidFill>
                <a:latin typeface="Arial"/>
              </a:rPr>
              <a:t>01 /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1762" y="440386"/>
            <a:ext cx="2576944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492F"/>
                </a:solidFill>
                <a:latin typeface="Arial"/>
              </a:rPr>
              <a:t>Customer Segments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1762" y="656071"/>
            <a:ext cx="257694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365843"/>
                </a:solidFill>
                <a:latin typeface="Arial"/>
              </a:rPr>
              <a:t>B2B supermarket premium · B2C konsumen urban.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1762" y="795525"/>
            <a:ext cx="25769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8568"/>
                </a:solidFill>
                <a:latin typeface="Arial"/>
              </a:rPr>
              <a:t>TEKAN → ATAU KLIK BLOK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19" y="243840"/>
            <a:ext cx="7103363" cy="5440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1" b="1" i="0">
                <a:solidFill>
                  <a:srgbClr val="193E27"/>
                </a:solidFill>
                <a:latin typeface="Arial"/>
              </a:rPr>
              <a:t>BUSINESS MODEL CANVAS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39" y="1219200"/>
            <a:ext cx="2133599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559" y="1328928"/>
            <a:ext cx="19217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Key Partners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51" y="17068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Supplier benih premium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51" y="20116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Supplier kebutuhan perkebunan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51" y="23164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Mitra greenhouse &amp; IoT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751" y="26212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Retailer 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751" y="29260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Institusi riset pertanian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04159" y="1219200"/>
            <a:ext cx="2072639" cy="1743456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79" y="1328928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Key Activities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8271" y="1658112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Automasi IoT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8271" y="1914144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QC &amp; packaging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8271" y="2170175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Distribusi &amp; logistik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8271" y="2426208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Branding &amp; pemasaran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38271" y="2682240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R&amp;D dan inovasi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04159" y="3084576"/>
            <a:ext cx="2072639" cy="1792223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6079" y="3194304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Key Resources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8271" y="3572255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Greenhouse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8271" y="38770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Sensor IoT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8271" y="41818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Benih melon premium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38271" y="44866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Tim agronomis &amp; teknisi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98719" y="1219200"/>
            <a:ext cx="2194559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39" y="1328928"/>
            <a:ext cx="198272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Value Propositions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32831" y="17068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Melon premium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32831" y="20116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Rasa manis konsisten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32831" y="23164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Visual buah yang estetis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2831" y="26212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Kemasan konsisten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2831" y="29260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Urban smart farming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32831" y="32308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Kemampuan supply konsisten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199" y="1219200"/>
            <a:ext cx="2072639" cy="1743456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37119" y="1328928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Customer Relationships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49311" y="17068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Account management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49311" y="20116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Storytelling brand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49311" y="23164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Social media engagement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9311" y="26212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Community building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199" y="3084576"/>
            <a:ext cx="2072639" cy="1792223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37119" y="3194304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Channels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49311" y="3572255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Distribusi B2B supermarket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49311" y="38770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Event &amp; HoReCa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49311" y="41818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Marketplace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49311" y="44866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Online delivery &amp; e-commerce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759" y="1219200"/>
            <a:ext cx="2133599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31679" y="1328928"/>
            <a:ext cx="19217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Customer Segments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3871" y="17068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B2B: supermarket premium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43871" y="20116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B2C: konsumen urban menengah atas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3871" y="23164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Health conscious customers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3871" y="26212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Gen Z &amp; Millennial lifestyle &amp; foodie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39" y="5010912"/>
            <a:ext cx="5486399" cy="134112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0559" y="5120640"/>
            <a:ext cx="52745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Cost Structure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2751" y="5498592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Konstruksi &amp; operasi greenhouse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2751" y="5754624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Benih &amp; nutrisi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2751" y="6010656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Tenaga kerja &amp; teknisi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25951" y="5498592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Pemasaran &amp; branding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25951" y="5754624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R&amp;D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5951" y="6010656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Utilitas dasar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59" y="5010912"/>
            <a:ext cx="5486399" cy="134112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78879" y="5120640"/>
            <a:ext cx="52745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Revenue Streams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91071" y="5535168"/>
            <a:ext cx="2531363" cy="5196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3" b="0" i="0">
                <a:solidFill>
                  <a:srgbClr val="243827"/>
                </a:solidFill>
                <a:latin typeface="Arial"/>
              </a:rPr>
              <a:t>• Kontrak penjualan B2B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34271" y="5535168"/>
            <a:ext cx="2531363" cy="5196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3" b="0" i="0">
                <a:solidFill>
                  <a:srgbClr val="243827"/>
                </a:solidFill>
                <a:latin typeface="Arial"/>
              </a:rPr>
              <a:t>• Penjualan langsung B2C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PRESENTASI 08 / 66 · ASLI 20</a:t>
            </a:r>
          </a:p>
        </p:txBody>
      </p:sp>
      <p:pic>
        <p:nvPicPr>
          <p:cNvPr id="6" name="Picture 5" descr="picture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1220660" cy="6858000"/>
          </a:xfrm>
          <a:prstGeom prst="rect">
            <a:avLst/>
          </a:prstGeom>
          <a:solidFill>
            <a:srgbClr val="031A12">
              <a:alpha val="950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19199" y="0"/>
            <a:ext cx="1220660" cy="6858000"/>
          </a:xfrm>
          <a:prstGeom prst="rect">
            <a:avLst/>
          </a:prstGeom>
          <a:solidFill>
            <a:srgbClr val="031A12">
              <a:alpha val="931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8399" y="0"/>
            <a:ext cx="1220660" cy="6858000"/>
          </a:xfrm>
          <a:prstGeom prst="rect">
            <a:avLst/>
          </a:prstGeom>
          <a:solidFill>
            <a:srgbClr val="031A12">
              <a:alpha val="912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599" y="0"/>
            <a:ext cx="1220660" cy="6858000"/>
          </a:xfrm>
          <a:prstGeom prst="rect">
            <a:avLst/>
          </a:prstGeom>
          <a:solidFill>
            <a:srgbClr val="031A12">
              <a:alpha val="893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799" y="0"/>
            <a:ext cx="1220660" cy="6858000"/>
          </a:xfrm>
          <a:prstGeom prst="rect">
            <a:avLst/>
          </a:prstGeom>
          <a:solidFill>
            <a:srgbClr val="031A12">
              <a:alpha val="874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99" y="0"/>
            <a:ext cx="1220660" cy="6858000"/>
          </a:xfrm>
          <a:prstGeom prst="rect">
            <a:avLst/>
          </a:prstGeom>
          <a:solidFill>
            <a:srgbClr val="031A12">
              <a:alpha val="855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199" y="0"/>
            <a:ext cx="1220660" cy="6858000"/>
          </a:xfrm>
          <a:prstGeom prst="rect">
            <a:avLst/>
          </a:prstGeom>
          <a:solidFill>
            <a:srgbClr val="031A12">
              <a:alpha val="836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34399" y="0"/>
            <a:ext cx="1220660" cy="6858000"/>
          </a:xfrm>
          <a:prstGeom prst="rect">
            <a:avLst/>
          </a:prstGeom>
          <a:solidFill>
            <a:srgbClr val="031A12">
              <a:alpha val="817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53599" y="0"/>
            <a:ext cx="1220660" cy="6858000"/>
          </a:xfrm>
          <a:prstGeom prst="rect">
            <a:avLst/>
          </a:prstGeom>
          <a:solidFill>
            <a:srgbClr val="031A12">
              <a:alpha val="798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799" y="0"/>
            <a:ext cx="1220660" cy="6858000"/>
          </a:xfrm>
          <a:prstGeom prst="rect">
            <a:avLst/>
          </a:prstGeom>
          <a:solidFill>
            <a:srgbClr val="031A12">
              <a:alpha val="779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OPERASI &amp; TEKNOLOGI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02" y="1331544"/>
            <a:ext cx="7603261" cy="182071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Operasi: mutu yang berulang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02" y="3205040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Satu modul yang terukur, lalu direplikasi dari Jakarta ke tiga kota dalam skenario operasi terbaru.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420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tanaman per GH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siklus mulai Y2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35 → 237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GH Y0–Y10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50,3 → 816,6 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Y0–Y10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36902" y="6544057"/>
            <a:ext cx="202632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SUMBER: PDF ASLI + CATATAN · HALAMAN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34098" y="328891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09 / 66 · ASLI 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Lokasi dan rantai pasok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Dua lokasi awal, pemasok berlapis, dan target kirim B2B kurang dari 12 jam setelah panen.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814" y="1950184"/>
            <a:ext cx="5455399" cy="267929"/>
          </a:xfrm>
          <a:prstGeom prst="rect">
            <a:avLst/>
          </a:prstGeom>
          <a:solidFill>
            <a:srgbClr val="10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1814" y="2216653"/>
            <a:ext cx="5455399" cy="267929"/>
          </a:xfrm>
          <a:prstGeom prst="rect">
            <a:avLst/>
          </a:prstGeom>
          <a:solidFill>
            <a:srgbClr val="0F3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1814" y="2483122"/>
            <a:ext cx="5455399" cy="267929"/>
          </a:xfrm>
          <a:prstGeom prst="rect">
            <a:avLst/>
          </a:prstGeom>
          <a:solidFill>
            <a:srgbClr val="0E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1814" y="2749590"/>
            <a:ext cx="5455399" cy="267929"/>
          </a:xfrm>
          <a:prstGeom prst="rect">
            <a:avLst/>
          </a:prstGeom>
          <a:solidFill>
            <a:srgbClr val="0E3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1814" y="3016059"/>
            <a:ext cx="5455399" cy="267929"/>
          </a:xfrm>
          <a:prstGeom prst="rect">
            <a:avLst/>
          </a:prstGeom>
          <a:solidFill>
            <a:srgbClr val="0D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1814" y="3282527"/>
            <a:ext cx="5455399" cy="267929"/>
          </a:xfrm>
          <a:prstGeom prst="rect">
            <a:avLst/>
          </a:prstGeom>
          <a:solidFill>
            <a:srgbClr val="0D3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1814" y="3548996"/>
            <a:ext cx="5455399" cy="267929"/>
          </a:xfrm>
          <a:prstGeom prst="rect">
            <a:avLst/>
          </a:prstGeom>
          <a:solidFill>
            <a:srgbClr val="0C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1814" y="3815465"/>
            <a:ext cx="5455399" cy="267929"/>
          </a:xfrm>
          <a:prstGeom prst="rect">
            <a:avLst/>
          </a:prstGeom>
          <a:solidFill>
            <a:srgbClr val="0C2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1814" y="4081933"/>
            <a:ext cx="5455399" cy="267929"/>
          </a:xfrm>
          <a:prstGeom prst="rect">
            <a:avLst/>
          </a:prstGeom>
          <a:solidFill>
            <a:srgbClr val="0B2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1814" y="4348402"/>
            <a:ext cx="5455399" cy="267929"/>
          </a:xfrm>
          <a:prstGeom prst="rect">
            <a:avLst/>
          </a:prstGeom>
          <a:solidFill>
            <a:srgbClr val="0A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420" y="2084275"/>
            <a:ext cx="514619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D4EDAA"/>
                </a:solidFill>
                <a:latin typeface="Arial"/>
              </a:rPr>
              <a:t>LOKASI A · USULAN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4972" y="2506782"/>
            <a:ext cx="4389083" cy="1743211"/>
          </a:xfrm>
          <a:prstGeom prst="rect">
            <a:avLst/>
          </a:prstGeom>
          <a:solidFill>
            <a:srgbClr val="DEF7D7">
              <a:alpha val="5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124972" y="2506782"/>
            <a:ext cx="4389084" cy="0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514056" y="2506782"/>
            <a:ext cx="0" cy="1743211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24972" y="4249993"/>
            <a:ext cx="4389084" cy="0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24972" y="2506782"/>
            <a:ext cx="0" cy="1743211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388242" y="3039203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13909" y="3039203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39575" y="3039203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5242" y="3039203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90908" y="3039203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016575" y="3039203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42241" y="3039203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67907" y="3039203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93574" y="3039203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19240" y="3039203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388242" y="3039203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644907" y="3039203"/>
            <a:ext cx="0" cy="435095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388242" y="3474298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388242" y="3039203"/>
            <a:ext cx="0" cy="435095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691125" y="285609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16791" y="285609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942458" y="285609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068124" y="285609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93791" y="285609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19457" y="285609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45124" y="285609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70790" y="285609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96457" y="285609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22123" y="285609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691125" y="2856092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947789" y="2856092"/>
            <a:ext cx="0" cy="43509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691125" y="3291188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691125" y="2856092"/>
            <a:ext cx="0" cy="43509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3994007" y="267298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19674" y="267298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45340" y="267298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71007" y="267298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96673" y="267298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622340" y="267298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748006" y="267298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873673" y="267298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99339" y="267298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25006" y="267298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994007" y="2672982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250672" y="2672982"/>
            <a:ext cx="0" cy="435095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3994007" y="3108077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994007" y="2672982"/>
            <a:ext cx="0" cy="435095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1388242" y="334390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513909" y="334390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639575" y="334390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765242" y="334390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890908" y="334390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016575" y="334390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142241" y="334390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67907" y="334390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393574" y="334390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519240" y="3343902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388242" y="3343902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644907" y="3343902"/>
            <a:ext cx="0" cy="435095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1388242" y="3778997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388242" y="3343902"/>
            <a:ext cx="0" cy="435095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2691125" y="3160791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16791" y="3160791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942458" y="3160791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068124" y="3160791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193791" y="3160791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19457" y="3160791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445124" y="3160791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570790" y="3160791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96457" y="3160791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822123" y="3160791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2691125" y="3160791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947789" y="3160791"/>
            <a:ext cx="0" cy="435095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2691125" y="3595886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691125" y="3160791"/>
            <a:ext cx="0" cy="435095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3994007" y="297768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119674" y="297768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245340" y="297768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371007" y="297768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496673" y="297768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622340" y="297768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748006" y="297768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873673" y="297768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999339" y="297768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125006" y="297768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3994007" y="2977680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5250672" y="2977680"/>
            <a:ext cx="0" cy="435095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3994007" y="3412775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994007" y="2977680"/>
            <a:ext cx="0" cy="435095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tangle 111"/>
          <p:cNvSpPr/>
          <p:nvPr/>
        </p:nvSpPr>
        <p:spPr>
          <a:xfrm>
            <a:off x="1388242" y="364860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513909" y="364860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639575" y="364860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765242" y="364860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90908" y="364860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016575" y="364860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142241" y="364860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267907" y="364860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393574" y="364860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519240" y="3648600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1388242" y="3648600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644907" y="3648600"/>
            <a:ext cx="0" cy="43509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1388242" y="4083696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388242" y="3648600"/>
            <a:ext cx="0" cy="43509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ctangle 125"/>
          <p:cNvSpPr/>
          <p:nvPr/>
        </p:nvSpPr>
        <p:spPr>
          <a:xfrm>
            <a:off x="2691125" y="3465489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816791" y="3465489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942458" y="3465489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068124" y="3465489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193791" y="3465489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319457" y="3465489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445124" y="3465489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570790" y="3465489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696457" y="3465489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822123" y="3465489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2691125" y="3465489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3947789" y="3465489"/>
            <a:ext cx="0" cy="43509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>
            <a:off x="2691125" y="3900585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2691125" y="3465489"/>
            <a:ext cx="0" cy="43509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Rectangle 139"/>
          <p:cNvSpPr/>
          <p:nvPr/>
        </p:nvSpPr>
        <p:spPr>
          <a:xfrm>
            <a:off x="3994007" y="3282378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119674" y="3282378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245340" y="3282378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371007" y="3282378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496673" y="3282378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622340" y="3282378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748006" y="3282378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873673" y="3282378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999339" y="3282378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125006" y="3282378"/>
            <a:ext cx="127127" cy="435095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3994007" y="3282378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250672" y="3282378"/>
            <a:ext cx="0" cy="43509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H="1">
            <a:off x="3994007" y="3717474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3994007" y="3282378"/>
            <a:ext cx="0" cy="435096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762420" y="3996344"/>
            <a:ext cx="5146191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F6FAED"/>
                </a:solidFill>
                <a:latin typeface="Arial"/>
              </a:rPr>
              <a:t>Rooftop Jakarta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62420" y="4349315"/>
            <a:ext cx="3309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F6FAED"/>
                </a:solidFill>
                <a:latin typeface="Arial"/>
              </a:rPr>
              <a:t>modul greenhouse · bagian dari 35 unit awal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44671" y="1950184"/>
            <a:ext cx="5455513" cy="267929"/>
          </a:xfrm>
          <a:prstGeom prst="rect">
            <a:avLst/>
          </a:prstGeom>
          <a:solidFill>
            <a:srgbClr val="1A5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44671" y="2216653"/>
            <a:ext cx="5455513" cy="267929"/>
          </a:xfrm>
          <a:prstGeom prst="rect">
            <a:avLst/>
          </a:prstGeom>
          <a:solidFill>
            <a:srgbClr val="195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6144671" y="2483122"/>
            <a:ext cx="5455513" cy="267929"/>
          </a:xfrm>
          <a:prstGeom prst="rect">
            <a:avLst/>
          </a:prstGeom>
          <a:solidFill>
            <a:srgbClr val="184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6144671" y="2749590"/>
            <a:ext cx="5455513" cy="267929"/>
          </a:xfrm>
          <a:prstGeom prst="rect">
            <a:avLst/>
          </a:prstGeom>
          <a:solidFill>
            <a:srgbClr val="17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144671" y="3016059"/>
            <a:ext cx="5455513" cy="267929"/>
          </a:xfrm>
          <a:prstGeom prst="rect">
            <a:avLst/>
          </a:prstGeom>
          <a:solidFill>
            <a:srgbClr val="1648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144671" y="3282527"/>
            <a:ext cx="5455513" cy="267929"/>
          </a:xfrm>
          <a:prstGeom prst="rect">
            <a:avLst/>
          </a:prstGeom>
          <a:solidFill>
            <a:srgbClr val="154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6144671" y="3548996"/>
            <a:ext cx="5455513" cy="267929"/>
          </a:xfrm>
          <a:prstGeom prst="rect">
            <a:avLst/>
          </a:prstGeom>
          <a:solidFill>
            <a:srgbClr val="144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144671" y="3815465"/>
            <a:ext cx="5455513" cy="267929"/>
          </a:xfrm>
          <a:prstGeom prst="rect">
            <a:avLst/>
          </a:prstGeom>
          <a:solidFill>
            <a:srgbClr val="133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6144671" y="4081933"/>
            <a:ext cx="5455513" cy="267929"/>
          </a:xfrm>
          <a:prstGeom prst="rect">
            <a:avLst/>
          </a:prstGeom>
          <a:solidFill>
            <a:srgbClr val="123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44671" y="4348402"/>
            <a:ext cx="5455513" cy="267929"/>
          </a:xfrm>
          <a:prstGeom prst="rect">
            <a:avLst/>
          </a:prstGeom>
          <a:solidFill>
            <a:srgbClr val="11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15277" y="2084275"/>
            <a:ext cx="514630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D4EDAA"/>
                </a:solidFill>
                <a:latin typeface="Arial"/>
              </a:rPr>
              <a:t>LOKASI B · USULAN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677829" y="2545749"/>
            <a:ext cx="4389083" cy="1665276"/>
          </a:xfrm>
          <a:prstGeom prst="rect">
            <a:avLst/>
          </a:prstGeom>
          <a:solidFill>
            <a:srgbClr val="DEF7D7">
              <a:alpha val="5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8" name="Connector 167"/>
          <p:cNvCxnSpPr/>
          <p:nvPr/>
        </p:nvCxnSpPr>
        <p:spPr>
          <a:xfrm>
            <a:off x="6677829" y="2545749"/>
            <a:ext cx="4389083" cy="0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11066912" y="2545749"/>
            <a:ext cx="0" cy="1665277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H="1">
            <a:off x="6677829" y="4211026"/>
            <a:ext cx="4389083" cy="0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6677829" y="2545749"/>
            <a:ext cx="0" cy="1665277"/>
          </a:xfrm>
          <a:prstGeom prst="line">
            <a:avLst/>
          </a:prstGeom>
          <a:ln w="7303">
            <a:solidFill>
              <a:srgbClr val="DAF1C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ctangle 171"/>
          <p:cNvSpPr/>
          <p:nvPr/>
        </p:nvSpPr>
        <p:spPr>
          <a:xfrm>
            <a:off x="6941098" y="2707258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066765" y="2707258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192431" y="2707258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318098" y="2707258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443764" y="2707258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7569431" y="2707258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695097" y="2707258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820764" y="2707258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946430" y="2707258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072097" y="2707258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2" name="Connector 181"/>
          <p:cNvCxnSpPr/>
          <p:nvPr/>
        </p:nvCxnSpPr>
        <p:spPr>
          <a:xfrm>
            <a:off x="6941098" y="2707258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8197763" y="2707258"/>
            <a:ext cx="0" cy="412782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>
            <a:off x="6941098" y="3120040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6941098" y="2707258"/>
            <a:ext cx="0" cy="412782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ectangle 185"/>
          <p:cNvSpPr/>
          <p:nvPr/>
        </p:nvSpPr>
        <p:spPr>
          <a:xfrm>
            <a:off x="8243981" y="2867234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369647" y="2867234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8495314" y="2867234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8620980" y="2867234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8746647" y="2867234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872313" y="2867234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997980" y="2867234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9123646" y="2867234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9249313" y="2867234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374979" y="2867234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6" name="Connector 195"/>
          <p:cNvCxnSpPr/>
          <p:nvPr/>
        </p:nvCxnSpPr>
        <p:spPr>
          <a:xfrm>
            <a:off x="8243981" y="2867234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9500646" y="2867234"/>
            <a:ext cx="0" cy="412782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>
            <a:off x="8243981" y="3280016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8243981" y="2867234"/>
            <a:ext cx="0" cy="412782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Rectangle 199"/>
          <p:cNvSpPr/>
          <p:nvPr/>
        </p:nvSpPr>
        <p:spPr>
          <a:xfrm>
            <a:off x="9546864" y="3027210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9672530" y="3027210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9798196" y="3027210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9923863" y="3027210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0049529" y="3027210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0175196" y="3027210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0300862" y="3027210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0426529" y="3027210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0552195" y="3027210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10677862" y="3027210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0" name="Connector 209"/>
          <p:cNvCxnSpPr/>
          <p:nvPr/>
        </p:nvCxnSpPr>
        <p:spPr>
          <a:xfrm>
            <a:off x="9546864" y="3027210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0803528" y="3027210"/>
            <a:ext cx="0" cy="412782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>
            <a:off x="9546864" y="3439992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9546864" y="3027210"/>
            <a:ext cx="0" cy="412782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Rectangle 213"/>
          <p:cNvSpPr/>
          <p:nvPr/>
        </p:nvSpPr>
        <p:spPr>
          <a:xfrm>
            <a:off x="6941098" y="301195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7066765" y="301195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7192431" y="301195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7318098" y="301195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443764" y="301195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569431" y="301195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695097" y="301195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20764" y="301195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946430" y="301195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072097" y="301195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4" name="Connector 223"/>
          <p:cNvCxnSpPr/>
          <p:nvPr/>
        </p:nvCxnSpPr>
        <p:spPr>
          <a:xfrm>
            <a:off x="6941098" y="3011957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8197763" y="3011957"/>
            <a:ext cx="0" cy="412781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H="1">
            <a:off x="6941098" y="3424738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6941098" y="3011957"/>
            <a:ext cx="0" cy="412781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Rectangle 227"/>
          <p:cNvSpPr/>
          <p:nvPr/>
        </p:nvSpPr>
        <p:spPr>
          <a:xfrm>
            <a:off x="8243981" y="3171933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8369647" y="3171933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8495314" y="3171933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8620980" y="3171933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8746647" y="3171933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8872313" y="3171933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8997980" y="3171933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9123646" y="3171933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9249313" y="3171933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9374979" y="3171933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8" name="Connector 237"/>
          <p:cNvCxnSpPr/>
          <p:nvPr/>
        </p:nvCxnSpPr>
        <p:spPr>
          <a:xfrm>
            <a:off x="8243981" y="3171933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9500646" y="3171933"/>
            <a:ext cx="0" cy="412781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>
            <a:off x="8243981" y="3584714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8243981" y="3171933"/>
            <a:ext cx="0" cy="412781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/>
          <p:cNvSpPr/>
          <p:nvPr/>
        </p:nvSpPr>
        <p:spPr>
          <a:xfrm>
            <a:off x="9546864" y="3331909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9672530" y="3331909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798196" y="3331909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9923863" y="3331909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0049529" y="3331909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0175196" y="3331909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0300862" y="3331909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0426529" y="3331909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0552195" y="3331909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0677862" y="3331909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2" name="Connector 251"/>
          <p:cNvCxnSpPr/>
          <p:nvPr/>
        </p:nvCxnSpPr>
        <p:spPr>
          <a:xfrm>
            <a:off x="9546864" y="3331909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10803528" y="3331909"/>
            <a:ext cx="0" cy="412781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>
            <a:off x="9546864" y="3744690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9546864" y="3331909"/>
            <a:ext cx="0" cy="412781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ectangle 255"/>
          <p:cNvSpPr/>
          <p:nvPr/>
        </p:nvSpPr>
        <p:spPr>
          <a:xfrm>
            <a:off x="6941098" y="3316655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7066765" y="3316655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7192431" y="3316655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7318098" y="3316655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7443764" y="3316655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569431" y="3316655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7695097" y="3316655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7820764" y="3316655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7946430" y="3316655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8072097" y="3316655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6" name="Connector 265"/>
          <p:cNvCxnSpPr/>
          <p:nvPr/>
        </p:nvCxnSpPr>
        <p:spPr>
          <a:xfrm>
            <a:off x="6941098" y="3316655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8197763" y="3316655"/>
            <a:ext cx="0" cy="412782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H="1">
            <a:off x="6941098" y="3729437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6941098" y="3316655"/>
            <a:ext cx="0" cy="412782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Rectangle 269"/>
          <p:cNvSpPr/>
          <p:nvPr/>
        </p:nvSpPr>
        <p:spPr>
          <a:xfrm>
            <a:off x="8243981" y="3476631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8369647" y="3476631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8495314" y="3476631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620980" y="3476631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8746647" y="3476631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8872313" y="3476631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8997980" y="3476631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9123646" y="3476631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9249313" y="3476631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9374979" y="3476631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0" name="Connector 279"/>
          <p:cNvCxnSpPr/>
          <p:nvPr/>
        </p:nvCxnSpPr>
        <p:spPr>
          <a:xfrm>
            <a:off x="8243981" y="3476631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9500646" y="3476631"/>
            <a:ext cx="0" cy="412782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H="1">
            <a:off x="8243981" y="3889413"/>
            <a:ext cx="1256665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8243981" y="3476631"/>
            <a:ext cx="0" cy="412782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Rectangle 283"/>
          <p:cNvSpPr/>
          <p:nvPr/>
        </p:nvSpPr>
        <p:spPr>
          <a:xfrm>
            <a:off x="9546864" y="363660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672530" y="363660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9798196" y="363660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9923863" y="363660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0049529" y="363660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0175196" y="363660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0300862" y="363660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10426529" y="363660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10552195" y="363660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10677862" y="3636607"/>
            <a:ext cx="127127" cy="412781"/>
          </a:xfrm>
          <a:prstGeom prst="rect">
            <a:avLst/>
          </a:prstGeom>
          <a:solidFill>
            <a:srgbClr val="B8D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4" name="Connector 293"/>
          <p:cNvCxnSpPr/>
          <p:nvPr/>
        </p:nvCxnSpPr>
        <p:spPr>
          <a:xfrm>
            <a:off x="9546864" y="3636607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10803528" y="3636607"/>
            <a:ext cx="0" cy="412782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9546864" y="4049389"/>
            <a:ext cx="1256664" cy="0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9546864" y="3636607"/>
            <a:ext cx="0" cy="412782"/>
          </a:xfrm>
          <a:prstGeom prst="line">
            <a:avLst/>
          </a:prstGeom>
          <a:ln w="7303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TextBox 297"/>
          <p:cNvSpPr txBox="1"/>
          <p:nvPr/>
        </p:nvSpPr>
        <p:spPr>
          <a:xfrm>
            <a:off x="6315277" y="3996344"/>
            <a:ext cx="5146305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F6FAED"/>
                </a:solidFill>
                <a:latin typeface="Arial"/>
              </a:rPr>
              <a:t>Rooftop Jakarta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6315277" y="4349315"/>
            <a:ext cx="3309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F6FAED"/>
                </a:solidFill>
                <a:latin typeface="Arial"/>
              </a:rPr>
              <a:t>lokasi kedua menjaga kontinuitas panen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591814" y="4712328"/>
            <a:ext cx="11008370" cy="414024"/>
          </a:xfrm>
          <a:prstGeom prst="rect">
            <a:avLst/>
          </a:prstGeom>
          <a:solidFill>
            <a:srgbClr val="CD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591814" y="4846304"/>
            <a:ext cx="1104037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E2D"/>
                </a:solidFill>
                <a:latin typeface="Arial"/>
              </a:rPr>
              <a:t>PANEN PAGI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722079" y="4809786"/>
            <a:ext cx="219727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0" i="0">
                <a:solidFill>
                  <a:srgbClr val="4B8750"/>
                </a:solidFill>
                <a:latin typeface="Arial"/>
              </a:rPr>
              <a:t>→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91814" y="4846304"/>
            <a:ext cx="1104037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E2D"/>
                </a:solidFill>
                <a:latin typeface="Arial"/>
              </a:rPr>
              <a:t>SORTIR &amp; DINGINKAN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548077" y="4809786"/>
            <a:ext cx="219727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0" i="0">
                <a:solidFill>
                  <a:srgbClr val="4B8750"/>
                </a:solidFill>
                <a:latin typeface="Arial"/>
              </a:rPr>
              <a:t>→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591814" y="4846304"/>
            <a:ext cx="1104037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E2D"/>
                </a:solidFill>
                <a:latin typeface="Arial"/>
              </a:rPr>
              <a:t>MITRA B2B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7689255" y="4797575"/>
            <a:ext cx="684934" cy="243530"/>
          </a:xfrm>
          <a:prstGeom prst="rect">
            <a:avLst/>
          </a:prstGeom>
          <a:solidFill>
            <a:srgbClr val="153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7689255" y="4846304"/>
            <a:ext cx="716938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&lt;12 JAM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91814" y="5223811"/>
            <a:ext cx="3604409" cy="877805"/>
          </a:xfrm>
          <a:prstGeom prst="rect">
            <a:avLst/>
          </a:prstGeom>
          <a:solidFill>
            <a:srgbClr val="E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9" name="Connector 308"/>
          <p:cNvCxnSpPr/>
          <p:nvPr/>
        </p:nvCxnSpPr>
        <p:spPr>
          <a:xfrm>
            <a:off x="591814" y="5223811"/>
            <a:ext cx="3604410" cy="0"/>
          </a:xfrm>
          <a:prstGeom prst="line">
            <a:avLst/>
          </a:prstGeom>
          <a:ln w="14607">
            <a:solidFill>
              <a:srgbClr val="8CBA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0" name="TextBox 309"/>
          <p:cNvSpPr txBox="1"/>
          <p:nvPr/>
        </p:nvSpPr>
        <p:spPr>
          <a:xfrm>
            <a:off x="701481" y="5311569"/>
            <a:ext cx="34170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B7F57"/>
                </a:solidFill>
                <a:latin typeface="Arial"/>
              </a:rPr>
              <a:t>01 / TIER PEMASOK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701481" y="5444289"/>
            <a:ext cx="3417079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143D30"/>
                </a:solidFill>
                <a:latin typeface="Arial"/>
              </a:rPr>
              <a:t>BENIH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701481" y="5650047"/>
            <a:ext cx="341707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43D30"/>
                </a:solidFill>
                <a:latin typeface="Arial"/>
              </a:rPr>
              <a:t>Fujisawa RZ F1 · kontrak + stok 2 siklus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293680" y="5223811"/>
            <a:ext cx="3604523" cy="877805"/>
          </a:xfrm>
          <a:prstGeom prst="rect">
            <a:avLst/>
          </a:prstGeom>
          <a:solidFill>
            <a:srgbClr val="E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4" name="Connector 313"/>
          <p:cNvCxnSpPr/>
          <p:nvPr/>
        </p:nvCxnSpPr>
        <p:spPr>
          <a:xfrm>
            <a:off x="4293680" y="5223811"/>
            <a:ext cx="3604524" cy="0"/>
          </a:xfrm>
          <a:prstGeom prst="line">
            <a:avLst/>
          </a:prstGeom>
          <a:ln w="14607">
            <a:solidFill>
              <a:srgbClr val="8CBA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TextBox 314"/>
          <p:cNvSpPr txBox="1"/>
          <p:nvPr/>
        </p:nvSpPr>
        <p:spPr>
          <a:xfrm>
            <a:off x="4403348" y="5311569"/>
            <a:ext cx="3417193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B7F57"/>
                </a:solidFill>
                <a:latin typeface="Arial"/>
              </a:rPr>
              <a:t>02 / TIER PEMASOK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4403348" y="5444289"/>
            <a:ext cx="3417193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143D30"/>
                </a:solidFill>
                <a:latin typeface="Arial"/>
              </a:rPr>
              <a:t>NUTRISI &amp; IoT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4403348" y="5650047"/>
            <a:ext cx="341719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43D30"/>
                </a:solidFill>
                <a:latin typeface="Arial"/>
              </a:rPr>
              <a:t>AB Mix / sensor · sedikitnya 2 vendor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995661" y="5223811"/>
            <a:ext cx="3604409" cy="877805"/>
          </a:xfrm>
          <a:prstGeom prst="rect">
            <a:avLst/>
          </a:prstGeom>
          <a:solidFill>
            <a:srgbClr val="E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9" name="Connector 318"/>
          <p:cNvCxnSpPr/>
          <p:nvPr/>
        </p:nvCxnSpPr>
        <p:spPr>
          <a:xfrm>
            <a:off x="7995661" y="5223811"/>
            <a:ext cx="3604409" cy="0"/>
          </a:xfrm>
          <a:prstGeom prst="line">
            <a:avLst/>
          </a:prstGeom>
          <a:ln w="14607">
            <a:solidFill>
              <a:srgbClr val="8CBA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8105328" y="5311569"/>
            <a:ext cx="34170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B7F57"/>
                </a:solidFill>
                <a:latin typeface="Arial"/>
              </a:rPr>
              <a:t>03 / TIER PEMASOK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8105328" y="5444289"/>
            <a:ext cx="3417079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143D30"/>
                </a:solidFill>
                <a:latin typeface="Arial"/>
              </a:rPr>
              <a:t>PENGIRIMAN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8105328" y="5650047"/>
            <a:ext cx="341707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43D30"/>
                </a:solidFill>
                <a:latin typeface="Arial"/>
              </a:rPr>
              <a:t>Cold chain + armada cadangan</a:t>
            </a:r>
          </a:p>
        </p:txBody>
      </p:sp>
      <p:cxnSp>
        <p:nvCxnSpPr>
          <p:cNvPr id="323" name="Connector 322"/>
          <p:cNvCxnSpPr/>
          <p:nvPr/>
        </p:nvCxnSpPr>
        <p:spPr>
          <a:xfrm>
            <a:off x="591814" y="6168605"/>
            <a:ext cx="11008370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TextBox 323"/>
          <p:cNvSpPr txBox="1"/>
          <p:nvPr/>
        </p:nvSpPr>
        <p:spPr>
          <a:xfrm>
            <a:off x="591814" y="6230686"/>
            <a:ext cx="1104037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Skema modul ilustratif, bukan pembagian 35 unit. Titik rooftop dan SLA perlu verifikasi lapangan.</a:t>
            </a:r>
          </a:p>
        </p:txBody>
      </p:sp>
      <p:cxnSp>
        <p:nvCxnSpPr>
          <p:cNvPr id="325" name="Connector 324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TextBox 325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9630284" y="6537324"/>
            <a:ext cx="202632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ASLI + CATATAN · HALAMAN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PRESENTASI 10 / 66 · ASLI 22</a:t>
            </a:r>
          </a:p>
        </p:txBody>
      </p:sp>
      <p:pic>
        <p:nvPicPr>
          <p:cNvPr id="6" name="Picture 5" descr="picture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1220660" cy="6858000"/>
          </a:xfrm>
          <a:prstGeom prst="rect">
            <a:avLst/>
          </a:prstGeom>
          <a:solidFill>
            <a:srgbClr val="031A12">
              <a:alpha val="950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19199" y="0"/>
            <a:ext cx="1220660" cy="6858000"/>
          </a:xfrm>
          <a:prstGeom prst="rect">
            <a:avLst/>
          </a:prstGeom>
          <a:solidFill>
            <a:srgbClr val="031A12">
              <a:alpha val="931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8399" y="0"/>
            <a:ext cx="1220660" cy="6858000"/>
          </a:xfrm>
          <a:prstGeom prst="rect">
            <a:avLst/>
          </a:prstGeom>
          <a:solidFill>
            <a:srgbClr val="031A12">
              <a:alpha val="912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599" y="0"/>
            <a:ext cx="1220660" cy="6858000"/>
          </a:xfrm>
          <a:prstGeom prst="rect">
            <a:avLst/>
          </a:prstGeom>
          <a:solidFill>
            <a:srgbClr val="031A12">
              <a:alpha val="893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799" y="0"/>
            <a:ext cx="1220660" cy="6858000"/>
          </a:xfrm>
          <a:prstGeom prst="rect">
            <a:avLst/>
          </a:prstGeom>
          <a:solidFill>
            <a:srgbClr val="031A12">
              <a:alpha val="874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99" y="0"/>
            <a:ext cx="1220660" cy="6858000"/>
          </a:xfrm>
          <a:prstGeom prst="rect">
            <a:avLst/>
          </a:prstGeom>
          <a:solidFill>
            <a:srgbClr val="031A12">
              <a:alpha val="855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199" y="0"/>
            <a:ext cx="1220660" cy="6858000"/>
          </a:xfrm>
          <a:prstGeom prst="rect">
            <a:avLst/>
          </a:prstGeom>
          <a:solidFill>
            <a:srgbClr val="031A12">
              <a:alpha val="836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34399" y="0"/>
            <a:ext cx="1220660" cy="6858000"/>
          </a:xfrm>
          <a:prstGeom prst="rect">
            <a:avLst/>
          </a:prstGeom>
          <a:solidFill>
            <a:srgbClr val="031A12">
              <a:alpha val="817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53599" y="0"/>
            <a:ext cx="1220660" cy="6858000"/>
          </a:xfrm>
          <a:prstGeom prst="rect">
            <a:avLst/>
          </a:prstGeom>
          <a:solidFill>
            <a:srgbClr val="031A12">
              <a:alpha val="798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799" y="0"/>
            <a:ext cx="1220660" cy="6858000"/>
          </a:xfrm>
          <a:prstGeom prst="rect">
            <a:avLst/>
          </a:prstGeom>
          <a:solidFill>
            <a:srgbClr val="031A12">
              <a:alpha val="779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OPERASI &amp; TEKNOLOGI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02" y="1331544"/>
            <a:ext cx="7603261" cy="182071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Rooftop sebagai lokasi konsep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02" y="3205040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Halaman sumber menampilkan lokasi potensial dan visual rencana fasilitas.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502" y="5550192"/>
            <a:ext cx="4907293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9502" y="5642743"/>
            <a:ext cx="493929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02" y="5742597"/>
            <a:ext cx="493929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Jakarta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02" y="6103899"/>
            <a:ext cx="493929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fokus lokasi awal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97182" y="5550192"/>
            <a:ext cx="490740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797182" y="5642743"/>
            <a:ext cx="49394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7182" y="5742597"/>
            <a:ext cx="4939410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Rooftop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7182" y="6103899"/>
            <a:ext cx="49394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penempatan perlu verifikasi lapangan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06422" y="685742"/>
            <a:ext cx="437607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06422" y="740520"/>
            <a:ext cx="440807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 · PENEMPATAN ATAP BELUM DIVERIFIKASI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SUMBER: PDF SIDANG AKHIR · HALAMAN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34098" y="328891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11 / 66 · ASLI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Kinerja dan biaya operasi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Belanja awal dan biaya operasi mengikuti model keuangan Mery yang lebih baru.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814" y="1950184"/>
            <a:ext cx="5938003" cy="4151432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9052" y="2120793"/>
            <a:ext cx="5555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7E89D"/>
                </a:solidFill>
                <a:latin typeface="Arial"/>
              </a:rPr>
              <a:t>MEMBANGUN · CAPEX TAHUN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052" y="4375562"/>
            <a:ext cx="5555532" cy="8719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67" b="1" i="0">
                <a:solidFill>
                  <a:srgbClr val="F5FAEC"/>
                </a:solidFill>
                <a:latin typeface="Arial"/>
              </a:rPr>
              <a:t>Rp7.503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4981" y="4886817"/>
            <a:ext cx="360549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F5FAEC"/>
                </a:solidFill>
                <a:latin typeface="Arial"/>
              </a:rPr>
              <a:t>juta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052" y="5277675"/>
            <a:ext cx="5523528" cy="20724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052" y="5277675"/>
            <a:ext cx="3728341" cy="207240"/>
          </a:xfrm>
          <a:prstGeom prst="rect">
            <a:avLst/>
          </a:prstGeom>
          <a:solidFill>
            <a:srgbClr val="C9E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9052" y="5594585"/>
            <a:ext cx="555553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4" b="0" i="0">
                <a:solidFill>
                  <a:srgbClr val="F5FAEC"/>
                </a:solidFill>
                <a:latin typeface="Arial"/>
              </a:rPr>
              <a:t>Rp5.066 juta untuk 35 greenhouse · 67,5% dari CAPEX Y0.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9052" y="5821454"/>
            <a:ext cx="5555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D4E8D4"/>
                </a:solidFill>
                <a:latin typeface="Arial"/>
              </a:rPr>
              <a:t>Termasuk Rp479 juta modal kerja praoperasi pada tabel Mery.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51696" y="1950184"/>
            <a:ext cx="4948488" cy="2014776"/>
          </a:xfrm>
          <a:prstGeom prst="rect">
            <a:avLst/>
          </a:prstGeom>
          <a:solidFill>
            <a:srgbClr val="DCE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4512" y="2108582"/>
            <a:ext cx="46148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C8258"/>
                </a:solidFill>
                <a:latin typeface="Arial"/>
              </a:rPr>
              <a:t>MENJALANKAN · OPEX Y0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4512" y="3122760"/>
            <a:ext cx="4614859" cy="5432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60" b="1" i="0">
                <a:solidFill>
                  <a:srgbClr val="143D30"/>
                </a:solidFill>
                <a:latin typeface="Arial"/>
              </a:rPr>
              <a:t>Rp3.137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0567" y="3363780"/>
            <a:ext cx="360549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143D30"/>
                </a:solidFill>
                <a:latin typeface="Arial"/>
              </a:rPr>
              <a:t>juta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4512" y="3677837"/>
            <a:ext cx="46148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gaji, sewa, logistik, overhead, pemasaran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51696" y="4086840"/>
            <a:ext cx="4948488" cy="2014776"/>
          </a:xfrm>
          <a:prstGeom prst="rect">
            <a:avLst/>
          </a:prstGeom>
          <a:solidFill>
            <a:srgbClr val="E8EF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4512" y="4245238"/>
            <a:ext cx="46148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C8258"/>
                </a:solidFill>
                <a:latin typeface="Arial"/>
              </a:rPr>
              <a:t>OPERASI Y1 · KAPASITAS PENUH AWAL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4512" y="5259416"/>
            <a:ext cx="4614859" cy="5432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60" b="1" i="0">
                <a:solidFill>
                  <a:srgbClr val="143D30"/>
                </a:solidFill>
                <a:latin typeface="Arial"/>
              </a:rPr>
              <a:t>Rp3.808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0567" y="5500436"/>
            <a:ext cx="360549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143D30"/>
                </a:solidFill>
                <a:latin typeface="Arial"/>
              </a:rPr>
              <a:t>juta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4512" y="5814493"/>
            <a:ext cx="46148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OPEX · 35 unit · 4 siklus panen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1814" y="6168605"/>
            <a:ext cx="11008370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91814" y="6230686"/>
            <a:ext cx="1104037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Angka mengikuti PowerPoint Keuangan Mery halaman 5; diagram biaya pada Canva menggunakan model lama.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30284" y="6537324"/>
            <a:ext cx="202632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ASLI + CATATAN · HALAMAN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12 / 66 · ASLI 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Lima prioritas operasi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Kualitas, keandalan, kecepatan, fleksibilitas, dan biaya menjadi ukuran desain operasi.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11021607" cy="267952"/>
          </a:xfrm>
          <a:prstGeom prst="rect">
            <a:avLst/>
          </a:prstGeom>
          <a:solidFill>
            <a:srgbClr val="17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494" y="2023791"/>
            <a:ext cx="303604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FF9E8"/>
                </a:solidFill>
                <a:latin typeface="Arial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5530" y="2023791"/>
            <a:ext cx="16412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FF9E8"/>
                </a:solidFill>
                <a:latin typeface="Arial"/>
              </a:rPr>
              <a:t>PRIORITAS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4819" y="2023791"/>
            <a:ext cx="614768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FF9E8"/>
                </a:solidFill>
                <a:latin typeface="Arial"/>
              </a:rPr>
              <a:t>KEPUTUSAN OPERASI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195" y="2212545"/>
            <a:ext cx="11021607" cy="778978"/>
          </a:xfrm>
          <a:prstGeom prst="rect">
            <a:avLst/>
          </a:prstGeom>
          <a:solidFill>
            <a:srgbClr val="FFFFFF">
              <a:alpha val="5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>
            <a:off x="585195" y="2991523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494" y="2539953"/>
            <a:ext cx="3977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6C896E"/>
                </a:solidFill>
                <a:latin typeface="Arial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391" y="2470568"/>
            <a:ext cx="2714227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143D30"/>
                </a:solidFill>
                <a:latin typeface="Arial"/>
              </a:rPr>
              <a:t>Kualitas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25765" y="2543605"/>
            <a:ext cx="16412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2D7F42"/>
                </a:solidFill>
                <a:latin typeface="Arial"/>
              </a:rPr>
              <a:t>SANGAT TINGGI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8203" y="2526373"/>
            <a:ext cx="588430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143D30"/>
                </a:solidFill>
                <a:latin typeface="Arial"/>
              </a:rPr>
              <a:t>Satu tanaman, satu buah; benih unggul dan kendali Brix.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195" y="2991523"/>
            <a:ext cx="11021607" cy="779092"/>
          </a:xfrm>
          <a:prstGeom prst="rect">
            <a:avLst/>
          </a:prstGeom>
          <a:solidFill>
            <a:srgbClr val="E7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H="1">
            <a:off x="585195" y="3770616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494" y="3318931"/>
            <a:ext cx="3977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6C896E"/>
                </a:solidFill>
                <a:latin typeface="Arial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391" y="3249547"/>
            <a:ext cx="2714227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143D30"/>
                </a:solidFill>
                <a:latin typeface="Arial"/>
              </a:rPr>
              <a:t>Keandalan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5765" y="3322583"/>
            <a:ext cx="16412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2D7F42"/>
                </a:solidFill>
                <a:latin typeface="Arial"/>
              </a:rPr>
              <a:t>TINGGI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08203" y="3305465"/>
            <a:ext cx="588430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143D30"/>
                </a:solidFill>
                <a:latin typeface="Arial"/>
              </a:rPr>
              <a:t>Iklim terpantau, listrik cadangan, jadwal panen terjaga.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195" y="3770616"/>
            <a:ext cx="11021607" cy="778978"/>
          </a:xfrm>
          <a:prstGeom prst="rect">
            <a:avLst/>
          </a:prstGeom>
          <a:solidFill>
            <a:srgbClr val="FFFFFF">
              <a:alpha val="5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H="1">
            <a:off x="585195" y="4549594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494" y="4098024"/>
            <a:ext cx="3977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6C896E"/>
                </a:solidFill>
                <a:latin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391" y="4028639"/>
            <a:ext cx="2714227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143D30"/>
                </a:solidFill>
                <a:latin typeface="Arial"/>
              </a:rPr>
              <a:t>Kecepatan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25765" y="4101676"/>
            <a:ext cx="16412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2D7F42"/>
                </a:solidFill>
                <a:latin typeface="Arial"/>
              </a:rPr>
              <a:t>TINGGI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8203" y="4084444"/>
            <a:ext cx="588430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143D30"/>
                </a:solidFill>
                <a:latin typeface="Arial"/>
              </a:rPr>
              <a:t>Kebun dekat pasar, panen pagi, target kirim B2B &lt;12 jam.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195" y="4549594"/>
            <a:ext cx="11021607" cy="779092"/>
          </a:xfrm>
          <a:prstGeom prst="rect">
            <a:avLst/>
          </a:prstGeom>
          <a:solidFill>
            <a:srgbClr val="E7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H="1">
            <a:off x="585195" y="532868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31494" y="4877002"/>
            <a:ext cx="3977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6C896E"/>
                </a:solidFill>
                <a:latin typeface="Arial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0391" y="4807618"/>
            <a:ext cx="2714227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143D30"/>
                </a:solidFill>
                <a:latin typeface="Arial"/>
              </a:rPr>
              <a:t>Fleksibilitas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25765" y="4880654"/>
            <a:ext cx="16412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5A775C"/>
                </a:solidFill>
                <a:latin typeface="Arial"/>
              </a:rPr>
              <a:t>SEDANG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08203" y="4863536"/>
            <a:ext cx="588430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143D30"/>
                </a:solidFill>
                <a:latin typeface="Arial"/>
              </a:rPr>
              <a:t>Greenhouse modular; kapasitas dan kanal dapat ditambah bertahap.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5195" y="5328687"/>
            <a:ext cx="11021607" cy="779092"/>
          </a:xfrm>
          <a:prstGeom prst="rect">
            <a:avLst/>
          </a:prstGeom>
          <a:solidFill>
            <a:srgbClr val="FFFFFF">
              <a:alpha val="5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H="1">
            <a:off x="585195" y="6107779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31494" y="5656095"/>
            <a:ext cx="3977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6C896E"/>
                </a:solidFill>
                <a:latin typeface="Arial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0391" y="5586710"/>
            <a:ext cx="2714227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143D30"/>
                </a:solidFill>
                <a:latin typeface="Arial"/>
              </a:rPr>
              <a:t>Biaya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25765" y="5659747"/>
            <a:ext cx="16412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5A775C"/>
                </a:solidFill>
                <a:latin typeface="Arial"/>
              </a:rPr>
              <a:t>SEDANG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08203" y="5642629"/>
            <a:ext cx="588430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143D30"/>
                </a:solidFill>
                <a:latin typeface="Arial"/>
              </a:rPr>
              <a:t>Efisiensi air dan susut produk membantu menyerap investasi awal.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Lima dimensi dari matriks strategi operasi; target mutu dan ketepatan perlu diuji saat fasilitas berjalan.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13 / 66 · ASLI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Tiga divisi operasional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Agronomi, teknologi dan IoT, serta logistik mengendalikan mutu dengan data dan SOP yang sama.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11021607" cy="401928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4075" y="2090779"/>
            <a:ext cx="121574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EF"/>
                </a:solidFill>
                <a:latin typeface="Arial"/>
              </a:rPr>
              <a:t>DATA &amp; SOP TERPUSAT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1574" y="2036002"/>
            <a:ext cx="131058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CCEAA1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84384" y="2054261"/>
            <a:ext cx="1625430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F7FBEF"/>
                </a:solidFill>
                <a:latin typeface="Arial"/>
              </a:rPr>
              <a:t>SATU STANDAR MUTU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195" y="2419671"/>
            <a:ext cx="3608860" cy="3688107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85195" y="2419671"/>
            <a:ext cx="3608861" cy="0"/>
          </a:xfrm>
          <a:prstGeom prst="line">
            <a:avLst/>
          </a:prstGeom>
          <a:ln w="43821">
            <a:solidFill>
              <a:srgbClr val="83B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43591" y="2597583"/>
            <a:ext cx="332407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577F57"/>
                </a:solidFill>
                <a:latin typeface="Arial"/>
              </a:rPr>
              <a:t>01 / FUNGSI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591" y="2868046"/>
            <a:ext cx="3324073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AGRONOMI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3591" y="3276251"/>
            <a:ext cx="3324073" cy="35655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6" b="0" i="0">
                <a:solidFill>
                  <a:srgbClr val="143D30"/>
                </a:solidFill>
                <a:latin typeface="Arial"/>
              </a:rPr>
              <a:t>Standar budidaya · one plant one fruit · Brix dan grading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3591" y="5763025"/>
            <a:ext cx="3292069" cy="0"/>
          </a:xfrm>
          <a:prstGeom prst="line">
            <a:avLst/>
          </a:prstGeom>
          <a:ln w="7303">
            <a:solidFill>
              <a:srgbClr val="AAC1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3591" y="5849527"/>
            <a:ext cx="332407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143D30"/>
                </a:solidFill>
                <a:latin typeface="Arial"/>
              </a:rPr>
              <a:t>Head of Agronomy &amp; Quality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1512" y="2419671"/>
            <a:ext cx="3608860" cy="3688107"/>
          </a:xfrm>
          <a:prstGeom prst="rect">
            <a:avLst/>
          </a:prstGeom>
          <a:solidFill>
            <a:srgbClr val="D7E7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291512" y="2419671"/>
            <a:ext cx="3608860" cy="0"/>
          </a:xfrm>
          <a:prstGeom prst="line">
            <a:avLst/>
          </a:prstGeom>
          <a:ln w="43821">
            <a:solidFill>
              <a:srgbClr val="83B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449908" y="2597583"/>
            <a:ext cx="332407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577F57"/>
                </a:solidFill>
                <a:latin typeface="Arial"/>
              </a:rPr>
              <a:t>02 / FUNGSI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9908" y="2868046"/>
            <a:ext cx="3324073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TEKNOLOGI &amp; IoT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9908" y="3276251"/>
            <a:ext cx="3324073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6" b="0" i="0">
                <a:solidFill>
                  <a:srgbClr val="143D30"/>
                </a:solidFill>
                <a:latin typeface="Arial"/>
              </a:rPr>
              <a:t>Kalibrasi sensor · alarm · irigasi · rekam data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449908" y="5763025"/>
            <a:ext cx="3292069" cy="0"/>
          </a:xfrm>
          <a:prstGeom prst="line">
            <a:avLst/>
          </a:prstGeom>
          <a:ln w="7303">
            <a:solidFill>
              <a:srgbClr val="AAC1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449908" y="5849527"/>
            <a:ext cx="332407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143D30"/>
                </a:solidFill>
                <a:latin typeface="Arial"/>
              </a:rPr>
              <a:t>Smart Greenhouse &amp; IoT Lead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97829" y="2419671"/>
            <a:ext cx="3608974" cy="3688107"/>
          </a:xfrm>
          <a:prstGeom prst="rect">
            <a:avLst/>
          </a:prstGeom>
          <a:solidFill>
            <a:srgbClr val="C8D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7997829" y="2419671"/>
            <a:ext cx="3608974" cy="0"/>
          </a:xfrm>
          <a:prstGeom prst="line">
            <a:avLst/>
          </a:prstGeom>
          <a:ln w="43821">
            <a:solidFill>
              <a:srgbClr val="83B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156224" y="2597583"/>
            <a:ext cx="33241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577F57"/>
                </a:solidFill>
                <a:latin typeface="Arial"/>
              </a:rPr>
              <a:t>03 / FUNGSI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6224" y="2868046"/>
            <a:ext cx="332418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LOGISTIK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224" y="3276251"/>
            <a:ext cx="3324187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6" b="0" i="0">
                <a:solidFill>
                  <a:srgbClr val="143D30"/>
                </a:solidFill>
                <a:latin typeface="Arial"/>
              </a:rPr>
              <a:t>Jadwal panen · cold chain · serah terima ritel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156224" y="5763025"/>
            <a:ext cx="3292184" cy="0"/>
          </a:xfrm>
          <a:prstGeom prst="line">
            <a:avLst/>
          </a:prstGeom>
          <a:ln w="7303">
            <a:solidFill>
              <a:srgbClr val="AAC1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156224" y="5849527"/>
            <a:ext cx="332418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143D30"/>
                </a:solidFill>
                <a:latin typeface="Arial"/>
              </a:rPr>
              <a:t>Distribusi &amp; fulfillment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Struktur fungsi tetap relevan; kebutuhan headcount pada Canva mengikuti skenario kapasitas lama dan perlu dihitung ulang untuk 237 GH.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6902" y="6544057"/>
            <a:ext cx="202632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ASLI + CATATAN · HALAMAN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14 / 66 · ASLI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Risiko rantai pasok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Sumber deck mengurutkan risiko, dampak, probabilitas, dan respons mitigasinya.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11021607" cy="267952"/>
          </a:xfrm>
          <a:prstGeom prst="rect">
            <a:avLst/>
          </a:prstGeom>
          <a:solidFill>
            <a:srgbClr val="17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43" y="2023791"/>
            <a:ext cx="256005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F2F9EB"/>
                </a:solidFill>
                <a:latin typeface="Arial"/>
              </a:rPr>
              <a:t>RISIKO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8994" y="2023791"/>
            <a:ext cx="10853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F2F9EB"/>
                </a:solidFill>
                <a:latin typeface="Arial"/>
              </a:rPr>
              <a:t>DAMPAK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2301" y="2023791"/>
            <a:ext cx="119064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F2F9EB"/>
                </a:solidFill>
                <a:latin typeface="Arial"/>
              </a:rPr>
              <a:t>PELUANG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0938" y="2023791"/>
            <a:ext cx="582599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F2F9EB"/>
                </a:solidFill>
                <a:latin typeface="Arial"/>
              </a:rPr>
              <a:t>PERTAHANAN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195" y="2212545"/>
            <a:ext cx="11021607" cy="778978"/>
          </a:xfrm>
          <a:prstGeom prst="rect">
            <a:avLst/>
          </a:prstGeom>
          <a:solidFill>
            <a:srgbClr val="F8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585195" y="2991523"/>
            <a:ext cx="11021608" cy="0"/>
          </a:xfrm>
          <a:prstGeom prst="line">
            <a:avLst/>
          </a:prstGeom>
          <a:ln w="7303">
            <a:solidFill>
              <a:srgbClr val="B3C7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07073" y="2543605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6D8C67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706" y="2508342"/>
            <a:ext cx="240302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43D30"/>
                </a:solidFill>
                <a:latin typeface="Arial"/>
              </a:rPr>
              <a:t>Benih Fujisawa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5609" y="2536301"/>
            <a:ext cx="110973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Tinggi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215" y="2536301"/>
            <a:ext cx="12174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Rendah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548" y="2535502"/>
            <a:ext cx="544438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Kontrak tahunan; varietas alternatif; stok ≥2 siklus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195" y="2991523"/>
            <a:ext cx="11021607" cy="779092"/>
          </a:xfrm>
          <a:prstGeom prst="rect">
            <a:avLst/>
          </a:prstGeom>
          <a:solidFill>
            <a:srgbClr val="E9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585195" y="3770616"/>
            <a:ext cx="11021608" cy="0"/>
          </a:xfrm>
          <a:prstGeom prst="line">
            <a:avLst/>
          </a:prstGeom>
          <a:ln w="7303">
            <a:solidFill>
              <a:srgbClr val="B3C7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07073" y="3322583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6D8C67"/>
                </a:solidFill>
                <a:latin typeface="Arial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706" y="3287320"/>
            <a:ext cx="240302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43D30"/>
                </a:solidFill>
                <a:latin typeface="Arial"/>
              </a:rPr>
              <a:t>Nutrisi AB Mix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5609" y="3315280"/>
            <a:ext cx="110973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Sedang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65215" y="3315280"/>
            <a:ext cx="12174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Sedang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72548" y="3314481"/>
            <a:ext cx="544438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≥2 vendor; kontrak harga; kaji formula sendiri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195" y="3770616"/>
            <a:ext cx="11021607" cy="778978"/>
          </a:xfrm>
          <a:prstGeom prst="rect">
            <a:avLst/>
          </a:prstGeom>
          <a:solidFill>
            <a:srgbClr val="F8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H="1">
            <a:off x="585195" y="4549594"/>
            <a:ext cx="11021608" cy="0"/>
          </a:xfrm>
          <a:prstGeom prst="line">
            <a:avLst/>
          </a:prstGeom>
          <a:ln w="7303">
            <a:solidFill>
              <a:srgbClr val="B3C7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07073" y="4101676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6D8C67"/>
                </a:solidFill>
                <a:latin typeface="Arial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706" y="4066413"/>
            <a:ext cx="240302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43D30"/>
                </a:solidFill>
                <a:latin typeface="Arial"/>
              </a:rPr>
              <a:t>Cold 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5609" y="4094372"/>
            <a:ext cx="110973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Tinggi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215" y="4094372"/>
            <a:ext cx="12174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Sedang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2548" y="4093573"/>
            <a:ext cx="544438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2 mitra logistik; armada internal sebagai cadangan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195" y="4549594"/>
            <a:ext cx="11021607" cy="779092"/>
          </a:xfrm>
          <a:prstGeom prst="rect">
            <a:avLst/>
          </a:prstGeom>
          <a:solidFill>
            <a:srgbClr val="E9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H="1">
            <a:off x="585195" y="5328687"/>
            <a:ext cx="11021608" cy="0"/>
          </a:xfrm>
          <a:prstGeom prst="line">
            <a:avLst/>
          </a:prstGeom>
          <a:ln w="7303">
            <a:solidFill>
              <a:srgbClr val="B3C7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07073" y="4880654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6D8C67"/>
                </a:solidFill>
                <a:latin typeface="Arial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706" y="4845391"/>
            <a:ext cx="240302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43D30"/>
                </a:solidFill>
                <a:latin typeface="Arial"/>
              </a:rPr>
              <a:t>Sensor / IoT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5609" y="4873351"/>
            <a:ext cx="110973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Sedang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65215" y="4873351"/>
            <a:ext cx="12174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Sedang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72548" y="4872552"/>
            <a:ext cx="544438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Suku cadang kritis; servis preventif; operator terlatih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195" y="5328687"/>
            <a:ext cx="11021607" cy="779092"/>
          </a:xfrm>
          <a:prstGeom prst="rect">
            <a:avLst/>
          </a:prstGeom>
          <a:solidFill>
            <a:srgbClr val="F8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H="1">
            <a:off x="585195" y="6107779"/>
            <a:ext cx="11021608" cy="0"/>
          </a:xfrm>
          <a:prstGeom prst="line">
            <a:avLst/>
          </a:prstGeom>
          <a:ln w="7303">
            <a:solidFill>
              <a:srgbClr val="B3C7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07073" y="5659747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6D8C67"/>
                </a:solidFill>
                <a:latin typeface="Arial"/>
              </a:rPr>
              <a:t>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2706" y="5624484"/>
            <a:ext cx="240302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43D30"/>
                </a:solidFill>
                <a:latin typeface="Arial"/>
              </a:rPr>
              <a:t>Konstruksi GH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5609" y="5652443"/>
            <a:ext cx="110973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Tinggi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65215" y="5652443"/>
            <a:ext cx="121745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547455"/>
                </a:solidFill>
                <a:latin typeface="Arial"/>
              </a:rPr>
              <a:t>Rendah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72548" y="5651644"/>
            <a:ext cx="544438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2–3 kontraktor; buffer proyek 20%; supervisi internal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Matriks sumber mengutamakan mitigasi pada risiko dengan dampak dan probabilitas minimal sedang.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PRESENTASI 15 / 66 · ASLI 27</a:t>
            </a:r>
          </a:p>
        </p:txBody>
      </p:sp>
      <p:pic>
        <p:nvPicPr>
          <p:cNvPr id="6" name="Picture 5" descr="picture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1220660" cy="6858000"/>
          </a:xfrm>
          <a:prstGeom prst="rect">
            <a:avLst/>
          </a:prstGeom>
          <a:solidFill>
            <a:srgbClr val="031A12">
              <a:alpha val="950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19199" y="0"/>
            <a:ext cx="1220660" cy="6858000"/>
          </a:xfrm>
          <a:prstGeom prst="rect">
            <a:avLst/>
          </a:prstGeom>
          <a:solidFill>
            <a:srgbClr val="031A12">
              <a:alpha val="931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8399" y="0"/>
            <a:ext cx="1220660" cy="6858000"/>
          </a:xfrm>
          <a:prstGeom prst="rect">
            <a:avLst/>
          </a:prstGeom>
          <a:solidFill>
            <a:srgbClr val="031A12">
              <a:alpha val="912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599" y="0"/>
            <a:ext cx="1220660" cy="6858000"/>
          </a:xfrm>
          <a:prstGeom prst="rect">
            <a:avLst/>
          </a:prstGeom>
          <a:solidFill>
            <a:srgbClr val="031A12">
              <a:alpha val="893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799" y="0"/>
            <a:ext cx="1220660" cy="6858000"/>
          </a:xfrm>
          <a:prstGeom prst="rect">
            <a:avLst/>
          </a:prstGeom>
          <a:solidFill>
            <a:srgbClr val="031A12">
              <a:alpha val="874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99" y="0"/>
            <a:ext cx="1220660" cy="6858000"/>
          </a:xfrm>
          <a:prstGeom prst="rect">
            <a:avLst/>
          </a:prstGeom>
          <a:solidFill>
            <a:srgbClr val="031A12">
              <a:alpha val="855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199" y="0"/>
            <a:ext cx="1220660" cy="6858000"/>
          </a:xfrm>
          <a:prstGeom prst="rect">
            <a:avLst/>
          </a:prstGeom>
          <a:solidFill>
            <a:srgbClr val="031A12">
              <a:alpha val="836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34399" y="0"/>
            <a:ext cx="1220660" cy="6858000"/>
          </a:xfrm>
          <a:prstGeom prst="rect">
            <a:avLst/>
          </a:prstGeom>
          <a:solidFill>
            <a:srgbClr val="031A12">
              <a:alpha val="817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53599" y="0"/>
            <a:ext cx="1220660" cy="6858000"/>
          </a:xfrm>
          <a:prstGeom prst="rect">
            <a:avLst/>
          </a:prstGeom>
          <a:solidFill>
            <a:srgbClr val="031A12">
              <a:alpha val="798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799" y="0"/>
            <a:ext cx="1220660" cy="6858000"/>
          </a:xfrm>
          <a:prstGeom prst="rect">
            <a:avLst/>
          </a:prstGeom>
          <a:solidFill>
            <a:srgbClr val="031A12">
              <a:alpha val="779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OPERASI &amp; TEKNOLOGI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Strategi operasi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Satu unit standar, pemantauan empat parameter, dan proses panen yang bisa diulang.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420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tanaman per greenhouse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per tahun mulai Y2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35 → 237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unit Y0–Y10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50 → 817 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Y0–Y10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SUMBER: PDF SIDANG AKHIR · HALAMAN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16 / 66 · ASLI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Enam pertanyaan operasional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Dari bentuk satu rumah kaca sampai bagaimana menjaga panen, tim, siklus, dan benih.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3608860" cy="2032807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85195" y="1944593"/>
            <a:ext cx="3608861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494" y="2102990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01 / PERTANYAAN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494" y="3137710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200 m²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494" y="3533932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Satu modul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494" y="3738434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Geometri dan alat di dalam 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1512" y="1944593"/>
            <a:ext cx="3608860" cy="2032807"/>
          </a:xfrm>
          <a:prstGeom prst="rect">
            <a:avLst/>
          </a:prstGeom>
          <a:solidFill>
            <a:srgbClr val="D3E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291512" y="1944593"/>
            <a:ext cx="3608860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37811" y="2102990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02 / PERTANYAAN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7811" y="3137710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50 → 817 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7811" y="3533932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Skala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811" y="3738434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Panen dari Y0 sampai Y10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7829" y="1944593"/>
            <a:ext cx="3608974" cy="2032807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7997829" y="1944593"/>
            <a:ext cx="3608974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44128" y="2102990"/>
            <a:ext cx="334838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03 / PERTANYAAN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4128" y="3137710"/>
            <a:ext cx="3348380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4128" y="3533932"/>
            <a:ext cx="334838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Mutu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44128" y="3738434"/>
            <a:ext cx="33483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Iklim, pH, dan nutrisi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195" y="4074858"/>
            <a:ext cx="3608860" cy="2032921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85195" y="4074858"/>
            <a:ext cx="3608861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494" y="4233255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04 / PERTANYAAN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494" y="5268089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8 tahap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494" y="5664312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Ritme kerja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494" y="5868813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Dari semai sampai sanitasi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91512" y="4074858"/>
            <a:ext cx="3608860" cy="2032921"/>
          </a:xfrm>
          <a:prstGeom prst="rect">
            <a:avLst/>
          </a:prstGeom>
          <a:solidFill>
            <a:srgbClr val="D3E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291512" y="4074858"/>
            <a:ext cx="3608860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437811" y="4233255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05 / PERTANYAAN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7811" y="5268089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73 hari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7811" y="5664312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Siklus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7811" y="5868813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Mengapa lima panen mungkin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97829" y="4074858"/>
            <a:ext cx="3608974" cy="2032921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997829" y="4074858"/>
            <a:ext cx="3608974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144128" y="4233255"/>
            <a:ext cx="334838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06 / PERTANYAAN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44128" y="5268089"/>
            <a:ext cx="3348380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Rp4.250 jt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44128" y="5664312"/>
            <a:ext cx="334838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Benih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44128" y="5868813"/>
            <a:ext cx="33483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Program R&amp;D bertahap; belum di model dasar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Enam pertanyaan yang dijawab pada rangkaian operasi berikutnya.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17 / 66 · ASLI 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Di dalam satu greenhouse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Unit 10 × 20 meter menempatkan 420 tanaman dalam 14 baris pipa DFT.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5069909" cy="4163186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cture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44593"/>
            <a:ext cx="5069909" cy="416318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45" y="5898827"/>
            <a:ext cx="4923610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45" y="5921993"/>
            <a:ext cx="49556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7073" y="2066472"/>
            <a:ext cx="1385960" cy="389603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7073" y="2133460"/>
            <a:ext cx="1417964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FFFFFF"/>
                </a:solidFill>
                <a:latin typeface="Arial"/>
              </a:rPr>
              <a:t>10 m × 20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76983" y="1944593"/>
            <a:ext cx="2872230" cy="1774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776983" y="1944593"/>
            <a:ext cx="2872230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898861" y="2582862"/>
            <a:ext cx="2660478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200 m²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8861" y="2948614"/>
            <a:ext cx="266047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luas modul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34459" y="1944593"/>
            <a:ext cx="2872344" cy="1774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734459" y="1944593"/>
            <a:ext cx="2872344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856337" y="2582862"/>
            <a:ext cx="26605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140 m²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6337" y="2948614"/>
            <a:ext cx="26605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area ditanami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76983" y="3803938"/>
            <a:ext cx="2872230" cy="1774212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776983" y="3803938"/>
            <a:ext cx="2872230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898861" y="4442322"/>
            <a:ext cx="2660478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14 × 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8861" y="4808074"/>
            <a:ext cx="266047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baris × tanaman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34459" y="3803938"/>
            <a:ext cx="2872344" cy="1774212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734459" y="3803938"/>
            <a:ext cx="2872344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856337" y="4442322"/>
            <a:ext cx="26605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6337" y="4808074"/>
            <a:ext cx="26605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titik tanam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76983" y="5675609"/>
            <a:ext cx="5829820" cy="432169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98861" y="5767019"/>
            <a:ext cx="561806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6E997"/>
                </a:solidFill>
                <a:latin typeface="Arial"/>
              </a:rPr>
              <a:t>GEOMETRI YANG MENENTUKAN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8861" y="5898484"/>
            <a:ext cx="561806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F5FAEB"/>
                </a:solidFill>
                <a:latin typeface="Arial"/>
              </a:rPr>
              <a:t>DFT 3 inci · pipa 0,8 m dari lantai · jalur kerja 80 cm · jarak tanam 40–50 cm · trellis 2,5 m · atap 4,5 m.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Satu tanaman satu buah · Fujisawa RZ F1 · hasil model 3.591 kg per unit per tahun pada 5 siklus.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34098" y="328891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18 / 66 · ASLI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Teknologi produksi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DFT, trellis vertikal, sensor real-time, dan cadangan listrik membentuk satu sistem.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814" y="1950184"/>
            <a:ext cx="5944508" cy="4151432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icture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4" y="1950184"/>
            <a:ext cx="5944508" cy="415143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64964" y="5892664"/>
            <a:ext cx="5798209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964" y="5915830"/>
            <a:ext cx="58302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6" name="Oval 15"/>
          <p:cNvSpPr/>
          <p:nvPr/>
        </p:nvSpPr>
        <p:spPr>
          <a:xfrm>
            <a:off x="2969572" y="2697438"/>
            <a:ext cx="176768" cy="176770"/>
          </a:xfrm>
          <a:prstGeom prst="ellipse">
            <a:avLst/>
          </a:prstGeom>
          <a:solidFill>
            <a:srgbClr val="194A32"/>
          </a:solidFill>
          <a:ln w="7303">
            <a:solidFill>
              <a:srgbClr val="F6F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69572" y="2704741"/>
            <a:ext cx="208772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F6FFF0"/>
                </a:solidFill>
                <a:latin typeface="Arial"/>
              </a:rPr>
              <a:t>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88906" y="2711474"/>
            <a:ext cx="782049" cy="148583"/>
          </a:xfrm>
          <a:prstGeom prst="rect">
            <a:avLst/>
          </a:prstGeom>
          <a:solidFill>
            <a:srgbClr val="0D33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3188906" y="2711474"/>
            <a:ext cx="0" cy="148584"/>
          </a:xfrm>
          <a:prstGeom prst="line">
            <a:avLst/>
          </a:prstGeom>
          <a:ln w="7303">
            <a:solidFill>
              <a:srgbClr val="C8E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88906" y="2741944"/>
            <a:ext cx="814053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9FFF2"/>
                </a:solidFill>
                <a:latin typeface="Arial"/>
              </a:rPr>
              <a:t>TANGKI NUTRISI</a:t>
            </a:r>
          </a:p>
        </p:txBody>
      </p:sp>
      <p:sp>
        <p:nvSpPr>
          <p:cNvPr id="21" name="Oval 20"/>
          <p:cNvSpPr/>
          <p:nvPr/>
        </p:nvSpPr>
        <p:spPr>
          <a:xfrm>
            <a:off x="3266735" y="4233369"/>
            <a:ext cx="176768" cy="176770"/>
          </a:xfrm>
          <a:prstGeom prst="ellipse">
            <a:avLst/>
          </a:prstGeom>
          <a:solidFill>
            <a:srgbClr val="194A32"/>
          </a:solidFill>
          <a:ln w="7303">
            <a:solidFill>
              <a:srgbClr val="F6F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6735" y="4240673"/>
            <a:ext cx="208772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F6FFF0"/>
                </a:solidFill>
                <a:latin typeface="Arial"/>
              </a:rPr>
              <a:t>02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86069" y="4247406"/>
            <a:ext cx="732293" cy="148583"/>
          </a:xfrm>
          <a:prstGeom prst="rect">
            <a:avLst/>
          </a:prstGeom>
          <a:solidFill>
            <a:srgbClr val="0D33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3486069" y="4247406"/>
            <a:ext cx="0" cy="148583"/>
          </a:xfrm>
          <a:prstGeom prst="line">
            <a:avLst/>
          </a:prstGeom>
          <a:ln w="7303">
            <a:solidFill>
              <a:srgbClr val="C8E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86069" y="4277876"/>
            <a:ext cx="76429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9FFF2"/>
                </a:solidFill>
                <a:latin typeface="Arial"/>
              </a:rPr>
              <a:t>PROBE pH / EC</a:t>
            </a:r>
          </a:p>
        </p:txBody>
      </p:sp>
      <p:sp>
        <p:nvSpPr>
          <p:cNvPr id="26" name="Oval 25"/>
          <p:cNvSpPr/>
          <p:nvPr/>
        </p:nvSpPr>
        <p:spPr>
          <a:xfrm>
            <a:off x="1126798" y="4814579"/>
            <a:ext cx="176768" cy="176770"/>
          </a:xfrm>
          <a:prstGeom prst="ellipse">
            <a:avLst/>
          </a:prstGeom>
          <a:solidFill>
            <a:srgbClr val="194A32"/>
          </a:solidFill>
          <a:ln w="7303">
            <a:solidFill>
              <a:srgbClr val="F6F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6798" y="4821883"/>
            <a:ext cx="208772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F6FFF0"/>
                </a:solidFill>
                <a:latin typeface="Arial"/>
              </a:rPr>
              <a:t>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46133" y="4828616"/>
            <a:ext cx="700340" cy="148583"/>
          </a:xfrm>
          <a:prstGeom prst="rect">
            <a:avLst/>
          </a:prstGeom>
          <a:solidFill>
            <a:srgbClr val="0D33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1346133" y="4828616"/>
            <a:ext cx="0" cy="148583"/>
          </a:xfrm>
          <a:prstGeom prst="line">
            <a:avLst/>
          </a:prstGeom>
          <a:ln w="7303">
            <a:solidFill>
              <a:srgbClr val="C8E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46133" y="4859086"/>
            <a:ext cx="7323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9FFF2"/>
                </a:solidFill>
                <a:latin typeface="Arial"/>
              </a:rPr>
              <a:t>POMPA &amp; PIPA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58201" y="1950184"/>
            <a:ext cx="4941983" cy="996718"/>
          </a:xfrm>
          <a:prstGeom prst="rect">
            <a:avLst/>
          </a:prstGeom>
          <a:solidFill>
            <a:srgbClr val="E7EF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6658201" y="1950184"/>
            <a:ext cx="0" cy="996718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792175" y="2152290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01 / BUDIDAYA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2175" y="2551707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DFT + trellis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67358" y="2596899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Larutan berputar; buah ditopang vertikal.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201" y="3001680"/>
            <a:ext cx="4941983" cy="996832"/>
          </a:xfrm>
          <a:prstGeom prst="rect">
            <a:avLst/>
          </a:prstGeom>
          <a:solidFill>
            <a:srgbClr val="D7E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6658201" y="3001680"/>
            <a:ext cx="0" cy="996832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792175" y="3203899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02 / HASIL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92175" y="3603317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1 tanaman → 1 buah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67358" y="3648508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420 tanaman × 1,8 kg × 95% = 718,2 kg/siklus.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58201" y="4053289"/>
            <a:ext cx="4941983" cy="996718"/>
          </a:xfrm>
          <a:prstGeom prst="rect">
            <a:avLst/>
          </a:prstGeom>
          <a:solidFill>
            <a:srgbClr val="E7EF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6658201" y="4053289"/>
            <a:ext cx="0" cy="996718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792175" y="4255394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03 / PEMANTAUAN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92175" y="4654812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7358" y="4700003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Suhu · kelembapan · pH · EC/TDS.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58201" y="5104785"/>
            <a:ext cx="4941983" cy="996832"/>
          </a:xfrm>
          <a:prstGeom prst="rect">
            <a:avLst/>
          </a:prstGeom>
          <a:solidFill>
            <a:srgbClr val="D7E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6658201" y="5104785"/>
            <a:ext cx="0" cy="996832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792175" y="5307004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04 / KONTINUITAS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92175" y="5706422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1.200 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67358" y="5751613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Genset cadangan untuk sirkulasi nutrisi.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91814" y="6168605"/>
            <a:ext cx="11008370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1814" y="6230686"/>
            <a:ext cx="1104037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Rancangan modular 200 m²; 5 siklus menghasilkan 3.591 kg per unit per tahun menurut asumsi sumber.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82550" y="6537324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19 / 66 · ASLI 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Sensor → keputusan → aktuator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Suhu dan kelembapan diotomatisasi; pH dan nutrisi diperiksa dan dikoreksi operator dua kali sehari.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11021607" cy="228923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2652" y="2011581"/>
            <a:ext cx="16558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PARAMETER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6548" y="2011581"/>
            <a:ext cx="27386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3193" y="2011581"/>
            <a:ext cx="27386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ALAT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9838" y="2011581"/>
            <a:ext cx="219727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MODE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85109" y="2011581"/>
            <a:ext cx="16558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HARGA SUMBER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195" y="2173516"/>
            <a:ext cx="11021607" cy="695557"/>
          </a:xfrm>
          <a:prstGeom prst="rect">
            <a:avLst/>
          </a:prstGeom>
          <a:solidFill>
            <a:srgbClr val="D9E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H="1">
            <a:off x="585195" y="2869073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2652" y="2418987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Suhu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6548" y="2452309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25–30°C siang · 18–22°C malam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3193" y="2452309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Blower + exhaust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19838" y="2459157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OTOMATIS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85109" y="2462808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Rp1,75 jt/unit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195" y="2869073"/>
            <a:ext cx="11021607" cy="695557"/>
          </a:xfrm>
          <a:prstGeom prst="rect">
            <a:avLst/>
          </a:prstGeom>
          <a:solidFill>
            <a:srgbClr val="E7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H="1">
            <a:off x="585195" y="3564630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2652" y="3114544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Kelembapan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6548" y="3147867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60–70% tumbuh · 50–60% buah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3193" y="3147867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Dehumidifier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9838" y="3154714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OTOMATIS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85109" y="3158366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Rp13 jt/unit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195" y="3564630"/>
            <a:ext cx="11021607" cy="695557"/>
          </a:xfrm>
          <a:prstGeom prst="rect">
            <a:avLst/>
          </a:prstGeom>
          <a:solidFill>
            <a:srgbClr val="F8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>
            <a:off x="585195" y="4260188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2652" y="3810101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pH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06548" y="3843424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5,8–6,5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13193" y="3843424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Sensor rendam + pH up/down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9838" y="3850271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MANUAL 2×/HARI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85109" y="3853923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Rp350 rb/unit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195" y="4260188"/>
            <a:ext cx="11021607" cy="695557"/>
          </a:xfrm>
          <a:prstGeom prst="rect">
            <a:avLst/>
          </a:prstGeom>
          <a:solidFill>
            <a:srgbClr val="E7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585195" y="4955745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2652" y="4505658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EC / TDS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06548" y="4538981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900–1.750 ppm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13193" y="4538981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Sensor rendam + AB Mix / 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19838" y="4545828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MANUAL 2×/HARI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85109" y="4549480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Rp350 rb/unit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5195" y="5034944"/>
            <a:ext cx="2534897" cy="1072835"/>
          </a:xfrm>
          <a:prstGeom prst="rect">
            <a:avLst/>
          </a:prstGeom>
          <a:solidFill>
            <a:srgbClr val="DCE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8814" y="5120191"/>
            <a:ext cx="2359664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143D30"/>
                </a:solidFill>
                <a:latin typeface="Arial"/>
              </a:rPr>
              <a:t>3 titik / GH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814" y="5797489"/>
            <a:ext cx="2359664" cy="2504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sensor IoT + ESP32 · alarm ke operator · Rp15 jt/GH menurut sumber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99291" y="5034944"/>
            <a:ext cx="2204298" cy="1072835"/>
          </a:xfrm>
          <a:prstGeom prst="rect">
            <a:avLst/>
          </a:prstGeom>
          <a:solidFill>
            <a:srgbClr val="DCE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02910" y="5120191"/>
            <a:ext cx="2029064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143D30"/>
                </a:solidFill>
                <a:latin typeface="Arial"/>
              </a:rPr>
              <a:t>1.200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02910" y="5906359"/>
            <a:ext cx="202906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genset cadangan · pompa nutrisi tetap berjalan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2788" y="5034944"/>
            <a:ext cx="6124015" cy="1072835"/>
          </a:xfrm>
          <a:prstGeom prst="rect">
            <a:avLst/>
          </a:prstGeom>
          <a:solidFill>
            <a:srgbClr val="12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92455" y="5120191"/>
            <a:ext cx="593668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7E99B"/>
                </a:solidFill>
                <a:latin typeface="Arial"/>
              </a:rPr>
              <a:t>01 /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92455" y="5237049"/>
            <a:ext cx="5936685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F5FAED"/>
                </a:solidFill>
                <a:latin typeface="Arial"/>
              </a:rPr>
              <a:t>Suhu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92455" y="5448055"/>
            <a:ext cx="593668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5FAED"/>
                </a:solidFill>
                <a:latin typeface="Arial"/>
              </a:rPr>
              <a:t>Blower dan exhaust bekerja otomatis dalam target 25–30°C siang dan 18–22°C malam.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92455" y="5934888"/>
            <a:ext cx="5936685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6" b="1" i="0">
                <a:solidFill>
                  <a:srgbClr val="C7E99B"/>
                </a:solidFill>
                <a:latin typeface="Arial"/>
              </a:rPr>
              <a:t>KLIK TAHAP ATAU TEKAN →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Dua kontrol otomatis, dua koreksi nutrisi oleh operator. Harga alat adalah estimasi pada slide sumber.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20 / 66 · ASLI 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Mengapa memilih DFT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Akar tetap terendam dan larutan kembali ke bak; sistem perlu listrik cadangan dan pemisahan stok A+B.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2309090"/>
            <a:ext cx="2444630" cy="1971068"/>
          </a:xfrm>
          <a:prstGeom prst="rect">
            <a:avLst/>
          </a:prstGeom>
          <a:solidFill>
            <a:srgbClr val="D9E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85195" y="2309090"/>
            <a:ext cx="2444631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7073" y="2978057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073" y="3165555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BAK A+B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073" y="3521037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stok pekat terpisah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133" y="3093774"/>
            <a:ext cx="397751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55935B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44188" y="2309090"/>
            <a:ext cx="2444630" cy="1971068"/>
          </a:xfrm>
          <a:prstGeom prst="rect">
            <a:avLst/>
          </a:prstGeom>
          <a:solidFill>
            <a:srgbClr val="D9E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444188" y="2309090"/>
            <a:ext cx="2444631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66066" y="2978057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066" y="3165555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POMPA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066" y="3521037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cadangan daya 1.200 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3126" y="3093774"/>
            <a:ext cx="397751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55935B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3180" y="2309090"/>
            <a:ext cx="2444630" cy="1971068"/>
          </a:xfrm>
          <a:prstGeom prst="rect">
            <a:avLst/>
          </a:prstGeom>
          <a:solidFill>
            <a:srgbClr val="BBD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303180" y="2309090"/>
            <a:ext cx="2444631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25058" y="2978057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58" y="3165555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PIPA DFT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58" y="3521037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akar terendam 24 jam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2118" y="3093774"/>
            <a:ext cx="397751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55935B"/>
                </a:solidFill>
                <a:latin typeface="Arial"/>
              </a:rPr>
              <a:t>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62173" y="2309090"/>
            <a:ext cx="2444630" cy="1971068"/>
          </a:xfrm>
          <a:prstGeom prst="rect">
            <a:avLst/>
          </a:prstGeom>
          <a:solidFill>
            <a:srgbClr val="D9E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9162173" y="2309090"/>
            <a:ext cx="2444630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84050" y="2978057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4050" y="3165555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KEMBALI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4050" y="3521037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larutan balik ke bak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5195" y="4766649"/>
            <a:ext cx="2552243" cy="1341130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7073" y="5170175"/>
            <a:ext cx="23404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FFFFFF"/>
                </a:solidFill>
                <a:latin typeface="Arial"/>
              </a:rPr>
              <a:t>45–60 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7073" y="5535927"/>
            <a:ext cx="23404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FFFFFF"/>
                </a:solidFill>
                <a:latin typeface="Arial"/>
              </a:rPr>
              <a:t>air per kg melon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34896" y="4766649"/>
            <a:ext cx="2552243" cy="1341130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56774" y="5170175"/>
            <a:ext cx="23404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FFFFFF"/>
                </a:solidFill>
                <a:latin typeface="Arial"/>
              </a:rPr>
              <a:t>80–85%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6774" y="5535927"/>
            <a:ext cx="23404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FFFFFF"/>
                </a:solidFill>
                <a:latin typeface="Arial"/>
              </a:rPr>
              <a:t>hemat air · klaim sumber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4596" y="4766649"/>
            <a:ext cx="5722207" cy="1341130"/>
          </a:xfrm>
          <a:prstGeom prst="rect">
            <a:avLst/>
          </a:prstGeom>
          <a:solidFill>
            <a:srgbClr val="F0E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884596" y="4766649"/>
            <a:ext cx="5722207" cy="0"/>
          </a:xfrm>
          <a:prstGeom prst="line">
            <a:avLst/>
          </a:prstGeom>
          <a:ln w="36517">
            <a:solidFill>
              <a:srgbClr val="B69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018685" y="4942050"/>
            <a:ext cx="135645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5F3D"/>
                </a:solidFill>
                <a:latin typeface="Arial"/>
              </a:rPr>
              <a:t>KELEMAHAN YANG DIJAGA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18685" y="5124755"/>
            <a:ext cx="5486034" cy="3139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D30"/>
                </a:solidFill>
                <a:latin typeface="Arial"/>
              </a:rPr>
              <a:t>Satu jalur berbagi larutan. Bibit lemah disaring di nursery (5–10%); pompa dan listrik harus punya cadangan.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Penghematan air dan risiko gagal panen adalah sasaran pada materi sumber, bukan hasil fasilitas yang sudah berjalan.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34098" y="328891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21 / 66 · ASLI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Produksi tahun demi tahun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Roadmap sumber memulai 35 unit dan memperluas ke beberapa kota hingga Tahun 10.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91814" y="2378702"/>
            <a:ext cx="11008370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1814" y="1950184"/>
            <a:ext cx="223390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43D30"/>
                </a:solidFill>
                <a:latin typeface="Arial"/>
              </a:rPr>
              <a:t>50,3 → 816,6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29062" y="2132775"/>
            <a:ext cx="596658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ton/tahun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4088" y="2147383"/>
            <a:ext cx="190810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143D30"/>
                </a:solidFill>
                <a:latin typeface="Arial"/>
              </a:rPr>
              <a:t>35 → 237 GREENHOUSE · Y0–Y10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1814" y="2421269"/>
            <a:ext cx="11008370" cy="20487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1814" y="2624687"/>
            <a:ext cx="11008370" cy="20487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1814" y="2828104"/>
            <a:ext cx="11008370" cy="20487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1814" y="3031522"/>
            <a:ext cx="11008370" cy="20487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1814" y="3234940"/>
            <a:ext cx="11008370" cy="20487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1814" y="3438357"/>
            <a:ext cx="11008370" cy="20487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1814" y="3641775"/>
            <a:ext cx="11008370" cy="20487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1814" y="3845193"/>
            <a:ext cx="11008370" cy="20487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1814" y="4048610"/>
            <a:ext cx="11008370" cy="20487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1814" y="4252028"/>
            <a:ext cx="11008370" cy="20487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 flipH="1">
            <a:off x="591814" y="4455446"/>
            <a:ext cx="11008370" cy="0"/>
          </a:xfrm>
          <a:prstGeom prst="line">
            <a:avLst/>
          </a:prstGeom>
          <a:ln w="7303">
            <a:solidFill>
              <a:srgbClr val="829F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84151" y="4203242"/>
            <a:ext cx="19804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50,3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931" y="4322497"/>
            <a:ext cx="798710" cy="14025"/>
          </a:xfrm>
          <a:prstGeom prst="rect">
            <a:avLst/>
          </a:prstGeom>
          <a:solidFill>
            <a:srgbClr val="A1D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7931" y="4335061"/>
            <a:ext cx="798710" cy="14025"/>
          </a:xfrm>
          <a:prstGeom prst="rect">
            <a:avLst/>
          </a:prstGeom>
          <a:solidFill>
            <a:srgbClr val="96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7931" y="4347626"/>
            <a:ext cx="798710" cy="14025"/>
          </a:xfrm>
          <a:prstGeom prst="rect">
            <a:avLst/>
          </a:prstGeom>
          <a:solidFill>
            <a:srgbClr val="8AC0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7931" y="4360190"/>
            <a:ext cx="798710" cy="14025"/>
          </a:xfrm>
          <a:prstGeom prst="rect">
            <a:avLst/>
          </a:prstGeom>
          <a:solidFill>
            <a:srgbClr val="7F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7931" y="4372755"/>
            <a:ext cx="798710" cy="14025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7931" y="4385319"/>
            <a:ext cx="798710" cy="14025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931" y="4397884"/>
            <a:ext cx="798710" cy="14025"/>
          </a:xfrm>
          <a:prstGeom prst="rect">
            <a:avLst/>
          </a:prstGeom>
          <a:solidFill>
            <a:srgbClr val="5C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7931" y="4410448"/>
            <a:ext cx="798710" cy="14025"/>
          </a:xfrm>
          <a:prstGeom prst="rect">
            <a:avLst/>
          </a:prstGeom>
          <a:solidFill>
            <a:srgbClr val="519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7931" y="4423013"/>
            <a:ext cx="798710" cy="14025"/>
          </a:xfrm>
          <a:prstGeom prst="rect">
            <a:avLst/>
          </a:prstGeom>
          <a:solidFill>
            <a:srgbClr val="458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67931" y="4435577"/>
            <a:ext cx="798710" cy="14025"/>
          </a:xfrm>
          <a:prstGeom prst="rect">
            <a:avLst/>
          </a:prstGeom>
          <a:solidFill>
            <a:srgbClr val="3A7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63" y="447998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673651" y="4198905"/>
            <a:ext cx="798710" cy="26384"/>
          </a:xfrm>
          <a:prstGeom prst="rect">
            <a:avLst/>
          </a:prstGeom>
          <a:solidFill>
            <a:srgbClr val="A1D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73651" y="4223829"/>
            <a:ext cx="798710" cy="26384"/>
          </a:xfrm>
          <a:prstGeom prst="rect">
            <a:avLst/>
          </a:prstGeom>
          <a:solidFill>
            <a:srgbClr val="96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73651" y="4248753"/>
            <a:ext cx="798710" cy="26384"/>
          </a:xfrm>
          <a:prstGeom prst="rect">
            <a:avLst/>
          </a:prstGeom>
          <a:solidFill>
            <a:srgbClr val="8AC0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73651" y="4273676"/>
            <a:ext cx="798710" cy="26384"/>
          </a:xfrm>
          <a:prstGeom prst="rect">
            <a:avLst/>
          </a:prstGeom>
          <a:solidFill>
            <a:srgbClr val="7F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73651" y="4298600"/>
            <a:ext cx="798710" cy="26384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73651" y="4323524"/>
            <a:ext cx="798710" cy="26384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73651" y="4348447"/>
            <a:ext cx="798710" cy="26384"/>
          </a:xfrm>
          <a:prstGeom prst="rect">
            <a:avLst/>
          </a:prstGeom>
          <a:solidFill>
            <a:srgbClr val="5C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673651" y="4373371"/>
            <a:ext cx="798710" cy="26384"/>
          </a:xfrm>
          <a:prstGeom prst="rect">
            <a:avLst/>
          </a:prstGeom>
          <a:solidFill>
            <a:srgbClr val="519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73651" y="4398295"/>
            <a:ext cx="798710" cy="26384"/>
          </a:xfrm>
          <a:prstGeom prst="rect">
            <a:avLst/>
          </a:prstGeom>
          <a:solidFill>
            <a:srgbClr val="458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673651" y="4423218"/>
            <a:ext cx="798710" cy="26384"/>
          </a:xfrm>
          <a:prstGeom prst="rect">
            <a:avLst/>
          </a:prstGeom>
          <a:solidFill>
            <a:srgbClr val="3A7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683" y="447998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71854" y="3925476"/>
            <a:ext cx="24551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162,3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79371" y="4044844"/>
            <a:ext cx="798710" cy="41790"/>
          </a:xfrm>
          <a:prstGeom prst="rect">
            <a:avLst/>
          </a:prstGeom>
          <a:solidFill>
            <a:srgbClr val="A1D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79371" y="4085174"/>
            <a:ext cx="798710" cy="41790"/>
          </a:xfrm>
          <a:prstGeom prst="rect">
            <a:avLst/>
          </a:prstGeom>
          <a:solidFill>
            <a:srgbClr val="96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679371" y="4125504"/>
            <a:ext cx="798710" cy="41790"/>
          </a:xfrm>
          <a:prstGeom prst="rect">
            <a:avLst/>
          </a:prstGeom>
          <a:solidFill>
            <a:srgbClr val="8AC0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679371" y="4165834"/>
            <a:ext cx="798710" cy="41790"/>
          </a:xfrm>
          <a:prstGeom prst="rect">
            <a:avLst/>
          </a:prstGeom>
          <a:solidFill>
            <a:srgbClr val="7F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679371" y="4206163"/>
            <a:ext cx="798710" cy="41790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679371" y="4246493"/>
            <a:ext cx="798710" cy="41790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679371" y="4286823"/>
            <a:ext cx="798710" cy="41790"/>
          </a:xfrm>
          <a:prstGeom prst="rect">
            <a:avLst/>
          </a:prstGeom>
          <a:solidFill>
            <a:srgbClr val="5C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679371" y="4327153"/>
            <a:ext cx="798710" cy="41790"/>
          </a:xfrm>
          <a:prstGeom prst="rect">
            <a:avLst/>
          </a:prstGeom>
          <a:solidFill>
            <a:srgbClr val="519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679371" y="4367482"/>
            <a:ext cx="798710" cy="41790"/>
          </a:xfrm>
          <a:prstGeom prst="rect">
            <a:avLst/>
          </a:prstGeom>
          <a:solidFill>
            <a:srgbClr val="458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679371" y="4407812"/>
            <a:ext cx="798710" cy="41790"/>
          </a:xfrm>
          <a:prstGeom prst="rect">
            <a:avLst/>
          </a:prstGeom>
          <a:solidFill>
            <a:srgbClr val="3A7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26403" y="447998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85090" y="3892837"/>
            <a:ext cx="798710" cy="56991"/>
          </a:xfrm>
          <a:prstGeom prst="rect">
            <a:avLst/>
          </a:prstGeom>
          <a:solidFill>
            <a:srgbClr val="A1D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85090" y="3948368"/>
            <a:ext cx="798710" cy="56991"/>
          </a:xfrm>
          <a:prstGeom prst="rect">
            <a:avLst/>
          </a:prstGeom>
          <a:solidFill>
            <a:srgbClr val="96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685090" y="4003898"/>
            <a:ext cx="798710" cy="56991"/>
          </a:xfrm>
          <a:prstGeom prst="rect">
            <a:avLst/>
          </a:prstGeom>
          <a:solidFill>
            <a:srgbClr val="8AC0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85090" y="4059429"/>
            <a:ext cx="798710" cy="56991"/>
          </a:xfrm>
          <a:prstGeom prst="rect">
            <a:avLst/>
          </a:prstGeom>
          <a:solidFill>
            <a:srgbClr val="7F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85090" y="4114959"/>
            <a:ext cx="798710" cy="56991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85090" y="4170490"/>
            <a:ext cx="798710" cy="56991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685090" y="4226020"/>
            <a:ext cx="798710" cy="56991"/>
          </a:xfrm>
          <a:prstGeom prst="rect">
            <a:avLst/>
          </a:prstGeom>
          <a:solidFill>
            <a:srgbClr val="5C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685090" y="4281551"/>
            <a:ext cx="798710" cy="56991"/>
          </a:xfrm>
          <a:prstGeom prst="rect">
            <a:avLst/>
          </a:prstGeom>
          <a:solidFill>
            <a:srgbClr val="519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85090" y="4337081"/>
            <a:ext cx="798710" cy="56991"/>
          </a:xfrm>
          <a:prstGeom prst="rect">
            <a:avLst/>
          </a:prstGeom>
          <a:solidFill>
            <a:srgbClr val="458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685090" y="4392612"/>
            <a:ext cx="798710" cy="56991"/>
          </a:xfrm>
          <a:prstGeom prst="rect">
            <a:avLst/>
          </a:prstGeom>
          <a:solidFill>
            <a:srgbClr val="3A7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032123" y="447998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90810" y="3742885"/>
            <a:ext cx="798710" cy="71986"/>
          </a:xfrm>
          <a:prstGeom prst="rect">
            <a:avLst/>
          </a:prstGeom>
          <a:solidFill>
            <a:srgbClr val="A1D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690810" y="3813410"/>
            <a:ext cx="798710" cy="71986"/>
          </a:xfrm>
          <a:prstGeom prst="rect">
            <a:avLst/>
          </a:prstGeom>
          <a:solidFill>
            <a:srgbClr val="96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90810" y="3883936"/>
            <a:ext cx="798710" cy="71986"/>
          </a:xfrm>
          <a:prstGeom prst="rect">
            <a:avLst/>
          </a:prstGeom>
          <a:solidFill>
            <a:srgbClr val="8AC0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690810" y="3954462"/>
            <a:ext cx="798710" cy="71986"/>
          </a:xfrm>
          <a:prstGeom prst="rect">
            <a:avLst/>
          </a:prstGeom>
          <a:solidFill>
            <a:srgbClr val="7F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690810" y="4024988"/>
            <a:ext cx="798710" cy="71986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690810" y="4095513"/>
            <a:ext cx="798710" cy="71986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690810" y="4166039"/>
            <a:ext cx="798710" cy="71986"/>
          </a:xfrm>
          <a:prstGeom prst="rect">
            <a:avLst/>
          </a:prstGeom>
          <a:solidFill>
            <a:srgbClr val="5C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90810" y="4236565"/>
            <a:ext cx="798710" cy="71986"/>
          </a:xfrm>
          <a:prstGeom prst="rect">
            <a:avLst/>
          </a:prstGeom>
          <a:solidFill>
            <a:srgbClr val="519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690810" y="4307091"/>
            <a:ext cx="798710" cy="71986"/>
          </a:xfrm>
          <a:prstGeom prst="rect">
            <a:avLst/>
          </a:prstGeom>
          <a:solidFill>
            <a:srgbClr val="458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690810" y="4377616"/>
            <a:ext cx="798710" cy="71986"/>
          </a:xfrm>
          <a:prstGeom prst="rect">
            <a:avLst/>
          </a:prstGeom>
          <a:solidFill>
            <a:srgbClr val="3A7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37842" y="447998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96530" y="3590878"/>
            <a:ext cx="798824" cy="87187"/>
          </a:xfrm>
          <a:prstGeom prst="rect">
            <a:avLst/>
          </a:prstGeom>
          <a:solidFill>
            <a:srgbClr val="A1D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696530" y="3676604"/>
            <a:ext cx="798824" cy="87187"/>
          </a:xfrm>
          <a:prstGeom prst="rect">
            <a:avLst/>
          </a:prstGeom>
          <a:solidFill>
            <a:srgbClr val="96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696530" y="3762331"/>
            <a:ext cx="798824" cy="87187"/>
          </a:xfrm>
          <a:prstGeom prst="rect">
            <a:avLst/>
          </a:prstGeom>
          <a:solidFill>
            <a:srgbClr val="8AC0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696530" y="3848057"/>
            <a:ext cx="798824" cy="87187"/>
          </a:xfrm>
          <a:prstGeom prst="rect">
            <a:avLst/>
          </a:prstGeom>
          <a:solidFill>
            <a:srgbClr val="7F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696530" y="3933783"/>
            <a:ext cx="798824" cy="87187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96530" y="4019510"/>
            <a:ext cx="798824" cy="87187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96530" y="4105236"/>
            <a:ext cx="798824" cy="87187"/>
          </a:xfrm>
          <a:prstGeom prst="rect">
            <a:avLst/>
          </a:prstGeom>
          <a:solidFill>
            <a:srgbClr val="5C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96530" y="4190963"/>
            <a:ext cx="798824" cy="87187"/>
          </a:xfrm>
          <a:prstGeom prst="rect">
            <a:avLst/>
          </a:prstGeom>
          <a:solidFill>
            <a:srgbClr val="519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696530" y="4276689"/>
            <a:ext cx="798824" cy="87187"/>
          </a:xfrm>
          <a:prstGeom prst="rect">
            <a:avLst/>
          </a:prstGeom>
          <a:solidFill>
            <a:srgbClr val="458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96530" y="4362416"/>
            <a:ext cx="798824" cy="87187"/>
          </a:xfrm>
          <a:prstGeom prst="rect">
            <a:avLst/>
          </a:prstGeom>
          <a:solidFill>
            <a:srgbClr val="3A7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043676" y="447998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94848" y="3282984"/>
            <a:ext cx="24551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421,6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02364" y="3402353"/>
            <a:ext cx="798710" cy="106039"/>
          </a:xfrm>
          <a:prstGeom prst="rect">
            <a:avLst/>
          </a:prstGeom>
          <a:solidFill>
            <a:srgbClr val="C3E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702364" y="3506932"/>
            <a:ext cx="798710" cy="106039"/>
          </a:xfrm>
          <a:prstGeom prst="rect">
            <a:avLst/>
          </a:prstGeom>
          <a:solidFill>
            <a:srgbClr val="B7D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02364" y="3611511"/>
            <a:ext cx="798710" cy="106039"/>
          </a:xfrm>
          <a:prstGeom prst="rect">
            <a:avLst/>
          </a:prstGeom>
          <a:solidFill>
            <a:srgbClr val="AAD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702364" y="3716089"/>
            <a:ext cx="798710" cy="106039"/>
          </a:xfrm>
          <a:prstGeom prst="rect">
            <a:avLst/>
          </a:prstGeom>
          <a:solidFill>
            <a:srgbClr val="9EC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702364" y="3820668"/>
            <a:ext cx="798710" cy="106039"/>
          </a:xfrm>
          <a:prstGeom prst="rect">
            <a:avLst/>
          </a:prstGeom>
          <a:solidFill>
            <a:srgbClr val="92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702364" y="3925247"/>
            <a:ext cx="798710" cy="106039"/>
          </a:xfrm>
          <a:prstGeom prst="rect">
            <a:avLst/>
          </a:prstGeom>
          <a:solidFill>
            <a:srgbClr val="86B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702364" y="4029826"/>
            <a:ext cx="798710" cy="106039"/>
          </a:xfrm>
          <a:prstGeom prst="rect">
            <a:avLst/>
          </a:prstGeom>
          <a:solidFill>
            <a:srgbClr val="7AB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702364" y="4134405"/>
            <a:ext cx="798710" cy="106039"/>
          </a:xfrm>
          <a:prstGeom prst="rect">
            <a:avLst/>
          </a:prstGeom>
          <a:solidFill>
            <a:srgbClr val="6EA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702364" y="4238984"/>
            <a:ext cx="798710" cy="106039"/>
          </a:xfrm>
          <a:prstGeom prst="rect">
            <a:avLst/>
          </a:prstGeom>
          <a:solidFill>
            <a:srgbClr val="61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702364" y="4343563"/>
            <a:ext cx="798710" cy="106039"/>
          </a:xfrm>
          <a:prstGeom prst="rect">
            <a:avLst/>
          </a:prstGeom>
          <a:solidFill>
            <a:srgbClr val="559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049396" y="447998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Y6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708084" y="3230032"/>
            <a:ext cx="798710" cy="123271"/>
          </a:xfrm>
          <a:prstGeom prst="rect">
            <a:avLst/>
          </a:prstGeom>
          <a:solidFill>
            <a:srgbClr val="C3E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708084" y="3351843"/>
            <a:ext cx="798710" cy="123271"/>
          </a:xfrm>
          <a:prstGeom prst="rect">
            <a:avLst/>
          </a:prstGeom>
          <a:solidFill>
            <a:srgbClr val="B7D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708084" y="3473654"/>
            <a:ext cx="798710" cy="123271"/>
          </a:xfrm>
          <a:prstGeom prst="rect">
            <a:avLst/>
          </a:prstGeom>
          <a:solidFill>
            <a:srgbClr val="AAD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708084" y="3595465"/>
            <a:ext cx="798710" cy="123271"/>
          </a:xfrm>
          <a:prstGeom prst="rect">
            <a:avLst/>
          </a:prstGeom>
          <a:solidFill>
            <a:srgbClr val="9EC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708084" y="3717276"/>
            <a:ext cx="798710" cy="123271"/>
          </a:xfrm>
          <a:prstGeom prst="rect">
            <a:avLst/>
          </a:prstGeom>
          <a:solidFill>
            <a:srgbClr val="92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708084" y="3839087"/>
            <a:ext cx="798710" cy="123271"/>
          </a:xfrm>
          <a:prstGeom prst="rect">
            <a:avLst/>
          </a:prstGeom>
          <a:solidFill>
            <a:srgbClr val="86B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708084" y="3960898"/>
            <a:ext cx="798710" cy="123271"/>
          </a:xfrm>
          <a:prstGeom prst="rect">
            <a:avLst/>
          </a:prstGeom>
          <a:solidFill>
            <a:srgbClr val="7AB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708084" y="4082709"/>
            <a:ext cx="798710" cy="123271"/>
          </a:xfrm>
          <a:prstGeom prst="rect">
            <a:avLst/>
          </a:prstGeom>
          <a:solidFill>
            <a:srgbClr val="6EA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708084" y="4204520"/>
            <a:ext cx="798710" cy="123271"/>
          </a:xfrm>
          <a:prstGeom prst="rect">
            <a:avLst/>
          </a:prstGeom>
          <a:solidFill>
            <a:srgbClr val="61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708084" y="4326331"/>
            <a:ext cx="798710" cy="123271"/>
          </a:xfrm>
          <a:prstGeom prst="rect">
            <a:avLst/>
          </a:prstGeom>
          <a:solidFill>
            <a:srgbClr val="559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055116" y="447998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Y7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713804" y="3019254"/>
            <a:ext cx="798710" cy="144349"/>
          </a:xfrm>
          <a:prstGeom prst="rect">
            <a:avLst/>
          </a:prstGeom>
          <a:solidFill>
            <a:srgbClr val="C3E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713804" y="3162143"/>
            <a:ext cx="798710" cy="144349"/>
          </a:xfrm>
          <a:prstGeom prst="rect">
            <a:avLst/>
          </a:prstGeom>
          <a:solidFill>
            <a:srgbClr val="B7D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713804" y="3305032"/>
            <a:ext cx="798710" cy="144349"/>
          </a:xfrm>
          <a:prstGeom prst="rect">
            <a:avLst/>
          </a:prstGeom>
          <a:solidFill>
            <a:srgbClr val="AAD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713804" y="3447920"/>
            <a:ext cx="798710" cy="144349"/>
          </a:xfrm>
          <a:prstGeom prst="rect">
            <a:avLst/>
          </a:prstGeom>
          <a:solidFill>
            <a:srgbClr val="9EC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713804" y="3590809"/>
            <a:ext cx="798710" cy="144349"/>
          </a:xfrm>
          <a:prstGeom prst="rect">
            <a:avLst/>
          </a:prstGeom>
          <a:solidFill>
            <a:srgbClr val="92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713804" y="3733698"/>
            <a:ext cx="798710" cy="144349"/>
          </a:xfrm>
          <a:prstGeom prst="rect">
            <a:avLst/>
          </a:prstGeom>
          <a:solidFill>
            <a:srgbClr val="86B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713804" y="3876587"/>
            <a:ext cx="798710" cy="144349"/>
          </a:xfrm>
          <a:prstGeom prst="rect">
            <a:avLst/>
          </a:prstGeom>
          <a:solidFill>
            <a:srgbClr val="7AB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8713804" y="4019476"/>
            <a:ext cx="798710" cy="144349"/>
          </a:xfrm>
          <a:prstGeom prst="rect">
            <a:avLst/>
          </a:prstGeom>
          <a:solidFill>
            <a:srgbClr val="6EA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8713804" y="4162364"/>
            <a:ext cx="798710" cy="144349"/>
          </a:xfrm>
          <a:prstGeom prst="rect">
            <a:avLst/>
          </a:prstGeom>
          <a:solidFill>
            <a:srgbClr val="61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713804" y="4305253"/>
            <a:ext cx="798710" cy="144349"/>
          </a:xfrm>
          <a:prstGeom prst="rect">
            <a:avLst/>
          </a:prstGeom>
          <a:solidFill>
            <a:srgbClr val="559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60836" y="447998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Y8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719524" y="2694927"/>
            <a:ext cx="798710" cy="176782"/>
          </a:xfrm>
          <a:prstGeom prst="rect">
            <a:avLst/>
          </a:prstGeom>
          <a:solidFill>
            <a:srgbClr val="E3CB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719524" y="2870249"/>
            <a:ext cx="798710" cy="176782"/>
          </a:xfrm>
          <a:prstGeom prst="rect">
            <a:avLst/>
          </a:prstGeom>
          <a:solidFill>
            <a:srgbClr val="DEC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9719524" y="3045570"/>
            <a:ext cx="798710" cy="176782"/>
          </a:xfrm>
          <a:prstGeom prst="rect">
            <a:avLst/>
          </a:prstGeom>
          <a:solidFill>
            <a:srgbClr val="D9BB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9719524" y="3220892"/>
            <a:ext cx="798710" cy="176782"/>
          </a:xfrm>
          <a:prstGeom prst="rect">
            <a:avLst/>
          </a:prstGeom>
          <a:solidFill>
            <a:srgbClr val="D4B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9719524" y="3396213"/>
            <a:ext cx="798710" cy="176782"/>
          </a:xfrm>
          <a:prstGeom prst="rect">
            <a:avLst/>
          </a:prstGeom>
          <a:solidFill>
            <a:srgbClr val="CFA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719524" y="3571535"/>
            <a:ext cx="798710" cy="176782"/>
          </a:xfrm>
          <a:prstGeom prst="rect">
            <a:avLst/>
          </a:prstGeom>
          <a:solidFill>
            <a:srgbClr val="CAA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719524" y="3746856"/>
            <a:ext cx="798710" cy="176782"/>
          </a:xfrm>
          <a:prstGeom prst="rect">
            <a:avLst/>
          </a:prstGeom>
          <a:solidFill>
            <a:srgbClr val="C59C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719524" y="3922178"/>
            <a:ext cx="798710" cy="176782"/>
          </a:xfrm>
          <a:prstGeom prst="rect">
            <a:avLst/>
          </a:prstGeom>
          <a:solidFill>
            <a:srgbClr val="C09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719524" y="4097499"/>
            <a:ext cx="798710" cy="176782"/>
          </a:xfrm>
          <a:prstGeom prst="rect">
            <a:avLst/>
          </a:prstGeom>
          <a:solidFill>
            <a:srgbClr val="BB8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719524" y="4272821"/>
            <a:ext cx="798710" cy="176782"/>
          </a:xfrm>
          <a:prstGeom prst="rect">
            <a:avLst/>
          </a:prstGeom>
          <a:solidFill>
            <a:srgbClr val="B6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66556" y="447998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017727" y="2302014"/>
            <a:ext cx="24551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816,6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0725244" y="2421269"/>
            <a:ext cx="798710" cy="204148"/>
          </a:xfrm>
          <a:prstGeom prst="rect">
            <a:avLst/>
          </a:prstGeom>
          <a:solidFill>
            <a:srgbClr val="E3CB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0725244" y="2623956"/>
            <a:ext cx="798710" cy="204148"/>
          </a:xfrm>
          <a:prstGeom prst="rect">
            <a:avLst/>
          </a:prstGeom>
          <a:solidFill>
            <a:srgbClr val="DEC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725244" y="2826644"/>
            <a:ext cx="798710" cy="204148"/>
          </a:xfrm>
          <a:prstGeom prst="rect">
            <a:avLst/>
          </a:prstGeom>
          <a:solidFill>
            <a:srgbClr val="D9BB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725244" y="3029331"/>
            <a:ext cx="798710" cy="204148"/>
          </a:xfrm>
          <a:prstGeom prst="rect">
            <a:avLst/>
          </a:prstGeom>
          <a:solidFill>
            <a:srgbClr val="D4B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0725244" y="3232018"/>
            <a:ext cx="798710" cy="204148"/>
          </a:xfrm>
          <a:prstGeom prst="rect">
            <a:avLst/>
          </a:prstGeom>
          <a:solidFill>
            <a:srgbClr val="CFA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0725244" y="3434705"/>
            <a:ext cx="798710" cy="204148"/>
          </a:xfrm>
          <a:prstGeom prst="rect">
            <a:avLst/>
          </a:prstGeom>
          <a:solidFill>
            <a:srgbClr val="CAA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0725244" y="3637393"/>
            <a:ext cx="798710" cy="204148"/>
          </a:xfrm>
          <a:prstGeom prst="rect">
            <a:avLst/>
          </a:prstGeom>
          <a:solidFill>
            <a:srgbClr val="C59C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0725244" y="3840080"/>
            <a:ext cx="798710" cy="204148"/>
          </a:xfrm>
          <a:prstGeom prst="rect">
            <a:avLst/>
          </a:prstGeom>
          <a:solidFill>
            <a:srgbClr val="C09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0725244" y="4042767"/>
            <a:ext cx="798710" cy="204148"/>
          </a:xfrm>
          <a:prstGeom prst="rect">
            <a:avLst/>
          </a:prstGeom>
          <a:solidFill>
            <a:srgbClr val="BB8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725244" y="4245455"/>
            <a:ext cx="798710" cy="204148"/>
          </a:xfrm>
          <a:prstGeom prst="rect">
            <a:avLst/>
          </a:prstGeom>
          <a:solidFill>
            <a:srgbClr val="B6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1048653" y="4479981"/>
            <a:ext cx="18378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91814" y="4595470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97534" y="4595470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603254" y="4595470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608974" y="4595470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614694" y="4595470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620414" y="4595470"/>
            <a:ext cx="98306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103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626248" y="4595470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127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1967" y="4595470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143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37687" y="4595470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172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643407" y="4595470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213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649127" y="4595470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237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91814" y="4787761"/>
            <a:ext cx="1760723" cy="975263"/>
          </a:xfrm>
          <a:prstGeom prst="rect">
            <a:avLst/>
          </a:prstGeom>
          <a:solidFill>
            <a:srgbClr val="D9E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4" name="Connector 163"/>
          <p:cNvCxnSpPr/>
          <p:nvPr/>
        </p:nvCxnSpPr>
        <p:spPr>
          <a:xfrm>
            <a:off x="591814" y="4787761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352537" y="4787761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591814" y="5763025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591814" y="4787761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/>
          <p:cNvSpPr txBox="1"/>
          <p:nvPr/>
        </p:nvSpPr>
        <p:spPr>
          <a:xfrm>
            <a:off x="678315" y="4862053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8315" y="5520749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50,3 t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2419524" y="4787761"/>
            <a:ext cx="1760723" cy="975263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1" name="Connector 170"/>
          <p:cNvCxnSpPr/>
          <p:nvPr/>
        </p:nvCxnSpPr>
        <p:spPr>
          <a:xfrm>
            <a:off x="2419524" y="4787761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4180247" y="4787761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2419524" y="5763025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2419524" y="4787761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2506026" y="4862053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06026" y="5520749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162,3 t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247234" y="4787761"/>
            <a:ext cx="1760723" cy="975263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8" name="Connector 177"/>
          <p:cNvCxnSpPr/>
          <p:nvPr/>
        </p:nvCxnSpPr>
        <p:spPr>
          <a:xfrm>
            <a:off x="4247234" y="4787761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6007957" y="4787761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>
            <a:off x="4247234" y="5763025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247234" y="4787761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TextBox 181"/>
          <p:cNvSpPr txBox="1"/>
          <p:nvPr/>
        </p:nvSpPr>
        <p:spPr>
          <a:xfrm>
            <a:off x="4333736" y="4862053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333736" y="5520749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421,6 t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074945" y="4787761"/>
            <a:ext cx="1760723" cy="975263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5" name="Connector 184"/>
          <p:cNvCxnSpPr/>
          <p:nvPr/>
        </p:nvCxnSpPr>
        <p:spPr>
          <a:xfrm>
            <a:off x="6074945" y="4787761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7835668" y="4787761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H="1">
            <a:off x="6074945" y="5763025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6074945" y="4787761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/>
          <p:cNvSpPr txBox="1"/>
          <p:nvPr/>
        </p:nvSpPr>
        <p:spPr>
          <a:xfrm>
            <a:off x="6161446" y="4862053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Y10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161446" y="5520749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816,6 t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7902655" y="4787761"/>
            <a:ext cx="3697529" cy="975263"/>
          </a:xfrm>
          <a:prstGeom prst="rect">
            <a:avLst/>
          </a:prstGeom>
          <a:solidFill>
            <a:srgbClr val="12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8012322" y="4873008"/>
            <a:ext cx="35101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7E99B"/>
                </a:solidFill>
                <a:latin typeface="Arial"/>
              </a:rPr>
              <a:t>01 / 04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012322" y="4989866"/>
            <a:ext cx="351019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F5FAED"/>
                </a:solidFill>
                <a:latin typeface="Arial"/>
              </a:rPr>
              <a:t>Y0 · masa coba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012322" y="5200873"/>
            <a:ext cx="35101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5FAED"/>
                </a:solidFill>
                <a:latin typeface="Arial"/>
              </a:rPr>
              <a:t>35 greenhouse di dua lokasi menjalankan dua siklus; panen 50,3 ton.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012322" y="5590134"/>
            <a:ext cx="351019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6" b="1" i="0">
                <a:solidFill>
                  <a:srgbClr val="C7E99B"/>
                </a:solidFill>
                <a:latin typeface="Arial"/>
              </a:rPr>
              <a:t>KLIK TAHAP ATAU TEKAN →</a:t>
            </a:r>
          </a:p>
        </p:txBody>
      </p:sp>
      <p:cxnSp>
        <p:nvCxnSpPr>
          <p:cNvPr id="196" name="Connector 195"/>
          <p:cNvCxnSpPr/>
          <p:nvPr/>
        </p:nvCxnSpPr>
        <p:spPr>
          <a:xfrm>
            <a:off x="591814" y="6168605"/>
            <a:ext cx="11008370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TextBox 196"/>
          <p:cNvSpPr txBox="1"/>
          <p:nvPr/>
        </p:nvSpPr>
        <p:spPr>
          <a:xfrm>
            <a:off x="591814" y="6230686"/>
            <a:ext cx="1104037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Produksi memuat faktor yield 95%; greenhouse baru dihitung hanya 3 siklus pada tahun pertamanya.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682550" y="6537324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22 / 66 · ASLI 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Pertumbuhan dari unit yang sama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Skala dicapai dengan menggandakan rumah kaca modular sambil menahan kenaikan biaya tetap.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3608860" cy="3053832"/>
          </a:xfrm>
          <a:prstGeom prst="rect">
            <a:avLst/>
          </a:prstGeom>
          <a:solidFill>
            <a:srgbClr val="DCE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85195" y="1944593"/>
            <a:ext cx="3608861" cy="0"/>
          </a:xfrm>
          <a:prstGeom prst="line">
            <a:avLst/>
          </a:prstGeom>
          <a:ln w="43821">
            <a:solidFill>
              <a:srgbClr val="69A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3591" y="4033432"/>
            <a:ext cx="3324073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143D30"/>
                </a:solidFill>
                <a:latin typeface="Arial"/>
              </a:rPr>
              <a:t>16,2×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3591" y="4701487"/>
            <a:ext cx="3324073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0" i="0">
                <a:solidFill>
                  <a:srgbClr val="143D30"/>
                </a:solidFill>
                <a:latin typeface="Arial"/>
              </a:rPr>
              <a:t>pertumbuhan tonase · 50,3 ke 816,6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1512" y="1944593"/>
            <a:ext cx="3608860" cy="3053832"/>
          </a:xfrm>
          <a:prstGeom prst="rect">
            <a:avLst/>
          </a:prstGeom>
          <a:solidFill>
            <a:srgbClr val="DCE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1512" y="1944593"/>
            <a:ext cx="3608860" cy="0"/>
          </a:xfrm>
          <a:prstGeom prst="line">
            <a:avLst/>
          </a:prstGeom>
          <a:ln w="43821">
            <a:solidFill>
              <a:srgbClr val="69A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49908" y="4033432"/>
            <a:ext cx="3324073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143D30"/>
                </a:solidFill>
                <a:latin typeface="Arial"/>
              </a:rPr>
              <a:t>6,8×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9908" y="4701487"/>
            <a:ext cx="3324073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0" i="0">
                <a:solidFill>
                  <a:srgbClr val="143D30"/>
                </a:solidFill>
                <a:latin typeface="Arial"/>
              </a:rPr>
              <a:t>pertumbuhan modul · 35 ke 237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7829" y="1944593"/>
            <a:ext cx="3608974" cy="3053832"/>
          </a:xfrm>
          <a:prstGeom prst="rect">
            <a:avLst/>
          </a:prstGeom>
          <a:solidFill>
            <a:srgbClr val="DCE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7997829" y="1944593"/>
            <a:ext cx="3608974" cy="0"/>
          </a:xfrm>
          <a:prstGeom prst="line">
            <a:avLst/>
          </a:prstGeom>
          <a:ln w="43821">
            <a:solidFill>
              <a:srgbClr val="69A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156224" y="4033432"/>
            <a:ext cx="3324187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143D30"/>
                </a:solidFill>
                <a:latin typeface="Arial"/>
              </a:rPr>
              <a:t>0,71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224" y="4701487"/>
            <a:ext cx="3324187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0" i="0">
                <a:solidFill>
                  <a:srgbClr val="143D30"/>
                </a:solidFill>
                <a:latin typeface="Arial"/>
              </a:rPr>
              <a:t>rasio pertumbuhan biaya tetap terhadap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195" y="5108094"/>
            <a:ext cx="11021607" cy="999685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7073" y="5553159"/>
            <a:ext cx="75870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D2EBAD"/>
                </a:solidFill>
                <a:latin typeface="Arial"/>
              </a:rPr>
              <a:t>MESIN SKALA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5850" y="5461864"/>
            <a:ext cx="1083941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BED9BD"/>
                </a:solidFill>
                <a:latin typeface="Arial"/>
              </a:rPr>
              <a:t>Y2–Y5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5850" y="5586026"/>
            <a:ext cx="1083941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5FAED"/>
                </a:solidFill>
                <a:latin typeface="Arial"/>
              </a:rPr>
              <a:t>+17 GH / TAHUN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5244" y="5498382"/>
            <a:ext cx="214820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BEE39D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5517" y="5461864"/>
            <a:ext cx="85205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BED9BD"/>
                </a:solidFill>
                <a:latin typeface="Arial"/>
              </a:rPr>
              <a:t>JAKARTA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5517" y="5586026"/>
            <a:ext cx="85205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5FAED"/>
                </a:solidFill>
                <a:latin typeface="Arial"/>
              </a:rPr>
              <a:t>17–18 / ATAP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53024" y="5498382"/>
            <a:ext cx="214820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BEE39D"/>
                </a:solidFill>
                <a:latin typeface="Arial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33297" y="5461864"/>
            <a:ext cx="98363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BED9BD"/>
                </a:solidFill>
                <a:latin typeface="Arial"/>
              </a:rPr>
              <a:t>EKSPANSI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33297" y="5586026"/>
            <a:ext cx="98363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5FAED"/>
                </a:solidFill>
                <a:latin typeface="Arial"/>
              </a:rPr>
              <a:t>20–41 / LAHAN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Model sumber menggandakan modul standar; rasio 0,71 adalah proyeksi, bukan penghematan yang sudah terukur.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23 / 66 · ASLI 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Banyak. Seragam. Aman.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Jumlah datang dari replikasi unit; konsistensi dari parameter; keamanan dari inspeksi petani.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3600757" cy="4163186"/>
          </a:xfrm>
          <a:prstGeom prst="rect">
            <a:avLst/>
          </a:prstGeom>
          <a:solidFill>
            <a:srgbClr val="E2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85195" y="1944593"/>
            <a:ext cx="3600758" cy="0"/>
          </a:xfrm>
          <a:prstGeom prst="line">
            <a:avLst/>
          </a:prstGeom>
          <a:ln w="43821">
            <a:solidFill>
              <a:srgbClr val="78AB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3591" y="2128553"/>
            <a:ext cx="331597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E825D"/>
                </a:solidFill>
                <a:latin typeface="Arial"/>
              </a:rPr>
              <a:t>01 / BANYAK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3591" y="4263611"/>
            <a:ext cx="3315970" cy="5213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64" b="1" i="0">
                <a:solidFill>
                  <a:srgbClr val="143D30"/>
                </a:solidFill>
                <a:latin typeface="Arial"/>
              </a:rPr>
              <a:t>237 unit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3591" y="4770643"/>
            <a:ext cx="33159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143D30"/>
                </a:solidFill>
                <a:latin typeface="Arial"/>
              </a:rPr>
              <a:t>11 lokasi · 3 kota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43591" y="5094628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43591" y="5167778"/>
            <a:ext cx="101010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816,6 t panen Y10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3591" y="5385632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3591" y="5458783"/>
            <a:ext cx="1009765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5 siklus/unit/tahun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3591" y="5676636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3591" y="5749787"/>
            <a:ext cx="954532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jeda tanam 4 hari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5620" y="1944593"/>
            <a:ext cx="3600757" cy="4163186"/>
          </a:xfrm>
          <a:prstGeom prst="rect">
            <a:avLst/>
          </a:prstGeom>
          <a:solidFill>
            <a:srgbClr val="CFE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295620" y="1944593"/>
            <a:ext cx="3600758" cy="0"/>
          </a:xfrm>
          <a:prstGeom prst="line">
            <a:avLst/>
          </a:prstGeom>
          <a:ln w="43821">
            <a:solidFill>
              <a:srgbClr val="78AB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454016" y="2128553"/>
            <a:ext cx="331597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E825D"/>
                </a:solidFill>
                <a:latin typeface="Arial"/>
              </a:rPr>
              <a:t>02 / SERAGAM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4016" y="4263611"/>
            <a:ext cx="3315970" cy="5213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64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4016" y="4770643"/>
            <a:ext cx="33159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143D30"/>
                </a:solidFill>
                <a:latin typeface="Arial"/>
              </a:rPr>
              <a:t>suhu · lembap · pH · nutrisi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454016" y="5094628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454016" y="5167778"/>
            <a:ext cx="1548058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&lt;10% beda hasil antarlokasi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4016" y="5385632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54016" y="5458783"/>
            <a:ext cx="86905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&gt;15° target Brix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454016" y="5676636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454016" y="5749787"/>
            <a:ext cx="1099119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90% target Grade 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6045" y="1944593"/>
            <a:ext cx="3600757" cy="4163186"/>
          </a:xfrm>
          <a:prstGeom prst="rect">
            <a:avLst/>
          </a:prstGeom>
          <a:solidFill>
            <a:srgbClr val="17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8006045" y="1944593"/>
            <a:ext cx="3600758" cy="0"/>
          </a:xfrm>
          <a:prstGeom prst="line">
            <a:avLst/>
          </a:prstGeom>
          <a:ln w="43821">
            <a:solidFill>
              <a:srgbClr val="78AB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164441" y="2128553"/>
            <a:ext cx="331597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AE8A7"/>
                </a:solidFill>
                <a:latin typeface="Arial"/>
              </a:rPr>
              <a:t>03 / AMAN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4441" y="4263611"/>
            <a:ext cx="3315970" cy="5213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64" b="1" i="0">
                <a:solidFill>
                  <a:srgbClr val="F5F9EA"/>
                </a:solidFill>
                <a:latin typeface="Arial"/>
              </a:rPr>
              <a:t>Setiap hari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64441" y="4770643"/>
            <a:ext cx="33159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F5F9EA"/>
                </a:solidFill>
                <a:latin typeface="Arial"/>
              </a:rPr>
              <a:t>petani memeriksa tanaman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64441" y="5094628"/>
            <a:ext cx="3283967" cy="0"/>
          </a:xfrm>
          <a:prstGeom prst="line">
            <a:avLst/>
          </a:prstGeom>
          <a:ln w="7303">
            <a:solidFill>
              <a:srgbClr val="DCF3CE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164441" y="5167778"/>
            <a:ext cx="978839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5F9EA"/>
                </a:solidFill>
                <a:latin typeface="Arial"/>
              </a:rPr>
              <a:t>10 titik acak / unit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164441" y="5385632"/>
            <a:ext cx="3283967" cy="0"/>
          </a:xfrm>
          <a:prstGeom prst="line">
            <a:avLst/>
          </a:prstGeom>
          <a:ln w="7303">
            <a:solidFill>
              <a:srgbClr val="DCF3CE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164441" y="5458783"/>
            <a:ext cx="1005428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5F9EA"/>
                </a:solidFill>
                <a:latin typeface="Arial"/>
              </a:rPr>
              <a:t>2 perangkap / unit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164441" y="5676636"/>
            <a:ext cx="3283967" cy="0"/>
          </a:xfrm>
          <a:prstGeom prst="line">
            <a:avLst/>
          </a:prstGeom>
          <a:ln w="7303">
            <a:solidFill>
              <a:srgbClr val="DCF3CE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164441" y="5749787"/>
            <a:ext cx="135691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5F9EA"/>
                </a:solidFill>
                <a:latin typeface="Arial"/>
              </a:rPr>
              <a:t>3 tingkat protokol wabah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Jumlah dari modul · keseragaman dari parameter · keamanan dari inspeksi manusia dan protokol.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24 / 66 · ASLI 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Kemanisan dibangun per fase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Kepekatan larutan dan kelembapan diatur dari fase vegetatif hingga pematangan.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2686788" cy="3139194"/>
          </a:xfrm>
          <a:prstGeom prst="rect">
            <a:avLst/>
          </a:prstGeom>
          <a:solidFill>
            <a:srgbClr val="E9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85195" y="1944593"/>
            <a:ext cx="2686789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494" y="2122505"/>
            <a:ext cx="242619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01 / DAUN &amp; AKAR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494" y="3859172"/>
            <a:ext cx="2426194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900–1.100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494" y="4217507"/>
            <a:ext cx="242619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494" y="4461152"/>
            <a:ext cx="2394191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494" y="4529395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60–70%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2650" y="4595128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494" y="4818003"/>
            <a:ext cx="242619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Batang kuat, daun cukup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3392" y="1944593"/>
            <a:ext cx="2686902" cy="3139194"/>
          </a:xfrm>
          <a:prstGeom prst="rect">
            <a:avLst/>
          </a:prstGeom>
          <a:solidFill>
            <a:srgbClr val="DC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363392" y="1944593"/>
            <a:ext cx="2686903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09691" y="2122505"/>
            <a:ext cx="242630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02 / BUNGA &amp; PENTIL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9691" y="3859172"/>
            <a:ext cx="242630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1.100–1.300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9691" y="4217507"/>
            <a:ext cx="242630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509691" y="4461152"/>
            <a:ext cx="2394305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509691" y="4529395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60–70%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847" y="4595128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1" y="4818003"/>
            <a:ext cx="242630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Serbuki; pilih satu buah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1704" y="1944593"/>
            <a:ext cx="2686788" cy="3139194"/>
          </a:xfrm>
          <a:prstGeom prst="rect">
            <a:avLst/>
          </a:prstGeom>
          <a:solidFill>
            <a:srgbClr val="CCE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141704" y="1944593"/>
            <a:ext cx="2686788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88002" y="2122505"/>
            <a:ext cx="242619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03 / BUAH MEMBESAR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8002" y="3859172"/>
            <a:ext cx="2426194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1.300–1.500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8002" y="4217507"/>
            <a:ext cx="242619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288002" y="4461152"/>
            <a:ext cx="2394191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88002" y="4529395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50–60%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9158" y="4595128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88002" y="4818003"/>
            <a:ext cx="242619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Bobot menuju 1,8 kg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19901" y="1944593"/>
            <a:ext cx="2686902" cy="3139194"/>
          </a:xfrm>
          <a:prstGeom prst="rect">
            <a:avLst/>
          </a:prstGeom>
          <a:solidFill>
            <a:srgbClr val="B6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919901" y="1944593"/>
            <a:ext cx="2686902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066199" y="2122505"/>
            <a:ext cx="242630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04 / PEMATANGAN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66199" y="3859172"/>
            <a:ext cx="242630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1.500–1.750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66199" y="4217507"/>
            <a:ext cx="242630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066199" y="4461152"/>
            <a:ext cx="2394305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066199" y="4529395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50–60%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7355" y="4595128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66199" y="4818003"/>
            <a:ext cx="242630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Gula naik 10–14 hari akhir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5195" y="5181244"/>
            <a:ext cx="11021607" cy="926534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9284" y="5454560"/>
            <a:ext cx="2935388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F5FAEB"/>
                </a:solidFill>
                <a:latin typeface="Arial"/>
              </a:rPr>
              <a:t>&gt;15° BRIX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9284" y="5724795"/>
            <a:ext cx="29353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CAE5C0"/>
                </a:solidFill>
                <a:latin typeface="Arial"/>
              </a:rPr>
              <a:t>target mutu pada model sumber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44546" y="5577581"/>
            <a:ext cx="776017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F5FAEB"/>
                </a:solidFill>
                <a:latin typeface="Arial"/>
              </a:rPr>
              <a:t>DFT menjaga akar terendam. Pematangan mengatur konsentrasi nutrisi bertahap; klaim kemanisan perlu divalidasi dengan uji Brix per batch.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Target parameter sama untuk setiap lokasi; sasaran beda hasil antarlokasi di bawah 10%.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25 / 66 · ASLI 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Kapan petani bertindak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Pemeriksaan harian, perangkap kuning, dan protokol wabah melengkapi sensor.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585195" y="2183330"/>
            <a:ext cx="54498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85195" y="2005532"/>
            <a:ext cx="548181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57A58"/>
                </a:solidFill>
                <a:latin typeface="Arial"/>
              </a:rPr>
              <a:t>THRIPS / PER PERANGKAP / MINGGU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195" y="2256481"/>
            <a:ext cx="5449808" cy="1185927"/>
          </a:xfrm>
          <a:prstGeom prst="rect">
            <a:avLst/>
          </a:prstGeom>
          <a:solidFill>
            <a:srgbClr val="D9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585195" y="2256481"/>
            <a:ext cx="0" cy="1185928"/>
          </a:xfrm>
          <a:prstGeom prst="line">
            <a:avLst/>
          </a:prstGeom>
          <a:ln w="43821">
            <a:solidFill>
              <a:srgbClr val="65A6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6473" y="2685113"/>
            <a:ext cx="1022089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&lt;5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7498" y="2776408"/>
            <a:ext cx="1282620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PANTAU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9053" y="2790901"/>
            <a:ext cx="28804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catat jumlah per perangkap per minggu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195" y="3497186"/>
            <a:ext cx="5449808" cy="1185927"/>
          </a:xfrm>
          <a:prstGeom prst="rect">
            <a:avLst/>
          </a:prstGeom>
          <a:solidFill>
            <a:srgbClr val="F3E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585195" y="3497186"/>
            <a:ext cx="0" cy="1185928"/>
          </a:xfrm>
          <a:prstGeom prst="line">
            <a:avLst/>
          </a:prstGeom>
          <a:ln w="43821">
            <a:solidFill>
              <a:srgbClr val="C99F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26473" y="3925818"/>
            <a:ext cx="1022089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5–15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7498" y="4017113"/>
            <a:ext cx="1282620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WASPADA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9053" y="4031607"/>
            <a:ext cx="28804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agens hayati setelah inspeksi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195" y="4737891"/>
            <a:ext cx="5449808" cy="1185927"/>
          </a:xfrm>
          <a:prstGeom prst="rect">
            <a:avLst/>
          </a:prstGeom>
          <a:solidFill>
            <a:srgbClr val="EFD1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585195" y="4737891"/>
            <a:ext cx="0" cy="1185928"/>
          </a:xfrm>
          <a:prstGeom prst="line">
            <a:avLst/>
          </a:prstGeom>
          <a:ln w="43821">
            <a:solidFill>
              <a:srgbClr val="BD76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6473" y="5166523"/>
            <a:ext cx="1022089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&gt;15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7498" y="5257819"/>
            <a:ext cx="1282620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TINDAK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89053" y="5272312"/>
            <a:ext cx="28804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tindakan berizin sesuai protokol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195" y="5990921"/>
            <a:ext cx="54818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Inspeksi 10 titik acak dan 2 perangkap per unit, setiap hari.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156881" y="2183330"/>
            <a:ext cx="5449922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156881" y="2005532"/>
            <a:ext cx="548192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57A58"/>
                </a:solidFill>
                <a:latin typeface="Arial"/>
              </a:rPr>
              <a:t>JIKA WABAH MENYEBAR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56881" y="2256481"/>
            <a:ext cx="5449922" cy="1247209"/>
          </a:xfrm>
          <a:prstGeom prst="rect">
            <a:avLst/>
          </a:prstGeom>
          <a:solidFill>
            <a:srgbClr val="E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156881" y="2256481"/>
            <a:ext cx="5449922" cy="0"/>
          </a:xfrm>
          <a:prstGeom prst="line">
            <a:avLst/>
          </a:prstGeom>
          <a:ln w="7303">
            <a:solidFill>
              <a:srgbClr val="A9C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42127" y="2817948"/>
            <a:ext cx="135177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D30"/>
                </a:solidFill>
                <a:latin typeface="Arial"/>
              </a:rPr>
              <a:t>1–3 tanaman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2838" y="2809389"/>
            <a:ext cx="166856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CABUT &amp; TANDAI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0340" y="2818632"/>
            <a:ext cx="223322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awasi radius 2 m selama seminggu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56881" y="3558468"/>
            <a:ext cx="5449922" cy="1247209"/>
          </a:xfrm>
          <a:prstGeom prst="rect">
            <a:avLst/>
          </a:prstGeom>
          <a:solidFill>
            <a:srgbClr val="E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156881" y="3558468"/>
            <a:ext cx="5449922" cy="0"/>
          </a:xfrm>
          <a:prstGeom prst="line">
            <a:avLst/>
          </a:prstGeom>
          <a:ln w="7303">
            <a:solidFill>
              <a:srgbClr val="A9C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242127" y="4119935"/>
            <a:ext cx="135177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D30"/>
                </a:solidFill>
                <a:latin typeface="Arial"/>
              </a:rPr>
              <a:t>4–15 tanaman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2838" y="4111376"/>
            <a:ext cx="166856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HENTIKAN JALUR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0340" y="4120620"/>
            <a:ext cx="223322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uji akar/larutan; tunda panen unit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6881" y="4860455"/>
            <a:ext cx="5449922" cy="1247209"/>
          </a:xfrm>
          <a:prstGeom prst="rect">
            <a:avLst/>
          </a:prstGeom>
          <a:solidFill>
            <a:srgbClr val="E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6156881" y="4860455"/>
            <a:ext cx="5449922" cy="0"/>
          </a:xfrm>
          <a:prstGeom prst="line">
            <a:avLst/>
          </a:prstGeom>
          <a:ln w="7303">
            <a:solidFill>
              <a:srgbClr val="A9C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242127" y="5421922"/>
            <a:ext cx="135177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D30"/>
                </a:solidFill>
                <a:latin typeface="Arial"/>
              </a:rPr>
              <a:t>&gt;15 / 2 unit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2838" y="5413363"/>
            <a:ext cx="166856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KARANTINA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0340" y="5422607"/>
            <a:ext cx="223322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lokasi ≤2 jam; survei ≤24 jam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Skenario sumber: satu lokasi 17 unit × satu siklus ≈12,2 ton atau sekitar Rp0,9 miliar hasil yang terpapar.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26 / 66 · ASLI 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Nursery berjalan paralel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Bibit 18 hari dipelihara terpisah dari rumah kaca produksi 66 hari karena kebutuhan lingkungan berbeda.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3857522" cy="2038969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cture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44593"/>
            <a:ext cx="3857522" cy="203896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45" y="3774610"/>
            <a:ext cx="3711223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45" y="3797776"/>
            <a:ext cx="374322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0441" y="2029840"/>
            <a:ext cx="740167" cy="241019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441" y="2084617"/>
            <a:ext cx="77217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FFFFF"/>
                </a:solidFill>
                <a:latin typeface="Arial"/>
              </a:rPr>
              <a:t>NURSERY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195" y="4068809"/>
            <a:ext cx="3857522" cy="2038969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icture-0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95" y="4068809"/>
            <a:ext cx="3857522" cy="203896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58345" y="5898827"/>
            <a:ext cx="3711223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45" y="5921993"/>
            <a:ext cx="374322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0441" y="4154057"/>
            <a:ext cx="1006176" cy="241019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441" y="4208834"/>
            <a:ext cx="103818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FFFFF"/>
                </a:solidFill>
                <a:latin typeface="Arial"/>
              </a:rPr>
              <a:t>GROW HOUSE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64596" y="1944593"/>
            <a:ext cx="7042207" cy="233716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2053" y="1999370"/>
            <a:ext cx="208612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FFFFFF"/>
                </a:solidFill>
                <a:latin typeface="Arial"/>
              </a:rP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6172" y="1999370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FFFFFF"/>
                </a:solidFill>
                <a:latin typeface="Arial"/>
              </a:rPr>
              <a:t>BIBIT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5704" y="1999370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FFFFFF"/>
                </a:solidFill>
                <a:latin typeface="Arial"/>
              </a:rPr>
              <a:t>TANAMAN PRODUKSI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64596" y="2178309"/>
            <a:ext cx="7042207" cy="654816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H="1">
            <a:off x="4564596" y="2833126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662053" y="2436333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Waktu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6172" y="2439984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18 hari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5704" y="2439984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66 hari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64596" y="2833126"/>
            <a:ext cx="7042207" cy="654930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4564596" y="3488056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662053" y="3091149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16172" y="3094801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70–90%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5704" y="3094801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70% → 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64596" y="3488056"/>
            <a:ext cx="7042207" cy="654930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H="1">
            <a:off x="4564596" y="4142987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662053" y="3746080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Suhu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16172" y="3749732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25–28°C stabil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5704" y="3749732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beda siang/malam ≥7°C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4596" y="4142987"/>
            <a:ext cx="7042207" cy="654930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H="1">
            <a:off x="4564596" y="4797918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662053" y="4401011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Cahaya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16172" y="4404663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naungan 30–50%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5704" y="4404663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penuh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64596" y="4797918"/>
            <a:ext cx="7042207" cy="654930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4564596" y="5452848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662053" y="5055941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Nutrisi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16172" y="5059593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400–800 ppm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75704" y="5059593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900–1.750 ppm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64596" y="5452848"/>
            <a:ext cx="7042207" cy="654930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>
            <a:off x="4564596" y="6107779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662053" y="5710872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Saringan mutu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16172" y="5714524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buang 5–10% bibit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75704" y="5714524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satu buah per tanaman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Nursery 25–30 m² per lokasi melayani unit bergilir; pemisahan 18 hari inilah yang membuka slot greenhouse 73 hari.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27 / 66 · ASLI 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Delapan tahap kerja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Rangkaian semai, pindah tanam, perawatan, penyerbukan, pematangan, hingga panen dan sortir.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2691467" cy="1830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85195" y="1944593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121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01 / 18 hari · nursery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121" y="3283669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SEMAI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121" y="3546942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bibit lemah disaring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61909" y="1944593"/>
            <a:ext cx="2691467" cy="1830701"/>
          </a:xfrm>
          <a:prstGeom prst="rect">
            <a:avLst/>
          </a:prstGeom>
          <a:solidFill>
            <a:srgbClr val="D3E5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3361909" y="1944593"/>
            <a:ext cx="2691467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489835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02 / hari 1 · 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9835" y="3283669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PINDAH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9835" y="3546942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tanam DFT + penyangga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8622" y="1944593"/>
            <a:ext cx="2691467" cy="1830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138622" y="1944593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66548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03 / 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6548" y="3283669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VEGETATIF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6548" y="3546942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ikat sulur, pangkas tunas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336" y="1944593"/>
            <a:ext cx="2691467" cy="1830701"/>
          </a:xfrm>
          <a:prstGeom prst="rect">
            <a:avLst/>
          </a:prstGeom>
          <a:solidFill>
            <a:srgbClr val="D3E5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8915336" y="1944593"/>
            <a:ext cx="2691467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043262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04 / GH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43262" y="3283669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BUNGA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43262" y="3546942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serbuki; sisakan 1 buah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195" y="3860542"/>
            <a:ext cx="2691467" cy="1830816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85195" y="3860542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13121" y="400672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05 / GH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121" y="5199732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BUAH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121" y="5463005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gantung, bungkus, pangkas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61909" y="3860542"/>
            <a:ext cx="2691467" cy="1830816"/>
          </a:xfrm>
          <a:prstGeom prst="rect">
            <a:avLst/>
          </a:prstGeom>
          <a:solidFill>
            <a:srgbClr val="D3E5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3361909" y="3860542"/>
            <a:ext cx="2691467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489835" y="400672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06 / 10–14 hari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9835" y="5199732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MATANG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9835" y="5463005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naikkan nutrisi; cek Brix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38622" y="3860542"/>
            <a:ext cx="2691467" cy="1830816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6138622" y="3860542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266548" y="400672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07 / &lt;12 jam kirim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6548" y="5199732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PANEN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6548" y="5463005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sortir, grading, kemas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15336" y="3860542"/>
            <a:ext cx="2691467" cy="1830816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915336" y="3860542"/>
            <a:ext cx="2691467" cy="0"/>
          </a:xfrm>
          <a:prstGeom prst="line">
            <a:avLst/>
          </a:prstGeom>
          <a:ln w="36517">
            <a:solidFill>
              <a:srgbClr val="C5E6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043262" y="400672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6E899"/>
                </a:solidFill>
                <a:latin typeface="Arial"/>
              </a:rPr>
              <a:t>08 / 7 hari · GH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3262" y="5199732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FFFFFF"/>
                </a:solidFill>
                <a:latin typeface="Arial"/>
              </a:rPr>
              <a:t>SANITASI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43262" y="5463005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FFFFFF"/>
                </a:solidFill>
                <a:latin typeface="Arial"/>
              </a:rPr>
              <a:t>cuci jalur; ganti larutan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5195" y="5776605"/>
            <a:ext cx="11021607" cy="331174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652" y="5883763"/>
            <a:ext cx="92771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F5FAEE"/>
                </a:solidFill>
                <a:latin typeface="Arial"/>
              </a:rPr>
              <a:t>NURSERY 18 HARI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64779" y="5843593"/>
            <a:ext cx="86894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BDE297"/>
                </a:solidFill>
                <a:latin typeface="Arial"/>
              </a:rPr>
              <a:t>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6201" y="5883763"/>
            <a:ext cx="13125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F5FAEE"/>
                </a:solidFill>
                <a:latin typeface="Arial"/>
              </a:rPr>
              <a:t>GH PRODUKSI 63–66 HARI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73133" y="5843593"/>
            <a:ext cx="127178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BDE297"/>
                </a:solidFill>
                <a:latin typeface="Arial"/>
              </a:rPr>
              <a:t>+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54838" y="5883763"/>
            <a:ext cx="8387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F5FAEE"/>
                </a:solidFill>
                <a:latin typeface="Arial"/>
              </a:rPr>
              <a:t>SANITASI 7 HARI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47953" y="5883763"/>
            <a:ext cx="7933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CDEBA6"/>
                </a:solidFill>
                <a:latin typeface="Arial"/>
              </a:rPr>
              <a:t>= SLOT 73 HARI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Periode semai berjalan paralel; 90% Grade A dan SLA kirim &lt;12 jam adalah target pada sumber.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34098" y="328891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28 / 66 · ASLI 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Apakah tenaga kerja cukup?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Waktu kerja per tanaman dibandingkan dengan kapasitas kerja setelah jalan kaki, sanitasi, dan pencatatan.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814" y="1950184"/>
            <a:ext cx="5834384" cy="4151432"/>
          </a:xfrm>
          <a:prstGeom prst="rect">
            <a:avLst/>
          </a:prstGeom>
          <a:solidFill>
            <a:srgbClr val="EF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113" y="2072064"/>
            <a:ext cx="5573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5A805A"/>
                </a:solidFill>
                <a:latin typeface="Arial"/>
              </a:rPr>
              <a:t>WAKTU SENTUH TANAMAN / SIKLUS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113" y="2451739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Pindah tanam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04867" y="2466346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04867" y="2466346"/>
            <a:ext cx="1640442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36667" y="2448087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8113" y="2944620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Ikat sulur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04867" y="2959113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4867" y="2959113"/>
            <a:ext cx="2460721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6667" y="2940968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113" y="3437387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Pangkas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04867" y="3451995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04867" y="3451995"/>
            <a:ext cx="2870860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36667" y="3433735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2,1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113" y="3930269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Serbuki &amp; pilih buah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04867" y="3944762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04867" y="3944762"/>
            <a:ext cx="2050582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36667" y="3926617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8113" y="4423150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Bungkus &amp; gantung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04867" y="4437643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04867" y="4437643"/>
            <a:ext cx="1230303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6667" y="4419498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0,9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113" y="4916031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Inspeksi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04867" y="4930524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904867" y="4930524"/>
            <a:ext cx="820164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36667" y="4912379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0,6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8113" y="5408912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Panen &amp; sortir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04867" y="5423406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904867" y="5423406"/>
            <a:ext cx="1640442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36667" y="5405261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1,2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38113" y="5735065"/>
            <a:ext cx="5541787" cy="0"/>
          </a:xfrm>
          <a:prstGeom prst="line">
            <a:avLst/>
          </a:prstGeom>
          <a:ln w="7303">
            <a:solidFill>
              <a:srgbClr val="ACC4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38113" y="5797146"/>
            <a:ext cx="5573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TOTAL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097" y="5797146"/>
            <a:ext cx="825807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143D30"/>
                </a:solidFill>
                <a:latin typeface="Arial"/>
              </a:rPr>
              <a:t>9,30 MENIT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8113" y="5797146"/>
            <a:ext cx="5573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/ TANAMAN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48077" y="1950184"/>
            <a:ext cx="5052107" cy="1782543"/>
          </a:xfrm>
          <a:prstGeom prst="rect">
            <a:avLst/>
          </a:prstGeom>
          <a:solidFill>
            <a:srgbClr val="D9E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9955" y="2539382"/>
            <a:ext cx="484035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57856"/>
                </a:solidFill>
                <a:latin typeface="Arial"/>
              </a:rPr>
              <a:t>SETELAH JALAN + SANITASI + CATATAN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955" y="2654985"/>
            <a:ext cx="484035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9,6–10,0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69955" y="3026672"/>
            <a:ext cx="484035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menit kebutuhan riil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48077" y="3811927"/>
            <a:ext cx="5052107" cy="1782543"/>
          </a:xfrm>
          <a:prstGeom prst="rect">
            <a:avLst/>
          </a:prstGeom>
          <a:solidFill>
            <a:srgbClr val="CCE3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9955" y="4401125"/>
            <a:ext cx="484035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57856"/>
                </a:solidFill>
                <a:latin typeface="Arial"/>
              </a:rPr>
              <a:t>KAPASITAS MODEL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955" y="4516728"/>
            <a:ext cx="484035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1 : 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69955" y="4888414"/>
            <a:ext cx="484035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petani : GH · 288 hari × 7 jam/tahun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48077" y="5673669"/>
            <a:ext cx="5052107" cy="427947"/>
          </a:xfrm>
          <a:prstGeom prst="rect">
            <a:avLst/>
          </a:prstGeom>
          <a:solidFill>
            <a:srgbClr val="F2E8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6548077" y="5673669"/>
            <a:ext cx="0" cy="427948"/>
          </a:xfrm>
          <a:prstGeom prst="line">
            <a:avLst/>
          </a:prstGeom>
          <a:ln w="36517">
            <a:solidFill>
              <a:srgbClr val="C49D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548077" y="5758916"/>
            <a:ext cx="5084111" cy="2848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Jika &gt;10 menit, turunkan ke 1:5 → tambahan biaya sekitar Rp4,7 miliar sepanjang 11 tahun (skenario sumber).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1814" y="6168605"/>
            <a:ext cx="11008370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91814" y="6230686"/>
            <a:ext cx="1104037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Kebutuhan aktual harus divalidasi dengan catatan waktu dua siklus; angka biaya stres bukan OPEX dasar.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82550" y="6537324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29 / 66 · ASLI 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Lima panen dari slot 73 hari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Penyemaian dipindah ke nursery; rumah kaca dipakai 66 hari dan disanitasi 7 hari.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5449808" cy="3078254"/>
          </a:xfrm>
          <a:prstGeom prst="rect">
            <a:avLst/>
          </a:prstGeom>
          <a:solidFill>
            <a:srgbClr val="E8E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5801" y="2078683"/>
            <a:ext cx="51405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D805B"/>
                </a:solidFill>
                <a:latin typeface="Arial"/>
              </a:rPr>
              <a:t>SEMAI DI DALAM 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801" y="3852896"/>
            <a:ext cx="5140599" cy="6747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23" b="1" i="0">
                <a:solidFill>
                  <a:srgbClr val="143D30"/>
                </a:solidFill>
                <a:latin typeface="Arial"/>
              </a:rPr>
              <a:t>88–91 hari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5801" y="4484318"/>
            <a:ext cx="514059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143D30"/>
                </a:solidFill>
                <a:latin typeface="Arial"/>
              </a:rPr>
              <a:t>≈4 panen/tahun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5801" y="4766877"/>
            <a:ext cx="512320" cy="121879"/>
          </a:xfrm>
          <a:prstGeom prst="rect">
            <a:avLst/>
          </a:prstGeom>
          <a:solidFill>
            <a:srgbClr val="73A468">
              <a:alpha val="956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66661" y="4766877"/>
            <a:ext cx="512320" cy="121879"/>
          </a:xfrm>
          <a:prstGeom prst="rect">
            <a:avLst/>
          </a:prstGeom>
          <a:solidFill>
            <a:srgbClr val="6F9F65">
              <a:alpha val="86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77521" y="4766877"/>
            <a:ext cx="512320" cy="121879"/>
          </a:xfrm>
          <a:prstGeom prst="rect">
            <a:avLst/>
          </a:prstGeom>
          <a:solidFill>
            <a:srgbClr val="6C9A62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8380" y="4766877"/>
            <a:ext cx="512320" cy="121879"/>
          </a:xfrm>
          <a:prstGeom prst="rect">
            <a:avLst/>
          </a:prstGeom>
          <a:solidFill>
            <a:srgbClr val="68965E">
              <a:alpha val="692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9240" y="4766877"/>
            <a:ext cx="512320" cy="121879"/>
          </a:xfrm>
          <a:prstGeom prst="rect">
            <a:avLst/>
          </a:prstGeom>
          <a:solidFill>
            <a:srgbClr val="64915B">
              <a:alpha val="604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0099" y="4766877"/>
            <a:ext cx="512320" cy="121879"/>
          </a:xfrm>
          <a:prstGeom prst="rect">
            <a:avLst/>
          </a:prstGeom>
          <a:solidFill>
            <a:srgbClr val="618D57">
              <a:alpha val="516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20959" y="4766877"/>
            <a:ext cx="512320" cy="121879"/>
          </a:xfrm>
          <a:prstGeom prst="rect">
            <a:avLst/>
          </a:prstGeom>
          <a:solidFill>
            <a:srgbClr val="5D8854">
              <a:alpha val="42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1819" y="4766877"/>
            <a:ext cx="512320" cy="121879"/>
          </a:xfrm>
          <a:prstGeom prst="rect">
            <a:avLst/>
          </a:prstGeom>
          <a:solidFill>
            <a:srgbClr val="598450">
              <a:alpha val="3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2678" y="4766877"/>
            <a:ext cx="512320" cy="121879"/>
          </a:xfrm>
          <a:prstGeom prst="rect">
            <a:avLst/>
          </a:prstGeom>
          <a:solidFill>
            <a:srgbClr val="567F4D">
              <a:alpha val="252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53538" y="4766877"/>
            <a:ext cx="512320" cy="121879"/>
          </a:xfrm>
          <a:prstGeom prst="rect">
            <a:avLst/>
          </a:prstGeom>
          <a:solidFill>
            <a:srgbClr val="527A4A">
              <a:alpha val="164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6881" y="1944593"/>
            <a:ext cx="5449922" cy="3078254"/>
          </a:xfrm>
          <a:prstGeom prst="rect">
            <a:avLst/>
          </a:prstGeom>
          <a:solidFill>
            <a:srgbClr val="D1E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156881" y="1944593"/>
            <a:ext cx="5449922" cy="0"/>
          </a:xfrm>
          <a:prstGeom prst="line">
            <a:avLst/>
          </a:prstGeom>
          <a:ln w="43821">
            <a:solidFill>
              <a:srgbClr val="5B9B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27487" y="2122505"/>
            <a:ext cx="514071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D805B"/>
                </a:solidFill>
                <a:latin typeface="Arial"/>
              </a:rPr>
              <a:t>NURSERY BERJALAN PARALEL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487" y="3852896"/>
            <a:ext cx="5140714" cy="6747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23" b="1" i="0">
                <a:solidFill>
                  <a:srgbClr val="143D30"/>
                </a:solidFill>
                <a:latin typeface="Arial"/>
              </a:rPr>
              <a:t>73 hari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487" y="4484318"/>
            <a:ext cx="51407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143D30"/>
                </a:solidFill>
                <a:latin typeface="Arial"/>
              </a:rPr>
              <a:t>63–66 hari tumbuh + 7 hari sanitasi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27487" y="4766877"/>
            <a:ext cx="512331" cy="121879"/>
          </a:xfrm>
          <a:prstGeom prst="rect">
            <a:avLst/>
          </a:prstGeom>
          <a:solidFill>
            <a:srgbClr val="73A468">
              <a:alpha val="956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38358" y="4766877"/>
            <a:ext cx="512331" cy="121879"/>
          </a:xfrm>
          <a:prstGeom prst="rect">
            <a:avLst/>
          </a:prstGeom>
          <a:solidFill>
            <a:srgbClr val="6F9F65">
              <a:alpha val="86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9229" y="4766877"/>
            <a:ext cx="512331" cy="121879"/>
          </a:xfrm>
          <a:prstGeom prst="rect">
            <a:avLst/>
          </a:prstGeom>
          <a:solidFill>
            <a:srgbClr val="6C9A62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60100" y="4766877"/>
            <a:ext cx="512331" cy="121879"/>
          </a:xfrm>
          <a:prstGeom prst="rect">
            <a:avLst/>
          </a:prstGeom>
          <a:solidFill>
            <a:srgbClr val="68965E">
              <a:alpha val="692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70971" y="4766877"/>
            <a:ext cx="512331" cy="121879"/>
          </a:xfrm>
          <a:prstGeom prst="rect">
            <a:avLst/>
          </a:prstGeom>
          <a:solidFill>
            <a:srgbClr val="64915B">
              <a:alpha val="604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1842" y="4766877"/>
            <a:ext cx="512331" cy="121879"/>
          </a:xfrm>
          <a:prstGeom prst="rect">
            <a:avLst/>
          </a:prstGeom>
          <a:solidFill>
            <a:srgbClr val="618D57">
              <a:alpha val="516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92713" y="4766877"/>
            <a:ext cx="512331" cy="121879"/>
          </a:xfrm>
          <a:prstGeom prst="rect">
            <a:avLst/>
          </a:prstGeom>
          <a:solidFill>
            <a:srgbClr val="5D8854">
              <a:alpha val="428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903584" y="4766877"/>
            <a:ext cx="512331" cy="121879"/>
          </a:xfrm>
          <a:prstGeom prst="rect">
            <a:avLst/>
          </a:prstGeom>
          <a:solidFill>
            <a:srgbClr val="598450">
              <a:alpha val="3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414455" y="4766877"/>
            <a:ext cx="512331" cy="121879"/>
          </a:xfrm>
          <a:prstGeom prst="rect">
            <a:avLst/>
          </a:prstGeom>
          <a:solidFill>
            <a:srgbClr val="567F4D">
              <a:alpha val="252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25326" y="4766877"/>
            <a:ext cx="512331" cy="121879"/>
          </a:xfrm>
          <a:prstGeom prst="rect">
            <a:avLst/>
          </a:prstGeom>
          <a:solidFill>
            <a:srgbClr val="527A4A">
              <a:alpha val="164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85195" y="5120305"/>
            <a:ext cx="3056644" cy="987474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652" y="5432649"/>
            <a:ext cx="289373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C6E79F"/>
                </a:solidFill>
                <a:latin typeface="Arial"/>
              </a:rPr>
              <a:t>SLOT PER TAHUN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2652" y="5576326"/>
            <a:ext cx="2893735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2" b="1" i="0">
                <a:solidFill>
                  <a:srgbClr val="F4FAEB"/>
                </a:solidFill>
                <a:latin typeface="Arial"/>
              </a:rPr>
              <a:t>365 ÷ 73 = 5,0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27086" y="5120305"/>
            <a:ext cx="4126384" cy="987474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24542" y="5432649"/>
            <a:ext cx="396347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C6E79F"/>
                </a:solidFill>
                <a:latin typeface="Arial"/>
              </a:rPr>
              <a:t>HASIL PER SIKLUS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24542" y="5576326"/>
            <a:ext cx="3963475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2" b="1" i="0">
                <a:solidFill>
                  <a:srgbClr val="F4FAEB"/>
                </a:solidFill>
                <a:latin typeface="Arial"/>
              </a:rPr>
              <a:t>420 × 1,8 × 95% = 718,2 kg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38716" y="5120305"/>
            <a:ext cx="3668087" cy="987474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36173" y="5432649"/>
            <a:ext cx="350517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C6E79F"/>
                </a:solidFill>
                <a:latin typeface="Arial"/>
              </a:rPr>
              <a:t>HASIL TAHUNAN / GH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36173" y="5576326"/>
            <a:ext cx="3505178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2" b="1" i="0">
                <a:solidFill>
                  <a:srgbClr val="F4FAEB"/>
                </a:solidFill>
                <a:latin typeface="Arial"/>
              </a:rPr>
              <a:t>718,2 × 5 = 3.591 kg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Pada Y0 hanya 2 siklus trial, Y1 4 siklus, dan greenhouse baru dihitung 3 siklus di tahun pertamanya.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30 / 66 · ASLI 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Benih dapat ditiru. Sistem tidak.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Sumber deck menempatkan pengembangan benih sendiri sebagai perlindungan jangka panjang.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11021607" cy="367007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195" y="2042050"/>
            <a:ext cx="11053611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0" i="0">
                <a:solidFill>
                  <a:srgbClr val="F7F9F0"/>
                </a:solidFill>
                <a:latin typeface="Arial"/>
              </a:rPr>
              <a:t>Fujisawa RZ F1 bisa dibeli pesaing. Keunggulan jangka panjang harus tumbuh dari pasokan, proses, dan pengembangan varietas.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195" y="2409058"/>
            <a:ext cx="5462018" cy="3698720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85195" y="2409058"/>
            <a:ext cx="5462019" cy="0"/>
          </a:xfrm>
          <a:prstGeom prst="line">
            <a:avLst/>
          </a:prstGeom>
          <a:ln w="36517">
            <a:solidFill>
              <a:srgbClr val="76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3591" y="2579667"/>
            <a:ext cx="517723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28761"/>
                </a:solidFill>
                <a:latin typeface="Arial"/>
              </a:rPr>
              <a:t>JALUR 01 / SAAT 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3591" y="2811100"/>
            <a:ext cx="51772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D30"/>
                </a:solidFill>
                <a:latin typeface="Arial"/>
              </a:rPr>
              <a:t>Amankan pasokan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591" y="3171375"/>
            <a:ext cx="5177231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3B7750"/>
                </a:solidFill>
                <a:latin typeface="Arial"/>
              </a:rPr>
              <a:t>6–12 bulan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591" y="5522347"/>
            <a:ext cx="517723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Perjanjian dengan distributor PT Excelindo / Rijk Zwaan, volume tahunan dan alternatif benih.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3591" y="5795891"/>
            <a:ext cx="5145228" cy="0"/>
          </a:xfrm>
          <a:prstGeom prst="line">
            <a:avLst/>
          </a:prstGeom>
          <a:ln w="7303">
            <a:solidFill>
              <a:srgbClr val="A6BF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3591" y="5864134"/>
            <a:ext cx="517723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Genetik tetap bukan milik Melooloo.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671" y="2409058"/>
            <a:ext cx="5462132" cy="3698720"/>
          </a:xfrm>
          <a:prstGeom prst="rect">
            <a:avLst/>
          </a:prstGeom>
          <a:solidFill>
            <a:srgbClr val="CF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144671" y="2409058"/>
            <a:ext cx="5462132" cy="0"/>
          </a:xfrm>
          <a:prstGeom prst="line">
            <a:avLst/>
          </a:prstGeom>
          <a:ln w="36517">
            <a:solidFill>
              <a:srgbClr val="76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3066" y="2579667"/>
            <a:ext cx="51773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28761"/>
                </a:solidFill>
                <a:latin typeface="Arial"/>
              </a:rPr>
              <a:t>JALUR 02 / JANGKA PANJANG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3066" y="2811100"/>
            <a:ext cx="5177345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D30"/>
                </a:solidFill>
                <a:latin typeface="Arial"/>
              </a:rPr>
              <a:t>Kembangkan benih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3066" y="3171375"/>
            <a:ext cx="5177345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3B7750"/>
                </a:solidFill>
                <a:latin typeface="Arial"/>
              </a:rPr>
              <a:t>7–8 tahun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3066" y="5370683"/>
            <a:ext cx="5177345" cy="32243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Mitra pemuliaan yang diusulkan: UGM atau IPB. Koleksi 40–60 plasma nutfah, uji, lalu pendaftaran PVT.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03066" y="5795891"/>
            <a:ext cx="5145342" cy="0"/>
          </a:xfrm>
          <a:prstGeom prst="line">
            <a:avLst/>
          </a:prstGeom>
          <a:ln w="7303">
            <a:solidFill>
              <a:srgbClr val="A6BF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03066" y="5864134"/>
            <a:ext cx="51773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Target penggunaan benih sendiri: Tahun 7+.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Program pemuliaan masih rencana. Kemitraan, eksklusivitas, dan hak varietas belum dibuktikan sebagai perjanjian yang berlaku.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31 / 66 · ASLI 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Investasi benih bertahap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Empat fase dari koleksi plasma nutfah hingga produksi rutin; tiap fase punya keputusan lanjut atau berhenti.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11021607" cy="701377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7073" y="2251459"/>
            <a:ext cx="168431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9E99E"/>
                </a:solidFill>
                <a:latin typeface="Arial"/>
              </a:rPr>
              <a:t>PROGRAM PEMULIAAN · 10 TAHUN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7782" y="2017743"/>
            <a:ext cx="1347211" cy="4190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44" b="1" i="0">
                <a:solidFill>
                  <a:srgbClr val="F5FAED"/>
                </a:solidFill>
                <a:latin typeface="Arial"/>
              </a:rPr>
              <a:t>Rp4.250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41369" y="2214941"/>
            <a:ext cx="17362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5FAED"/>
                </a:solidFill>
                <a:latin typeface="Arial"/>
              </a:rPr>
              <a:t>juta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04867" y="2244156"/>
            <a:ext cx="1312062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5FAED"/>
                </a:solidFill>
                <a:latin typeface="Arial"/>
              </a:rPr>
              <a:t>Anggaran usulan, belum masuk proyeksi keuangan dasar.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195" y="2725169"/>
            <a:ext cx="2700482" cy="2328148"/>
          </a:xfrm>
          <a:prstGeom prst="rect">
            <a:avLst/>
          </a:prstGeom>
          <a:solidFill>
            <a:srgbClr val="D9E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585195" y="2725169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85678" y="2725169"/>
            <a:ext cx="0" cy="2328148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85195" y="5053317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85195" y="2725169"/>
            <a:ext cx="0" cy="2328148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4377" y="2829930"/>
            <a:ext cx="247412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1 · Y1–Y2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377" y="4487856"/>
            <a:ext cx="247412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Rp950 jt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377" y="4826333"/>
            <a:ext cx="247412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40–60 plasma nutfah &amp; silang awal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58828" y="2725169"/>
            <a:ext cx="2700596" cy="2328148"/>
          </a:xfrm>
          <a:prstGeom prst="rect">
            <a:avLst/>
          </a:prstGeom>
          <a:solidFill>
            <a:srgbClr val="D5E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358828" y="2725169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059425" y="2725169"/>
            <a:ext cx="0" cy="2328148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3358828" y="5053317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358828" y="2725169"/>
            <a:ext cx="0" cy="2328148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488009" y="2829930"/>
            <a:ext cx="247423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2 · Y3–Y4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88009" y="4487856"/>
            <a:ext cx="2474238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Rp1.050 jt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88009" y="4826333"/>
            <a:ext cx="24742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20–30 kandidat hibrida tersisa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32574" y="2725169"/>
            <a:ext cx="2700482" cy="2328148"/>
          </a:xfrm>
          <a:prstGeom prst="rect">
            <a:avLst/>
          </a:prstGeom>
          <a:solidFill>
            <a:srgbClr val="E5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132574" y="2725169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833057" y="2725169"/>
            <a:ext cx="0" cy="2328148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6132574" y="5053317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6132574" y="2725169"/>
            <a:ext cx="0" cy="2328148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261755" y="2829930"/>
            <a:ext cx="247412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3 · Y5–Y6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1755" y="4487856"/>
            <a:ext cx="247412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Rp1.050 jt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1755" y="4826333"/>
            <a:ext cx="247412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uji di GH, BUSS, pendaftaran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06206" y="2725169"/>
            <a:ext cx="2700596" cy="2328148"/>
          </a:xfrm>
          <a:prstGeom prst="rect">
            <a:avLst/>
          </a:prstGeom>
          <a:solidFill>
            <a:srgbClr val="D5E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8906206" y="2725169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606803" y="2725169"/>
            <a:ext cx="0" cy="2328148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8906206" y="5053317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906206" y="2725169"/>
            <a:ext cx="0" cy="2328148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035388" y="2829930"/>
            <a:ext cx="247423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4 · Y7–Y10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5388" y="4487856"/>
            <a:ext cx="2474238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Rp1.200 jt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35388" y="4826333"/>
            <a:ext cx="24742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galur tetua &amp; produksi rutin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5195" y="5132516"/>
            <a:ext cx="2645135" cy="975263"/>
          </a:xfrm>
          <a:prstGeom prst="rect">
            <a:avLst/>
          </a:prstGeom>
          <a:solidFill>
            <a:srgbClr val="F1E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2652" y="5205666"/>
            <a:ext cx="2482226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143D30"/>
                </a:solidFill>
                <a:latin typeface="Arial"/>
              </a:rPr>
              <a:t>GERBANG BERHENTI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2652" y="5808672"/>
            <a:ext cx="2482226" cy="2508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Jika bukti tidak cukup di akhir fase, hentikan sebelum dana berikutnya.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7318" y="5132516"/>
            <a:ext cx="2424660" cy="975263"/>
          </a:xfrm>
          <a:prstGeom prst="rect">
            <a:avLst/>
          </a:prstGeom>
          <a:solidFill>
            <a:srgbClr val="E2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94775" y="5205666"/>
            <a:ext cx="2261751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143D30"/>
                </a:solidFill>
                <a:latin typeface="Arial"/>
              </a:rPr>
              <a:t>Rp2,0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94775" y="5808672"/>
            <a:ext cx="2261751" cy="2508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paparan maksimum jika dihentikan pada gerbang akhir Y4, menurut sumber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88965" y="5132516"/>
            <a:ext cx="5817837" cy="975263"/>
          </a:xfrm>
          <a:prstGeom prst="rect">
            <a:avLst/>
          </a:prstGeom>
          <a:solidFill>
            <a:srgbClr val="12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98633" y="5217763"/>
            <a:ext cx="563050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7E99B"/>
                </a:solidFill>
                <a:latin typeface="Arial"/>
              </a:rPr>
              <a:t>01 / 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8633" y="5334621"/>
            <a:ext cx="5630507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F5FAED"/>
                </a:solidFill>
                <a:latin typeface="Arial"/>
              </a:rPr>
              <a:t>Fase 1 · kumpulkan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98633" y="5545627"/>
            <a:ext cx="563050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5FAED"/>
                </a:solidFill>
                <a:latin typeface="Arial"/>
              </a:rPr>
              <a:t>Rp950 juta untuk plasma nutfah dan persilangan awal.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98633" y="5934888"/>
            <a:ext cx="563050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6" b="1" i="0">
                <a:solidFill>
                  <a:srgbClr val="C7E99B"/>
                </a:solidFill>
                <a:latin typeface="Arial"/>
              </a:rPr>
              <a:t>KLIK TAHAP ATAU TEKAN →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Rp4.250 juta tidak termasuk model Bab VIII / PowerPoint Mery; hasil NPV dasar tidak boleh diklaim sudah membiayainya.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36902" y="6544057"/>
            <a:ext cx="202632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ASLI + CATATAN · HALAMAN 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32 / 66 · ASLI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Apa yang sukar disalin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Nursery paralel, empat parameter mutu, kapasitas tenaga, dan kepadatan unit membentuk keunggulan operasi.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3616962" cy="1848961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85195" y="1944593"/>
            <a:ext cx="3616963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121" y="2078569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01 / KAPABILITAS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121" y="3160762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73 hari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121" y="3567369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Nursery paralel membuka 5 siklus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7404" y="1944593"/>
            <a:ext cx="3617076" cy="1848961"/>
          </a:xfrm>
          <a:prstGeom prst="rect">
            <a:avLst/>
          </a:prstGeom>
          <a:solidFill>
            <a:srgbClr val="D1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287404" y="1944593"/>
            <a:ext cx="3617077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15330" y="2078569"/>
            <a:ext cx="339322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02 / KAPABILITAS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5330" y="3160762"/>
            <a:ext cx="3393228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5330" y="3567369"/>
            <a:ext cx="33932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Resep iklim &amp; nutrisi lintas lokasi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89727" y="1944593"/>
            <a:ext cx="3616962" cy="1848961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89727" y="1944593"/>
            <a:ext cx="3616962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117653" y="2078569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03 / KAPABILITAS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7653" y="3160762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1 : 5,1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7653" y="3567369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Kapasitas kerja efektif dalam asumsi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195" y="3878801"/>
            <a:ext cx="3616962" cy="1849075"/>
          </a:xfrm>
          <a:prstGeom prst="rect">
            <a:avLst/>
          </a:prstGeom>
          <a:solidFill>
            <a:srgbClr val="D1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85195" y="3878801"/>
            <a:ext cx="3616963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13121" y="4012777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04 / KAPABILITAS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121" y="5095084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17–18 unit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121" y="5501691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Kepadatan lokasi atap Jakarta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87404" y="3878801"/>
            <a:ext cx="3617076" cy="1849075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4287404" y="3878801"/>
            <a:ext cx="3617077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415330" y="4012777"/>
            <a:ext cx="339322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05 / KAPABILITAS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5330" y="5095084"/>
            <a:ext cx="3393228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&lt;12 jam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5330" y="5501691"/>
            <a:ext cx="33932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Kedekatan kebun ke pelanggan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89727" y="3878801"/>
            <a:ext cx="3616962" cy="1849075"/>
          </a:xfrm>
          <a:prstGeom prst="rect">
            <a:avLst/>
          </a:prstGeom>
          <a:solidFill>
            <a:srgbClr val="D1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989727" y="3878801"/>
            <a:ext cx="3616962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117653" y="4012777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06 / KAPABILITAS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7653" y="5095084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Y7+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7653" y="5501691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Target varietas sendiri &amp; PVT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5195" y="5813123"/>
            <a:ext cx="11021607" cy="294656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5195" y="5898370"/>
            <a:ext cx="110536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4FAED"/>
                </a:solidFill>
                <a:latin typeface="Arial"/>
              </a:rPr>
              <a:t>KEUNGGULAN DATANG DARI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71171" y="5898370"/>
            <a:ext cx="24636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CFEBA7"/>
                </a:solidFill>
                <a:latin typeface="Arial"/>
              </a:rPr>
              <a:t>ENAM SISTEM YANG SALING MENGUATKAN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5195" y="5898370"/>
            <a:ext cx="110536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4FAED"/>
                </a:solidFill>
                <a:latin typeface="Arial"/>
              </a:rPr>
              <a:t>, BUKAN SATU ALAT.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Semua keunggulan di atas adalah rancangan/target pada materi sumber dan perlu pembuktian operasional.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44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33 / 66 · ASLI 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Dasar angka kapasitas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Asumsi, margin untuk yield, dan ukuran kapasitas dijabarkan sebagai cadangan pembahasan.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2367715" cy="2822170"/>
          </a:xfrm>
          <a:prstGeom prst="rect">
            <a:avLst/>
          </a:prstGeom>
          <a:solidFill>
            <a:srgbClr val="E4E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7073" y="3070380"/>
            <a:ext cx="2155963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79" b="1" i="0">
                <a:solidFill>
                  <a:srgbClr val="143D30"/>
                </a:solidFill>
                <a:latin typeface="Arial"/>
              </a:rPr>
              <a:t>420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073" y="3472650"/>
            <a:ext cx="215596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tanaman / 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5477" y="3205953"/>
            <a:ext cx="251338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6F9D61"/>
                </a:solidFill>
                <a:latin typeface="Arial"/>
              </a:rPr>
              <a:t>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57377" y="1944593"/>
            <a:ext cx="2367829" cy="2822170"/>
          </a:xfrm>
          <a:prstGeom prst="rect">
            <a:avLst/>
          </a:prstGeom>
          <a:solidFill>
            <a:srgbClr val="E4E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9255" y="3070380"/>
            <a:ext cx="2156077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79" b="1" i="0">
                <a:solidFill>
                  <a:srgbClr val="143D30"/>
                </a:solidFill>
                <a:latin typeface="Arial"/>
              </a:rPr>
              <a:t>1,8 kg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9255" y="3472650"/>
            <a:ext cx="215607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bobot buah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7772" y="3205953"/>
            <a:ext cx="251338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6F9D61"/>
                </a:solidFill>
                <a:latin typeface="Arial"/>
              </a:rPr>
              <a:t>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29673" y="1944593"/>
            <a:ext cx="2367715" cy="2822170"/>
          </a:xfrm>
          <a:prstGeom prst="rect">
            <a:avLst/>
          </a:prstGeom>
          <a:solidFill>
            <a:srgbClr val="E4E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1550" y="3070380"/>
            <a:ext cx="2155963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79" b="1" i="0">
                <a:solidFill>
                  <a:srgbClr val="143D30"/>
                </a:solidFill>
                <a:latin typeface="Arial"/>
              </a:rPr>
              <a:t>95%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1550" y="3472650"/>
            <a:ext cx="215596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faktor yield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954" y="3205953"/>
            <a:ext cx="251338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6F9D61"/>
                </a:solidFill>
                <a:latin typeface="Arial"/>
              </a:rPr>
              <a:t>=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1854" y="1944593"/>
            <a:ext cx="3004948" cy="2822170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0933" y="3070836"/>
            <a:ext cx="1318681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76" b="1" i="0">
                <a:solidFill>
                  <a:srgbClr val="FFFFFF"/>
                </a:solidFill>
                <a:latin typeface="Arial"/>
              </a:rPr>
              <a:t>718,2 kg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48624" y="3523661"/>
            <a:ext cx="7434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FFFFFF"/>
                </a:solidFill>
                <a:latin typeface="Arial"/>
              </a:rPr>
              <a:t>per siklus / GH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195" y="4888643"/>
            <a:ext cx="3616962" cy="1219136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85195" y="4888643"/>
            <a:ext cx="3616963" cy="0"/>
          </a:xfrm>
          <a:prstGeom prst="line">
            <a:avLst/>
          </a:prstGeom>
          <a:ln w="36517">
            <a:solidFill>
              <a:srgbClr val="74A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07073" y="5010408"/>
            <a:ext cx="340521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648467"/>
                </a:solidFill>
                <a:latin typeface="Arial"/>
              </a:rPr>
              <a:t>Y0 · TRIAL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073" y="5568451"/>
            <a:ext cx="3405211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43D30"/>
                </a:solidFill>
                <a:latin typeface="Arial"/>
              </a:rPr>
              <a:t>2 siklus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073" y="5898370"/>
            <a:ext cx="34052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35 GH → 50,3 ton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87404" y="4888643"/>
            <a:ext cx="3617076" cy="1219136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4287404" y="4888643"/>
            <a:ext cx="3617077" cy="0"/>
          </a:xfrm>
          <a:prstGeom prst="line">
            <a:avLst/>
          </a:prstGeom>
          <a:ln w="36517">
            <a:solidFill>
              <a:srgbClr val="74A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409282" y="5010408"/>
            <a:ext cx="340532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648467"/>
                </a:solidFill>
                <a:latin typeface="Arial"/>
              </a:rPr>
              <a:t>GH BARU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9282" y="5568451"/>
            <a:ext cx="3405325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43D30"/>
                </a:solidFill>
                <a:latin typeface="Arial"/>
              </a:rPr>
              <a:t>3 siklus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9282" y="5898370"/>
            <a:ext cx="34053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pada tahun dibangun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89727" y="4888643"/>
            <a:ext cx="3616962" cy="1219136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989727" y="4888643"/>
            <a:ext cx="3616962" cy="0"/>
          </a:xfrm>
          <a:prstGeom prst="line">
            <a:avLst/>
          </a:prstGeom>
          <a:ln w="36517">
            <a:solidFill>
              <a:srgbClr val="74A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111604" y="5010408"/>
            <a:ext cx="340521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648467"/>
                </a:solidFill>
                <a:latin typeface="Arial"/>
              </a:rPr>
              <a:t>Y10 · SEBARAN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1604" y="5568451"/>
            <a:ext cx="3405211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43D30"/>
                </a:solidFill>
                <a:latin typeface="Arial"/>
              </a:rPr>
              <a:t>103 / 69 / 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1604" y="5898370"/>
            <a:ext cx="34052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GH Jakarta / Surabaya / Bali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Faktor 95% sudah tertanam di setiap angka produksi; jangan menguranginya dua kali.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PRESENTASI 34 / 66 · ASLI 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Jika asumsi meleset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Deck memasangkan sinyal penyimpangan dengan respons dan biayanya sebelum dampak membesar.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44593"/>
            <a:ext cx="11021607" cy="241248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9890" y="2017743"/>
            <a:ext cx="268683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F8FAEE"/>
                </a:solidFill>
                <a:latin typeface="Arial"/>
              </a:rPr>
              <a:t>SINYAL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4726" y="2017743"/>
            <a:ext cx="21558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F8FAEE"/>
                </a:solidFill>
                <a:latin typeface="Arial"/>
              </a:rPr>
              <a:t>DIDETEKSI DARI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8571" y="2017743"/>
            <a:ext cx="3005342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F8FAEE"/>
                </a:solidFill>
                <a:latin typeface="Arial"/>
              </a:rPr>
              <a:t>RESPONS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910" y="2017743"/>
            <a:ext cx="289944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F8FAEE"/>
                </a:solidFill>
                <a:latin typeface="Arial"/>
              </a:rPr>
              <a:t>DAMPAK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195" y="2185841"/>
            <a:ext cx="11021607" cy="784342"/>
          </a:xfrm>
          <a:prstGeom prst="rect">
            <a:avLst/>
          </a:prstGeom>
          <a:solidFill>
            <a:srgbClr val="F7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585195" y="2970183"/>
            <a:ext cx="11021608" cy="0"/>
          </a:xfrm>
          <a:prstGeom prst="line">
            <a:avLst/>
          </a:prstGeom>
          <a:ln w="7303">
            <a:solidFill>
              <a:srgbClr val="B7CB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76604" y="2523177"/>
            <a:ext cx="22703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9778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4780" y="2497615"/>
            <a:ext cx="252490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Waktu kerja &gt;10 menit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0833" y="2514619"/>
            <a:ext cx="2091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Catatan 2 siklus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43351" y="2514619"/>
            <a:ext cx="29584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Turunkan rasio ke 1:5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2937" y="2512222"/>
            <a:ext cx="290446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8B654C"/>
                </a:solidFill>
                <a:latin typeface="Arial"/>
              </a:rPr>
              <a:t>+Rp4,7 M / 11 tahun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195" y="2970183"/>
            <a:ext cx="11021607" cy="784342"/>
          </a:xfrm>
          <a:prstGeom prst="rect">
            <a:avLst/>
          </a:prstGeom>
          <a:solidFill>
            <a:srgbClr val="E8EF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585195" y="3754525"/>
            <a:ext cx="11021608" cy="0"/>
          </a:xfrm>
          <a:prstGeom prst="line">
            <a:avLst/>
          </a:prstGeom>
          <a:ln w="7303">
            <a:solidFill>
              <a:srgbClr val="B7CB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6604" y="3307519"/>
            <a:ext cx="22703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9778"/>
                </a:solidFill>
                <a:latin typeface="Arial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780" y="3281957"/>
            <a:ext cx="252490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Siklus hanya 4,5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0833" y="3298961"/>
            <a:ext cx="2091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Kalender tanam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43351" y="3298961"/>
            <a:ext cx="29584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Revisi volume Y10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2937" y="3296564"/>
            <a:ext cx="290446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8B654C"/>
                </a:solidFill>
                <a:latin typeface="Arial"/>
              </a:rPr>
              <a:t>sekitar 735 ton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195" y="3754525"/>
            <a:ext cx="11021607" cy="784456"/>
          </a:xfrm>
          <a:prstGeom prst="rect">
            <a:avLst/>
          </a:prstGeom>
          <a:solidFill>
            <a:srgbClr val="F7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H="1">
            <a:off x="585195" y="4538981"/>
            <a:ext cx="11021608" cy="0"/>
          </a:xfrm>
          <a:prstGeom prst="line">
            <a:avLst/>
          </a:prstGeom>
          <a:ln w="7303">
            <a:solidFill>
              <a:srgbClr val="B7CB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04" y="4091976"/>
            <a:ext cx="22703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9778"/>
                </a:solidFill>
                <a:latin typeface="Arial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780" y="4066299"/>
            <a:ext cx="252490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Varietas baru gagal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10833" y="4083417"/>
            <a:ext cx="2091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Gerbang akhir Y4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43351" y="4083417"/>
            <a:ext cx="29584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Stop R&amp;D, pakai Fujisawa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2937" y="4081020"/>
            <a:ext cx="290446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8B654C"/>
                </a:solidFill>
                <a:latin typeface="Arial"/>
              </a:rPr>
              <a:t>batas rugi Rp2,0 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195" y="4538981"/>
            <a:ext cx="11021607" cy="784342"/>
          </a:xfrm>
          <a:prstGeom prst="rect">
            <a:avLst/>
          </a:prstGeom>
          <a:solidFill>
            <a:srgbClr val="E8EF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H="1">
            <a:off x="585195" y="5323323"/>
            <a:ext cx="11021608" cy="0"/>
          </a:xfrm>
          <a:prstGeom prst="line">
            <a:avLst/>
          </a:prstGeom>
          <a:ln w="7303">
            <a:solidFill>
              <a:srgbClr val="B7CB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76604" y="4876318"/>
            <a:ext cx="22703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9778"/>
                </a:solidFill>
                <a:latin typeface="Arial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780" y="4850755"/>
            <a:ext cx="252490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Wabah tingkat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10833" y="4867759"/>
            <a:ext cx="2091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Ronde harian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43351" y="4867759"/>
            <a:ext cx="29584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Karantina; alihkan pasokan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2937" y="4865362"/>
            <a:ext cx="290446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8B654C"/>
                </a:solidFill>
                <a:latin typeface="Arial"/>
              </a:rPr>
              <a:t>12,2 ton terpapar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195" y="5323323"/>
            <a:ext cx="11021607" cy="784342"/>
          </a:xfrm>
          <a:prstGeom prst="rect">
            <a:avLst/>
          </a:prstGeom>
          <a:solidFill>
            <a:srgbClr val="F7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H="1">
            <a:off x="585195" y="6107665"/>
            <a:ext cx="11021608" cy="0"/>
          </a:xfrm>
          <a:prstGeom prst="line">
            <a:avLst/>
          </a:prstGeom>
          <a:ln w="7303">
            <a:solidFill>
              <a:srgbClr val="B7CB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76604" y="5660660"/>
            <a:ext cx="22703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9778"/>
                </a:solidFill>
                <a:latin typeface="Arial"/>
              </a:rPr>
              <a:t>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4780" y="5635097"/>
            <a:ext cx="252490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Atap Jakarta kurang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10833" y="5652101"/>
            <a:ext cx="2091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Negosiasi sewa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3351" y="5652101"/>
            <a:ext cx="29584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Majukan ekspansi kota lain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42937" y="5649704"/>
            <a:ext cx="290446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8B654C"/>
                </a:solidFill>
                <a:latin typeface="Arial"/>
              </a:rPr>
              <a:t>sewa/logistik naik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5195" y="6174767"/>
            <a:ext cx="110216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85195" y="6236848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27764"/>
                </a:solidFill>
                <a:latin typeface="Arial"/>
              </a:rPr>
              <a:t>Dampak merupakan skenario uji sumber, bukan biaya atau volume yang sudah terjadi.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SUMBER: PDF SIDANG AKHIR · HALAMAN 46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PRESENTASI 35 / 66 · ASLI 47</a:t>
            </a:r>
          </a:p>
        </p:txBody>
      </p:sp>
      <p:pic>
        <p:nvPicPr>
          <p:cNvPr id="6" name="Picture 5" descr="picture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1220660" cy="6858000"/>
          </a:xfrm>
          <a:prstGeom prst="rect">
            <a:avLst/>
          </a:prstGeom>
          <a:solidFill>
            <a:srgbClr val="031A12">
              <a:alpha val="950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19199" y="0"/>
            <a:ext cx="1220660" cy="6858000"/>
          </a:xfrm>
          <a:prstGeom prst="rect">
            <a:avLst/>
          </a:prstGeom>
          <a:solidFill>
            <a:srgbClr val="031A12">
              <a:alpha val="931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8399" y="0"/>
            <a:ext cx="1220660" cy="6858000"/>
          </a:xfrm>
          <a:prstGeom prst="rect">
            <a:avLst/>
          </a:prstGeom>
          <a:solidFill>
            <a:srgbClr val="031A12">
              <a:alpha val="912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599" y="0"/>
            <a:ext cx="1220660" cy="6858000"/>
          </a:xfrm>
          <a:prstGeom prst="rect">
            <a:avLst/>
          </a:prstGeom>
          <a:solidFill>
            <a:srgbClr val="031A12">
              <a:alpha val="893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799" y="0"/>
            <a:ext cx="1220660" cy="6858000"/>
          </a:xfrm>
          <a:prstGeom prst="rect">
            <a:avLst/>
          </a:prstGeom>
          <a:solidFill>
            <a:srgbClr val="031A12">
              <a:alpha val="874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99" y="0"/>
            <a:ext cx="1220660" cy="6858000"/>
          </a:xfrm>
          <a:prstGeom prst="rect">
            <a:avLst/>
          </a:prstGeom>
          <a:solidFill>
            <a:srgbClr val="031A12">
              <a:alpha val="855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199" y="0"/>
            <a:ext cx="1220660" cy="6858000"/>
          </a:xfrm>
          <a:prstGeom prst="rect">
            <a:avLst/>
          </a:prstGeom>
          <a:solidFill>
            <a:srgbClr val="031A12">
              <a:alpha val="836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34399" y="0"/>
            <a:ext cx="1220660" cy="6858000"/>
          </a:xfrm>
          <a:prstGeom prst="rect">
            <a:avLst/>
          </a:prstGeom>
          <a:solidFill>
            <a:srgbClr val="031A12">
              <a:alpha val="817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53599" y="0"/>
            <a:ext cx="1220660" cy="6858000"/>
          </a:xfrm>
          <a:prstGeom prst="rect">
            <a:avLst/>
          </a:prstGeom>
          <a:solidFill>
            <a:srgbClr val="031A12">
              <a:alpha val="798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799" y="0"/>
            <a:ext cx="1220660" cy="6858000"/>
          </a:xfrm>
          <a:prstGeom prst="rect">
            <a:avLst/>
          </a:prstGeom>
          <a:solidFill>
            <a:srgbClr val="031A12">
              <a:alpha val="779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OPERASI &amp; TEKNOLOGI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Empat angka inti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Melon manis itu gampang sekali-sekali. Yang dibangun adalah rasa manis yang berulang.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420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tanaman per unit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per tahun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&lt;10%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target beda hasil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816,6 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Y10 dalam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SUMBER: PDF SIDANG AKHIR · HALAMAN 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2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CEBD7"/>
                </a:solidFill>
                <a:latin typeface="Arial"/>
              </a:rPr>
              <a:t>MELOOLOO / 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CEBD7"/>
                </a:solidFill>
                <a:latin typeface="Arial"/>
              </a:rPr>
              <a:t>PRESENTASI 36 / 66 · ASLI 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809220"/>
            <a:ext cx="1105361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C9E99E"/>
                </a:solidFill>
                <a:latin typeface="Arial"/>
              </a:rPr>
              <a:t>TIM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062564"/>
            <a:ext cx="11053611" cy="6747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FAFCF5"/>
                </a:solidFill>
                <a:latin typeface="Arial Narrow"/>
              </a:rPr>
              <a:t>Manusia menjaga hasil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195" y="1734271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DCE9DC"/>
                </a:solidFill>
                <a:latin typeface="Arial"/>
              </a:rPr>
              <a:t>Rekrut, latih, ukur, dan pertahankan tim yang membuat mutu greenhouse berulang.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195" y="2032693"/>
            <a:ext cx="5734925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CDE99F"/>
                </a:solidFill>
                <a:latin typeface="Arial"/>
              </a:rPr>
              <a:t>MANUSIA MENJAGA HASIL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195" y="2240960"/>
            <a:ext cx="46816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REKRUT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6130" y="2208094"/>
            <a:ext cx="185035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A8D682"/>
                </a:solidFill>
                <a:latin typeface="Arial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3938" y="2240960"/>
            <a:ext cx="33475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LATIH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1469" y="2208094"/>
            <a:ext cx="185035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A8D682"/>
                </a:solidFill>
                <a:latin typeface="Arial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9278" y="2240960"/>
            <a:ext cx="33692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UKUR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08977" y="2208094"/>
            <a:ext cx="185035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A8D682"/>
                </a:solidFill>
                <a:latin typeface="Arial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6786" y="2240960"/>
            <a:ext cx="82204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PERTAHANKAN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195" y="2463835"/>
            <a:ext cx="5484208" cy="34377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DDE9D9"/>
                </a:solidFill>
                <a:latin typeface="Arial"/>
              </a:rPr>
              <a:t>Keahlian agronomi, teknologi pertanian, dan QC diterjemahkan menjadi keputusan yang berulang di setiap greenhouse.</a:t>
            </a:r>
          </a:p>
        </p:txBody>
      </p:sp>
      <p:pic>
        <p:nvPicPr>
          <p:cNvPr id="18" name="Picture 17" descr="picture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2865878"/>
            <a:ext cx="5702921" cy="3255709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585195" y="2865878"/>
            <a:ext cx="5702922" cy="0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288117" y="2865878"/>
            <a:ext cx="0" cy="3255710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85195" y="6121588"/>
            <a:ext cx="5702922" cy="0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85195" y="2865878"/>
            <a:ext cx="0" cy="3255710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 descr="picture-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204" y="4656415"/>
            <a:ext cx="743194" cy="37806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77745" y="5879198"/>
            <a:ext cx="2885125" cy="155886"/>
          </a:xfrm>
          <a:prstGeom prst="rect">
            <a:avLst/>
          </a:prstGeom>
          <a:solidFill>
            <a:srgbClr val="092D1C">
              <a:alpha val="7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7745" y="5909668"/>
            <a:ext cx="291712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2F7EC"/>
                </a:solidFill>
                <a:latin typeface="Arial"/>
              </a:rPr>
              <a:t>VISUALISASI KONSEP PELATIHAN · BUKAN FOTO TIM TERPASANG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2205" y="2032693"/>
            <a:ext cx="2552700" cy="2004848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422205" y="2032693"/>
            <a:ext cx="2552700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25824" y="2132547"/>
            <a:ext cx="237746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C3E4A5"/>
                </a:solidFill>
                <a:latin typeface="Arial"/>
              </a:rPr>
              <a:t>01 / TARGET SUMBER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5824" y="3255481"/>
            <a:ext cx="2377466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27" b="1" i="0">
                <a:solidFill>
                  <a:srgbClr val="D4EFA3"/>
                </a:solidFill>
                <a:latin typeface="Arial"/>
              </a:rPr>
              <a:t>4/5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5824" y="3683314"/>
            <a:ext cx="237746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1F8E9"/>
                </a:solidFill>
                <a:latin typeface="Arial"/>
              </a:rPr>
              <a:t>skor kinerja rata-rata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25824" y="3857346"/>
            <a:ext cx="237746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0" i="0">
                <a:solidFill>
                  <a:srgbClr val="C7D9C6"/>
                </a:solidFill>
                <a:latin typeface="Arial"/>
              </a:rPr>
              <a:t>review tiap semester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4103" y="2032693"/>
            <a:ext cx="2552700" cy="2004848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9054103" y="2032693"/>
            <a:ext cx="2552700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157722" y="2132547"/>
            <a:ext cx="237746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C3E4A5"/>
                </a:solidFill>
                <a:latin typeface="Arial"/>
              </a:rPr>
              <a:t>02 / TARGET SUMBER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57722" y="3255481"/>
            <a:ext cx="2377466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27" b="1" i="0">
                <a:solidFill>
                  <a:srgbClr val="D4EFA3"/>
                </a:solidFill>
                <a:latin typeface="Arial"/>
              </a:rPr>
              <a:t>1×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7722" y="3683314"/>
            <a:ext cx="237746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1F8E9"/>
                </a:solidFill>
                <a:latin typeface="Arial"/>
              </a:rPr>
              <a:t>pelatihan per orang / tahun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7722" y="3857346"/>
            <a:ext cx="237746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0" i="0">
                <a:solidFill>
                  <a:srgbClr val="C7D9C6"/>
                </a:solidFill>
                <a:latin typeface="Arial"/>
              </a:rPr>
              <a:t>kompetensi smart greenhouse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22205" y="4116740"/>
            <a:ext cx="2552700" cy="2004848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6422205" y="4116740"/>
            <a:ext cx="2552700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525824" y="4216594"/>
            <a:ext cx="237746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C3E4A5"/>
                </a:solidFill>
                <a:latin typeface="Arial"/>
              </a:rPr>
              <a:t>03 / TARGET SUMBER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824" y="5339528"/>
            <a:ext cx="2377466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27" b="1" i="0">
                <a:solidFill>
                  <a:srgbClr val="D4EFA3"/>
                </a:solidFill>
                <a:latin typeface="Arial"/>
              </a:rPr>
              <a:t>&lt;7%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25824" y="5767361"/>
            <a:ext cx="237746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1F8E9"/>
                </a:solidFill>
                <a:latin typeface="Arial"/>
              </a:rPr>
              <a:t>turnover / tahun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25824" y="5941393"/>
            <a:ext cx="237746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0" i="0">
                <a:solidFill>
                  <a:srgbClr val="C7D9C6"/>
                </a:solidFill>
                <a:latin typeface="Arial"/>
              </a:rPr>
              <a:t>sasaran retensi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54103" y="4116740"/>
            <a:ext cx="2552700" cy="2004848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9054103" y="4116740"/>
            <a:ext cx="2552700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157722" y="4216594"/>
            <a:ext cx="237746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C3E4A5"/>
                </a:solidFill>
                <a:latin typeface="Arial"/>
              </a:rPr>
              <a:t>04 / TARGET SUMBER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57722" y="5339528"/>
            <a:ext cx="2377466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27" b="1" i="0">
                <a:solidFill>
                  <a:srgbClr val="D4EFA3"/>
                </a:solidFill>
                <a:latin typeface="Arial"/>
              </a:rPr>
              <a:t>≥85%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57722" y="5767361"/>
            <a:ext cx="237746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1F8E9"/>
                </a:solidFill>
                <a:latin typeface="Arial"/>
              </a:rPr>
              <a:t>engagement index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57722" y="5941393"/>
            <a:ext cx="237746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0" i="0">
                <a:solidFill>
                  <a:srgbClr val="C7D9C6"/>
                </a:solidFill>
                <a:latin typeface="Arial"/>
              </a:rPr>
              <a:t>sasaran dalam 5 tahun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5195" y="6182527"/>
            <a:ext cx="11021608" cy="0"/>
          </a:xfrm>
          <a:prstGeom prst="line">
            <a:avLst/>
          </a:prstGeom>
          <a:ln w="7303">
            <a:solidFill>
              <a:srgbClr val="DFF5D3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85195" y="6238560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BBD1BE"/>
                </a:solidFill>
                <a:latin typeface="Arial"/>
              </a:rPr>
              <a:t>Target dari halaman SDM sumber; ini sasaran rencana, belum hasil operasional.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3F7D3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DCEBD7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DCEBD7"/>
                </a:solidFill>
                <a:latin typeface="Arial"/>
              </a:rPr>
              <a:t>SUMBER: PDF SIDANG AKHIR · HALAMAN 48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PRESENTASI 37 / 66 · ASLI 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9868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Bangun tim, uji kompetensi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626200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Rencana 18 → 39 → 85 personel melalui tiga gerbang pengadaan dan evaluasi.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1924622"/>
            <a:ext cx="4904781" cy="4196965"/>
          </a:xfrm>
          <a:prstGeom prst="rect">
            <a:avLst/>
          </a:prstGeom>
          <a:solidFill>
            <a:srgbClr val="14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543" y="2058712"/>
            <a:ext cx="463209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CBE99D"/>
                </a:solidFill>
                <a:latin typeface="Arial"/>
              </a:rPr>
              <a:t>RENCANA TIM · TOTAL PERSONEL SUMBER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998911" y="4375029"/>
            <a:ext cx="121793" cy="1225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0704" y="4360647"/>
            <a:ext cx="121685" cy="1438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242389" y="4343908"/>
            <a:ext cx="121548" cy="16739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363937" y="4324601"/>
            <a:ext cx="121372" cy="1930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485309" y="4302513"/>
            <a:ext cx="121155" cy="2208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606464" y="4277430"/>
            <a:ext cx="120887" cy="2508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27351" y="4249200"/>
            <a:ext cx="120569" cy="28230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847920" y="4217681"/>
            <a:ext cx="120194" cy="31519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968114" y="4182817"/>
            <a:ext cx="119770" cy="3486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087884" y="4144616"/>
            <a:ext cx="119303" cy="38201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207187" y="4103167"/>
            <a:ext cx="118806" cy="41449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325993" y="4058635"/>
            <a:ext cx="118293" cy="4453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444286" y="4011260"/>
            <a:ext cx="117786" cy="47375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562072" y="3961337"/>
            <a:ext cx="117303" cy="4992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679375" y="3909191"/>
            <a:ext cx="116860" cy="52146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796235" y="3855160"/>
            <a:ext cx="116466" cy="54031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912701" y="3799587"/>
            <a:ext cx="116134" cy="5557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028835" y="3742453"/>
            <a:ext cx="115786" cy="5713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144621" y="3683562"/>
            <a:ext cx="115382" cy="58891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260003" y="3622915"/>
            <a:ext cx="114964" cy="6064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374967" y="3560528"/>
            <a:ext cx="114536" cy="6238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3489503" y="3496420"/>
            <a:ext cx="114101" cy="6410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603604" y="3430606"/>
            <a:ext cx="113654" cy="6581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3717258" y="3363109"/>
            <a:ext cx="113201" cy="6749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830459" y="3293957"/>
            <a:ext cx="112743" cy="6915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3943202" y="3223179"/>
            <a:ext cx="112279" cy="7077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055481" y="3150805"/>
            <a:ext cx="111812" cy="7237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167293" y="3076867"/>
            <a:ext cx="111342" cy="7393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278635" y="3001399"/>
            <a:ext cx="110870" cy="7546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389505" y="2924437"/>
            <a:ext cx="110400" cy="7696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499905" y="2846018"/>
            <a:ext cx="109928" cy="78419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609833" y="2766182"/>
            <a:ext cx="109460" cy="79836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719293" y="2684968"/>
            <a:ext cx="108994" cy="8121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828287" y="2602407"/>
            <a:ext cx="108529" cy="82561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936816" y="2518570"/>
            <a:ext cx="108081" cy="8383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37543" y="4613729"/>
            <a:ext cx="7781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D1E5CF"/>
                </a:solidFill>
                <a:latin typeface="Arial"/>
              </a:rPr>
              <a:t>Y0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7543" y="4715980"/>
            <a:ext cx="778105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1EDA0"/>
                </a:solidFill>
                <a:latin typeface="Arial"/>
              </a:rPr>
              <a:t>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543" y="5308373"/>
            <a:ext cx="778105" cy="2360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DBE8D9"/>
                </a:solidFill>
                <a:latin typeface="Arial"/>
              </a:rPr>
              <a:t>Jakarta · awal operasi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32373" y="5001849"/>
            <a:ext cx="1094959" cy="7303"/>
          </a:xfrm>
          <a:prstGeom prst="rect">
            <a:avLst/>
          </a:prstGeom>
          <a:solidFill>
            <a:srgbClr val="A8D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76061" y="4715524"/>
            <a:ext cx="75505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D1E5CF"/>
                </a:solidFill>
                <a:latin typeface="Arial"/>
              </a:rPr>
              <a:t>Y5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6061" y="4817774"/>
            <a:ext cx="755054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1EDA0"/>
                </a:solidFill>
                <a:latin typeface="Arial"/>
              </a:rPr>
              <a:t>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6061" y="5410168"/>
            <a:ext cx="75505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DBE8D9"/>
                </a:solidFill>
                <a:latin typeface="Arial"/>
              </a:rPr>
              <a:t>ekspansi bertahap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47840" y="5001849"/>
            <a:ext cx="1094959" cy="7303"/>
          </a:xfrm>
          <a:prstGeom prst="rect">
            <a:avLst/>
          </a:prstGeom>
          <a:solidFill>
            <a:srgbClr val="A8D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1528" y="4613729"/>
            <a:ext cx="7781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D1E5CF"/>
                </a:solidFill>
                <a:latin typeface="Arial"/>
              </a:rPr>
              <a:t>Y10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1528" y="4715980"/>
            <a:ext cx="778105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1EDA0"/>
                </a:solidFill>
                <a:latin typeface="Arial"/>
              </a:rPr>
              <a:t>85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91528" y="5308373"/>
            <a:ext cx="778105" cy="2360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DBE8D9"/>
                </a:solidFill>
                <a:latin typeface="Arial"/>
              </a:rPr>
              <a:t>Jakarta · Surabaya · Bali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37543" y="5616724"/>
            <a:ext cx="4600087" cy="0"/>
          </a:xfrm>
          <a:prstGeom prst="line">
            <a:avLst/>
          </a:prstGeom>
          <a:ln w="7303">
            <a:solidFill>
              <a:srgbClr val="E9FADA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37543" y="5715437"/>
            <a:ext cx="4632091" cy="292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E1EBDB"/>
                </a:solidFill>
                <a:latin typeface="Arial"/>
              </a:rPr>
              <a:t>Slide sumber merencanakan posisi inti secara full-time untuk menjaga standar dan kontinuitas.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11855" y="1936718"/>
            <a:ext cx="6026952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27954"/>
                </a:solidFill>
                <a:latin typeface="Arial"/>
              </a:rPr>
              <a:t>GERBANG PENGADAAN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11855" y="2132775"/>
            <a:ext cx="5994948" cy="1016232"/>
          </a:xfrm>
          <a:prstGeom prst="rect">
            <a:avLst/>
          </a:prstGeom>
          <a:solidFill>
            <a:srgbClr val="DC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11855" y="2132775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1606803" y="2132775"/>
            <a:ext cx="0" cy="1016233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5611855" y="3149008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5611855" y="2132775"/>
            <a:ext cx="0" cy="1016233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710567" y="2513021"/>
            <a:ext cx="422058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79A86B"/>
                </a:solidFill>
                <a:latin typeface="Arial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67608" y="2331343"/>
            <a:ext cx="5372487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1" i="0">
                <a:solidFill>
                  <a:srgbClr val="253F36"/>
                </a:solidFill>
                <a:latin typeface="Arial"/>
              </a:rPr>
              <a:t>Seleksi kompetensi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67608" y="2816350"/>
            <a:ext cx="53724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536E57"/>
                </a:solidFill>
                <a:latin typeface="Arial"/>
              </a:rPr>
              <a:t>Agrikultur, adaptasi teknologi, disiplin, integritas, dan keselarasan nilai.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11855" y="3206296"/>
            <a:ext cx="5994948" cy="1016346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5611855" y="3206296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606803" y="3206296"/>
            <a:ext cx="0" cy="1016346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5611855" y="4222642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611855" y="3206296"/>
            <a:ext cx="0" cy="1016346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710567" y="3586655"/>
            <a:ext cx="422058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79A86B"/>
                </a:solidFill>
                <a:latin typeface="Arial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67608" y="3404863"/>
            <a:ext cx="5372487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1" i="0">
                <a:solidFill>
                  <a:srgbClr val="253F36"/>
                </a:solidFill>
                <a:latin typeface="Arial"/>
              </a:rPr>
              <a:t>Onboarding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67608" y="3889984"/>
            <a:ext cx="53724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536E57"/>
                </a:solidFill>
                <a:latin typeface="Arial"/>
              </a:rPr>
              <a:t>Orientasi budaya dan SOP teknis sebelum menangani mutu panen.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11855" y="4279930"/>
            <a:ext cx="5994948" cy="1016346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5611855" y="4279930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1606803" y="4279930"/>
            <a:ext cx="0" cy="1016347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5611855" y="5296277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611855" y="4279930"/>
            <a:ext cx="0" cy="1016347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710567" y="4660290"/>
            <a:ext cx="422058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79A86B"/>
                </a:solidFill>
                <a:latin typeface="Arial"/>
              </a:rPr>
              <a:t>03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67608" y="4478498"/>
            <a:ext cx="5372487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1" i="0">
                <a:solidFill>
                  <a:srgbClr val="253F36"/>
                </a:solidFill>
                <a:latin typeface="Arial"/>
              </a:rPr>
              <a:t>Reality check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67608" y="4963619"/>
            <a:ext cx="53724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536E57"/>
                </a:solidFill>
                <a:latin typeface="Arial"/>
              </a:rPr>
              <a:t>Penilaian kinerja dan pemahaman sistem menentukan kelulusan probation.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11855" y="5353565"/>
            <a:ext cx="5994948" cy="768022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21522" y="5444974"/>
            <a:ext cx="580761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3" b="1" i="0">
                <a:solidFill>
                  <a:srgbClr val="CAEC9B"/>
                </a:solidFill>
                <a:latin typeface="Arial"/>
              </a:rPr>
              <a:t>01 / 03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21522" y="5559436"/>
            <a:ext cx="580761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5F9EE"/>
                </a:solidFill>
                <a:latin typeface="Arial"/>
              </a:rPr>
              <a:t>Seleksi kompetensi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21522" y="5759259"/>
            <a:ext cx="580761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7" b="0" i="0">
                <a:solidFill>
                  <a:srgbClr val="E0ECDF"/>
                </a:solidFill>
                <a:latin typeface="Arial"/>
              </a:rPr>
              <a:t>Uji kemampuan agrikultur, adaptasi teknologi, kedisiplinan, integritas, dan keselarasan nilai.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85195" y="6182527"/>
            <a:ext cx="11021608" cy="0"/>
          </a:xfrm>
          <a:prstGeom prst="line">
            <a:avLst/>
          </a:prstGeom>
          <a:ln w="7303">
            <a:solidFill>
              <a:srgbClr val="B7C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85195" y="6238560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57A66"/>
                </a:solidFill>
                <a:latin typeface="Arial"/>
              </a:rPr>
              <a:t>18 → 39 → 85 personel adalah proyeksi pada materi sidang, bukan jumlah karyawan saat ini.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SUMBER: PDF SIDANG AKHIR · HALAMAN 49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34098" y="328891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PRESENTASI 38 / 66 · ASLI 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075460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Siapa menjaga apa?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814" y="1631792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CEO mengoordinasikan tiga direktorat; setiap peran sumber tetap terlihat dalam bagan.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81631" y="1930214"/>
            <a:ext cx="1828737" cy="377278"/>
          </a:xfrm>
          <a:prstGeom prst="rect">
            <a:avLst/>
          </a:prstGeom>
          <a:solidFill>
            <a:srgbClr val="14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09" y="1972780"/>
            <a:ext cx="1616985" cy="11234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 i="0">
                <a:solidFill>
                  <a:srgbClr val="CFE9B0"/>
                </a:solidFill>
                <a:latin typeface="Arial"/>
              </a:rPr>
              <a:t>ARAH &amp; TATA KELOLA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09" y="2053120"/>
            <a:ext cx="1616985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FFFFFF"/>
                </a:solidFill>
                <a:latin typeface="Arial"/>
              </a:rPr>
              <a:t>CEO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353108" y="2502522"/>
            <a:ext cx="7485783" cy="0"/>
          </a:xfrm>
          <a:prstGeom prst="line">
            <a:avLst/>
          </a:prstGeom>
          <a:ln w="14607">
            <a:solidFill>
              <a:srgbClr val="5D8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095942" y="2307492"/>
            <a:ext cx="0" cy="180423"/>
          </a:xfrm>
          <a:prstGeom prst="line">
            <a:avLst/>
          </a:prstGeom>
          <a:ln w="14607">
            <a:solidFill>
              <a:srgbClr val="5D8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91814" y="2569510"/>
            <a:ext cx="3390552" cy="2796265"/>
          </a:xfrm>
          <a:prstGeom prst="rect">
            <a:avLst/>
          </a:prstGeom>
          <a:solidFill>
            <a:srgbClr val="DC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91814" y="2569510"/>
            <a:ext cx="3390553" cy="0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982367" y="2569510"/>
            <a:ext cx="0" cy="2796265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91814" y="5365775"/>
            <a:ext cx="3390553" cy="0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91814" y="2569510"/>
            <a:ext cx="0" cy="2796265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4364" y="2643802"/>
            <a:ext cx="3237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5C825B"/>
                </a:solidFill>
                <a:latin typeface="Arial"/>
              </a:rPr>
              <a:t>01 / KOMERSIAL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364" y="2753356"/>
            <a:ext cx="3237457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63" b="1" i="0">
                <a:solidFill>
                  <a:srgbClr val="253F36"/>
                </a:solidFill>
                <a:latin typeface="Arial"/>
              </a:rPr>
              <a:t>Commercial Director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4364" y="3779859"/>
            <a:ext cx="1575281" cy="304698"/>
          </a:xfrm>
          <a:prstGeom prst="rect">
            <a:avLst/>
          </a:prstGeom>
          <a:solidFill>
            <a:srgbClr val="B9D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4364" y="3779859"/>
            <a:ext cx="1575281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259645" y="3779859"/>
            <a:ext cx="0" cy="304699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84364" y="4084558"/>
            <a:ext cx="1575281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84364" y="3779859"/>
            <a:ext cx="0" cy="304699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4364" y="3872296"/>
            <a:ext cx="160728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253F36"/>
                </a:solidFill>
                <a:latin typeface="Arial"/>
              </a:rPr>
              <a:t>Head of Business Development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364" y="4084558"/>
            <a:ext cx="160728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639061"/>
                </a:solidFill>
                <a:latin typeface="Arial"/>
              </a:rPr>
              <a:t>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4364" y="4211344"/>
            <a:ext cx="1575281" cy="304698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4364" y="4211344"/>
            <a:ext cx="1575281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259645" y="4211344"/>
            <a:ext cx="0" cy="304699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684364" y="4516043"/>
            <a:ext cx="1575281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84364" y="4211344"/>
            <a:ext cx="0" cy="304699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4364" y="4303781"/>
            <a:ext cx="160728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253F36"/>
                </a:solidFill>
                <a:latin typeface="Arial"/>
              </a:rPr>
              <a:t>Staff Business Development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14422" y="3779859"/>
            <a:ext cx="1575395" cy="304698"/>
          </a:xfrm>
          <a:prstGeom prst="rect">
            <a:avLst/>
          </a:prstGeom>
          <a:solidFill>
            <a:srgbClr val="B9D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314422" y="3779859"/>
            <a:ext cx="1575396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889818" y="3779859"/>
            <a:ext cx="0" cy="304699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314422" y="4084558"/>
            <a:ext cx="1575396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314422" y="3779859"/>
            <a:ext cx="0" cy="304699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314422" y="3872296"/>
            <a:ext cx="16073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253F36"/>
                </a:solidFill>
                <a:latin typeface="Arial"/>
              </a:rPr>
              <a:t>Head of Marketing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14422" y="4084558"/>
            <a:ext cx="16073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639061"/>
                </a:solidFill>
                <a:latin typeface="Arial"/>
              </a:rPr>
              <a:t>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14422" y="4211344"/>
            <a:ext cx="1575395" cy="304698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314422" y="4211344"/>
            <a:ext cx="1575396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889818" y="4211344"/>
            <a:ext cx="0" cy="304699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314422" y="4516043"/>
            <a:ext cx="1575396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314422" y="4211344"/>
            <a:ext cx="0" cy="304699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314422" y="4303781"/>
            <a:ext cx="16073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253F36"/>
                </a:solidFill>
                <a:latin typeface="Arial"/>
              </a:rPr>
              <a:t>Staff Marketing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61565" y="2569510"/>
            <a:ext cx="4475584" cy="2796265"/>
          </a:xfrm>
          <a:prstGeom prst="rect">
            <a:avLst/>
          </a:prstGeom>
          <a:solidFill>
            <a:srgbClr val="ED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061565" y="2569510"/>
            <a:ext cx="4475585" cy="0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7150" y="2569510"/>
            <a:ext cx="0" cy="2796265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4061565" y="5365775"/>
            <a:ext cx="4475585" cy="0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061565" y="2569510"/>
            <a:ext cx="0" cy="2796265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154114" y="2643802"/>
            <a:ext cx="432248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5C825B"/>
                </a:solidFill>
                <a:latin typeface="Arial"/>
              </a:rPr>
              <a:t>02 / OPERASI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54114" y="2753356"/>
            <a:ext cx="4322489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63" b="1" i="0">
                <a:solidFill>
                  <a:srgbClr val="253F36"/>
                </a:solidFill>
                <a:latin typeface="Arial"/>
              </a:rPr>
              <a:t>Operation Director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54114" y="3564060"/>
            <a:ext cx="2117797" cy="304698"/>
          </a:xfrm>
          <a:prstGeom prst="rect">
            <a:avLst/>
          </a:prstGeom>
          <a:solidFill>
            <a:srgbClr val="B9D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4154114" y="3564060"/>
            <a:ext cx="2117798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6271912" y="3564060"/>
            <a:ext cx="0" cy="304698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4154114" y="3868758"/>
            <a:ext cx="2117798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154114" y="3564060"/>
            <a:ext cx="0" cy="304698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4154114" y="3656496"/>
            <a:ext cx="214980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253F36"/>
                </a:solidFill>
                <a:latin typeface="Arial"/>
              </a:rPr>
              <a:t>Head of HRGA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54114" y="3868758"/>
            <a:ext cx="214980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639061"/>
                </a:solidFill>
                <a:latin typeface="Arial"/>
              </a:rPr>
              <a:t>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54114" y="3995545"/>
            <a:ext cx="2117797" cy="304698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4154114" y="3995545"/>
            <a:ext cx="2117798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271912" y="3995545"/>
            <a:ext cx="0" cy="304698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4154114" y="4300243"/>
            <a:ext cx="2117798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154114" y="3995545"/>
            <a:ext cx="0" cy="304698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154114" y="4087981"/>
            <a:ext cx="214980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253F36"/>
                </a:solidFill>
                <a:latin typeface="Arial"/>
              </a:rPr>
              <a:t>Staff HRGA / Admin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54114" y="4300243"/>
            <a:ext cx="214980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639061"/>
                </a:solidFill>
                <a:latin typeface="Arial"/>
              </a:rPr>
              <a:t>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54114" y="4427030"/>
            <a:ext cx="2117797" cy="304698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4154114" y="4427030"/>
            <a:ext cx="2117798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271912" y="4427030"/>
            <a:ext cx="0" cy="304698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4154114" y="4731728"/>
            <a:ext cx="2117798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154114" y="4427030"/>
            <a:ext cx="0" cy="304698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4154114" y="4519467"/>
            <a:ext cx="214980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253F36"/>
                </a:solidFill>
                <a:latin typeface="Arial"/>
              </a:rPr>
              <a:t>Driver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326688" y="3564060"/>
            <a:ext cx="2117911" cy="304698"/>
          </a:xfrm>
          <a:prstGeom prst="rect">
            <a:avLst/>
          </a:prstGeom>
          <a:solidFill>
            <a:srgbClr val="B9D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6326688" y="3564060"/>
            <a:ext cx="2117912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444600" y="3564060"/>
            <a:ext cx="0" cy="304698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6326688" y="3868758"/>
            <a:ext cx="2117912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6326688" y="3564060"/>
            <a:ext cx="0" cy="304698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6326688" y="3656496"/>
            <a:ext cx="214991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253F36"/>
                </a:solidFill>
                <a:latin typeface="Arial"/>
              </a:rPr>
              <a:t>Head of Operation / GM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26688" y="3868758"/>
            <a:ext cx="214991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639061"/>
                </a:solidFill>
                <a:latin typeface="Arial"/>
              </a:rPr>
              <a:t>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26688" y="3995545"/>
            <a:ext cx="2117911" cy="304698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6326688" y="3995545"/>
            <a:ext cx="2117912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444600" y="3995545"/>
            <a:ext cx="0" cy="304698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6326688" y="4300243"/>
            <a:ext cx="2117912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6326688" y="3995545"/>
            <a:ext cx="0" cy="304698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6326688" y="4087981"/>
            <a:ext cx="214991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253F36"/>
                </a:solidFill>
                <a:latin typeface="Arial"/>
              </a:rPr>
              <a:t>Head Grower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26688" y="4300243"/>
            <a:ext cx="214991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639061"/>
                </a:solidFill>
                <a:latin typeface="Arial"/>
              </a:rPr>
              <a:t>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26688" y="4427030"/>
            <a:ext cx="2117911" cy="304698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6326688" y="4427030"/>
            <a:ext cx="2117912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8444600" y="4427030"/>
            <a:ext cx="0" cy="304698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6326688" y="4731728"/>
            <a:ext cx="2117912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6326688" y="4427030"/>
            <a:ext cx="0" cy="304698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6688" y="4519467"/>
            <a:ext cx="214991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253F36"/>
                </a:solidFill>
                <a:latin typeface="Arial"/>
              </a:rPr>
              <a:t>Farmer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16347" y="2569510"/>
            <a:ext cx="2983723" cy="2796265"/>
          </a:xfrm>
          <a:prstGeom prst="rect">
            <a:avLst/>
          </a:prstGeom>
          <a:solidFill>
            <a:srgbClr val="ED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8616347" y="2569510"/>
            <a:ext cx="2983723" cy="0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1600070" y="2569510"/>
            <a:ext cx="0" cy="2796265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8616347" y="5365775"/>
            <a:ext cx="2983723" cy="0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8616347" y="2569510"/>
            <a:ext cx="0" cy="2796265"/>
          </a:xfrm>
          <a:prstGeom prst="line">
            <a:avLst/>
          </a:prstGeom>
          <a:ln w="7303">
            <a:solidFill>
              <a:srgbClr val="BD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8708897" y="2643802"/>
            <a:ext cx="2830628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5C825B"/>
                </a:solidFill>
                <a:latin typeface="Arial"/>
              </a:rPr>
              <a:t>03 / KEUANGAN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708897" y="2753356"/>
            <a:ext cx="2830628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63" b="1" i="0">
                <a:solidFill>
                  <a:srgbClr val="253F36"/>
                </a:solidFill>
                <a:latin typeface="Arial"/>
              </a:rPr>
              <a:t>Finance Director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708897" y="3779859"/>
            <a:ext cx="2798624" cy="304698"/>
          </a:xfrm>
          <a:prstGeom prst="rect">
            <a:avLst/>
          </a:prstGeom>
          <a:solidFill>
            <a:srgbClr val="B9D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8708897" y="3779859"/>
            <a:ext cx="2798624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1507521" y="3779859"/>
            <a:ext cx="0" cy="304699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8708897" y="4084558"/>
            <a:ext cx="2798624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8708897" y="3779859"/>
            <a:ext cx="0" cy="304699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8708897" y="3872296"/>
            <a:ext cx="283062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253F36"/>
                </a:solidFill>
                <a:latin typeface="Arial"/>
              </a:rPr>
              <a:t>Head of Finance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708897" y="4084558"/>
            <a:ext cx="283062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639061"/>
                </a:solidFill>
                <a:latin typeface="Arial"/>
              </a:rPr>
              <a:t>↓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708897" y="4211344"/>
            <a:ext cx="2798624" cy="304698"/>
          </a:xfrm>
          <a:prstGeom prst="rect">
            <a:avLst/>
          </a:prstGeom>
          <a:solidFill>
            <a:srgbClr val="D5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8708897" y="4211344"/>
            <a:ext cx="2798624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1507521" y="4211344"/>
            <a:ext cx="0" cy="304699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8708897" y="4516043"/>
            <a:ext cx="2798624" cy="0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8708897" y="4211344"/>
            <a:ext cx="0" cy="304699"/>
          </a:xfrm>
          <a:prstGeom prst="line">
            <a:avLst/>
          </a:prstGeom>
          <a:ln w="7303">
            <a:solidFill>
              <a:srgbClr val="AF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8708897" y="4303781"/>
            <a:ext cx="283062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253F36"/>
                </a:solidFill>
                <a:latin typeface="Arial"/>
              </a:rPr>
              <a:t>Staff Finance &amp; Accounting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91814" y="5432763"/>
            <a:ext cx="6177308" cy="682661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01481" y="5524173"/>
            <a:ext cx="598997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3" b="1" i="0">
                <a:solidFill>
                  <a:srgbClr val="CAEC9B"/>
                </a:solidFill>
                <a:latin typeface="Arial"/>
              </a:rPr>
              <a:t>01 / 03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01481" y="5638635"/>
            <a:ext cx="598997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5F9EE"/>
                </a:solidFill>
                <a:latin typeface="Arial"/>
              </a:rPr>
              <a:t>Komersial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01481" y="5838458"/>
            <a:ext cx="598997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7" b="0" i="0">
                <a:solidFill>
                  <a:srgbClr val="E0ECDF"/>
                </a:solidFill>
                <a:latin typeface="Arial"/>
              </a:rPr>
              <a:t>Business Development dan Marketing memiliki kepala fungsi serta staf pendukung.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848321" y="5432763"/>
            <a:ext cx="4751863" cy="682661"/>
          </a:xfrm>
          <a:prstGeom prst="rect">
            <a:avLst/>
          </a:prstGeom>
          <a:solidFill>
            <a:srgbClr val="E2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848321" y="5715551"/>
            <a:ext cx="478386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4E6B55"/>
                </a:solidFill>
                <a:latin typeface="Arial"/>
              </a:rPr>
              <a:t>Bagan mempertahankan seluruh peran dari halaman sumber; tidak menampilkan nama individu.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591814" y="6176365"/>
            <a:ext cx="11008370" cy="0"/>
          </a:xfrm>
          <a:prstGeom prst="line">
            <a:avLst/>
          </a:prstGeom>
          <a:ln w="7303">
            <a:solidFill>
              <a:srgbClr val="B7C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591814" y="6232397"/>
            <a:ext cx="1104037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57A66"/>
                </a:solidFill>
                <a:latin typeface="Arial"/>
              </a:rPr>
              <a:t>Bagan ini memetakan fungsi dan jalur pelaporan, bukan jumlah orang per kotak jabatan.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682550" y="6537324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SUMBER: PDF SIDANG AKHIR · HALAMAN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34098" y="328891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PRESENTASI 39 / 66 · ASLI 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075460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Tim tumbuh bersama unit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814" y="1631792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Total personel pada tabel sumber diproyeksikan naik dari 18 ke 85 sepanjang Y0–Y10.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91814" y="2272686"/>
            <a:ext cx="11008370" cy="0"/>
          </a:xfrm>
          <a:prstGeom prst="line">
            <a:avLst/>
          </a:prstGeom>
          <a:ln w="7303">
            <a:solidFill>
              <a:srgbClr val="9DB7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1814" y="1900999"/>
            <a:ext cx="1559127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253F36"/>
                </a:solidFill>
                <a:latin typeface="Arial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5922" y="1900999"/>
            <a:ext cx="307027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80AE69"/>
                </a:solidFill>
                <a:latin typeface="Arial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1814" y="1900999"/>
            <a:ext cx="1559127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253F36"/>
                </a:solidFill>
                <a:latin typeface="Arial"/>
              </a:rPr>
              <a:t>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38845" y="2076286"/>
            <a:ext cx="51209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1" i="0">
                <a:solidFill>
                  <a:srgbClr val="253F36"/>
                </a:solidFill>
                <a:latin typeface="Arial"/>
              </a:rPr>
              <a:t>personel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99992" y="2127868"/>
            <a:ext cx="153219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253F36"/>
                </a:solidFill>
                <a:latin typeface="Arial"/>
              </a:rPr>
              <a:t>RUMAH KACA 35 → 237 · Y0–Y10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91814" y="4823366"/>
            <a:ext cx="11008370" cy="0"/>
          </a:xfrm>
          <a:prstGeom prst="line">
            <a:avLst/>
          </a:prstGeom>
          <a:ln w="7303">
            <a:solidFill>
              <a:srgbClr val="789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8742" y="4047241"/>
            <a:ext cx="12421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253F36"/>
                </a:solidFill>
                <a:latin typeface="Arial"/>
              </a:rPr>
              <a:t>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332" y="4288489"/>
            <a:ext cx="933140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8332" y="4341246"/>
            <a:ext cx="933140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332" y="4394004"/>
            <a:ext cx="933140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8332" y="4446761"/>
            <a:ext cx="933140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32" y="4499519"/>
            <a:ext cx="933140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332" y="4552276"/>
            <a:ext cx="933140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332" y="4605033"/>
            <a:ext cx="933140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8332" y="4657791"/>
            <a:ext cx="933140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8332" y="4710548"/>
            <a:ext cx="933140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332" y="4763305"/>
            <a:ext cx="933140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4862" y="4864906"/>
            <a:ext cx="1318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Y0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28460" y="4288489"/>
            <a:ext cx="933255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28460" y="4341246"/>
            <a:ext cx="933255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628460" y="4394004"/>
            <a:ext cx="933255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628460" y="4446761"/>
            <a:ext cx="933255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28460" y="4499519"/>
            <a:ext cx="933255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28460" y="4552276"/>
            <a:ext cx="933255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28460" y="4605033"/>
            <a:ext cx="933255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28460" y="4657791"/>
            <a:ext cx="933255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28460" y="4710548"/>
            <a:ext cx="933255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28460" y="4763305"/>
            <a:ext cx="933255" cy="542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45104" y="4864906"/>
            <a:ext cx="1318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Y1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28702" y="4141732"/>
            <a:ext cx="933255" cy="6889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628702" y="4209165"/>
            <a:ext cx="933255" cy="6889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28702" y="4276598"/>
            <a:ext cx="933255" cy="6889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28702" y="4344031"/>
            <a:ext cx="933255" cy="6889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628702" y="4411464"/>
            <a:ext cx="933255" cy="6889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28702" y="4478897"/>
            <a:ext cx="933255" cy="6889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28702" y="4546330"/>
            <a:ext cx="933255" cy="6889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28702" y="4613763"/>
            <a:ext cx="933255" cy="6889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28702" y="4681196"/>
            <a:ext cx="933255" cy="6889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28702" y="4748630"/>
            <a:ext cx="933255" cy="6889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45346" y="4864906"/>
            <a:ext cx="1318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Y2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28944" y="4024759"/>
            <a:ext cx="933140" cy="8059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28944" y="4103890"/>
            <a:ext cx="933140" cy="8059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628944" y="4183020"/>
            <a:ext cx="933140" cy="8059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28944" y="4262150"/>
            <a:ext cx="933140" cy="8059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28944" y="4341281"/>
            <a:ext cx="933140" cy="8059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28944" y="4420411"/>
            <a:ext cx="933140" cy="8059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28944" y="4499541"/>
            <a:ext cx="933140" cy="8059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28944" y="4578672"/>
            <a:ext cx="933140" cy="8059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28944" y="4657802"/>
            <a:ext cx="933140" cy="8059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28944" y="4736932"/>
            <a:ext cx="933140" cy="80591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45474" y="4864906"/>
            <a:ext cx="1318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Y3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629073" y="3880398"/>
            <a:ext cx="933255" cy="9502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629073" y="3973965"/>
            <a:ext cx="933255" cy="9502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629073" y="4067531"/>
            <a:ext cx="933255" cy="9502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629073" y="4161098"/>
            <a:ext cx="933255" cy="9502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629073" y="4254664"/>
            <a:ext cx="933255" cy="9502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629073" y="4348231"/>
            <a:ext cx="933255" cy="9502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629073" y="4441797"/>
            <a:ext cx="933255" cy="9502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29073" y="4535363"/>
            <a:ext cx="933255" cy="9502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629073" y="4628930"/>
            <a:ext cx="933255" cy="9502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629073" y="4722496"/>
            <a:ext cx="933255" cy="9502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45716" y="4864906"/>
            <a:ext cx="1318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Y4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49839" y="3432594"/>
            <a:ext cx="12421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253F36"/>
                </a:solidFill>
                <a:latin typeface="Arial"/>
              </a:rPr>
              <a:t>39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29315" y="3673842"/>
            <a:ext cx="933255" cy="11568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29315" y="3788065"/>
            <a:ext cx="933255" cy="11568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629315" y="3902287"/>
            <a:ext cx="933255" cy="11568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29315" y="4016509"/>
            <a:ext cx="933255" cy="11568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29315" y="4130731"/>
            <a:ext cx="933255" cy="11568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629315" y="4244953"/>
            <a:ext cx="933255" cy="11568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629315" y="4359175"/>
            <a:ext cx="933255" cy="11568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29315" y="4473397"/>
            <a:ext cx="933255" cy="11568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29315" y="4587619"/>
            <a:ext cx="933255" cy="11568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629315" y="4701841"/>
            <a:ext cx="933255" cy="11568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045959" y="4864906"/>
            <a:ext cx="1318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Y5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50081" y="3051892"/>
            <a:ext cx="12421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253F36"/>
                </a:solidFill>
                <a:latin typeface="Arial"/>
              </a:rPr>
              <a:t>52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557" y="3293140"/>
            <a:ext cx="933255" cy="15375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629557" y="3445433"/>
            <a:ext cx="933255" cy="15375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629557" y="3597725"/>
            <a:ext cx="933255" cy="15375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629557" y="3750017"/>
            <a:ext cx="933255" cy="15375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629557" y="3902309"/>
            <a:ext cx="933255" cy="15375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629557" y="4054602"/>
            <a:ext cx="933255" cy="15375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629557" y="4206894"/>
            <a:ext cx="933255" cy="15375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629557" y="4359186"/>
            <a:ext cx="933255" cy="15375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629557" y="4511478"/>
            <a:ext cx="933255" cy="15375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629557" y="4663770"/>
            <a:ext cx="933255" cy="153752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046201" y="4864906"/>
            <a:ext cx="1318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Y6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629799" y="3118880"/>
            <a:ext cx="933140" cy="17117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629799" y="3288599"/>
            <a:ext cx="933140" cy="17117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629799" y="3458317"/>
            <a:ext cx="933140" cy="17117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629799" y="3628035"/>
            <a:ext cx="933140" cy="17117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629799" y="3797753"/>
            <a:ext cx="933140" cy="17117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629799" y="3967471"/>
            <a:ext cx="933140" cy="17117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629799" y="4137190"/>
            <a:ext cx="933140" cy="17117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629799" y="4306908"/>
            <a:ext cx="933140" cy="17117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629799" y="4476626"/>
            <a:ext cx="933140" cy="17117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629799" y="4646344"/>
            <a:ext cx="933140" cy="17117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046329" y="4864906"/>
            <a:ext cx="1318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Y7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629927" y="2942224"/>
            <a:ext cx="933255" cy="18884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629927" y="3129607"/>
            <a:ext cx="933255" cy="18884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629927" y="3316991"/>
            <a:ext cx="933255" cy="18884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629927" y="3504375"/>
            <a:ext cx="933255" cy="18884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629927" y="3691759"/>
            <a:ext cx="933255" cy="18884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629927" y="3879143"/>
            <a:ext cx="933255" cy="18884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629927" y="4066527"/>
            <a:ext cx="933255" cy="18884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629927" y="4253911"/>
            <a:ext cx="933255" cy="18884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629927" y="4441295"/>
            <a:ext cx="933255" cy="18884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629927" y="4628679"/>
            <a:ext cx="933255" cy="188844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046571" y="4864906"/>
            <a:ext cx="1318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Y8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630169" y="2444435"/>
            <a:ext cx="933255" cy="2386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630169" y="2681598"/>
            <a:ext cx="933255" cy="2386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630169" y="2918761"/>
            <a:ext cx="933255" cy="2386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630169" y="3155923"/>
            <a:ext cx="933255" cy="2386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630169" y="3393086"/>
            <a:ext cx="933255" cy="2386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630169" y="3630249"/>
            <a:ext cx="933255" cy="2386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630169" y="3867412"/>
            <a:ext cx="933255" cy="2386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630169" y="4104574"/>
            <a:ext cx="933255" cy="2386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630169" y="4341737"/>
            <a:ext cx="933255" cy="2386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630169" y="4578900"/>
            <a:ext cx="933255" cy="23862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046813" y="4864906"/>
            <a:ext cx="1318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Y9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050822" y="2366720"/>
            <a:ext cx="12421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253F36"/>
                </a:solidFill>
                <a:latin typeface="Arial"/>
              </a:rPr>
              <a:t>85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630412" y="2327463"/>
            <a:ext cx="933140" cy="25032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0630412" y="2576323"/>
            <a:ext cx="933140" cy="25032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0630412" y="2825183"/>
            <a:ext cx="933140" cy="25032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0630412" y="3074043"/>
            <a:ext cx="933140" cy="25032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0630412" y="3322903"/>
            <a:ext cx="933140" cy="25032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630412" y="3571763"/>
            <a:ext cx="933140" cy="25032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630412" y="3820623"/>
            <a:ext cx="933140" cy="25032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0630412" y="4069483"/>
            <a:ext cx="933140" cy="25032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0630412" y="4318343"/>
            <a:ext cx="933140" cy="25032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0630412" y="4567203"/>
            <a:ext cx="933140" cy="25032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023890" y="4864906"/>
            <a:ext cx="17796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Y10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91814" y="5030493"/>
            <a:ext cx="91408" cy="9140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91814" y="5032319"/>
            <a:ext cx="1097978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4F6E54"/>
                </a:solidFill>
                <a:latin typeface="Arial"/>
              </a:rPr>
              <a:t>Farmer pada tabel sumber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816184" y="5030493"/>
            <a:ext cx="91408" cy="91409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816184" y="5032319"/>
            <a:ext cx="1281365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4F6E54"/>
                </a:solidFill>
                <a:latin typeface="Arial"/>
              </a:rPr>
              <a:t>Personel lain pada total sumber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91814" y="5176680"/>
            <a:ext cx="2019313" cy="938745"/>
          </a:xfrm>
          <a:prstGeom prst="rect">
            <a:avLst/>
          </a:prstGeom>
          <a:solidFill>
            <a:srgbClr val="DC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9" name="Connector 148"/>
          <p:cNvCxnSpPr/>
          <p:nvPr/>
        </p:nvCxnSpPr>
        <p:spPr>
          <a:xfrm>
            <a:off x="591814" y="5176680"/>
            <a:ext cx="2019314" cy="0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611128" y="5176680"/>
            <a:ext cx="0" cy="938745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H="1">
            <a:off x="591814" y="6115425"/>
            <a:ext cx="2019314" cy="0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591814" y="5176680"/>
            <a:ext cx="0" cy="938745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660057" y="5244923"/>
            <a:ext cx="1914833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8815B"/>
                </a:solidFill>
                <a:latin typeface="Arial"/>
              </a:rPr>
              <a:t>Y0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60057" y="5720915"/>
            <a:ext cx="1914833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253F36"/>
                </a:solidFill>
                <a:latin typeface="Arial"/>
              </a:rPr>
              <a:t>18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0057" y="5948811"/>
            <a:ext cx="191483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35 GH · 2 lokasi awal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2662253" y="5176680"/>
            <a:ext cx="2019427" cy="938745"/>
          </a:xfrm>
          <a:prstGeom prst="rect">
            <a:avLst/>
          </a:prstGeom>
          <a:solidFill>
            <a:srgbClr val="E9F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7" name="Connector 156"/>
          <p:cNvCxnSpPr/>
          <p:nvPr/>
        </p:nvCxnSpPr>
        <p:spPr>
          <a:xfrm>
            <a:off x="2662253" y="5176680"/>
            <a:ext cx="2019428" cy="0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4681681" y="5176680"/>
            <a:ext cx="0" cy="938745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>
            <a:off x="2662253" y="6115425"/>
            <a:ext cx="2019428" cy="0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662253" y="5176680"/>
            <a:ext cx="0" cy="938745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2730495" y="5244923"/>
            <a:ext cx="191494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8815B"/>
                </a:solidFill>
                <a:latin typeface="Arial"/>
              </a:rPr>
              <a:t>Y5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730495" y="5720915"/>
            <a:ext cx="1914947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253F36"/>
                </a:solidFill>
                <a:latin typeface="Arial"/>
              </a:rPr>
              <a:t>39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730495" y="5948811"/>
            <a:ext cx="1914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103 GH · ekspansi Jakarta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732806" y="5176680"/>
            <a:ext cx="2019427" cy="938745"/>
          </a:xfrm>
          <a:prstGeom prst="rect">
            <a:avLst/>
          </a:prstGeom>
          <a:solidFill>
            <a:srgbClr val="E9F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5" name="Connector 164"/>
          <p:cNvCxnSpPr/>
          <p:nvPr/>
        </p:nvCxnSpPr>
        <p:spPr>
          <a:xfrm>
            <a:off x="4732806" y="5176680"/>
            <a:ext cx="2019428" cy="0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6752234" y="5176680"/>
            <a:ext cx="0" cy="938745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H="1">
            <a:off x="4732806" y="6115425"/>
            <a:ext cx="2019428" cy="0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32806" y="5176680"/>
            <a:ext cx="0" cy="938745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4801048" y="5244923"/>
            <a:ext cx="191494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8815B"/>
                </a:solidFill>
                <a:latin typeface="Arial"/>
              </a:rPr>
              <a:t>Y6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01048" y="5720915"/>
            <a:ext cx="1914947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253F36"/>
                </a:solidFill>
                <a:latin typeface="Arial"/>
              </a:rPr>
              <a:t>52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801048" y="5948811"/>
            <a:ext cx="1914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127 GH · masuk Surabaya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803358" y="5176680"/>
            <a:ext cx="2019427" cy="938745"/>
          </a:xfrm>
          <a:prstGeom prst="rect">
            <a:avLst/>
          </a:prstGeom>
          <a:solidFill>
            <a:srgbClr val="E9F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3" name="Connector 172"/>
          <p:cNvCxnSpPr/>
          <p:nvPr/>
        </p:nvCxnSpPr>
        <p:spPr>
          <a:xfrm>
            <a:off x="6803358" y="5176680"/>
            <a:ext cx="2019428" cy="0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8822786" y="5176680"/>
            <a:ext cx="0" cy="938745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6803358" y="6115425"/>
            <a:ext cx="2019428" cy="0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6803358" y="5176680"/>
            <a:ext cx="0" cy="938745"/>
          </a:xfrm>
          <a:prstGeom prst="line">
            <a:avLst/>
          </a:prstGeom>
          <a:ln w="7303">
            <a:solidFill>
              <a:srgbClr val="BBCF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6871601" y="5244923"/>
            <a:ext cx="191494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8815B"/>
                </a:solidFill>
                <a:latin typeface="Arial"/>
              </a:rPr>
              <a:t>Y10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871601" y="5720915"/>
            <a:ext cx="1914947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253F36"/>
                </a:solidFill>
                <a:latin typeface="Arial"/>
              </a:rPr>
              <a:t>85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871601" y="5948811"/>
            <a:ext cx="1914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237 GH · 3 kota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873911" y="5176680"/>
            <a:ext cx="2726273" cy="938745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947061" y="5237619"/>
            <a:ext cx="261197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3" b="1" i="0">
                <a:solidFill>
                  <a:srgbClr val="CAEC9B"/>
                </a:solidFill>
                <a:latin typeface="Arial"/>
              </a:rPr>
              <a:t>01 / 04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947061" y="5352081"/>
            <a:ext cx="2611978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5F9EE"/>
                </a:solidFill>
                <a:latin typeface="Arial"/>
              </a:rPr>
              <a:t>Y0 · mulai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8947061" y="5528738"/>
            <a:ext cx="261197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1" b="0" i="0">
                <a:solidFill>
                  <a:srgbClr val="E0ECDF"/>
                </a:solidFill>
                <a:latin typeface="Arial"/>
              </a:rPr>
              <a:t>18 personel total menurut tabel sumber; 6 peran farmer tercatat.</a:t>
            </a:r>
          </a:p>
        </p:txBody>
      </p:sp>
      <p:cxnSp>
        <p:nvCxnSpPr>
          <p:cNvPr id="184" name="Connector 183"/>
          <p:cNvCxnSpPr/>
          <p:nvPr/>
        </p:nvCxnSpPr>
        <p:spPr>
          <a:xfrm>
            <a:off x="591814" y="6176365"/>
            <a:ext cx="11008370" cy="0"/>
          </a:xfrm>
          <a:prstGeom prst="line">
            <a:avLst/>
          </a:prstGeom>
          <a:ln w="7303">
            <a:solidFill>
              <a:srgbClr val="B7C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591814" y="6232397"/>
            <a:ext cx="1104037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57A66"/>
                </a:solidFill>
                <a:latin typeface="Arial"/>
              </a:rPr>
              <a:t>Total dan baris Farmer mengikuti tabel sumber. Rincian jabatan pada tabel belum sepenuhnya menjumlah ke total tercetak.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TextBox 186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630284" y="6537324"/>
            <a:ext cx="202632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SUMBER: PDF ASLI + CATATAN · HALAMAN 51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34098" y="328891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PRESENTASI 40 / 66 · ASLI 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075460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Biaya orang, tahun demi tahun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814" y="1631792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Payroll, hiring, training, dan teknologi pada tabel SDM sumber membentuk rencana biaya.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91814" y="2384637"/>
            <a:ext cx="11008370" cy="0"/>
          </a:xfrm>
          <a:prstGeom prst="line">
            <a:avLst/>
          </a:prstGeom>
          <a:ln w="7303">
            <a:solidFill>
              <a:srgbClr val="98B3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1814" y="1930214"/>
            <a:ext cx="2390133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4" b="1" i="0">
                <a:solidFill>
                  <a:srgbClr val="5C805D"/>
                </a:solidFill>
                <a:latin typeface="Arial"/>
              </a:rPr>
              <a:t>PAYROLL ALL · TABEL SDM SUMBER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814" y="2012950"/>
            <a:ext cx="239013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7" b="1" i="0">
                <a:solidFill>
                  <a:srgbClr val="253F36"/>
                </a:solidFill>
                <a:latin typeface="Arial"/>
              </a:rPr>
              <a:t>Rp1.682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0429" y="2012950"/>
            <a:ext cx="295616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7" b="1" i="0">
                <a:solidFill>
                  <a:srgbClr val="88B870"/>
                </a:solidFill>
                <a:latin typeface="Arial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1814" y="2012950"/>
            <a:ext cx="239013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7" b="1" i="0">
                <a:solidFill>
                  <a:srgbClr val="253F36"/>
                </a:solidFill>
                <a:latin typeface="Arial"/>
              </a:rPr>
              <a:t>11.822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52748" y="2173630"/>
            <a:ext cx="22919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253F36"/>
                </a:solidFill>
                <a:latin typeface="Arial"/>
              </a:rPr>
              <a:t>juta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75229" y="2027671"/>
            <a:ext cx="155695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4" b="1" i="0">
                <a:solidFill>
                  <a:srgbClr val="5C805D"/>
                </a:solidFill>
                <a:latin typeface="Arial"/>
              </a:rPr>
              <a:t>TOTAL BIAYA SDM Y10 · SUMBER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75229" y="2125015"/>
            <a:ext cx="1556959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253F36"/>
                </a:solidFill>
                <a:latin typeface="Arial"/>
              </a:rPr>
              <a:t>Rp11.905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30004" y="2190748"/>
            <a:ext cx="22919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253F36"/>
                </a:solidFill>
                <a:latin typeface="Arial"/>
              </a:rPr>
              <a:t>juta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591814" y="4804879"/>
            <a:ext cx="11008370" cy="0"/>
          </a:xfrm>
          <a:prstGeom prst="line">
            <a:avLst/>
          </a:prstGeom>
          <a:ln w="7303">
            <a:solidFill>
              <a:srgbClr val="729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677" y="4229375"/>
            <a:ext cx="23034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253F36"/>
                </a:solidFill>
                <a:latin typeface="Arial"/>
              </a:rPr>
              <a:t>1.682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32" y="4464461"/>
            <a:ext cx="933140" cy="34772"/>
          </a:xfrm>
          <a:prstGeom prst="rect">
            <a:avLst/>
          </a:prstGeom>
          <a:solidFill>
            <a:srgbClr val="286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32" y="4497772"/>
            <a:ext cx="933140" cy="34772"/>
          </a:xfrm>
          <a:prstGeom prst="rect">
            <a:avLst/>
          </a:prstGeom>
          <a:solidFill>
            <a:srgbClr val="337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332" y="4531084"/>
            <a:ext cx="933140" cy="34772"/>
          </a:xfrm>
          <a:prstGeom prst="rect">
            <a:avLst/>
          </a:prstGeom>
          <a:solidFill>
            <a:srgbClr val="3E7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332" y="4564395"/>
            <a:ext cx="933140" cy="34772"/>
          </a:xfrm>
          <a:prstGeom prst="rect">
            <a:avLst/>
          </a:prstGeom>
          <a:solidFill>
            <a:srgbClr val="498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8332" y="4597707"/>
            <a:ext cx="933140" cy="34772"/>
          </a:xfrm>
          <a:prstGeom prst="rect">
            <a:avLst/>
          </a:prstGeom>
          <a:solidFill>
            <a:srgbClr val="54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8332" y="4631018"/>
            <a:ext cx="933140" cy="34772"/>
          </a:xfrm>
          <a:prstGeom prst="rect">
            <a:avLst/>
          </a:prstGeom>
          <a:solidFill>
            <a:srgbClr val="609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332" y="4664330"/>
            <a:ext cx="933140" cy="34772"/>
          </a:xfrm>
          <a:prstGeom prst="rect">
            <a:avLst/>
          </a:prstGeom>
          <a:solidFill>
            <a:srgbClr val="6BA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332" y="4697641"/>
            <a:ext cx="933140" cy="34772"/>
          </a:xfrm>
          <a:prstGeom prst="rect">
            <a:avLst/>
          </a:prstGeom>
          <a:solidFill>
            <a:srgbClr val="76AE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8332" y="4730952"/>
            <a:ext cx="933140" cy="34772"/>
          </a:xfrm>
          <a:prstGeom prst="rect">
            <a:avLst/>
          </a:prstGeom>
          <a:solidFill>
            <a:srgbClr val="81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8332" y="4764264"/>
            <a:ext cx="933140" cy="34772"/>
          </a:xfrm>
          <a:prstGeom prst="rect">
            <a:avLst/>
          </a:prstGeom>
          <a:solidFill>
            <a:srgbClr val="8CC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6345" y="4851326"/>
            <a:ext cx="12888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253F36"/>
                </a:solidFill>
                <a:latin typeface="Arial"/>
              </a:rPr>
              <a:t>Y0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28460" y="4455103"/>
            <a:ext cx="933255" cy="35707"/>
          </a:xfrm>
          <a:prstGeom prst="rect">
            <a:avLst/>
          </a:prstGeom>
          <a:solidFill>
            <a:srgbClr val="286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28460" y="4489350"/>
            <a:ext cx="933255" cy="35707"/>
          </a:xfrm>
          <a:prstGeom prst="rect">
            <a:avLst/>
          </a:prstGeom>
          <a:solidFill>
            <a:srgbClr val="337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28460" y="4523598"/>
            <a:ext cx="933255" cy="35707"/>
          </a:xfrm>
          <a:prstGeom prst="rect">
            <a:avLst/>
          </a:prstGeom>
          <a:solidFill>
            <a:srgbClr val="3E7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28460" y="4557845"/>
            <a:ext cx="933255" cy="35707"/>
          </a:xfrm>
          <a:prstGeom prst="rect">
            <a:avLst/>
          </a:prstGeom>
          <a:solidFill>
            <a:srgbClr val="498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28460" y="4592092"/>
            <a:ext cx="933255" cy="35707"/>
          </a:xfrm>
          <a:prstGeom prst="rect">
            <a:avLst/>
          </a:prstGeom>
          <a:solidFill>
            <a:srgbClr val="54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28460" y="4626339"/>
            <a:ext cx="933255" cy="35707"/>
          </a:xfrm>
          <a:prstGeom prst="rect">
            <a:avLst/>
          </a:prstGeom>
          <a:solidFill>
            <a:srgbClr val="609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28460" y="4660587"/>
            <a:ext cx="933255" cy="35707"/>
          </a:xfrm>
          <a:prstGeom prst="rect">
            <a:avLst/>
          </a:prstGeom>
          <a:solidFill>
            <a:srgbClr val="6BA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28460" y="4694834"/>
            <a:ext cx="933255" cy="35707"/>
          </a:xfrm>
          <a:prstGeom prst="rect">
            <a:avLst/>
          </a:prstGeom>
          <a:solidFill>
            <a:srgbClr val="76AE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28460" y="4729081"/>
            <a:ext cx="933255" cy="35707"/>
          </a:xfrm>
          <a:prstGeom prst="rect">
            <a:avLst/>
          </a:prstGeom>
          <a:solidFill>
            <a:srgbClr val="81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28460" y="4763328"/>
            <a:ext cx="933255" cy="35707"/>
          </a:xfrm>
          <a:prstGeom prst="rect">
            <a:avLst/>
          </a:prstGeom>
          <a:solidFill>
            <a:srgbClr val="8CC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46588" y="4851326"/>
            <a:ext cx="12888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253F36"/>
                </a:solidFill>
                <a:latin typeface="Arial"/>
              </a:rPr>
              <a:t>Y1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28702" y="4351939"/>
            <a:ext cx="933255" cy="46024"/>
          </a:xfrm>
          <a:prstGeom prst="rect">
            <a:avLst/>
          </a:prstGeom>
          <a:solidFill>
            <a:srgbClr val="286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628702" y="4396503"/>
            <a:ext cx="933255" cy="46024"/>
          </a:xfrm>
          <a:prstGeom prst="rect">
            <a:avLst/>
          </a:prstGeom>
          <a:solidFill>
            <a:srgbClr val="337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28702" y="4441067"/>
            <a:ext cx="933255" cy="46024"/>
          </a:xfrm>
          <a:prstGeom prst="rect">
            <a:avLst/>
          </a:prstGeom>
          <a:solidFill>
            <a:srgbClr val="3E7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28702" y="4485630"/>
            <a:ext cx="933255" cy="46024"/>
          </a:xfrm>
          <a:prstGeom prst="rect">
            <a:avLst/>
          </a:prstGeom>
          <a:solidFill>
            <a:srgbClr val="498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28702" y="4530194"/>
            <a:ext cx="933255" cy="46024"/>
          </a:xfrm>
          <a:prstGeom prst="rect">
            <a:avLst/>
          </a:prstGeom>
          <a:solidFill>
            <a:srgbClr val="54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28702" y="4574757"/>
            <a:ext cx="933255" cy="46024"/>
          </a:xfrm>
          <a:prstGeom prst="rect">
            <a:avLst/>
          </a:prstGeom>
          <a:solidFill>
            <a:srgbClr val="609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28702" y="4619321"/>
            <a:ext cx="933255" cy="46024"/>
          </a:xfrm>
          <a:prstGeom prst="rect">
            <a:avLst/>
          </a:prstGeom>
          <a:solidFill>
            <a:srgbClr val="6BA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28702" y="4663885"/>
            <a:ext cx="933255" cy="46024"/>
          </a:xfrm>
          <a:prstGeom prst="rect">
            <a:avLst/>
          </a:prstGeom>
          <a:solidFill>
            <a:srgbClr val="76AE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628702" y="4708448"/>
            <a:ext cx="933255" cy="46024"/>
          </a:xfrm>
          <a:prstGeom prst="rect">
            <a:avLst/>
          </a:prstGeom>
          <a:solidFill>
            <a:srgbClr val="81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628702" y="4753012"/>
            <a:ext cx="933255" cy="46024"/>
          </a:xfrm>
          <a:prstGeom prst="rect">
            <a:avLst/>
          </a:prstGeom>
          <a:solidFill>
            <a:srgbClr val="8CC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46830" y="4851326"/>
            <a:ext cx="12888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253F36"/>
                </a:solidFill>
                <a:latin typeface="Arial"/>
              </a:rPr>
              <a:t>Y2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28944" y="4190004"/>
            <a:ext cx="933140" cy="62217"/>
          </a:xfrm>
          <a:prstGeom prst="rect">
            <a:avLst/>
          </a:prstGeom>
          <a:solidFill>
            <a:srgbClr val="286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28944" y="4250761"/>
            <a:ext cx="933140" cy="62217"/>
          </a:xfrm>
          <a:prstGeom prst="rect">
            <a:avLst/>
          </a:prstGeom>
          <a:solidFill>
            <a:srgbClr val="337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28944" y="4311518"/>
            <a:ext cx="933140" cy="62217"/>
          </a:xfrm>
          <a:prstGeom prst="rect">
            <a:avLst/>
          </a:prstGeom>
          <a:solidFill>
            <a:srgbClr val="3E7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28944" y="4372275"/>
            <a:ext cx="933140" cy="62217"/>
          </a:xfrm>
          <a:prstGeom prst="rect">
            <a:avLst/>
          </a:prstGeom>
          <a:solidFill>
            <a:srgbClr val="498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28944" y="4433033"/>
            <a:ext cx="933140" cy="62217"/>
          </a:xfrm>
          <a:prstGeom prst="rect">
            <a:avLst/>
          </a:prstGeom>
          <a:solidFill>
            <a:srgbClr val="54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28944" y="4493790"/>
            <a:ext cx="933140" cy="62217"/>
          </a:xfrm>
          <a:prstGeom prst="rect">
            <a:avLst/>
          </a:prstGeom>
          <a:solidFill>
            <a:srgbClr val="609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28944" y="4554547"/>
            <a:ext cx="933140" cy="62217"/>
          </a:xfrm>
          <a:prstGeom prst="rect">
            <a:avLst/>
          </a:prstGeom>
          <a:solidFill>
            <a:srgbClr val="6BA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28944" y="4615304"/>
            <a:ext cx="933140" cy="62217"/>
          </a:xfrm>
          <a:prstGeom prst="rect">
            <a:avLst/>
          </a:prstGeom>
          <a:solidFill>
            <a:srgbClr val="76AE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628944" y="4676061"/>
            <a:ext cx="933140" cy="62217"/>
          </a:xfrm>
          <a:prstGeom prst="rect">
            <a:avLst/>
          </a:prstGeom>
          <a:solidFill>
            <a:srgbClr val="81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28944" y="4736818"/>
            <a:ext cx="933140" cy="62217"/>
          </a:xfrm>
          <a:prstGeom prst="rect">
            <a:avLst/>
          </a:prstGeom>
          <a:solidFill>
            <a:srgbClr val="8CC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46958" y="4851326"/>
            <a:ext cx="12888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253F36"/>
                </a:solidFill>
                <a:latin typeface="Arial"/>
              </a:rPr>
              <a:t>Y3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29073" y="4075086"/>
            <a:ext cx="933255" cy="73709"/>
          </a:xfrm>
          <a:prstGeom prst="rect">
            <a:avLst/>
          </a:prstGeom>
          <a:solidFill>
            <a:srgbClr val="286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629073" y="4147335"/>
            <a:ext cx="933255" cy="73709"/>
          </a:xfrm>
          <a:prstGeom prst="rect">
            <a:avLst/>
          </a:prstGeom>
          <a:solidFill>
            <a:srgbClr val="337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629073" y="4219584"/>
            <a:ext cx="933255" cy="73709"/>
          </a:xfrm>
          <a:prstGeom prst="rect">
            <a:avLst/>
          </a:prstGeom>
          <a:solidFill>
            <a:srgbClr val="3E7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629073" y="4291833"/>
            <a:ext cx="933255" cy="73709"/>
          </a:xfrm>
          <a:prstGeom prst="rect">
            <a:avLst/>
          </a:prstGeom>
          <a:solidFill>
            <a:srgbClr val="498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29073" y="4364082"/>
            <a:ext cx="933255" cy="73709"/>
          </a:xfrm>
          <a:prstGeom prst="rect">
            <a:avLst/>
          </a:prstGeom>
          <a:solidFill>
            <a:srgbClr val="54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629073" y="4436331"/>
            <a:ext cx="933255" cy="73709"/>
          </a:xfrm>
          <a:prstGeom prst="rect">
            <a:avLst/>
          </a:prstGeom>
          <a:solidFill>
            <a:srgbClr val="609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629073" y="4508580"/>
            <a:ext cx="933255" cy="73709"/>
          </a:xfrm>
          <a:prstGeom prst="rect">
            <a:avLst/>
          </a:prstGeom>
          <a:solidFill>
            <a:srgbClr val="6BA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629073" y="4580829"/>
            <a:ext cx="933255" cy="73709"/>
          </a:xfrm>
          <a:prstGeom prst="rect">
            <a:avLst/>
          </a:prstGeom>
          <a:solidFill>
            <a:srgbClr val="76AE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29073" y="4653077"/>
            <a:ext cx="933255" cy="73709"/>
          </a:xfrm>
          <a:prstGeom prst="rect">
            <a:avLst/>
          </a:prstGeom>
          <a:solidFill>
            <a:srgbClr val="81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629073" y="4725326"/>
            <a:ext cx="933255" cy="73709"/>
          </a:xfrm>
          <a:prstGeom prst="rect">
            <a:avLst/>
          </a:prstGeom>
          <a:solidFill>
            <a:srgbClr val="8CC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47200" y="4851326"/>
            <a:ext cx="12888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253F36"/>
                </a:solidFill>
                <a:latin typeface="Arial"/>
              </a:rPr>
              <a:t>Y4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96774" y="3551392"/>
            <a:ext cx="23034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253F36"/>
                </a:solidFill>
                <a:latin typeface="Arial"/>
              </a:rPr>
              <a:t>5.094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29315" y="3786478"/>
            <a:ext cx="933255" cy="102570"/>
          </a:xfrm>
          <a:prstGeom prst="rect">
            <a:avLst/>
          </a:prstGeom>
          <a:solidFill>
            <a:srgbClr val="286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29315" y="3887588"/>
            <a:ext cx="933255" cy="102570"/>
          </a:xfrm>
          <a:prstGeom prst="rect">
            <a:avLst/>
          </a:prstGeom>
          <a:solidFill>
            <a:srgbClr val="337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629315" y="3988698"/>
            <a:ext cx="933255" cy="102570"/>
          </a:xfrm>
          <a:prstGeom prst="rect">
            <a:avLst/>
          </a:prstGeom>
          <a:solidFill>
            <a:srgbClr val="3E7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629315" y="4089807"/>
            <a:ext cx="933255" cy="102570"/>
          </a:xfrm>
          <a:prstGeom prst="rect">
            <a:avLst/>
          </a:prstGeom>
          <a:solidFill>
            <a:srgbClr val="498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29315" y="4190917"/>
            <a:ext cx="933255" cy="102570"/>
          </a:xfrm>
          <a:prstGeom prst="rect">
            <a:avLst/>
          </a:prstGeom>
          <a:solidFill>
            <a:srgbClr val="54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29315" y="4292027"/>
            <a:ext cx="933255" cy="102570"/>
          </a:xfrm>
          <a:prstGeom prst="rect">
            <a:avLst/>
          </a:prstGeom>
          <a:solidFill>
            <a:srgbClr val="609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629315" y="4393136"/>
            <a:ext cx="933255" cy="102570"/>
          </a:xfrm>
          <a:prstGeom prst="rect">
            <a:avLst/>
          </a:prstGeom>
          <a:solidFill>
            <a:srgbClr val="6BA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629315" y="4494246"/>
            <a:ext cx="933255" cy="102570"/>
          </a:xfrm>
          <a:prstGeom prst="rect">
            <a:avLst/>
          </a:prstGeom>
          <a:solidFill>
            <a:srgbClr val="76AE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629315" y="4595356"/>
            <a:ext cx="933255" cy="102570"/>
          </a:xfrm>
          <a:prstGeom prst="rect">
            <a:avLst/>
          </a:prstGeom>
          <a:solidFill>
            <a:srgbClr val="81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629315" y="4696466"/>
            <a:ext cx="933255" cy="102570"/>
          </a:xfrm>
          <a:prstGeom prst="rect">
            <a:avLst/>
          </a:prstGeom>
          <a:solidFill>
            <a:srgbClr val="8CC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047442" y="4851326"/>
            <a:ext cx="12888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253F36"/>
                </a:solidFill>
                <a:latin typeface="Arial"/>
              </a:rPr>
              <a:t>Y5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557" y="3263355"/>
            <a:ext cx="933255" cy="154882"/>
          </a:xfrm>
          <a:prstGeom prst="rect">
            <a:avLst/>
          </a:prstGeom>
          <a:solidFill>
            <a:srgbClr val="286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629557" y="3416777"/>
            <a:ext cx="933255" cy="154882"/>
          </a:xfrm>
          <a:prstGeom prst="rect">
            <a:avLst/>
          </a:prstGeom>
          <a:solidFill>
            <a:srgbClr val="337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629557" y="3570199"/>
            <a:ext cx="933255" cy="154882"/>
          </a:xfrm>
          <a:prstGeom prst="rect">
            <a:avLst/>
          </a:prstGeom>
          <a:solidFill>
            <a:srgbClr val="3E7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629557" y="3723621"/>
            <a:ext cx="933255" cy="154882"/>
          </a:xfrm>
          <a:prstGeom prst="rect">
            <a:avLst/>
          </a:prstGeom>
          <a:solidFill>
            <a:srgbClr val="498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629557" y="3877043"/>
            <a:ext cx="933255" cy="154882"/>
          </a:xfrm>
          <a:prstGeom prst="rect">
            <a:avLst/>
          </a:prstGeom>
          <a:solidFill>
            <a:srgbClr val="54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629557" y="4030465"/>
            <a:ext cx="933255" cy="154882"/>
          </a:xfrm>
          <a:prstGeom prst="rect">
            <a:avLst/>
          </a:prstGeom>
          <a:solidFill>
            <a:srgbClr val="609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629557" y="4183887"/>
            <a:ext cx="933255" cy="154882"/>
          </a:xfrm>
          <a:prstGeom prst="rect">
            <a:avLst/>
          </a:prstGeom>
          <a:solidFill>
            <a:srgbClr val="6BA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629557" y="4337309"/>
            <a:ext cx="933255" cy="154882"/>
          </a:xfrm>
          <a:prstGeom prst="rect">
            <a:avLst/>
          </a:prstGeom>
          <a:solidFill>
            <a:srgbClr val="76AE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629557" y="4490731"/>
            <a:ext cx="933255" cy="154882"/>
          </a:xfrm>
          <a:prstGeom prst="rect">
            <a:avLst/>
          </a:prstGeom>
          <a:solidFill>
            <a:srgbClr val="81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629557" y="4644153"/>
            <a:ext cx="933255" cy="154882"/>
          </a:xfrm>
          <a:prstGeom prst="rect">
            <a:avLst/>
          </a:prstGeom>
          <a:solidFill>
            <a:srgbClr val="8CC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047684" y="4851326"/>
            <a:ext cx="12888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253F36"/>
                </a:solidFill>
                <a:latin typeface="Arial"/>
              </a:rPr>
              <a:t>Y6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629799" y="3094459"/>
            <a:ext cx="933140" cy="171772"/>
          </a:xfrm>
          <a:prstGeom prst="rect">
            <a:avLst/>
          </a:prstGeom>
          <a:solidFill>
            <a:srgbClr val="286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629799" y="3264770"/>
            <a:ext cx="933140" cy="171772"/>
          </a:xfrm>
          <a:prstGeom prst="rect">
            <a:avLst/>
          </a:prstGeom>
          <a:solidFill>
            <a:srgbClr val="337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629799" y="3435082"/>
            <a:ext cx="933140" cy="171772"/>
          </a:xfrm>
          <a:prstGeom prst="rect">
            <a:avLst/>
          </a:prstGeom>
          <a:solidFill>
            <a:srgbClr val="3E7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629799" y="3605394"/>
            <a:ext cx="933140" cy="171772"/>
          </a:xfrm>
          <a:prstGeom prst="rect">
            <a:avLst/>
          </a:prstGeom>
          <a:solidFill>
            <a:srgbClr val="498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629799" y="3775705"/>
            <a:ext cx="933140" cy="171772"/>
          </a:xfrm>
          <a:prstGeom prst="rect">
            <a:avLst/>
          </a:prstGeom>
          <a:solidFill>
            <a:srgbClr val="54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629799" y="3946017"/>
            <a:ext cx="933140" cy="171772"/>
          </a:xfrm>
          <a:prstGeom prst="rect">
            <a:avLst/>
          </a:prstGeom>
          <a:solidFill>
            <a:srgbClr val="609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629799" y="4116329"/>
            <a:ext cx="933140" cy="171772"/>
          </a:xfrm>
          <a:prstGeom prst="rect">
            <a:avLst/>
          </a:prstGeom>
          <a:solidFill>
            <a:srgbClr val="6BA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629799" y="4286640"/>
            <a:ext cx="933140" cy="171772"/>
          </a:xfrm>
          <a:prstGeom prst="rect">
            <a:avLst/>
          </a:prstGeom>
          <a:solidFill>
            <a:srgbClr val="76AE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629799" y="4456952"/>
            <a:ext cx="933140" cy="171772"/>
          </a:xfrm>
          <a:prstGeom prst="rect">
            <a:avLst/>
          </a:prstGeom>
          <a:solidFill>
            <a:srgbClr val="81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629799" y="4627264"/>
            <a:ext cx="933140" cy="171772"/>
          </a:xfrm>
          <a:prstGeom prst="rect">
            <a:avLst/>
          </a:prstGeom>
          <a:solidFill>
            <a:srgbClr val="8CC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047813" y="4851326"/>
            <a:ext cx="12888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253F36"/>
                </a:solidFill>
                <a:latin typeface="Arial"/>
              </a:rPr>
              <a:t>Y7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629927" y="2920883"/>
            <a:ext cx="933255" cy="189129"/>
          </a:xfrm>
          <a:prstGeom prst="rect">
            <a:avLst/>
          </a:prstGeom>
          <a:solidFill>
            <a:srgbClr val="286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629927" y="3108552"/>
            <a:ext cx="933255" cy="189129"/>
          </a:xfrm>
          <a:prstGeom prst="rect">
            <a:avLst/>
          </a:prstGeom>
          <a:solidFill>
            <a:srgbClr val="337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629927" y="3296222"/>
            <a:ext cx="933255" cy="189129"/>
          </a:xfrm>
          <a:prstGeom prst="rect">
            <a:avLst/>
          </a:prstGeom>
          <a:solidFill>
            <a:srgbClr val="3E7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629927" y="3483891"/>
            <a:ext cx="933255" cy="189129"/>
          </a:xfrm>
          <a:prstGeom prst="rect">
            <a:avLst/>
          </a:prstGeom>
          <a:solidFill>
            <a:srgbClr val="498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629927" y="3671560"/>
            <a:ext cx="933255" cy="189129"/>
          </a:xfrm>
          <a:prstGeom prst="rect">
            <a:avLst/>
          </a:prstGeom>
          <a:solidFill>
            <a:srgbClr val="54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629927" y="3859229"/>
            <a:ext cx="933255" cy="189129"/>
          </a:xfrm>
          <a:prstGeom prst="rect">
            <a:avLst/>
          </a:prstGeom>
          <a:solidFill>
            <a:srgbClr val="609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629927" y="4046899"/>
            <a:ext cx="933255" cy="189129"/>
          </a:xfrm>
          <a:prstGeom prst="rect">
            <a:avLst/>
          </a:prstGeom>
          <a:solidFill>
            <a:srgbClr val="6BA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629927" y="4234568"/>
            <a:ext cx="933255" cy="189129"/>
          </a:xfrm>
          <a:prstGeom prst="rect">
            <a:avLst/>
          </a:prstGeom>
          <a:solidFill>
            <a:srgbClr val="76AE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629927" y="4422237"/>
            <a:ext cx="933255" cy="189129"/>
          </a:xfrm>
          <a:prstGeom prst="rect">
            <a:avLst/>
          </a:prstGeom>
          <a:solidFill>
            <a:srgbClr val="81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629927" y="4609906"/>
            <a:ext cx="933255" cy="189129"/>
          </a:xfrm>
          <a:prstGeom prst="rect">
            <a:avLst/>
          </a:prstGeom>
          <a:solidFill>
            <a:srgbClr val="8CC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048055" y="4851326"/>
            <a:ext cx="12888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253F36"/>
                </a:solidFill>
                <a:latin typeface="Arial"/>
              </a:rPr>
              <a:t>Y8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630169" y="2583090"/>
            <a:ext cx="933255" cy="222909"/>
          </a:xfrm>
          <a:prstGeom prst="rect">
            <a:avLst/>
          </a:prstGeom>
          <a:solidFill>
            <a:srgbClr val="9B7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630169" y="2804539"/>
            <a:ext cx="933255" cy="222909"/>
          </a:xfrm>
          <a:prstGeom prst="rect">
            <a:avLst/>
          </a:prstGeom>
          <a:solidFill>
            <a:srgbClr val="A2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630169" y="3025987"/>
            <a:ext cx="933255" cy="222909"/>
          </a:xfrm>
          <a:prstGeom prst="rect">
            <a:avLst/>
          </a:prstGeom>
          <a:solidFill>
            <a:srgbClr val="A98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630169" y="3247436"/>
            <a:ext cx="933255" cy="222909"/>
          </a:xfrm>
          <a:prstGeom prst="rect">
            <a:avLst/>
          </a:prstGeom>
          <a:solidFill>
            <a:srgbClr val="AF8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630169" y="3468884"/>
            <a:ext cx="933255" cy="222909"/>
          </a:xfrm>
          <a:prstGeom prst="rect">
            <a:avLst/>
          </a:prstGeom>
          <a:solidFill>
            <a:srgbClr val="B69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630169" y="3690333"/>
            <a:ext cx="933255" cy="222909"/>
          </a:xfrm>
          <a:prstGeom prst="rect">
            <a:avLst/>
          </a:prstGeom>
          <a:solidFill>
            <a:srgbClr val="BD9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630169" y="3911781"/>
            <a:ext cx="933255" cy="222909"/>
          </a:xfrm>
          <a:prstGeom prst="rect">
            <a:avLst/>
          </a:prstGeom>
          <a:solidFill>
            <a:srgbClr val="C4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630169" y="4133230"/>
            <a:ext cx="933255" cy="222909"/>
          </a:xfrm>
          <a:prstGeom prst="rect">
            <a:avLst/>
          </a:prstGeom>
          <a:solidFill>
            <a:srgbClr val="CAA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9630169" y="4354678"/>
            <a:ext cx="933255" cy="222909"/>
          </a:xfrm>
          <a:prstGeom prst="rect">
            <a:avLst/>
          </a:prstGeom>
          <a:solidFill>
            <a:srgbClr val="D1B0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9630169" y="4576127"/>
            <a:ext cx="933255" cy="222909"/>
          </a:xfrm>
          <a:prstGeom prst="rect">
            <a:avLst/>
          </a:prstGeom>
          <a:solidFill>
            <a:srgbClr val="D8B8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048297" y="4851326"/>
            <a:ext cx="12888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253F36"/>
                </a:solidFill>
                <a:latin typeface="Arial"/>
              </a:rPr>
              <a:t>Y9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975732" y="2490882"/>
            <a:ext cx="27439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253F36"/>
                </a:solidFill>
                <a:latin typeface="Arial"/>
              </a:rPr>
              <a:t>11.822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630412" y="2451625"/>
            <a:ext cx="933140" cy="236055"/>
          </a:xfrm>
          <a:prstGeom prst="rect">
            <a:avLst/>
          </a:prstGeom>
          <a:solidFill>
            <a:srgbClr val="9B7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0630412" y="2686220"/>
            <a:ext cx="933140" cy="236055"/>
          </a:xfrm>
          <a:prstGeom prst="rect">
            <a:avLst/>
          </a:prstGeom>
          <a:solidFill>
            <a:srgbClr val="A2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0630412" y="2920815"/>
            <a:ext cx="933140" cy="236055"/>
          </a:xfrm>
          <a:prstGeom prst="rect">
            <a:avLst/>
          </a:prstGeom>
          <a:solidFill>
            <a:srgbClr val="A98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630412" y="3155410"/>
            <a:ext cx="933140" cy="236055"/>
          </a:xfrm>
          <a:prstGeom prst="rect">
            <a:avLst/>
          </a:prstGeom>
          <a:solidFill>
            <a:srgbClr val="AF8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630412" y="3390005"/>
            <a:ext cx="933140" cy="236055"/>
          </a:xfrm>
          <a:prstGeom prst="rect">
            <a:avLst/>
          </a:prstGeom>
          <a:solidFill>
            <a:srgbClr val="B69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0630412" y="3624600"/>
            <a:ext cx="933140" cy="236055"/>
          </a:xfrm>
          <a:prstGeom prst="rect">
            <a:avLst/>
          </a:prstGeom>
          <a:solidFill>
            <a:srgbClr val="BD9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0630412" y="3859195"/>
            <a:ext cx="933140" cy="236055"/>
          </a:xfrm>
          <a:prstGeom prst="rect">
            <a:avLst/>
          </a:prstGeom>
          <a:solidFill>
            <a:srgbClr val="C4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0630412" y="4093790"/>
            <a:ext cx="933140" cy="236055"/>
          </a:xfrm>
          <a:prstGeom prst="rect">
            <a:avLst/>
          </a:prstGeom>
          <a:solidFill>
            <a:srgbClr val="CAA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630412" y="4328385"/>
            <a:ext cx="933140" cy="236055"/>
          </a:xfrm>
          <a:prstGeom prst="rect">
            <a:avLst/>
          </a:prstGeom>
          <a:solidFill>
            <a:srgbClr val="D1B0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630412" y="4562980"/>
            <a:ext cx="933140" cy="236055"/>
          </a:xfrm>
          <a:prstGeom prst="rect">
            <a:avLst/>
          </a:prstGeom>
          <a:solidFill>
            <a:srgbClr val="D8B8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1026058" y="4851326"/>
            <a:ext cx="17362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253F36"/>
                </a:solidFill>
                <a:latin typeface="Arial"/>
              </a:rPr>
              <a:t>Y10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91814" y="5018168"/>
            <a:ext cx="2310428" cy="1097257"/>
          </a:xfrm>
          <a:prstGeom prst="rect">
            <a:avLst/>
          </a:prstGeom>
          <a:solidFill>
            <a:srgbClr val="DC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7" name="Connector 146"/>
          <p:cNvCxnSpPr/>
          <p:nvPr/>
        </p:nvCxnSpPr>
        <p:spPr>
          <a:xfrm>
            <a:off x="591814" y="5018168"/>
            <a:ext cx="2310429" cy="0"/>
          </a:xfrm>
          <a:prstGeom prst="line">
            <a:avLst/>
          </a:prstGeom>
          <a:ln w="7303">
            <a:solidFill>
              <a:srgbClr val="B9CF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902243" y="5018168"/>
            <a:ext cx="0" cy="1097257"/>
          </a:xfrm>
          <a:prstGeom prst="line">
            <a:avLst/>
          </a:prstGeom>
          <a:ln w="7303">
            <a:solidFill>
              <a:srgbClr val="B9CF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591814" y="6115425"/>
            <a:ext cx="2310429" cy="0"/>
          </a:xfrm>
          <a:prstGeom prst="line">
            <a:avLst/>
          </a:prstGeom>
          <a:ln w="7303">
            <a:solidFill>
              <a:srgbClr val="B9CF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591814" y="5018168"/>
            <a:ext cx="0" cy="1097257"/>
          </a:xfrm>
          <a:prstGeom prst="line">
            <a:avLst/>
          </a:prstGeom>
          <a:ln w="7303">
            <a:solidFill>
              <a:srgbClr val="B9CF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666105" y="5092460"/>
            <a:ext cx="219385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5B825D"/>
                </a:solidFill>
                <a:latin typeface="Arial"/>
              </a:rPr>
              <a:t>Y0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6105" y="5750243"/>
            <a:ext cx="2193850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1" b="1" i="0">
                <a:solidFill>
                  <a:srgbClr val="253F36"/>
                </a:solidFill>
                <a:latin typeface="Arial"/>
              </a:rPr>
              <a:t>Rp1.682 jt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6105" y="5942763"/>
            <a:ext cx="219385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Rp12,6 jt hiring · Rp11 jt training · Rp7 jt teknologi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2953367" y="5018168"/>
            <a:ext cx="2310428" cy="1097257"/>
          </a:xfrm>
          <a:prstGeom prst="rect">
            <a:avLst/>
          </a:prstGeom>
          <a:solidFill>
            <a:srgbClr val="E7F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5" name="Connector 154"/>
          <p:cNvCxnSpPr/>
          <p:nvPr/>
        </p:nvCxnSpPr>
        <p:spPr>
          <a:xfrm>
            <a:off x="2953367" y="5018168"/>
            <a:ext cx="2310429" cy="0"/>
          </a:xfrm>
          <a:prstGeom prst="line">
            <a:avLst/>
          </a:prstGeom>
          <a:ln w="7303">
            <a:solidFill>
              <a:srgbClr val="B9CF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5263796" y="5018168"/>
            <a:ext cx="0" cy="1097257"/>
          </a:xfrm>
          <a:prstGeom prst="line">
            <a:avLst/>
          </a:prstGeom>
          <a:ln w="7303">
            <a:solidFill>
              <a:srgbClr val="B9CF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H="1">
            <a:off x="2953367" y="6115425"/>
            <a:ext cx="2310429" cy="0"/>
          </a:xfrm>
          <a:prstGeom prst="line">
            <a:avLst/>
          </a:prstGeom>
          <a:ln w="7303">
            <a:solidFill>
              <a:srgbClr val="B9CF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953367" y="5018168"/>
            <a:ext cx="0" cy="1097257"/>
          </a:xfrm>
          <a:prstGeom prst="line">
            <a:avLst/>
          </a:prstGeom>
          <a:ln w="7303">
            <a:solidFill>
              <a:srgbClr val="B9CF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3027658" y="5092460"/>
            <a:ext cx="219385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5B825D"/>
                </a:solidFill>
                <a:latin typeface="Arial"/>
              </a:rPr>
              <a:t>Y5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027658" y="5750243"/>
            <a:ext cx="2193850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1" b="1" i="0">
                <a:solidFill>
                  <a:srgbClr val="253F36"/>
                </a:solidFill>
                <a:latin typeface="Arial"/>
              </a:rPr>
              <a:t>Rp5.094 jt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027658" y="5942763"/>
            <a:ext cx="219385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Rp6,3 jt hiring · Rp48 jt training · Rp7 jt teknologi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14920" y="5018168"/>
            <a:ext cx="2310542" cy="1097257"/>
          </a:xfrm>
          <a:prstGeom prst="rect">
            <a:avLst/>
          </a:prstGeom>
          <a:solidFill>
            <a:srgbClr val="E7F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3" name="Connector 162"/>
          <p:cNvCxnSpPr/>
          <p:nvPr/>
        </p:nvCxnSpPr>
        <p:spPr>
          <a:xfrm>
            <a:off x="5314920" y="5018168"/>
            <a:ext cx="2310543" cy="0"/>
          </a:xfrm>
          <a:prstGeom prst="line">
            <a:avLst/>
          </a:prstGeom>
          <a:ln w="7303">
            <a:solidFill>
              <a:srgbClr val="B9CF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7625463" y="5018168"/>
            <a:ext cx="0" cy="1097257"/>
          </a:xfrm>
          <a:prstGeom prst="line">
            <a:avLst/>
          </a:prstGeom>
          <a:ln w="7303">
            <a:solidFill>
              <a:srgbClr val="B9CF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5314920" y="6115425"/>
            <a:ext cx="2310543" cy="0"/>
          </a:xfrm>
          <a:prstGeom prst="line">
            <a:avLst/>
          </a:prstGeom>
          <a:ln w="7303">
            <a:solidFill>
              <a:srgbClr val="B9CF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5314920" y="5018168"/>
            <a:ext cx="0" cy="1097257"/>
          </a:xfrm>
          <a:prstGeom prst="line">
            <a:avLst/>
          </a:prstGeom>
          <a:ln w="7303">
            <a:solidFill>
              <a:srgbClr val="B9CF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389211" y="5092460"/>
            <a:ext cx="2193965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5B825D"/>
                </a:solidFill>
                <a:latin typeface="Arial"/>
              </a:rPr>
              <a:t>Y10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389211" y="5750243"/>
            <a:ext cx="2193965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1" b="1" i="0">
                <a:solidFill>
                  <a:srgbClr val="253F36"/>
                </a:solidFill>
                <a:latin typeface="Arial"/>
              </a:rPr>
              <a:t>Rp11.822 jt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389211" y="5942763"/>
            <a:ext cx="219396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253F36"/>
                </a:solidFill>
                <a:latin typeface="Arial"/>
              </a:rPr>
              <a:t>Rp5,6 jt hiring · Rp71 jt training · Rp7 jt teknologi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692450" y="5018168"/>
            <a:ext cx="3907734" cy="1097257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802117" y="5109578"/>
            <a:ext cx="372040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3" b="1" i="0">
                <a:solidFill>
                  <a:srgbClr val="CAEC9B"/>
                </a:solidFill>
                <a:latin typeface="Arial"/>
              </a:rPr>
              <a:t>01 / 03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802117" y="5224039"/>
            <a:ext cx="3720404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5F9EE"/>
                </a:solidFill>
                <a:latin typeface="Arial"/>
              </a:rPr>
              <a:t>Y0 · awal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802117" y="5423862"/>
            <a:ext cx="372040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7" b="0" i="0">
                <a:solidFill>
                  <a:srgbClr val="E0ECDF"/>
                </a:solidFill>
                <a:latin typeface="Arial"/>
              </a:rPr>
              <a:t>Payroll all Rp1.682 juta dan total biaya SDM tercetak Rp1.713 juta.</a:t>
            </a:r>
          </a:p>
        </p:txBody>
      </p:sp>
      <p:cxnSp>
        <p:nvCxnSpPr>
          <p:cNvPr id="174" name="Connector 173"/>
          <p:cNvCxnSpPr/>
          <p:nvPr/>
        </p:nvCxnSpPr>
        <p:spPr>
          <a:xfrm>
            <a:off x="591814" y="6176365"/>
            <a:ext cx="11008370" cy="0"/>
          </a:xfrm>
          <a:prstGeom prst="line">
            <a:avLst/>
          </a:prstGeom>
          <a:ln w="7303">
            <a:solidFill>
              <a:srgbClr val="B7C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591814" y="6232397"/>
            <a:ext cx="1104037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657A66"/>
                </a:solidFill>
                <a:latin typeface="Arial"/>
              </a:rPr>
              <a:t>Angka payroll SDM tidak sama dengan baris “Gaji &amp; tunjangan” OPEX Mery; klasifikasinya perlu direkonsiliasi. Total Y9 pada tabel sumber juga tidak cocok dengan jumlah komponennya.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630284" y="6537324"/>
            <a:ext cx="202632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SUMBER: PDF ASLI + CATATAN · HALAMAN 52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69116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CBE1CE"/>
                </a:solidFill>
                <a:latin typeface="Arial"/>
              </a:rPr>
              <a:t>MELOOLOO / INVESTASI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CBE1CE"/>
                </a:solidFill>
                <a:latin typeface="Arial"/>
              </a:rPr>
              <a:t>PRESENTASI 41 / 66 · ASLI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02" y="1165842"/>
            <a:ext cx="6506018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C5EC92"/>
                </a:solidFill>
                <a:latin typeface="Arial"/>
              </a:rPr>
              <a:t>INVESTASI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02" y="1346151"/>
            <a:ext cx="6506018" cy="17562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70" b="1" i="0">
                <a:solidFill>
                  <a:srgbClr val="F6F8EE"/>
                </a:solidFill>
                <a:latin typeface="Arial Narrow"/>
              </a:rPr>
              <a:t>Rencana keuangan Melooloo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02" y="3219762"/>
            <a:ext cx="5757976" cy="56334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0" b="0" i="0">
                <a:solidFill>
                  <a:srgbClr val="DBEADC"/>
                </a:solidFill>
                <a:latin typeface="Arial"/>
              </a:rPr>
              <a:t>Dari investasi awal, pertumbuhan kapasitas, hingga keputusan kelayakan.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6383748" y="3648639"/>
            <a:ext cx="188555" cy="3042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572303" y="3645598"/>
            <a:ext cx="188554" cy="304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60857" y="3645598"/>
            <a:ext cx="188240" cy="483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949097" y="3650429"/>
            <a:ext cx="187702" cy="1816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136799" y="3668594"/>
            <a:ext cx="187702" cy="1816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324501" y="3677508"/>
            <a:ext cx="187615" cy="92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512116" y="3658144"/>
            <a:ext cx="187583" cy="19364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699699" y="3637177"/>
            <a:ext cx="187337" cy="2096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887036" y="3599620"/>
            <a:ext cx="184802" cy="375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071838" y="3562063"/>
            <a:ext cx="184802" cy="375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256640" y="3513738"/>
            <a:ext cx="181780" cy="4832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438420" y="3449658"/>
            <a:ext cx="177358" cy="64080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615778" y="3385580"/>
            <a:ext cx="177360" cy="64078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8793138" y="3329523"/>
            <a:ext cx="179930" cy="560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3068" y="3278567"/>
            <a:ext cx="181565" cy="5095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9154633" y="3227611"/>
            <a:ext cx="181564" cy="5095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336197" y="3139154"/>
            <a:ext cx="165877" cy="884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502074" y="3045648"/>
            <a:ext cx="163765" cy="9350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665839" y="2952142"/>
            <a:ext cx="163766" cy="9350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9829605" y="2852107"/>
            <a:ext cx="159829" cy="10003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989434" y="2750961"/>
            <a:ext cx="159161" cy="10114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0148595" y="2649816"/>
            <a:ext cx="159161" cy="10114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0307756" y="2541304"/>
            <a:ext cx="154142" cy="108512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461898" y="2430210"/>
            <a:ext cx="152384" cy="111094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614282" y="2319117"/>
            <a:ext cx="152383" cy="111093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0766665" y="2187659"/>
            <a:ext cx="131933" cy="131458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898598" y="2034808"/>
            <a:ext cx="110451" cy="1528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009049" y="1881956"/>
            <a:ext cx="110451" cy="152852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119500" y="1729105"/>
            <a:ext cx="110451" cy="1528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1229951" y="1576254"/>
            <a:ext cx="110450" cy="1528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383514" y="3857375"/>
            <a:ext cx="253398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2F8ED"/>
                </a:solidFill>
                <a:latin typeface="Arial"/>
              </a:rPr>
              <a:t>Y0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009" y="3857375"/>
            <a:ext cx="114522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2F8ED"/>
                </a:solidFill>
                <a:latin typeface="Arial"/>
              </a:rPr>
              <a:t>Y6 · POSITIF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17328" y="3857375"/>
            <a:ext cx="355076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2F8ED"/>
                </a:solidFill>
                <a:latin typeface="Arial"/>
              </a:rPr>
              <a:t>Y10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80380" y="825767"/>
            <a:ext cx="123412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D3ECC2"/>
                </a:solidFill>
                <a:latin typeface="Arial"/>
              </a:rPr>
              <a:t>10 TAHUN PROYEKSI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940"/>
            <a:ext cx="352708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3E9CB"/>
                </a:solidFill>
                <a:latin typeface="Arial"/>
              </a:rPr>
              <a:t>DANA AWAL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5897571"/>
            <a:ext cx="352708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72" b="1" i="0">
                <a:solidFill>
                  <a:srgbClr val="D0F09D"/>
                </a:solidFill>
                <a:latin typeface="Arial"/>
              </a:rPr>
              <a:t>Rp10.462 jt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48343" y="5742940"/>
            <a:ext cx="35272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3E9CB"/>
                </a:solidFill>
                <a:latin typeface="Arial"/>
              </a:rPr>
              <a:t>WACC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8343" y="5897571"/>
            <a:ext cx="3527202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72" b="1" i="0">
                <a:solidFill>
                  <a:srgbClr val="D0F09D"/>
                </a:solidFill>
                <a:latin typeface="Arial"/>
              </a:rPr>
              <a:t>12,77%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7297" y="5742940"/>
            <a:ext cx="352708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3E9CB"/>
                </a:solidFill>
                <a:latin typeface="Arial"/>
              </a:rPr>
              <a:t>NPV MOST LIKELY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7297" y="5897571"/>
            <a:ext cx="352708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72" b="1" i="0">
                <a:solidFill>
                  <a:srgbClr val="D0F09D"/>
                </a:solidFill>
                <a:latin typeface="Arial"/>
              </a:rPr>
              <a:t>Rp23,5 M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DF3D2">
                <a:alpha val="3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CBE1CE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1784" y="6544057"/>
            <a:ext cx="24314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CBE1CE"/>
                </a:solidFill>
                <a:latin typeface="Arial"/>
              </a:rPr>
              <a:t>SUMBER: FINANCIAL STRATEGY (MERY) · HALAMAN 01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69116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INVESTASI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PRESENTASI 42 / 66 · ASLI 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INVESTASI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Asumsi yang menggerakkan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Kapasitas, hasil panen, harga, dan biaya modal membentuk proyeksi sepuluh tahun.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774" y="2095915"/>
            <a:ext cx="6270885" cy="3613131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560774" y="2095915"/>
            <a:ext cx="6270886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31660" y="2095915"/>
            <a:ext cx="0" cy="3613131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60774" y="5709046"/>
            <a:ext cx="6270886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0774" y="2095915"/>
            <a:ext cx="0" cy="3613131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50894" y="2255568"/>
            <a:ext cx="592264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426C48"/>
                </a:solidFill>
                <a:latin typeface="Arial"/>
              </a:rPr>
              <a:t>01 / MESIN PROYEKSI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0894" y="2506402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0894" y="2562435"/>
            <a:ext cx="7076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Kapasitas 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9003" y="2562435"/>
            <a:ext cx="141454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35 Y0 → 103 Y5 → 237 Y10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50894" y="2748107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50894" y="2804139"/>
            <a:ext cx="6591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Siklus panen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637" y="2804139"/>
            <a:ext cx="120490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2 Y0 · 4 Y1 · 5 mulai Y2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0894" y="2989811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50894" y="3045844"/>
            <a:ext cx="10301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Hasil per GH / siklus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74670" y="3045844"/>
            <a:ext cx="14988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420 tanaman × 1,8 kg × 95%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0894" y="3231516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50894" y="3287549"/>
            <a:ext cx="43575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Grade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28" y="3287549"/>
            <a:ext cx="162611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80% Y0 → 85% Y1 → 90% Y2+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0894" y="3473221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50894" y="3529253"/>
            <a:ext cx="75927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Harga Grade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68654" y="3529253"/>
            <a:ext cx="160488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B2B Rp75 rb · B2C Rp99 rb/kg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0894" y="3714925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50894" y="3770958"/>
            <a:ext cx="61628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Grade B / 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3769" y="3770958"/>
            <a:ext cx="111977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Rp35 rb / Rp15 rb/kg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50894" y="3956630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50894" y="4012663"/>
            <a:ext cx="95715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Porsi B2B Grade 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79412" y="4012663"/>
            <a:ext cx="9941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75% Y0 → 40% Y5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50894" y="4198335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50894" y="4254367"/>
            <a:ext cx="102094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Harga / inflasi OPEX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89031" y="4254367"/>
            <a:ext cx="108451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+3% / +5% mulai Y2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96217" y="2095915"/>
            <a:ext cx="4635007" cy="3613131"/>
          </a:xfrm>
          <a:prstGeom prst="rect">
            <a:avLst/>
          </a:prstGeom>
          <a:solidFill>
            <a:srgbClr val="113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6996217" y="2095915"/>
            <a:ext cx="46350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631224" y="2095915"/>
            <a:ext cx="0" cy="3613131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6996217" y="5709046"/>
            <a:ext cx="46350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996217" y="2095915"/>
            <a:ext cx="0" cy="3613131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86338" y="2255568"/>
            <a:ext cx="42867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C7ED94"/>
                </a:solidFill>
                <a:latin typeface="Arial"/>
              </a:rPr>
              <a:t>02 / BIAYA MODAL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186338" y="2506402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186338" y="2562435"/>
            <a:ext cx="100805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Risk-free SUN 10 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18265" y="2562435"/>
            <a:ext cx="35484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6,59%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186338" y="2748107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186338" y="2804139"/>
            <a:ext cx="56961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Beta / ERP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03528" y="2804139"/>
            <a:ext cx="66957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1,33 / 7,50%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186338" y="2989811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186338" y="3045844"/>
            <a:ext cx="71785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Cost of equity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57440" y="3045844"/>
            <a:ext cx="41566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16,57%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186338" y="3231516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186338" y="3287549"/>
            <a:ext cx="62267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Bunga bank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57440" y="3287549"/>
            <a:ext cx="41566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11,50%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186338" y="3473221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186338" y="3529253"/>
            <a:ext cx="94323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Debt setelah pajak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18265" y="3529253"/>
            <a:ext cx="35484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8,97%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186338" y="3714925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186338" y="3770958"/>
            <a:ext cx="66729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Bobot modal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6948" y="3770958"/>
            <a:ext cx="5861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50% : 50%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186338" y="3974889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186338" y="4067440"/>
            <a:ext cx="3600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WACC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58109" y="4067440"/>
            <a:ext cx="714998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CEEF9D"/>
                </a:solidFill>
                <a:latin typeface="Arial"/>
              </a:rPr>
              <a:t>12,77%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60774" y="5830926"/>
            <a:ext cx="11070450" cy="0"/>
          </a:xfrm>
          <a:prstGeom prst="line">
            <a:avLst/>
          </a:prstGeom>
          <a:ln w="7303">
            <a:solidFill>
              <a:srgbClr val="1E472D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560774" y="6058023"/>
            <a:ext cx="154155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48674D"/>
                </a:solidFill>
                <a:latin typeface="Arial"/>
              </a:rPr>
              <a:t>Piutang: B2B 40 hari · B2C 7 hari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38501" y="6058023"/>
            <a:ext cx="272872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48674D"/>
                </a:solidFill>
                <a:latin typeface="Arial"/>
              </a:rPr>
              <a:t>WACC 50:50 adalah asumsi valuasi; dana Y0 100% pendiri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8972623" y="6309428"/>
            <a:ext cx="2658601" cy="0"/>
          </a:xfrm>
          <a:prstGeom prst="line">
            <a:avLst/>
          </a:prstGeom>
          <a:ln w="7303">
            <a:solidFill>
              <a:srgbClr val="98B2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8972623" y="6081760"/>
            <a:ext cx="26906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57454"/>
                </a:solidFill>
                <a:latin typeface="Arial"/>
              </a:rPr>
              <a:t>LIHAT TABEL &amp; ANGKA LENGKAP SUMBER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452858" y="6037938"/>
            <a:ext cx="21037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557454"/>
                </a:solidFill>
                <a:latin typeface="Arial"/>
              </a:rPr>
              <a:t>↗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31784" y="6544057"/>
            <a:ext cx="24314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SUMBER: FINANCIAL STRATEGY (MERY) · HALAMAN 02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69116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INVESTASI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PRESENTASI 43 / 66 · ASLI 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INVESTASI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Rp10.462 juta untuk memulai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Dana Tahun 0 menggabungkan aset tetap dan modal kerja termasuk buffer kas.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774" y="2095915"/>
            <a:ext cx="5186081" cy="3827561"/>
          </a:xfrm>
          <a:prstGeom prst="rect">
            <a:avLst/>
          </a:prstGeom>
          <a:solidFill>
            <a:srgbClr val="133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12" y="2303155"/>
            <a:ext cx="48036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B8D49F"/>
                </a:solidFill>
                <a:latin typeface="Arial"/>
              </a:rPr>
              <a:t>TOTAL DANA TAHUN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12" y="2490768"/>
            <a:ext cx="4803610" cy="7258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Rp10.462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12" y="3111577"/>
            <a:ext cx="480361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FFFFFF"/>
                </a:solidFill>
                <a:latin typeface="Arial"/>
              </a:rPr>
              <a:t>juta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12" y="4739032"/>
            <a:ext cx="4771606" cy="341330"/>
          </a:xfrm>
          <a:prstGeom prst="rect">
            <a:avLst/>
          </a:prstGeom>
          <a:solidFill>
            <a:srgbClr val="97A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12" y="4739032"/>
            <a:ext cx="3201688" cy="341330"/>
          </a:xfrm>
          <a:prstGeom prst="rect">
            <a:avLst/>
          </a:prstGeom>
          <a:solidFill>
            <a:srgbClr val="D2F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9700" y="4739032"/>
            <a:ext cx="1569803" cy="341330"/>
          </a:xfrm>
          <a:prstGeom prst="rect">
            <a:avLst/>
          </a:prstGeom>
          <a:solidFill>
            <a:srgbClr val="659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12" y="5177821"/>
            <a:ext cx="126002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FFFFFF"/>
                </a:solidFill>
                <a:latin typeface="Arial"/>
              </a:rPr>
              <a:t>67,1% CAPEX ASET TETAP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430" y="5177821"/>
            <a:ext cx="10301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FFFFFF"/>
                </a:solidFill>
                <a:latin typeface="Arial"/>
              </a:rPr>
              <a:t>32,9% MODAL KERJA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8012" y="5433676"/>
            <a:ext cx="4771606" cy="0"/>
          </a:xfrm>
          <a:prstGeom prst="line">
            <a:avLst/>
          </a:prstGeom>
          <a:ln w="7303">
            <a:solidFill>
              <a:srgbClr val="FFFFFF">
                <a:alpha val="2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8012" y="5577467"/>
            <a:ext cx="48036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6E8D3"/>
                </a:solidFill>
                <a:latin typeface="Arial"/>
              </a:rPr>
              <a:t>OPEX Y0 Rp3.137 juta · pendapatan trial Y0 Rp3.509 juta.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9203" y="2095915"/>
            <a:ext cx="5731907" cy="2135742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99203" y="2095915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631110" y="2095915"/>
            <a:ext cx="0" cy="213574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5899203" y="4231658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899203" y="2095915"/>
            <a:ext cx="0" cy="213574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52806" y="2212887"/>
            <a:ext cx="5456706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426C48"/>
                </a:solidFill>
                <a:latin typeface="Arial"/>
              </a:rPr>
              <a:t>CAPEX · RP7.024 JUTA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52806" y="2463721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052806" y="2517243"/>
            <a:ext cx="99002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Greenhouse 35 unit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3397" y="2517243"/>
            <a:ext cx="30611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5.066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52806" y="2700405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52806" y="2753927"/>
            <a:ext cx="130829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Cold storage &amp; kendaraan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94691" y="2753927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650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52806" y="2937088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52806" y="2990610"/>
            <a:ext cx="132667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Rooftop &amp; deposit 2 lokasi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4691" y="2990610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600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52806" y="3173772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052806" y="3227294"/>
            <a:ext cx="73827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Legal &amp; kantor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4691" y="3227294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351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52806" y="3410455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052806" y="3463977"/>
            <a:ext cx="61035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Kontingensi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94691" y="3463977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357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99203" y="4341326"/>
            <a:ext cx="5731907" cy="158215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899203" y="4341326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631110" y="4341326"/>
            <a:ext cx="0" cy="158215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899203" y="5923476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899203" y="4341326"/>
            <a:ext cx="0" cy="158215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052806" y="4458299"/>
            <a:ext cx="5456706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426C48"/>
                </a:solidFill>
                <a:latin typeface="Arial"/>
              </a:rPr>
              <a:t>MODAL KERJA · RP3.438 JUTA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052806" y="4709133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052806" y="4762655"/>
            <a:ext cx="60202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Pra-operasi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94691" y="4762655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479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52806" y="4945816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052806" y="4999338"/>
            <a:ext cx="52750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Buffer kas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03397" y="4999338"/>
            <a:ext cx="30611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2.959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52806" y="5270258"/>
            <a:ext cx="545670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4705A"/>
                </a:solidFill>
                <a:latin typeface="Arial"/>
              </a:rPr>
              <a:t>Buffer kas setara 5,3 bulan biaya kas operasi Y1.</a:t>
            </a:r>
          </a:p>
        </p:txBody>
      </p:sp>
      <p:cxnSp>
        <p:nvCxnSpPr>
          <p:cNvPr id="54" name="Connector 53"/>
          <p:cNvCxnSpPr/>
          <p:nvPr/>
        </p:nvCxnSpPr>
        <p:spPr>
          <a:xfrm flipH="1">
            <a:off x="8972623" y="6309428"/>
            <a:ext cx="2658601" cy="0"/>
          </a:xfrm>
          <a:prstGeom prst="line">
            <a:avLst/>
          </a:prstGeom>
          <a:ln w="7303">
            <a:solidFill>
              <a:srgbClr val="98B2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972623" y="6081760"/>
            <a:ext cx="26906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57454"/>
                </a:solidFill>
                <a:latin typeface="Arial"/>
              </a:rPr>
              <a:t>LIHAT TABEL &amp; ANGKA LENGKAP SUMBER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52858" y="6037938"/>
            <a:ext cx="21037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557454"/>
                </a:solidFill>
                <a:latin typeface="Arial"/>
              </a:rPr>
              <a:t>↗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31784" y="6544057"/>
            <a:ext cx="24314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SUMBER: FINANCIAL STRATEGY (MERY) · HALAMAN 03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69116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INVESTASI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PRESENTASI 44 / 66 · ASLI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INVESTASI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Pendanaan sesuai fase pertumbuhan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Pendiri menanggung seluruh dana awal; ekspansi menggabungkan kas internal dan kredit investasi.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774" y="2095915"/>
            <a:ext cx="4364776" cy="3827561"/>
          </a:xfrm>
          <a:prstGeom prst="rect">
            <a:avLst/>
          </a:prstGeom>
          <a:solidFill>
            <a:srgbClr val="164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755801" y="2473536"/>
            <a:ext cx="1757642" cy="0"/>
          </a:xfrm>
          <a:prstGeom prst="line">
            <a:avLst/>
          </a:prstGeom>
          <a:ln w="21910">
            <a:solidFill>
              <a:srgbClr val="A5D9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55801" y="2290945"/>
            <a:ext cx="178964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A5D960"/>
                </a:solidFill>
                <a:latin typeface="Arial"/>
              </a:rPr>
              <a:t>01 / TAHUN 0 · MODAL PENDIRI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801" y="2563804"/>
            <a:ext cx="4006725" cy="9887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5" b="1" i="0">
                <a:solidFill>
                  <a:srgbClr val="D4F2A2"/>
                </a:solidFill>
                <a:latin typeface="Arial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801" y="3632760"/>
            <a:ext cx="4006725" cy="39855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9ED"/>
                </a:solidFill>
                <a:latin typeface="Arial"/>
              </a:rPr>
              <a:t>Rp10.462 juta dari lima pendiri. Masing-masing Rp2.092,4 juta dan 20% saham.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5801" y="5445887"/>
            <a:ext cx="3974722" cy="0"/>
          </a:xfrm>
          <a:prstGeom prst="line">
            <a:avLst/>
          </a:prstGeom>
          <a:ln w="7303">
            <a:solidFill>
              <a:srgbClr val="E7FAE0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5801" y="5589677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Emily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581" y="5582374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801" y="5589677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Thoriq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5382" y="5582374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5801" y="5589677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Carlos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4178" y="5582374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801" y="5589677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Nindio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83088" y="5582374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801" y="5589677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Mery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3946" y="2095915"/>
            <a:ext cx="6547278" cy="3827561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83946" y="2095915"/>
            <a:ext cx="6547278" cy="0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631224" y="2095915"/>
            <a:ext cx="0" cy="3827561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5083946" y="5923476"/>
            <a:ext cx="6547278" cy="0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083946" y="2095915"/>
            <a:ext cx="0" cy="3827561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5286277" y="2466232"/>
            <a:ext cx="1739839" cy="0"/>
          </a:xfrm>
          <a:prstGeom prst="line">
            <a:avLst/>
          </a:prstGeom>
          <a:ln w="7303">
            <a:solidFill>
              <a:srgbClr val="557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86277" y="2298248"/>
            <a:ext cx="17718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557F57"/>
                </a:solidFill>
                <a:latin typeface="Arial"/>
              </a:rPr>
              <a:t>02 / Y1–Y10 · CAPEX EKSPANSI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6277" y="2558783"/>
            <a:ext cx="6174620" cy="6601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140" b="1" i="0">
                <a:solidFill>
                  <a:srgbClr val="153E29"/>
                </a:solidFill>
                <a:latin typeface="Arial"/>
              </a:rPr>
              <a:t>Rp46.094 juta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86277" y="3279446"/>
            <a:ext cx="1842773" cy="975263"/>
          </a:xfrm>
          <a:prstGeom prst="rect">
            <a:avLst/>
          </a:prstGeom>
          <a:solidFill>
            <a:srgbClr val="D8EA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32576" y="3433051"/>
            <a:ext cx="762129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76" b="1" i="0">
                <a:solidFill>
                  <a:srgbClr val="143722"/>
                </a:solidFill>
                <a:latin typeface="Arial"/>
              </a:rPr>
              <a:t>30%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2576" y="3934605"/>
            <a:ext cx="77822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Kas internal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2576" y="4097567"/>
            <a:ext cx="77822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Rp13.830 jt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29050" y="3279446"/>
            <a:ext cx="4299729" cy="975263"/>
          </a:xfrm>
          <a:prstGeom prst="rect">
            <a:avLst/>
          </a:prstGeom>
          <a:solidFill>
            <a:srgbClr val="A4D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5349" y="3433051"/>
            <a:ext cx="762129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76" b="1" i="0">
                <a:solidFill>
                  <a:srgbClr val="143722"/>
                </a:solidFill>
                <a:latin typeface="Arial"/>
              </a:rPr>
              <a:t>70%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5349" y="3934605"/>
            <a:ext cx="99333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Kredit investasi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5349" y="4097567"/>
            <a:ext cx="99333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Rp32.264 jt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6277" y="4327860"/>
            <a:ext cx="6142616" cy="935435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77685" y="4394848"/>
            <a:ext cx="59918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F8758"/>
                </a:solidFill>
                <a:latin typeface="Arial"/>
              </a:rPr>
              <a:t>01 /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77685" y="4488540"/>
            <a:ext cx="599180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73F2D"/>
                </a:solidFill>
                <a:latin typeface="Arial"/>
              </a:rPr>
              <a:t>Modal awal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77685" y="4658236"/>
            <a:ext cx="599180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173F2D"/>
                </a:solidFill>
                <a:latin typeface="Arial"/>
              </a:rPr>
              <a:t>Lima pendiri menanggung 100% dana awal Rp10.462 juta, masing-masing 20% saham.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286277" y="5360754"/>
            <a:ext cx="1476227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286277" y="5428997"/>
            <a:ext cx="150823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Bunga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86277" y="5545856"/>
            <a:ext cx="1508231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11,5%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841702" y="5360754"/>
            <a:ext cx="1476341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41702" y="5428997"/>
            <a:ext cx="150834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Tenor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41702" y="5545856"/>
            <a:ext cx="1508345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5 tahun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397241" y="5360754"/>
            <a:ext cx="1476228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397241" y="5428997"/>
            <a:ext cx="150823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Grace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97241" y="5545856"/>
            <a:ext cx="1508231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1 tahun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952666" y="5360754"/>
            <a:ext cx="1476228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952666" y="5428997"/>
            <a:ext cx="150823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D/E maks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2666" y="5545856"/>
            <a:ext cx="1508231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0,39×</a:t>
            </a:r>
          </a:p>
        </p:txBody>
      </p:sp>
      <p:cxnSp>
        <p:nvCxnSpPr>
          <p:cNvPr id="56" name="Connector 55"/>
          <p:cNvCxnSpPr/>
          <p:nvPr/>
        </p:nvCxnSpPr>
        <p:spPr>
          <a:xfrm flipH="1">
            <a:off x="8972623" y="6309428"/>
            <a:ext cx="2658601" cy="0"/>
          </a:xfrm>
          <a:prstGeom prst="line">
            <a:avLst/>
          </a:prstGeom>
          <a:ln w="7303">
            <a:solidFill>
              <a:srgbClr val="98B2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972623" y="6081760"/>
            <a:ext cx="26906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57454"/>
                </a:solidFill>
                <a:latin typeface="Arial"/>
              </a:rPr>
              <a:t>LIHAT TABEL &amp; ANGKA LENGKAP SUMBER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52858" y="6037938"/>
            <a:ext cx="21037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557454"/>
                </a:solidFill>
                <a:latin typeface="Arial"/>
              </a:rPr>
              <a:t>↗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31784" y="6544057"/>
            <a:ext cx="24314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SUMBER: FINANCIAL STRATEGY (MERY) · HALAMAN 04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7549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KELAYAKAN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PRESENTASI 45 / 66 · ASLI 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KELAYAKAN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Belanja bangun, biaya 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CAPEX dan OPEX tiap tahun awal ditampilkan terpisah dari agregat lima tahun berikutnya.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774" y="2095915"/>
            <a:ext cx="7513627" cy="3772784"/>
          </a:xfrm>
          <a:prstGeom prst="rect">
            <a:avLst/>
          </a:prstGeom>
          <a:solidFill>
            <a:srgbClr val="FFFD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560774" y="2095915"/>
            <a:ext cx="7513628" cy="0"/>
          </a:xfrm>
          <a:prstGeom prst="line">
            <a:avLst/>
          </a:prstGeom>
          <a:ln w="7303">
            <a:solidFill>
              <a:srgbClr val="CBDC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74402" y="2095915"/>
            <a:ext cx="0" cy="3772784"/>
          </a:xfrm>
          <a:prstGeom prst="line">
            <a:avLst/>
          </a:prstGeom>
          <a:ln w="7303">
            <a:solidFill>
              <a:srgbClr val="CBDC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60774" y="5868699"/>
            <a:ext cx="7513628" cy="0"/>
          </a:xfrm>
          <a:prstGeom prst="line">
            <a:avLst/>
          </a:prstGeom>
          <a:ln w="7303">
            <a:solidFill>
              <a:srgbClr val="CBDC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0774" y="2095915"/>
            <a:ext cx="0" cy="3772784"/>
          </a:xfrm>
          <a:prstGeom prst="line">
            <a:avLst/>
          </a:prstGeom>
          <a:ln w="7303">
            <a:solidFill>
              <a:srgbClr val="CBDC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89956" y="2193259"/>
            <a:ext cx="85245" cy="85247"/>
          </a:xfrm>
          <a:prstGeom prst="rect">
            <a:avLst/>
          </a:prstGeom>
          <a:solidFill>
            <a:srgbClr val="81B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9956" y="2188466"/>
            <a:ext cx="46553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426447"/>
                </a:solidFill>
                <a:latin typeface="Arial"/>
              </a:rPr>
              <a:t>CAPEX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45367" y="2193259"/>
            <a:ext cx="85245" cy="85247"/>
          </a:xfrm>
          <a:prstGeom prst="rect">
            <a:avLst/>
          </a:prstGeom>
          <a:solidFill>
            <a:srgbClr val="194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5367" y="2188466"/>
            <a:ext cx="406082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426447"/>
                </a:solidFill>
                <a:latin typeface="Arial"/>
              </a:rPr>
              <a:t>OPEX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7632" y="2188466"/>
            <a:ext cx="699592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2" b="1" i="0">
                <a:solidFill>
                  <a:srgbClr val="6C896C"/>
                </a:solidFill>
                <a:latin typeface="Arial"/>
              </a:rPr>
              <a:t>Rp juta / tahun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689956" y="5776148"/>
            <a:ext cx="7255265" cy="0"/>
          </a:xfrm>
          <a:prstGeom prst="line">
            <a:avLst/>
          </a:prstGeom>
          <a:ln w="7303">
            <a:solidFill>
              <a:srgbClr val="7A9C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14263" y="3470025"/>
            <a:ext cx="566024" cy="214281"/>
          </a:xfrm>
          <a:prstGeom prst="rect">
            <a:avLst/>
          </a:prstGeom>
          <a:solidFill>
            <a:srgbClr val="5E9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263" y="3682846"/>
            <a:ext cx="566024" cy="214281"/>
          </a:xfrm>
          <a:prstGeom prst="rect">
            <a:avLst/>
          </a:prstGeom>
          <a:solidFill>
            <a:srgbClr val="689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263" y="3895668"/>
            <a:ext cx="566024" cy="214281"/>
          </a:xfrm>
          <a:prstGeom prst="rect">
            <a:avLst/>
          </a:prstGeom>
          <a:solidFill>
            <a:srgbClr val="71A2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4263" y="4108489"/>
            <a:ext cx="566024" cy="214281"/>
          </a:xfrm>
          <a:prstGeom prst="rect">
            <a:avLst/>
          </a:prstGeom>
          <a:solidFill>
            <a:srgbClr val="7BA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4263" y="4321310"/>
            <a:ext cx="566024" cy="214281"/>
          </a:xfrm>
          <a:prstGeom prst="rect">
            <a:avLst/>
          </a:prstGeom>
          <a:solidFill>
            <a:srgbClr val="85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4263" y="4534131"/>
            <a:ext cx="566024" cy="214281"/>
          </a:xfrm>
          <a:prstGeom prst="rect">
            <a:avLst/>
          </a:prstGeom>
          <a:solidFill>
            <a:srgbClr val="8EB9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4263" y="4746952"/>
            <a:ext cx="566024" cy="214281"/>
          </a:xfrm>
          <a:prstGeom prst="rect">
            <a:avLst/>
          </a:prstGeom>
          <a:solidFill>
            <a:srgbClr val="98C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4263" y="4959773"/>
            <a:ext cx="566024" cy="214281"/>
          </a:xfrm>
          <a:prstGeom prst="rect">
            <a:avLst/>
          </a:prstGeom>
          <a:solidFill>
            <a:srgbClr val="A2C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4263" y="5172594"/>
            <a:ext cx="566024" cy="214281"/>
          </a:xfrm>
          <a:prstGeom prst="rect">
            <a:avLst/>
          </a:prstGeom>
          <a:solidFill>
            <a:srgbClr val="ABD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4263" y="5385415"/>
            <a:ext cx="566024" cy="214281"/>
          </a:xfrm>
          <a:prstGeom prst="rect">
            <a:avLst/>
          </a:prstGeom>
          <a:solidFill>
            <a:srgbClr val="B5D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8307" y="3497985"/>
            <a:ext cx="2699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123C29"/>
                </a:solidFill>
                <a:latin typeface="Arial"/>
              </a:rPr>
              <a:t>7.503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98546" y="4707307"/>
            <a:ext cx="566024" cy="90553"/>
          </a:xfrm>
          <a:prstGeom prst="rect">
            <a:avLst/>
          </a:prstGeom>
          <a:solidFill>
            <a:srgbClr val="1B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98546" y="4796400"/>
            <a:ext cx="566024" cy="90553"/>
          </a:xfrm>
          <a:prstGeom prst="rect">
            <a:avLst/>
          </a:prstGeom>
          <a:solidFill>
            <a:srgbClr val="225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98546" y="4885493"/>
            <a:ext cx="566024" cy="90553"/>
          </a:xfrm>
          <a:prstGeom prst="rect">
            <a:avLst/>
          </a:prstGeom>
          <a:solidFill>
            <a:srgbClr val="296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98546" y="4974586"/>
            <a:ext cx="566024" cy="90553"/>
          </a:xfrm>
          <a:prstGeom prst="rect">
            <a:avLst/>
          </a:prstGeom>
          <a:solidFill>
            <a:srgbClr val="316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298546" y="5063679"/>
            <a:ext cx="566024" cy="90553"/>
          </a:xfrm>
          <a:prstGeom prst="rect">
            <a:avLst/>
          </a:prstGeom>
          <a:solidFill>
            <a:srgbClr val="387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298546" y="5152772"/>
            <a:ext cx="566024" cy="90553"/>
          </a:xfrm>
          <a:prstGeom prst="rect">
            <a:avLst/>
          </a:prstGeom>
          <a:solidFill>
            <a:srgbClr val="3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298546" y="5241865"/>
            <a:ext cx="566024" cy="90553"/>
          </a:xfrm>
          <a:prstGeom prst="rect">
            <a:avLst/>
          </a:prstGeom>
          <a:solidFill>
            <a:srgbClr val="468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98546" y="5330958"/>
            <a:ext cx="566024" cy="90553"/>
          </a:xfrm>
          <a:prstGeom prst="rect">
            <a:avLst/>
          </a:prstGeom>
          <a:solidFill>
            <a:srgbClr val="4E8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298546" y="5420051"/>
            <a:ext cx="566024" cy="90553"/>
          </a:xfrm>
          <a:prstGeom prst="rect">
            <a:avLst/>
          </a:prstGeom>
          <a:solidFill>
            <a:srgbClr val="559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298546" y="5509143"/>
            <a:ext cx="566024" cy="90553"/>
          </a:xfrm>
          <a:prstGeom prst="rect">
            <a:avLst/>
          </a:prstGeom>
          <a:solidFill>
            <a:srgbClr val="5C9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62590" y="4735266"/>
            <a:ext cx="2699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7FFF1"/>
                </a:solidFill>
                <a:latin typeface="Arial"/>
              </a:rPr>
              <a:t>3.137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7150" y="562745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3F664A"/>
                </a:solidFill>
                <a:latin typeface="Arial"/>
              </a:rPr>
              <a:t>Y0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55627" y="5439725"/>
            <a:ext cx="13779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245A37"/>
                </a:solidFill>
                <a:latin typeface="Arial"/>
              </a:rPr>
              <a:t>53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09792" y="4518211"/>
            <a:ext cx="566024" cy="109463"/>
          </a:xfrm>
          <a:prstGeom prst="rect">
            <a:avLst/>
          </a:prstGeom>
          <a:solidFill>
            <a:srgbClr val="1B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09792" y="4626214"/>
            <a:ext cx="566024" cy="109463"/>
          </a:xfrm>
          <a:prstGeom prst="rect">
            <a:avLst/>
          </a:prstGeom>
          <a:solidFill>
            <a:srgbClr val="225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509792" y="4734216"/>
            <a:ext cx="566024" cy="109463"/>
          </a:xfrm>
          <a:prstGeom prst="rect">
            <a:avLst/>
          </a:prstGeom>
          <a:solidFill>
            <a:srgbClr val="296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509792" y="4842219"/>
            <a:ext cx="566024" cy="109463"/>
          </a:xfrm>
          <a:prstGeom prst="rect">
            <a:avLst/>
          </a:prstGeom>
          <a:solidFill>
            <a:srgbClr val="316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09792" y="4950221"/>
            <a:ext cx="566024" cy="109463"/>
          </a:xfrm>
          <a:prstGeom prst="rect">
            <a:avLst/>
          </a:prstGeom>
          <a:solidFill>
            <a:srgbClr val="387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509792" y="5058224"/>
            <a:ext cx="566024" cy="109463"/>
          </a:xfrm>
          <a:prstGeom prst="rect">
            <a:avLst/>
          </a:prstGeom>
          <a:solidFill>
            <a:srgbClr val="3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509792" y="5166226"/>
            <a:ext cx="566024" cy="109463"/>
          </a:xfrm>
          <a:prstGeom prst="rect">
            <a:avLst/>
          </a:prstGeom>
          <a:solidFill>
            <a:srgbClr val="468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09792" y="5274229"/>
            <a:ext cx="566024" cy="109463"/>
          </a:xfrm>
          <a:prstGeom prst="rect">
            <a:avLst/>
          </a:prstGeom>
          <a:solidFill>
            <a:srgbClr val="4E8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509792" y="5382231"/>
            <a:ext cx="566024" cy="109463"/>
          </a:xfrm>
          <a:prstGeom prst="rect">
            <a:avLst/>
          </a:prstGeom>
          <a:solidFill>
            <a:srgbClr val="559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09792" y="5490234"/>
            <a:ext cx="566024" cy="109463"/>
          </a:xfrm>
          <a:prstGeom prst="rect">
            <a:avLst/>
          </a:prstGeom>
          <a:solidFill>
            <a:srgbClr val="5C9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73836" y="4546170"/>
            <a:ext cx="2699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7FFF1"/>
                </a:solidFill>
                <a:latin typeface="Arial"/>
              </a:rPr>
              <a:t>3.808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48396" y="562745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3F664A"/>
                </a:solidFill>
                <a:latin typeface="Arial"/>
              </a:rPr>
              <a:t>Y1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36755" y="4643172"/>
            <a:ext cx="566024" cy="96967"/>
          </a:xfrm>
          <a:prstGeom prst="rect">
            <a:avLst/>
          </a:prstGeom>
          <a:solidFill>
            <a:srgbClr val="5E9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36755" y="4738678"/>
            <a:ext cx="566024" cy="96967"/>
          </a:xfrm>
          <a:prstGeom prst="rect">
            <a:avLst/>
          </a:prstGeom>
          <a:solidFill>
            <a:srgbClr val="689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136755" y="4834185"/>
            <a:ext cx="566024" cy="96967"/>
          </a:xfrm>
          <a:prstGeom prst="rect">
            <a:avLst/>
          </a:prstGeom>
          <a:solidFill>
            <a:srgbClr val="71A2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136755" y="4929691"/>
            <a:ext cx="566024" cy="96967"/>
          </a:xfrm>
          <a:prstGeom prst="rect">
            <a:avLst/>
          </a:prstGeom>
          <a:solidFill>
            <a:srgbClr val="7BA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36755" y="5025198"/>
            <a:ext cx="566024" cy="96967"/>
          </a:xfrm>
          <a:prstGeom prst="rect">
            <a:avLst/>
          </a:prstGeom>
          <a:solidFill>
            <a:srgbClr val="85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136755" y="5120704"/>
            <a:ext cx="566024" cy="96967"/>
          </a:xfrm>
          <a:prstGeom prst="rect">
            <a:avLst/>
          </a:prstGeom>
          <a:solidFill>
            <a:srgbClr val="8EB9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136755" y="5216211"/>
            <a:ext cx="566024" cy="96967"/>
          </a:xfrm>
          <a:prstGeom prst="rect">
            <a:avLst/>
          </a:prstGeom>
          <a:solidFill>
            <a:srgbClr val="98C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36755" y="5311717"/>
            <a:ext cx="566024" cy="96967"/>
          </a:xfrm>
          <a:prstGeom prst="rect">
            <a:avLst/>
          </a:prstGeom>
          <a:solidFill>
            <a:srgbClr val="A2C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136755" y="5407224"/>
            <a:ext cx="566024" cy="96967"/>
          </a:xfrm>
          <a:prstGeom prst="rect">
            <a:avLst/>
          </a:prstGeom>
          <a:solidFill>
            <a:srgbClr val="ABD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136755" y="5502730"/>
            <a:ext cx="566024" cy="96967"/>
          </a:xfrm>
          <a:prstGeom prst="rect">
            <a:avLst/>
          </a:prstGeom>
          <a:solidFill>
            <a:srgbClr val="B5D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300799" y="4671131"/>
            <a:ext cx="2699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123C29"/>
                </a:solidFill>
                <a:latin typeface="Arial"/>
              </a:rPr>
              <a:t>3.368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21037" y="4120734"/>
            <a:ext cx="566024" cy="149210"/>
          </a:xfrm>
          <a:prstGeom prst="rect">
            <a:avLst/>
          </a:prstGeom>
          <a:solidFill>
            <a:srgbClr val="1B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721037" y="4268484"/>
            <a:ext cx="566024" cy="149210"/>
          </a:xfrm>
          <a:prstGeom prst="rect">
            <a:avLst/>
          </a:prstGeom>
          <a:solidFill>
            <a:srgbClr val="225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721037" y="4416234"/>
            <a:ext cx="566024" cy="149210"/>
          </a:xfrm>
          <a:prstGeom prst="rect">
            <a:avLst/>
          </a:prstGeom>
          <a:solidFill>
            <a:srgbClr val="296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721037" y="4563985"/>
            <a:ext cx="566024" cy="149210"/>
          </a:xfrm>
          <a:prstGeom prst="rect">
            <a:avLst/>
          </a:prstGeom>
          <a:solidFill>
            <a:srgbClr val="316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721037" y="4711735"/>
            <a:ext cx="566024" cy="149210"/>
          </a:xfrm>
          <a:prstGeom prst="rect">
            <a:avLst/>
          </a:prstGeom>
          <a:solidFill>
            <a:srgbClr val="387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721037" y="4859485"/>
            <a:ext cx="566024" cy="149210"/>
          </a:xfrm>
          <a:prstGeom prst="rect">
            <a:avLst/>
          </a:prstGeom>
          <a:solidFill>
            <a:srgbClr val="3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21037" y="5007235"/>
            <a:ext cx="566024" cy="149210"/>
          </a:xfrm>
          <a:prstGeom prst="rect">
            <a:avLst/>
          </a:prstGeom>
          <a:solidFill>
            <a:srgbClr val="468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721037" y="5154986"/>
            <a:ext cx="566024" cy="149210"/>
          </a:xfrm>
          <a:prstGeom prst="rect">
            <a:avLst/>
          </a:prstGeom>
          <a:solidFill>
            <a:srgbClr val="4E8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721037" y="5302736"/>
            <a:ext cx="566024" cy="149210"/>
          </a:xfrm>
          <a:prstGeom prst="rect">
            <a:avLst/>
          </a:prstGeom>
          <a:solidFill>
            <a:srgbClr val="559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721037" y="5450486"/>
            <a:ext cx="566024" cy="149210"/>
          </a:xfrm>
          <a:prstGeom prst="rect">
            <a:avLst/>
          </a:prstGeom>
          <a:solidFill>
            <a:srgbClr val="5C9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85082" y="4148693"/>
            <a:ext cx="2699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7FFF1"/>
                </a:solidFill>
                <a:latin typeface="Arial"/>
              </a:rPr>
              <a:t>5.202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59642" y="562745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3F664A"/>
                </a:solidFill>
                <a:latin typeface="Arial"/>
              </a:rPr>
              <a:t>Y2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48000" y="4643172"/>
            <a:ext cx="566024" cy="96967"/>
          </a:xfrm>
          <a:prstGeom prst="rect">
            <a:avLst/>
          </a:prstGeom>
          <a:solidFill>
            <a:srgbClr val="5E9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348000" y="4738678"/>
            <a:ext cx="566024" cy="96967"/>
          </a:xfrm>
          <a:prstGeom prst="rect">
            <a:avLst/>
          </a:prstGeom>
          <a:solidFill>
            <a:srgbClr val="689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348000" y="4834185"/>
            <a:ext cx="566024" cy="96967"/>
          </a:xfrm>
          <a:prstGeom prst="rect">
            <a:avLst/>
          </a:prstGeom>
          <a:solidFill>
            <a:srgbClr val="71A2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348000" y="4929691"/>
            <a:ext cx="566024" cy="96967"/>
          </a:xfrm>
          <a:prstGeom prst="rect">
            <a:avLst/>
          </a:prstGeom>
          <a:solidFill>
            <a:srgbClr val="7BA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48000" y="5025198"/>
            <a:ext cx="566024" cy="96967"/>
          </a:xfrm>
          <a:prstGeom prst="rect">
            <a:avLst/>
          </a:prstGeom>
          <a:solidFill>
            <a:srgbClr val="85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348000" y="5120704"/>
            <a:ext cx="566024" cy="96967"/>
          </a:xfrm>
          <a:prstGeom prst="rect">
            <a:avLst/>
          </a:prstGeom>
          <a:solidFill>
            <a:srgbClr val="8EB9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348000" y="5216211"/>
            <a:ext cx="566024" cy="96967"/>
          </a:xfrm>
          <a:prstGeom prst="rect">
            <a:avLst/>
          </a:prstGeom>
          <a:solidFill>
            <a:srgbClr val="98C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48000" y="5311717"/>
            <a:ext cx="566024" cy="96967"/>
          </a:xfrm>
          <a:prstGeom prst="rect">
            <a:avLst/>
          </a:prstGeom>
          <a:solidFill>
            <a:srgbClr val="A2C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348000" y="5407224"/>
            <a:ext cx="566024" cy="96967"/>
          </a:xfrm>
          <a:prstGeom prst="rect">
            <a:avLst/>
          </a:prstGeom>
          <a:solidFill>
            <a:srgbClr val="ABD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348000" y="5502730"/>
            <a:ext cx="566024" cy="96967"/>
          </a:xfrm>
          <a:prstGeom prst="rect">
            <a:avLst/>
          </a:prstGeom>
          <a:solidFill>
            <a:srgbClr val="B5D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12045" y="4671131"/>
            <a:ext cx="2699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123C29"/>
                </a:solidFill>
                <a:latin typeface="Arial"/>
              </a:rPr>
              <a:t>3.365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932283" y="3675212"/>
            <a:ext cx="566024" cy="193763"/>
          </a:xfrm>
          <a:prstGeom prst="rect">
            <a:avLst/>
          </a:prstGeom>
          <a:solidFill>
            <a:srgbClr val="1B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932283" y="3867514"/>
            <a:ext cx="566024" cy="193763"/>
          </a:xfrm>
          <a:prstGeom prst="rect">
            <a:avLst/>
          </a:prstGeom>
          <a:solidFill>
            <a:srgbClr val="225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32283" y="4059817"/>
            <a:ext cx="566024" cy="193763"/>
          </a:xfrm>
          <a:prstGeom prst="rect">
            <a:avLst/>
          </a:prstGeom>
          <a:solidFill>
            <a:srgbClr val="296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932283" y="4252119"/>
            <a:ext cx="566024" cy="193763"/>
          </a:xfrm>
          <a:prstGeom prst="rect">
            <a:avLst/>
          </a:prstGeom>
          <a:solidFill>
            <a:srgbClr val="316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932283" y="4444422"/>
            <a:ext cx="566024" cy="193763"/>
          </a:xfrm>
          <a:prstGeom prst="rect">
            <a:avLst/>
          </a:prstGeom>
          <a:solidFill>
            <a:srgbClr val="387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932283" y="4636724"/>
            <a:ext cx="566024" cy="193763"/>
          </a:xfrm>
          <a:prstGeom prst="rect">
            <a:avLst/>
          </a:prstGeom>
          <a:solidFill>
            <a:srgbClr val="3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32283" y="4829027"/>
            <a:ext cx="566024" cy="193763"/>
          </a:xfrm>
          <a:prstGeom prst="rect">
            <a:avLst/>
          </a:prstGeom>
          <a:solidFill>
            <a:srgbClr val="468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932283" y="5021329"/>
            <a:ext cx="566024" cy="193763"/>
          </a:xfrm>
          <a:prstGeom prst="rect">
            <a:avLst/>
          </a:prstGeom>
          <a:solidFill>
            <a:srgbClr val="4E8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932283" y="5213632"/>
            <a:ext cx="566024" cy="193763"/>
          </a:xfrm>
          <a:prstGeom prst="rect">
            <a:avLst/>
          </a:prstGeom>
          <a:solidFill>
            <a:srgbClr val="559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932283" y="5405934"/>
            <a:ext cx="566024" cy="193763"/>
          </a:xfrm>
          <a:prstGeom prst="rect">
            <a:avLst/>
          </a:prstGeom>
          <a:solidFill>
            <a:srgbClr val="5C9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96328" y="3703171"/>
            <a:ext cx="2699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7FFF1"/>
                </a:solidFill>
                <a:latin typeface="Arial"/>
              </a:rPr>
              <a:t>6.774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70888" y="562745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3F664A"/>
                </a:solidFill>
                <a:latin typeface="Arial"/>
              </a:rPr>
              <a:t>Y3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559246" y="4444490"/>
            <a:ext cx="566024" cy="116835"/>
          </a:xfrm>
          <a:prstGeom prst="rect">
            <a:avLst/>
          </a:prstGeom>
          <a:solidFill>
            <a:srgbClr val="5E9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559246" y="4559865"/>
            <a:ext cx="566024" cy="116835"/>
          </a:xfrm>
          <a:prstGeom prst="rect">
            <a:avLst/>
          </a:prstGeom>
          <a:solidFill>
            <a:srgbClr val="689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559246" y="4675239"/>
            <a:ext cx="566024" cy="116835"/>
          </a:xfrm>
          <a:prstGeom prst="rect">
            <a:avLst/>
          </a:prstGeom>
          <a:solidFill>
            <a:srgbClr val="71A2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559246" y="4790614"/>
            <a:ext cx="566024" cy="116835"/>
          </a:xfrm>
          <a:prstGeom prst="rect">
            <a:avLst/>
          </a:prstGeom>
          <a:solidFill>
            <a:srgbClr val="7BA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559246" y="4905989"/>
            <a:ext cx="566024" cy="116835"/>
          </a:xfrm>
          <a:prstGeom prst="rect">
            <a:avLst/>
          </a:prstGeom>
          <a:solidFill>
            <a:srgbClr val="85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559246" y="5021363"/>
            <a:ext cx="566024" cy="116835"/>
          </a:xfrm>
          <a:prstGeom prst="rect">
            <a:avLst/>
          </a:prstGeom>
          <a:solidFill>
            <a:srgbClr val="8EB9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559246" y="5136738"/>
            <a:ext cx="566024" cy="116835"/>
          </a:xfrm>
          <a:prstGeom prst="rect">
            <a:avLst/>
          </a:prstGeom>
          <a:solidFill>
            <a:srgbClr val="98C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559246" y="5252113"/>
            <a:ext cx="566024" cy="116835"/>
          </a:xfrm>
          <a:prstGeom prst="rect">
            <a:avLst/>
          </a:prstGeom>
          <a:solidFill>
            <a:srgbClr val="A2C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559246" y="5367487"/>
            <a:ext cx="566024" cy="116835"/>
          </a:xfrm>
          <a:prstGeom prst="rect">
            <a:avLst/>
          </a:prstGeom>
          <a:solidFill>
            <a:srgbClr val="ABD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559246" y="5482862"/>
            <a:ext cx="566024" cy="116835"/>
          </a:xfrm>
          <a:prstGeom prst="rect">
            <a:avLst/>
          </a:prstGeom>
          <a:solidFill>
            <a:srgbClr val="B5D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23291" y="4472449"/>
            <a:ext cx="2699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123C29"/>
                </a:solidFill>
                <a:latin typeface="Arial"/>
              </a:rPr>
              <a:t>4.069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43529" y="3168750"/>
            <a:ext cx="566024" cy="244409"/>
          </a:xfrm>
          <a:prstGeom prst="rect">
            <a:avLst/>
          </a:prstGeom>
          <a:solidFill>
            <a:srgbClr val="1B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143529" y="3411699"/>
            <a:ext cx="566024" cy="244409"/>
          </a:xfrm>
          <a:prstGeom prst="rect">
            <a:avLst/>
          </a:prstGeom>
          <a:solidFill>
            <a:srgbClr val="225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143529" y="3654648"/>
            <a:ext cx="566024" cy="244409"/>
          </a:xfrm>
          <a:prstGeom prst="rect">
            <a:avLst/>
          </a:prstGeom>
          <a:solidFill>
            <a:srgbClr val="296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43529" y="3897596"/>
            <a:ext cx="566024" cy="244409"/>
          </a:xfrm>
          <a:prstGeom prst="rect">
            <a:avLst/>
          </a:prstGeom>
          <a:solidFill>
            <a:srgbClr val="316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43529" y="4140545"/>
            <a:ext cx="566024" cy="244409"/>
          </a:xfrm>
          <a:prstGeom prst="rect">
            <a:avLst/>
          </a:prstGeom>
          <a:solidFill>
            <a:srgbClr val="387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143529" y="4383493"/>
            <a:ext cx="566024" cy="244409"/>
          </a:xfrm>
          <a:prstGeom prst="rect">
            <a:avLst/>
          </a:prstGeom>
          <a:solidFill>
            <a:srgbClr val="3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143529" y="4626442"/>
            <a:ext cx="566024" cy="244409"/>
          </a:xfrm>
          <a:prstGeom prst="rect">
            <a:avLst/>
          </a:prstGeom>
          <a:solidFill>
            <a:srgbClr val="468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143529" y="4869391"/>
            <a:ext cx="566024" cy="244409"/>
          </a:xfrm>
          <a:prstGeom prst="rect">
            <a:avLst/>
          </a:prstGeom>
          <a:solidFill>
            <a:srgbClr val="4E8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143529" y="5112339"/>
            <a:ext cx="566024" cy="244409"/>
          </a:xfrm>
          <a:prstGeom prst="rect">
            <a:avLst/>
          </a:prstGeom>
          <a:solidFill>
            <a:srgbClr val="559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143529" y="5355288"/>
            <a:ext cx="566024" cy="244409"/>
          </a:xfrm>
          <a:prstGeom prst="rect">
            <a:avLst/>
          </a:prstGeom>
          <a:solidFill>
            <a:srgbClr val="5C9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307574" y="3196710"/>
            <a:ext cx="2699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7FFF1"/>
                </a:solidFill>
                <a:latin typeface="Arial"/>
              </a:rPr>
              <a:t>8.567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82134" y="562745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3F664A"/>
                </a:solidFill>
                <a:latin typeface="Arial"/>
              </a:rPr>
              <a:t>Y4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770492" y="4556669"/>
            <a:ext cx="566138" cy="105617"/>
          </a:xfrm>
          <a:prstGeom prst="rect">
            <a:avLst/>
          </a:prstGeom>
          <a:solidFill>
            <a:srgbClr val="5E9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770492" y="4660826"/>
            <a:ext cx="566138" cy="105617"/>
          </a:xfrm>
          <a:prstGeom prst="rect">
            <a:avLst/>
          </a:prstGeom>
          <a:solidFill>
            <a:srgbClr val="689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770492" y="4764983"/>
            <a:ext cx="566138" cy="105617"/>
          </a:xfrm>
          <a:prstGeom prst="rect">
            <a:avLst/>
          </a:prstGeom>
          <a:solidFill>
            <a:srgbClr val="71A2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770492" y="4869140"/>
            <a:ext cx="566138" cy="105617"/>
          </a:xfrm>
          <a:prstGeom prst="rect">
            <a:avLst/>
          </a:prstGeom>
          <a:solidFill>
            <a:srgbClr val="7BA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770492" y="4973296"/>
            <a:ext cx="566138" cy="105617"/>
          </a:xfrm>
          <a:prstGeom prst="rect">
            <a:avLst/>
          </a:prstGeom>
          <a:solidFill>
            <a:srgbClr val="85B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770492" y="5077453"/>
            <a:ext cx="566138" cy="105617"/>
          </a:xfrm>
          <a:prstGeom prst="rect">
            <a:avLst/>
          </a:prstGeom>
          <a:solidFill>
            <a:srgbClr val="8EB9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770492" y="5181610"/>
            <a:ext cx="566138" cy="105617"/>
          </a:xfrm>
          <a:prstGeom prst="rect">
            <a:avLst/>
          </a:prstGeom>
          <a:solidFill>
            <a:srgbClr val="98C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770492" y="5285766"/>
            <a:ext cx="566138" cy="105617"/>
          </a:xfrm>
          <a:prstGeom prst="rect">
            <a:avLst/>
          </a:prstGeom>
          <a:solidFill>
            <a:srgbClr val="A2C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770492" y="5389923"/>
            <a:ext cx="566138" cy="105617"/>
          </a:xfrm>
          <a:prstGeom prst="rect">
            <a:avLst/>
          </a:prstGeom>
          <a:solidFill>
            <a:srgbClr val="ABD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770492" y="5494080"/>
            <a:ext cx="566138" cy="105617"/>
          </a:xfrm>
          <a:prstGeom prst="rect">
            <a:avLst/>
          </a:prstGeom>
          <a:solidFill>
            <a:srgbClr val="B5D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34537" y="4584629"/>
            <a:ext cx="26993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123C29"/>
                </a:solidFill>
                <a:latin typeface="Arial"/>
              </a:rPr>
              <a:t>3.670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354889" y="2393081"/>
            <a:ext cx="566024" cy="321976"/>
          </a:xfrm>
          <a:prstGeom prst="rect">
            <a:avLst/>
          </a:prstGeom>
          <a:solidFill>
            <a:srgbClr val="1B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354889" y="2713597"/>
            <a:ext cx="566024" cy="321976"/>
          </a:xfrm>
          <a:prstGeom prst="rect">
            <a:avLst/>
          </a:prstGeom>
          <a:solidFill>
            <a:srgbClr val="225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354889" y="3034112"/>
            <a:ext cx="566024" cy="321976"/>
          </a:xfrm>
          <a:prstGeom prst="rect">
            <a:avLst/>
          </a:prstGeom>
          <a:solidFill>
            <a:srgbClr val="296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354889" y="3354628"/>
            <a:ext cx="566024" cy="321976"/>
          </a:xfrm>
          <a:prstGeom prst="rect">
            <a:avLst/>
          </a:prstGeom>
          <a:solidFill>
            <a:srgbClr val="316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354889" y="3675143"/>
            <a:ext cx="566024" cy="321976"/>
          </a:xfrm>
          <a:prstGeom prst="rect">
            <a:avLst/>
          </a:prstGeom>
          <a:solidFill>
            <a:srgbClr val="387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354889" y="3995659"/>
            <a:ext cx="566024" cy="321976"/>
          </a:xfrm>
          <a:prstGeom prst="rect">
            <a:avLst/>
          </a:prstGeom>
          <a:solidFill>
            <a:srgbClr val="3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354889" y="4316174"/>
            <a:ext cx="566024" cy="321976"/>
          </a:xfrm>
          <a:prstGeom prst="rect">
            <a:avLst/>
          </a:prstGeom>
          <a:solidFill>
            <a:srgbClr val="468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354889" y="4636690"/>
            <a:ext cx="566024" cy="321976"/>
          </a:xfrm>
          <a:prstGeom prst="rect">
            <a:avLst/>
          </a:prstGeom>
          <a:solidFill>
            <a:srgbClr val="4E8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7354889" y="4957205"/>
            <a:ext cx="566024" cy="321976"/>
          </a:xfrm>
          <a:prstGeom prst="rect">
            <a:avLst/>
          </a:prstGeom>
          <a:solidFill>
            <a:srgbClr val="559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354889" y="5277721"/>
            <a:ext cx="566024" cy="321976"/>
          </a:xfrm>
          <a:prstGeom prst="rect">
            <a:avLst/>
          </a:prstGeom>
          <a:solidFill>
            <a:srgbClr val="5C9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492458" y="2421041"/>
            <a:ext cx="32289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7FFF1"/>
                </a:solidFill>
                <a:latin typeface="Arial"/>
              </a:rPr>
              <a:t>11.296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293494" y="5627451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3F664A"/>
                </a:solidFill>
                <a:latin typeface="Arial"/>
              </a:rPr>
              <a:t>Y5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196280" y="2095915"/>
            <a:ext cx="3434830" cy="3772784"/>
          </a:xfrm>
          <a:prstGeom prst="rect">
            <a:avLst/>
          </a:prstGeom>
          <a:solidFill>
            <a:srgbClr val="143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330368" y="2217794"/>
            <a:ext cx="31986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3" b="0" i="0">
                <a:solidFill>
                  <a:srgbClr val="CFE9AA"/>
                </a:solidFill>
                <a:latin typeface="Arial"/>
              </a:rPr>
              <a:t>Y6–Y10 · AGREGAT LIMA TAHUN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330368" y="2424807"/>
            <a:ext cx="3198657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F6F9EE"/>
                </a:solidFill>
                <a:latin typeface="Arial"/>
              </a:rPr>
              <a:t>Rp31.569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424529" y="2578183"/>
            <a:ext cx="22486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F6F9EE"/>
                </a:solidFill>
                <a:latin typeface="Arial"/>
              </a:rPr>
              <a:t>juta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330368" y="2740461"/>
            <a:ext cx="319865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DFECDD"/>
                </a:solidFill>
                <a:latin typeface="Arial"/>
              </a:rPr>
              <a:t>CAPEX untuk ekspansi &amp; penggantian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330368" y="2962194"/>
            <a:ext cx="3198657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F6F9EE"/>
                </a:solidFill>
                <a:latin typeface="Arial"/>
              </a:rPr>
              <a:t>Rp102.827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555879" y="3115571"/>
            <a:ext cx="22486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F6F9EE"/>
                </a:solidFill>
                <a:latin typeface="Arial"/>
              </a:rPr>
              <a:t>juta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330368" y="3277848"/>
            <a:ext cx="319865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DFECDD"/>
                </a:solidFill>
                <a:latin typeface="Arial"/>
              </a:rPr>
              <a:t>OPEX seluruh lima tahun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8330368" y="5437214"/>
            <a:ext cx="3166654" cy="0"/>
          </a:xfrm>
          <a:prstGeom prst="line">
            <a:avLst/>
          </a:prstGeom>
          <a:ln w="7303">
            <a:solidFill>
              <a:srgbClr val="E8FAD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/>
        </p:nvSpPr>
        <p:spPr>
          <a:xfrm>
            <a:off x="8330368" y="5522461"/>
            <a:ext cx="3198657" cy="25008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E0ECDF"/>
                </a:solidFill>
                <a:latin typeface="Arial"/>
              </a:rPr>
              <a:t>Y0 CAPEX Rp7.503 jt sudah mencakup Rp479 jt modal kerja praoperasi. Kolom agregat tidak setara satu tahun.</a:t>
            </a:r>
          </a:p>
        </p:txBody>
      </p:sp>
      <p:cxnSp>
        <p:nvCxnSpPr>
          <p:cNvPr id="158" name="Connector 157"/>
          <p:cNvCxnSpPr/>
          <p:nvPr/>
        </p:nvCxnSpPr>
        <p:spPr>
          <a:xfrm flipH="1">
            <a:off x="560774" y="6309428"/>
            <a:ext cx="2658602" cy="0"/>
          </a:xfrm>
          <a:prstGeom prst="line">
            <a:avLst/>
          </a:prstGeom>
          <a:ln w="7303">
            <a:solidFill>
              <a:srgbClr val="98B2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560774" y="6081760"/>
            <a:ext cx="26906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57454"/>
                </a:solidFill>
                <a:latin typeface="Arial"/>
              </a:rPr>
              <a:t>LIHAT TABEL &amp; ANGKA LENGKAP SUMBER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041010" y="6037938"/>
            <a:ext cx="21037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557454"/>
                </a:solidFill>
                <a:latin typeface="Arial"/>
              </a:rPr>
              <a:t>↗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266006" y="6065327"/>
            <a:ext cx="3397222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648067"/>
                </a:solidFill>
                <a:latin typeface="Arial"/>
              </a:rPr>
              <a:t>Y1 menjadi dasar operasi 35 GH; pembelian greenhouse kembali meningkat mulai Y2.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TextBox 16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231784" y="6544057"/>
            <a:ext cx="24314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SUMBER: FINANCIAL STRATEGY (MERY) · HALAMAN 05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7549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KELAYAKAN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PRESENTASI 46 / 66 · ASLI 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KELAYAKAN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Pendapatan tumbuh, laba positif sejak Y1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Proyeksi most likely menaikkan pendapatan dari Rp3,5 miliar di Y0 ke Rp86,6 miliar di Y10.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0774" y="2234684"/>
            <a:ext cx="162349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5725A"/>
                </a:solidFill>
                <a:latin typeface="Arial"/>
              </a:rPr>
              <a:t>PENDAPATAN / RP MILIAR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36036" y="2095915"/>
            <a:ext cx="112719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A4830"/>
                </a:solidFill>
                <a:latin typeface="Arial"/>
              </a:rPr>
              <a:t>3,5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3724" y="2095915"/>
            <a:ext cx="266059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86A663"/>
                </a:solidFill>
                <a:latin typeface="Arial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6036" y="2095915"/>
            <a:ext cx="112719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A4830"/>
                </a:solidFill>
                <a:latin typeface="Arial"/>
              </a:rPr>
              <a:t>86,6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0774" y="2395364"/>
            <a:ext cx="11070450" cy="2819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0774" y="2675823"/>
            <a:ext cx="11070450" cy="2819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0774" y="2956283"/>
            <a:ext cx="11070450" cy="2819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0774" y="3236743"/>
            <a:ext cx="11070450" cy="2819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0774" y="3517202"/>
            <a:ext cx="11070450" cy="2819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0774" y="3797662"/>
            <a:ext cx="11070450" cy="2819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0774" y="4078122"/>
            <a:ext cx="11070450" cy="2819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0774" y="4358581"/>
            <a:ext cx="11070450" cy="2819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774" y="4639041"/>
            <a:ext cx="11070450" cy="2819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0774" y="4919500"/>
            <a:ext cx="11070450" cy="2819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H="1">
            <a:off x="560774" y="5199960"/>
            <a:ext cx="11070450" cy="0"/>
          </a:xfrm>
          <a:prstGeom prst="line">
            <a:avLst/>
          </a:prstGeom>
          <a:ln w="7303">
            <a:solidFill>
              <a:srgbClr val="8FA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89368" y="2639123"/>
            <a:ext cx="1640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3,5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7073" y="4907929"/>
            <a:ext cx="896623" cy="10339"/>
          </a:xfrm>
          <a:prstGeom prst="rect">
            <a:avLst/>
          </a:prstGeom>
          <a:solidFill>
            <a:srgbClr val="B5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7073" y="4916807"/>
            <a:ext cx="896623" cy="10339"/>
          </a:xfrm>
          <a:prstGeom prst="rect">
            <a:avLst/>
          </a:prstGeom>
          <a:solidFill>
            <a:srgbClr val="A6C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7073" y="4925686"/>
            <a:ext cx="896623" cy="10339"/>
          </a:xfrm>
          <a:prstGeom prst="rect">
            <a:avLst/>
          </a:prstGeom>
          <a:solidFill>
            <a:srgbClr val="98C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7073" y="4934564"/>
            <a:ext cx="896623" cy="10339"/>
          </a:xfrm>
          <a:prstGeom prst="rect">
            <a:avLst/>
          </a:prstGeom>
          <a:solidFill>
            <a:srgbClr val="88B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7073" y="4943443"/>
            <a:ext cx="896623" cy="10339"/>
          </a:xfrm>
          <a:prstGeom prst="rect">
            <a:avLst/>
          </a:prstGeom>
          <a:solidFill>
            <a:srgbClr val="7A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7073" y="4952321"/>
            <a:ext cx="896623" cy="10339"/>
          </a:xfrm>
          <a:prstGeom prst="rect">
            <a:avLst/>
          </a:prstGeom>
          <a:solidFill>
            <a:srgbClr val="6A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7073" y="4961200"/>
            <a:ext cx="896623" cy="10339"/>
          </a:xfrm>
          <a:prstGeom prst="rect">
            <a:avLst/>
          </a:prstGeom>
          <a:solidFill>
            <a:srgbClr val="5C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7073" y="4970078"/>
            <a:ext cx="896623" cy="10339"/>
          </a:xfrm>
          <a:prstGeom prst="rect">
            <a:avLst/>
          </a:prstGeom>
          <a:solidFill>
            <a:srgbClr val="4C8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7073" y="4978957"/>
            <a:ext cx="896623" cy="10339"/>
          </a:xfrm>
          <a:prstGeom prst="rect">
            <a:avLst/>
          </a:prstGeom>
          <a:solidFill>
            <a:srgbClr val="3E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07073" y="4987835"/>
            <a:ext cx="896623" cy="10339"/>
          </a:xfrm>
          <a:prstGeom prst="rect">
            <a:avLst/>
          </a:prstGeom>
          <a:solidFill>
            <a:srgbClr val="2F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42" y="5039280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77399" y="2639123"/>
            <a:ext cx="1640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7,4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95105" y="4808873"/>
            <a:ext cx="896737" cy="20244"/>
          </a:xfrm>
          <a:prstGeom prst="rect">
            <a:avLst/>
          </a:prstGeom>
          <a:solidFill>
            <a:srgbClr val="B5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95105" y="4827657"/>
            <a:ext cx="896737" cy="20244"/>
          </a:xfrm>
          <a:prstGeom prst="rect">
            <a:avLst/>
          </a:prstGeom>
          <a:solidFill>
            <a:srgbClr val="A6C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95105" y="4846441"/>
            <a:ext cx="896737" cy="20244"/>
          </a:xfrm>
          <a:prstGeom prst="rect">
            <a:avLst/>
          </a:prstGeom>
          <a:solidFill>
            <a:srgbClr val="98C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95105" y="4865225"/>
            <a:ext cx="896737" cy="20244"/>
          </a:xfrm>
          <a:prstGeom prst="rect">
            <a:avLst/>
          </a:prstGeom>
          <a:solidFill>
            <a:srgbClr val="88B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5105" y="4884009"/>
            <a:ext cx="896737" cy="20244"/>
          </a:xfrm>
          <a:prstGeom prst="rect">
            <a:avLst/>
          </a:prstGeom>
          <a:solidFill>
            <a:srgbClr val="7A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95105" y="4902793"/>
            <a:ext cx="896737" cy="20244"/>
          </a:xfrm>
          <a:prstGeom prst="rect">
            <a:avLst/>
          </a:prstGeom>
          <a:solidFill>
            <a:srgbClr val="6A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95105" y="4921577"/>
            <a:ext cx="896737" cy="20244"/>
          </a:xfrm>
          <a:prstGeom prst="rect">
            <a:avLst/>
          </a:prstGeom>
          <a:solidFill>
            <a:srgbClr val="5C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95105" y="4940361"/>
            <a:ext cx="896737" cy="20244"/>
          </a:xfrm>
          <a:prstGeom prst="rect">
            <a:avLst/>
          </a:prstGeom>
          <a:solidFill>
            <a:srgbClr val="4C8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95105" y="4959145"/>
            <a:ext cx="896737" cy="20244"/>
          </a:xfrm>
          <a:prstGeom prst="rect">
            <a:avLst/>
          </a:prstGeom>
          <a:solidFill>
            <a:srgbClr val="3E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695105" y="4977929"/>
            <a:ext cx="896737" cy="20244"/>
          </a:xfrm>
          <a:prstGeom prst="rect">
            <a:avLst/>
          </a:prstGeom>
          <a:solidFill>
            <a:srgbClr val="2F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85388" y="5039280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39070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13,2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83251" y="4661773"/>
            <a:ext cx="896623" cy="34954"/>
          </a:xfrm>
          <a:prstGeom prst="rect">
            <a:avLst/>
          </a:prstGeom>
          <a:solidFill>
            <a:srgbClr val="B5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3251" y="4695267"/>
            <a:ext cx="896623" cy="34954"/>
          </a:xfrm>
          <a:prstGeom prst="rect">
            <a:avLst/>
          </a:prstGeom>
          <a:solidFill>
            <a:srgbClr val="A6C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83251" y="4728761"/>
            <a:ext cx="896623" cy="34954"/>
          </a:xfrm>
          <a:prstGeom prst="rect">
            <a:avLst/>
          </a:prstGeom>
          <a:solidFill>
            <a:srgbClr val="98C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3251" y="4762255"/>
            <a:ext cx="896623" cy="34954"/>
          </a:xfrm>
          <a:prstGeom prst="rect">
            <a:avLst/>
          </a:prstGeom>
          <a:solidFill>
            <a:srgbClr val="88B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683251" y="4795749"/>
            <a:ext cx="896623" cy="34954"/>
          </a:xfrm>
          <a:prstGeom prst="rect">
            <a:avLst/>
          </a:prstGeom>
          <a:solidFill>
            <a:srgbClr val="7A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683251" y="4829243"/>
            <a:ext cx="896623" cy="34954"/>
          </a:xfrm>
          <a:prstGeom prst="rect">
            <a:avLst/>
          </a:prstGeom>
          <a:solidFill>
            <a:srgbClr val="6A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683251" y="4862737"/>
            <a:ext cx="896623" cy="34954"/>
          </a:xfrm>
          <a:prstGeom prst="rect">
            <a:avLst/>
          </a:prstGeom>
          <a:solidFill>
            <a:srgbClr val="5C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683251" y="4896231"/>
            <a:ext cx="896623" cy="34954"/>
          </a:xfrm>
          <a:prstGeom prst="rect">
            <a:avLst/>
          </a:prstGeom>
          <a:solidFill>
            <a:srgbClr val="4C8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683251" y="4929726"/>
            <a:ext cx="896623" cy="34954"/>
          </a:xfrm>
          <a:prstGeom prst="rect">
            <a:avLst/>
          </a:prstGeom>
          <a:solidFill>
            <a:srgbClr val="3E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683251" y="4963220"/>
            <a:ext cx="896623" cy="34954"/>
          </a:xfrm>
          <a:prstGeom prst="rect">
            <a:avLst/>
          </a:prstGeom>
          <a:solidFill>
            <a:srgbClr val="2F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073419" y="5039280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27215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19,1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71282" y="4511821"/>
            <a:ext cx="896737" cy="49950"/>
          </a:xfrm>
          <a:prstGeom prst="rect">
            <a:avLst/>
          </a:prstGeom>
          <a:solidFill>
            <a:srgbClr val="B5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71282" y="4560310"/>
            <a:ext cx="896737" cy="49950"/>
          </a:xfrm>
          <a:prstGeom prst="rect">
            <a:avLst/>
          </a:prstGeom>
          <a:solidFill>
            <a:srgbClr val="A6C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71282" y="4608799"/>
            <a:ext cx="896737" cy="49950"/>
          </a:xfrm>
          <a:prstGeom prst="rect">
            <a:avLst/>
          </a:prstGeom>
          <a:solidFill>
            <a:srgbClr val="98C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671282" y="4657288"/>
            <a:ext cx="896737" cy="49950"/>
          </a:xfrm>
          <a:prstGeom prst="rect">
            <a:avLst/>
          </a:prstGeom>
          <a:solidFill>
            <a:srgbClr val="88B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71282" y="4705778"/>
            <a:ext cx="896737" cy="49950"/>
          </a:xfrm>
          <a:prstGeom prst="rect">
            <a:avLst/>
          </a:prstGeom>
          <a:solidFill>
            <a:srgbClr val="7A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71282" y="4754267"/>
            <a:ext cx="896737" cy="49950"/>
          </a:xfrm>
          <a:prstGeom prst="rect">
            <a:avLst/>
          </a:prstGeom>
          <a:solidFill>
            <a:srgbClr val="6A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71282" y="4802756"/>
            <a:ext cx="896737" cy="49950"/>
          </a:xfrm>
          <a:prstGeom prst="rect">
            <a:avLst/>
          </a:prstGeom>
          <a:solidFill>
            <a:srgbClr val="5C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671282" y="4851246"/>
            <a:ext cx="896737" cy="49950"/>
          </a:xfrm>
          <a:prstGeom prst="rect">
            <a:avLst/>
          </a:prstGeom>
          <a:solidFill>
            <a:srgbClr val="4C8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671282" y="4899735"/>
            <a:ext cx="896737" cy="49950"/>
          </a:xfrm>
          <a:prstGeom prst="rect">
            <a:avLst/>
          </a:prstGeom>
          <a:solidFill>
            <a:srgbClr val="3E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71282" y="4948224"/>
            <a:ext cx="896737" cy="49950"/>
          </a:xfrm>
          <a:prstGeom prst="rect">
            <a:avLst/>
          </a:prstGeom>
          <a:solidFill>
            <a:srgbClr val="2F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061565" y="5039280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15247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25,4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59428" y="4352054"/>
            <a:ext cx="896623" cy="65926"/>
          </a:xfrm>
          <a:prstGeom prst="rect">
            <a:avLst/>
          </a:prstGeom>
          <a:solidFill>
            <a:srgbClr val="B5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659428" y="4416520"/>
            <a:ext cx="896623" cy="65926"/>
          </a:xfrm>
          <a:prstGeom prst="rect">
            <a:avLst/>
          </a:prstGeom>
          <a:solidFill>
            <a:srgbClr val="A6C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59428" y="4480986"/>
            <a:ext cx="896623" cy="65926"/>
          </a:xfrm>
          <a:prstGeom prst="rect">
            <a:avLst/>
          </a:prstGeom>
          <a:solidFill>
            <a:srgbClr val="98C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659428" y="4545452"/>
            <a:ext cx="896623" cy="65926"/>
          </a:xfrm>
          <a:prstGeom prst="rect">
            <a:avLst/>
          </a:prstGeom>
          <a:solidFill>
            <a:srgbClr val="88B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659428" y="4609918"/>
            <a:ext cx="896623" cy="65926"/>
          </a:xfrm>
          <a:prstGeom prst="rect">
            <a:avLst/>
          </a:prstGeom>
          <a:solidFill>
            <a:srgbClr val="7A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659428" y="4674384"/>
            <a:ext cx="896623" cy="65926"/>
          </a:xfrm>
          <a:prstGeom prst="rect">
            <a:avLst/>
          </a:prstGeom>
          <a:solidFill>
            <a:srgbClr val="6A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659428" y="4738850"/>
            <a:ext cx="896623" cy="65926"/>
          </a:xfrm>
          <a:prstGeom prst="rect">
            <a:avLst/>
          </a:prstGeom>
          <a:solidFill>
            <a:srgbClr val="5C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59428" y="4803316"/>
            <a:ext cx="896623" cy="65926"/>
          </a:xfrm>
          <a:prstGeom prst="rect">
            <a:avLst/>
          </a:prstGeom>
          <a:solidFill>
            <a:srgbClr val="4C8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659428" y="4867782"/>
            <a:ext cx="896623" cy="65926"/>
          </a:xfrm>
          <a:prstGeom prst="rect">
            <a:avLst/>
          </a:prstGeom>
          <a:solidFill>
            <a:srgbClr val="3E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659428" y="4932248"/>
            <a:ext cx="896623" cy="65926"/>
          </a:xfrm>
          <a:prstGeom prst="rect">
            <a:avLst/>
          </a:prstGeom>
          <a:solidFill>
            <a:srgbClr val="2F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49596" y="5039280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03393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32,3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47459" y="4176880"/>
            <a:ext cx="896737" cy="83444"/>
          </a:xfrm>
          <a:prstGeom prst="rect">
            <a:avLst/>
          </a:prstGeom>
          <a:solidFill>
            <a:srgbClr val="B5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647459" y="4258864"/>
            <a:ext cx="896737" cy="83444"/>
          </a:xfrm>
          <a:prstGeom prst="rect">
            <a:avLst/>
          </a:prstGeom>
          <a:solidFill>
            <a:srgbClr val="A6C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647459" y="4340847"/>
            <a:ext cx="896737" cy="83444"/>
          </a:xfrm>
          <a:prstGeom prst="rect">
            <a:avLst/>
          </a:prstGeom>
          <a:solidFill>
            <a:srgbClr val="98C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647459" y="4422830"/>
            <a:ext cx="896737" cy="83444"/>
          </a:xfrm>
          <a:prstGeom prst="rect">
            <a:avLst/>
          </a:prstGeom>
          <a:solidFill>
            <a:srgbClr val="88B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47459" y="4504814"/>
            <a:ext cx="896737" cy="83444"/>
          </a:xfrm>
          <a:prstGeom prst="rect">
            <a:avLst/>
          </a:prstGeom>
          <a:solidFill>
            <a:srgbClr val="7A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47459" y="4586797"/>
            <a:ext cx="896737" cy="83444"/>
          </a:xfrm>
          <a:prstGeom prst="rect">
            <a:avLst/>
          </a:prstGeom>
          <a:solidFill>
            <a:srgbClr val="6A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47459" y="4668780"/>
            <a:ext cx="896737" cy="83444"/>
          </a:xfrm>
          <a:prstGeom prst="rect">
            <a:avLst/>
          </a:prstGeom>
          <a:solidFill>
            <a:srgbClr val="5C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647459" y="4750764"/>
            <a:ext cx="896737" cy="83444"/>
          </a:xfrm>
          <a:prstGeom prst="rect">
            <a:avLst/>
          </a:prstGeom>
          <a:solidFill>
            <a:srgbClr val="4C8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47459" y="4832747"/>
            <a:ext cx="896737" cy="83444"/>
          </a:xfrm>
          <a:prstGeom prst="rect">
            <a:avLst/>
          </a:prstGeom>
          <a:solidFill>
            <a:srgbClr val="3E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647459" y="4914730"/>
            <a:ext cx="896737" cy="83444"/>
          </a:xfrm>
          <a:prstGeom prst="rect">
            <a:avLst/>
          </a:prstGeom>
          <a:solidFill>
            <a:srgbClr val="2F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37742" y="5039280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91539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40,3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635605" y="3973748"/>
            <a:ext cx="896737" cy="103757"/>
          </a:xfrm>
          <a:prstGeom prst="rect">
            <a:avLst/>
          </a:prstGeom>
          <a:solidFill>
            <a:srgbClr val="B5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635605" y="4076045"/>
            <a:ext cx="896737" cy="103757"/>
          </a:xfrm>
          <a:prstGeom prst="rect">
            <a:avLst/>
          </a:prstGeom>
          <a:solidFill>
            <a:srgbClr val="A6C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635605" y="4178341"/>
            <a:ext cx="896737" cy="103757"/>
          </a:xfrm>
          <a:prstGeom prst="rect">
            <a:avLst/>
          </a:prstGeom>
          <a:solidFill>
            <a:srgbClr val="98C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635605" y="4280638"/>
            <a:ext cx="896737" cy="103757"/>
          </a:xfrm>
          <a:prstGeom prst="rect">
            <a:avLst/>
          </a:prstGeom>
          <a:solidFill>
            <a:srgbClr val="88B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635605" y="4382934"/>
            <a:ext cx="896737" cy="103757"/>
          </a:xfrm>
          <a:prstGeom prst="rect">
            <a:avLst/>
          </a:prstGeom>
          <a:solidFill>
            <a:srgbClr val="7A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635605" y="4485231"/>
            <a:ext cx="896737" cy="103757"/>
          </a:xfrm>
          <a:prstGeom prst="rect">
            <a:avLst/>
          </a:prstGeom>
          <a:solidFill>
            <a:srgbClr val="6A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635605" y="4587527"/>
            <a:ext cx="896737" cy="103757"/>
          </a:xfrm>
          <a:prstGeom prst="rect">
            <a:avLst/>
          </a:prstGeom>
          <a:solidFill>
            <a:srgbClr val="5C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635605" y="4689824"/>
            <a:ext cx="896737" cy="103757"/>
          </a:xfrm>
          <a:prstGeom prst="rect">
            <a:avLst/>
          </a:prstGeom>
          <a:solidFill>
            <a:srgbClr val="4C8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635605" y="4792120"/>
            <a:ext cx="896737" cy="103757"/>
          </a:xfrm>
          <a:prstGeom prst="rect">
            <a:avLst/>
          </a:prstGeom>
          <a:solidFill>
            <a:srgbClr val="3E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635605" y="4894417"/>
            <a:ext cx="896737" cy="103757"/>
          </a:xfrm>
          <a:prstGeom prst="rect">
            <a:avLst/>
          </a:prstGeom>
          <a:solidFill>
            <a:srgbClr val="2F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25888" y="5039280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79684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48,1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623751" y="3775865"/>
            <a:ext cx="896737" cy="123545"/>
          </a:xfrm>
          <a:prstGeom prst="rect">
            <a:avLst/>
          </a:prstGeom>
          <a:solidFill>
            <a:srgbClr val="B5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623751" y="3897950"/>
            <a:ext cx="896737" cy="123545"/>
          </a:xfrm>
          <a:prstGeom prst="rect">
            <a:avLst/>
          </a:prstGeom>
          <a:solidFill>
            <a:srgbClr val="A6C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623751" y="4020035"/>
            <a:ext cx="896737" cy="123545"/>
          </a:xfrm>
          <a:prstGeom prst="rect">
            <a:avLst/>
          </a:prstGeom>
          <a:solidFill>
            <a:srgbClr val="98C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623751" y="4142120"/>
            <a:ext cx="896737" cy="123545"/>
          </a:xfrm>
          <a:prstGeom prst="rect">
            <a:avLst/>
          </a:prstGeom>
          <a:solidFill>
            <a:srgbClr val="88B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623751" y="4264205"/>
            <a:ext cx="896737" cy="123545"/>
          </a:xfrm>
          <a:prstGeom prst="rect">
            <a:avLst/>
          </a:prstGeom>
          <a:solidFill>
            <a:srgbClr val="7A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623751" y="4386289"/>
            <a:ext cx="896737" cy="123545"/>
          </a:xfrm>
          <a:prstGeom prst="rect">
            <a:avLst/>
          </a:prstGeom>
          <a:solidFill>
            <a:srgbClr val="6A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623751" y="4508374"/>
            <a:ext cx="896737" cy="123545"/>
          </a:xfrm>
          <a:prstGeom prst="rect">
            <a:avLst/>
          </a:prstGeom>
          <a:solidFill>
            <a:srgbClr val="5C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623751" y="4630459"/>
            <a:ext cx="896737" cy="123545"/>
          </a:xfrm>
          <a:prstGeom prst="rect">
            <a:avLst/>
          </a:prstGeom>
          <a:solidFill>
            <a:srgbClr val="4C8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623751" y="4752544"/>
            <a:ext cx="896737" cy="123545"/>
          </a:xfrm>
          <a:prstGeom prst="rect">
            <a:avLst/>
          </a:prstGeom>
          <a:solidFill>
            <a:srgbClr val="3E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623751" y="4874629"/>
            <a:ext cx="896737" cy="123545"/>
          </a:xfrm>
          <a:prstGeom prst="rect">
            <a:avLst/>
          </a:prstGeom>
          <a:solidFill>
            <a:srgbClr val="2F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014034" y="5039280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67830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58,3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611897" y="3516928"/>
            <a:ext cx="896737" cy="149439"/>
          </a:xfrm>
          <a:prstGeom prst="rect">
            <a:avLst/>
          </a:prstGeom>
          <a:solidFill>
            <a:srgbClr val="B5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611897" y="3664907"/>
            <a:ext cx="896737" cy="149439"/>
          </a:xfrm>
          <a:prstGeom prst="rect">
            <a:avLst/>
          </a:prstGeom>
          <a:solidFill>
            <a:srgbClr val="A6C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611897" y="3812885"/>
            <a:ext cx="896737" cy="149439"/>
          </a:xfrm>
          <a:prstGeom prst="rect">
            <a:avLst/>
          </a:prstGeom>
          <a:solidFill>
            <a:srgbClr val="98C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611897" y="3960864"/>
            <a:ext cx="896737" cy="149439"/>
          </a:xfrm>
          <a:prstGeom prst="rect">
            <a:avLst/>
          </a:prstGeom>
          <a:solidFill>
            <a:srgbClr val="88B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8611897" y="4108842"/>
            <a:ext cx="896737" cy="149439"/>
          </a:xfrm>
          <a:prstGeom prst="rect">
            <a:avLst/>
          </a:prstGeom>
          <a:solidFill>
            <a:srgbClr val="7A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8611897" y="4256821"/>
            <a:ext cx="896737" cy="149439"/>
          </a:xfrm>
          <a:prstGeom prst="rect">
            <a:avLst/>
          </a:prstGeom>
          <a:solidFill>
            <a:srgbClr val="6A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611897" y="4404799"/>
            <a:ext cx="896737" cy="149439"/>
          </a:xfrm>
          <a:prstGeom prst="rect">
            <a:avLst/>
          </a:prstGeom>
          <a:solidFill>
            <a:srgbClr val="5C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611897" y="4552778"/>
            <a:ext cx="896737" cy="149439"/>
          </a:xfrm>
          <a:prstGeom prst="rect">
            <a:avLst/>
          </a:prstGeom>
          <a:solidFill>
            <a:srgbClr val="4C8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611897" y="4700757"/>
            <a:ext cx="896737" cy="149439"/>
          </a:xfrm>
          <a:prstGeom prst="rect">
            <a:avLst/>
          </a:prstGeom>
          <a:solidFill>
            <a:srgbClr val="3E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611897" y="4848735"/>
            <a:ext cx="896737" cy="149439"/>
          </a:xfrm>
          <a:prstGeom prst="rect">
            <a:avLst/>
          </a:prstGeom>
          <a:solidFill>
            <a:srgbClr val="2F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002179" y="5039280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955976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73,0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600042" y="3143758"/>
            <a:ext cx="896737" cy="186756"/>
          </a:xfrm>
          <a:prstGeom prst="rect">
            <a:avLst/>
          </a:prstGeom>
          <a:solidFill>
            <a:srgbClr val="B5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600042" y="3329054"/>
            <a:ext cx="896737" cy="186756"/>
          </a:xfrm>
          <a:prstGeom prst="rect">
            <a:avLst/>
          </a:prstGeom>
          <a:solidFill>
            <a:srgbClr val="A6C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600042" y="3514349"/>
            <a:ext cx="896737" cy="186756"/>
          </a:xfrm>
          <a:prstGeom prst="rect">
            <a:avLst/>
          </a:prstGeom>
          <a:solidFill>
            <a:srgbClr val="98C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600042" y="3699645"/>
            <a:ext cx="896737" cy="186756"/>
          </a:xfrm>
          <a:prstGeom prst="rect">
            <a:avLst/>
          </a:prstGeom>
          <a:solidFill>
            <a:srgbClr val="88B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600042" y="3884940"/>
            <a:ext cx="896737" cy="186756"/>
          </a:xfrm>
          <a:prstGeom prst="rect">
            <a:avLst/>
          </a:prstGeom>
          <a:solidFill>
            <a:srgbClr val="7A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600042" y="4070236"/>
            <a:ext cx="896737" cy="186756"/>
          </a:xfrm>
          <a:prstGeom prst="rect">
            <a:avLst/>
          </a:prstGeom>
          <a:solidFill>
            <a:srgbClr val="6A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9600042" y="4255531"/>
            <a:ext cx="896737" cy="186756"/>
          </a:xfrm>
          <a:prstGeom prst="rect">
            <a:avLst/>
          </a:prstGeom>
          <a:solidFill>
            <a:srgbClr val="5C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600042" y="4440827"/>
            <a:ext cx="896737" cy="186756"/>
          </a:xfrm>
          <a:prstGeom prst="rect">
            <a:avLst/>
          </a:prstGeom>
          <a:solidFill>
            <a:srgbClr val="4C8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600042" y="4626122"/>
            <a:ext cx="896737" cy="186756"/>
          </a:xfrm>
          <a:prstGeom prst="rect">
            <a:avLst/>
          </a:prstGeom>
          <a:solidFill>
            <a:srgbClr val="3E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9600042" y="4811418"/>
            <a:ext cx="896737" cy="186756"/>
          </a:xfrm>
          <a:prstGeom prst="rect">
            <a:avLst/>
          </a:prstGeom>
          <a:solidFill>
            <a:srgbClr val="2F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990325" y="5039280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44121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86,6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588188" y="2798547"/>
            <a:ext cx="896737" cy="221277"/>
          </a:xfrm>
          <a:prstGeom prst="rect">
            <a:avLst/>
          </a:prstGeom>
          <a:solidFill>
            <a:srgbClr val="B5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0588188" y="3018364"/>
            <a:ext cx="896737" cy="221277"/>
          </a:xfrm>
          <a:prstGeom prst="rect">
            <a:avLst/>
          </a:prstGeom>
          <a:solidFill>
            <a:srgbClr val="A6C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0588188" y="3238181"/>
            <a:ext cx="896737" cy="221277"/>
          </a:xfrm>
          <a:prstGeom prst="rect">
            <a:avLst/>
          </a:prstGeom>
          <a:solidFill>
            <a:srgbClr val="98C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0588188" y="3457997"/>
            <a:ext cx="896737" cy="221277"/>
          </a:xfrm>
          <a:prstGeom prst="rect">
            <a:avLst/>
          </a:prstGeom>
          <a:solidFill>
            <a:srgbClr val="88B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0588188" y="3677814"/>
            <a:ext cx="896737" cy="221277"/>
          </a:xfrm>
          <a:prstGeom prst="rect">
            <a:avLst/>
          </a:prstGeom>
          <a:solidFill>
            <a:srgbClr val="7A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588188" y="3897630"/>
            <a:ext cx="896737" cy="221277"/>
          </a:xfrm>
          <a:prstGeom prst="rect">
            <a:avLst/>
          </a:prstGeom>
          <a:solidFill>
            <a:srgbClr val="6A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0588188" y="4117447"/>
            <a:ext cx="896737" cy="221277"/>
          </a:xfrm>
          <a:prstGeom prst="rect">
            <a:avLst/>
          </a:prstGeom>
          <a:solidFill>
            <a:srgbClr val="5C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588188" y="4337264"/>
            <a:ext cx="896737" cy="221277"/>
          </a:xfrm>
          <a:prstGeom prst="rect">
            <a:avLst/>
          </a:prstGeom>
          <a:solidFill>
            <a:srgbClr val="4C8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588188" y="4557080"/>
            <a:ext cx="896737" cy="221277"/>
          </a:xfrm>
          <a:prstGeom prst="rect">
            <a:avLst/>
          </a:prstGeom>
          <a:solidFill>
            <a:srgbClr val="3E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0588188" y="4776897"/>
            <a:ext cx="896737" cy="221277"/>
          </a:xfrm>
          <a:prstGeom prst="rect">
            <a:avLst/>
          </a:prstGeom>
          <a:solidFill>
            <a:srgbClr val="2F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0951996" y="5039280"/>
            <a:ext cx="2010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Y10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60774" y="5345006"/>
            <a:ext cx="127189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4684C"/>
                </a:solidFill>
                <a:latin typeface="Arial"/>
              </a:rPr>
              <a:t>LABA BERSIH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861603" y="5334050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A85B34"/>
                </a:solidFill>
                <a:latin typeface="Arial"/>
              </a:rPr>
              <a:t>-1,3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757998" y="5334050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0,1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654507" y="5334050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2,0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50902" y="5334050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3,8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447411" y="5334050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5,3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43806" y="5334050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6,4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240315" y="5334050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6,5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36710" y="5334050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9,0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033219" y="5334050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11,9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929614" y="5334050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14,9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826124" y="5334050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19,6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60774" y="5599606"/>
            <a:ext cx="11070450" cy="323870"/>
          </a:xfrm>
          <a:prstGeom prst="rect">
            <a:avLst/>
          </a:prstGeom>
          <a:solidFill>
            <a:srgbClr val="DC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07073" y="5684853"/>
            <a:ext cx="18389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31583B"/>
                </a:solidFill>
                <a:latin typeface="Arial"/>
              </a:rPr>
              <a:t>Y1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60774" y="5692157"/>
            <a:ext cx="11102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31583B"/>
                </a:solidFill>
                <a:latin typeface="Arial"/>
              </a:rPr>
              <a:t>laba bersih mulai positif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50825" y="5692157"/>
            <a:ext cx="66581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8CA886"/>
                </a:solidFill>
                <a:latin typeface="Arial"/>
              </a:rPr>
              <a:t>·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529648" y="5684853"/>
            <a:ext cx="80184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31583B"/>
                </a:solidFill>
                <a:latin typeface="Arial"/>
              </a:rPr>
              <a:t>Rp78,3 miliar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60774" y="5692157"/>
            <a:ext cx="11102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31583B"/>
                </a:solidFill>
                <a:latin typeface="Arial"/>
              </a:rPr>
              <a:t>kumulatif Y0–Y10</a:t>
            </a:r>
          </a:p>
        </p:txBody>
      </p:sp>
      <p:cxnSp>
        <p:nvCxnSpPr>
          <p:cNvPr id="174" name="Connector 173"/>
          <p:cNvCxnSpPr/>
          <p:nvPr/>
        </p:nvCxnSpPr>
        <p:spPr>
          <a:xfrm flipH="1">
            <a:off x="8972623" y="6309428"/>
            <a:ext cx="2658601" cy="0"/>
          </a:xfrm>
          <a:prstGeom prst="line">
            <a:avLst/>
          </a:prstGeom>
          <a:ln w="7303">
            <a:solidFill>
              <a:srgbClr val="98B2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8972623" y="6081760"/>
            <a:ext cx="26906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57454"/>
                </a:solidFill>
                <a:latin typeface="Arial"/>
              </a:rPr>
              <a:t>LIHAT TABEL &amp; ANGKA LENGKAP SUMBER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1452858" y="6037938"/>
            <a:ext cx="21037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557454"/>
                </a:solidFill>
                <a:latin typeface="Arial"/>
              </a:rPr>
              <a:t>↗</a:t>
            </a:r>
          </a:p>
        </p:txBody>
      </p:sp>
      <p:cxnSp>
        <p:nvCxnSpPr>
          <p:cNvPr id="177" name="Connector 17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231784" y="6544057"/>
            <a:ext cx="24314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SUMBER: FINANCIAL STRATEGY (MERY) · HALAMAN 06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7549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KELAYAKAN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PRESENTASI 47 / 66 · ASLI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KELAYAKAN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Aset dan ekuitas bertumbuh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Neraca memproyeksikan aset Rp81,6 miliar dan ekuitas Rp65,5 miliar pada Tahun 10.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774" y="2115315"/>
            <a:ext cx="85245" cy="85247"/>
          </a:xfrm>
          <a:prstGeom prst="rect">
            <a:avLst/>
          </a:prstGeom>
          <a:solidFill>
            <a:srgbClr val="689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774" y="2095915"/>
            <a:ext cx="58490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35B"/>
                </a:solidFill>
                <a:latin typeface="Arial"/>
              </a:rPr>
              <a:t>Ekuitas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59974" y="2115315"/>
            <a:ext cx="85245" cy="85247"/>
          </a:xfrm>
          <a:prstGeom prst="rect">
            <a:avLst/>
          </a:prstGeom>
          <a:solidFill>
            <a:srgbClr val="D8E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9974" y="2095915"/>
            <a:ext cx="68475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35B"/>
                </a:solidFill>
                <a:latin typeface="Arial"/>
              </a:rPr>
              <a:t>Liabilitas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22602" y="2095915"/>
            <a:ext cx="54062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35B"/>
                </a:solidFill>
                <a:latin typeface="Arial"/>
              </a:rPr>
              <a:t>Rp miliar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0774" y="2220077"/>
            <a:ext cx="11070450" cy="334529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0774" y="2553145"/>
            <a:ext cx="11070450" cy="334529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0774" y="2886214"/>
            <a:ext cx="11070450" cy="334529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0774" y="3219282"/>
            <a:ext cx="11070450" cy="334529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0774" y="3552351"/>
            <a:ext cx="11070450" cy="334529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0774" y="3885420"/>
            <a:ext cx="11070450" cy="334529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0774" y="4218488"/>
            <a:ext cx="11070450" cy="334529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774" y="4551557"/>
            <a:ext cx="11070450" cy="334529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0774" y="4884626"/>
            <a:ext cx="11070450" cy="334529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0774" y="5217694"/>
            <a:ext cx="11070450" cy="334529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560774" y="5550763"/>
            <a:ext cx="11070450" cy="0"/>
          </a:xfrm>
          <a:prstGeom prst="line">
            <a:avLst/>
          </a:prstGeom>
          <a:ln w="7303">
            <a:solidFill>
              <a:srgbClr val="9CB3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666119" y="4536356"/>
            <a:ext cx="21482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1" i="0">
                <a:solidFill>
                  <a:srgbClr val="255A39"/>
                </a:solidFill>
                <a:latin typeface="Arial"/>
              </a:rPr>
              <a:t>9,4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52311" y="4740858"/>
            <a:ext cx="24243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0" i="0">
                <a:solidFill>
                  <a:srgbClr val="255A39"/>
                </a:solidFill>
                <a:latin typeface="Arial"/>
              </a:rPr>
              <a:t>ASET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1115" y="4889441"/>
            <a:ext cx="992824" cy="14607"/>
          </a:xfrm>
          <a:prstGeom prst="rect">
            <a:avLst/>
          </a:prstGeom>
          <a:solidFill>
            <a:srgbClr val="D8E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61115" y="4904049"/>
            <a:ext cx="992824" cy="34703"/>
          </a:xfrm>
          <a:prstGeom prst="rect">
            <a:avLst/>
          </a:prstGeom>
          <a:solidFill>
            <a:srgbClr val="7F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61115" y="4937292"/>
            <a:ext cx="992824" cy="34703"/>
          </a:xfrm>
          <a:prstGeom prst="rect">
            <a:avLst/>
          </a:prstGeom>
          <a:solidFill>
            <a:srgbClr val="77A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61115" y="4970535"/>
            <a:ext cx="992824" cy="34703"/>
          </a:xfrm>
          <a:prstGeom prst="rect">
            <a:avLst/>
          </a:prstGeom>
          <a:solidFill>
            <a:srgbClr val="6FA4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61115" y="5003778"/>
            <a:ext cx="992824" cy="34703"/>
          </a:xfrm>
          <a:prstGeom prst="rect">
            <a:avLst/>
          </a:prstGeom>
          <a:solidFill>
            <a:srgbClr val="679C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61115" y="5037020"/>
            <a:ext cx="992824" cy="34703"/>
          </a:xfrm>
          <a:prstGeom prst="rect">
            <a:avLst/>
          </a:prstGeom>
          <a:solidFill>
            <a:srgbClr val="5F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61115" y="5070263"/>
            <a:ext cx="992824" cy="34703"/>
          </a:xfrm>
          <a:prstGeom prst="rect">
            <a:avLst/>
          </a:prstGeom>
          <a:solidFill>
            <a:srgbClr val="568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61115" y="5103506"/>
            <a:ext cx="992824" cy="34703"/>
          </a:xfrm>
          <a:prstGeom prst="rect">
            <a:avLst/>
          </a:prstGeom>
          <a:solidFill>
            <a:srgbClr val="4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261115" y="5136749"/>
            <a:ext cx="992824" cy="34703"/>
          </a:xfrm>
          <a:prstGeom prst="rect">
            <a:avLst/>
          </a:prstGeom>
          <a:solidFill>
            <a:srgbClr val="467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261115" y="5169992"/>
            <a:ext cx="992824" cy="34703"/>
          </a:xfrm>
          <a:prstGeom prst="rect">
            <a:avLst/>
          </a:prstGeom>
          <a:solidFill>
            <a:srgbClr val="3E77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261115" y="5203235"/>
            <a:ext cx="992824" cy="34703"/>
          </a:xfrm>
          <a:prstGeom prst="rect">
            <a:avLst/>
          </a:prstGeom>
          <a:solidFill>
            <a:srgbClr val="367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94991" y="5297418"/>
            <a:ext cx="15707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41644A"/>
                </a:solidFill>
                <a:latin typeface="Arial"/>
              </a:rPr>
              <a:t>Y0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4990" y="4358216"/>
            <a:ext cx="28785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1" i="0">
                <a:solidFill>
                  <a:srgbClr val="255A39"/>
                </a:solidFill>
                <a:latin typeface="Arial"/>
              </a:rPr>
              <a:t>14,2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7699" y="4562718"/>
            <a:ext cx="24243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0" i="0">
                <a:solidFill>
                  <a:srgbClr val="255A39"/>
                </a:solidFill>
                <a:latin typeface="Arial"/>
              </a:rPr>
              <a:t>ASET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96390" y="4711415"/>
            <a:ext cx="992938" cy="107043"/>
          </a:xfrm>
          <a:prstGeom prst="rect">
            <a:avLst/>
          </a:prstGeom>
          <a:solidFill>
            <a:srgbClr val="D8E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96390" y="4818459"/>
            <a:ext cx="992938" cy="43262"/>
          </a:xfrm>
          <a:prstGeom prst="rect">
            <a:avLst/>
          </a:prstGeom>
          <a:solidFill>
            <a:srgbClr val="7F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96390" y="4860261"/>
            <a:ext cx="992938" cy="43262"/>
          </a:xfrm>
          <a:prstGeom prst="rect">
            <a:avLst/>
          </a:prstGeom>
          <a:solidFill>
            <a:srgbClr val="77A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996390" y="4902063"/>
            <a:ext cx="992938" cy="43262"/>
          </a:xfrm>
          <a:prstGeom prst="rect">
            <a:avLst/>
          </a:prstGeom>
          <a:solidFill>
            <a:srgbClr val="6FA4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996390" y="4943865"/>
            <a:ext cx="992938" cy="43262"/>
          </a:xfrm>
          <a:prstGeom prst="rect">
            <a:avLst/>
          </a:prstGeom>
          <a:solidFill>
            <a:srgbClr val="679C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996390" y="4985667"/>
            <a:ext cx="992938" cy="43262"/>
          </a:xfrm>
          <a:prstGeom prst="rect">
            <a:avLst/>
          </a:prstGeom>
          <a:solidFill>
            <a:srgbClr val="5F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96390" y="5027469"/>
            <a:ext cx="992938" cy="43262"/>
          </a:xfrm>
          <a:prstGeom prst="rect">
            <a:avLst/>
          </a:prstGeom>
          <a:solidFill>
            <a:srgbClr val="568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96390" y="5069271"/>
            <a:ext cx="992938" cy="43262"/>
          </a:xfrm>
          <a:prstGeom prst="rect">
            <a:avLst/>
          </a:prstGeom>
          <a:solidFill>
            <a:srgbClr val="4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96390" y="5111072"/>
            <a:ext cx="992938" cy="43262"/>
          </a:xfrm>
          <a:prstGeom prst="rect">
            <a:avLst/>
          </a:prstGeom>
          <a:solidFill>
            <a:srgbClr val="467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96390" y="5152874"/>
            <a:ext cx="992938" cy="43262"/>
          </a:xfrm>
          <a:prstGeom prst="rect">
            <a:avLst/>
          </a:prstGeom>
          <a:solidFill>
            <a:srgbClr val="3E77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996390" y="5194676"/>
            <a:ext cx="992938" cy="43262"/>
          </a:xfrm>
          <a:prstGeom prst="rect">
            <a:avLst/>
          </a:prstGeom>
          <a:solidFill>
            <a:srgbClr val="367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30380" y="5297418"/>
            <a:ext cx="15707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41644A"/>
                </a:solidFill>
                <a:latin typeface="Arial"/>
              </a:rPr>
              <a:t>Y2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00265" y="3977856"/>
            <a:ext cx="28785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1" i="0">
                <a:solidFill>
                  <a:srgbClr val="255A39"/>
                </a:solidFill>
                <a:latin typeface="Arial"/>
              </a:rPr>
              <a:t>24,5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22974" y="4182358"/>
            <a:ext cx="24243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0" i="0">
                <a:solidFill>
                  <a:srgbClr val="255A39"/>
                </a:solidFill>
                <a:latin typeface="Arial"/>
              </a:rPr>
              <a:t>ASET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31779" y="4331056"/>
            <a:ext cx="992824" cy="251633"/>
          </a:xfrm>
          <a:prstGeom prst="rect">
            <a:avLst/>
          </a:prstGeom>
          <a:solidFill>
            <a:srgbClr val="D8E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31779" y="4582689"/>
            <a:ext cx="992824" cy="66839"/>
          </a:xfrm>
          <a:prstGeom prst="rect">
            <a:avLst/>
          </a:prstGeom>
          <a:solidFill>
            <a:srgbClr val="7F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31779" y="4648068"/>
            <a:ext cx="992824" cy="66839"/>
          </a:xfrm>
          <a:prstGeom prst="rect">
            <a:avLst/>
          </a:prstGeom>
          <a:solidFill>
            <a:srgbClr val="77A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731779" y="4713447"/>
            <a:ext cx="992824" cy="66839"/>
          </a:xfrm>
          <a:prstGeom prst="rect">
            <a:avLst/>
          </a:prstGeom>
          <a:solidFill>
            <a:srgbClr val="6FA4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31779" y="4778826"/>
            <a:ext cx="992824" cy="66839"/>
          </a:xfrm>
          <a:prstGeom prst="rect">
            <a:avLst/>
          </a:prstGeom>
          <a:solidFill>
            <a:srgbClr val="679C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31779" y="4844204"/>
            <a:ext cx="992824" cy="66839"/>
          </a:xfrm>
          <a:prstGeom prst="rect">
            <a:avLst/>
          </a:prstGeom>
          <a:solidFill>
            <a:srgbClr val="5F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31779" y="4909583"/>
            <a:ext cx="992824" cy="66839"/>
          </a:xfrm>
          <a:prstGeom prst="rect">
            <a:avLst/>
          </a:prstGeom>
          <a:solidFill>
            <a:srgbClr val="568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731779" y="4974962"/>
            <a:ext cx="992824" cy="66839"/>
          </a:xfrm>
          <a:prstGeom prst="rect">
            <a:avLst/>
          </a:prstGeom>
          <a:solidFill>
            <a:srgbClr val="4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31779" y="5040341"/>
            <a:ext cx="992824" cy="66839"/>
          </a:xfrm>
          <a:prstGeom prst="rect">
            <a:avLst/>
          </a:prstGeom>
          <a:solidFill>
            <a:srgbClr val="467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731779" y="5105720"/>
            <a:ext cx="992824" cy="66839"/>
          </a:xfrm>
          <a:prstGeom prst="rect">
            <a:avLst/>
          </a:prstGeom>
          <a:solidFill>
            <a:srgbClr val="3E77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731779" y="5171099"/>
            <a:ext cx="992824" cy="66839"/>
          </a:xfrm>
          <a:prstGeom prst="rect">
            <a:avLst/>
          </a:prstGeom>
          <a:solidFill>
            <a:srgbClr val="367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165654" y="5297418"/>
            <a:ext cx="15707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41644A"/>
                </a:solidFill>
                <a:latin typeface="Arial"/>
              </a:rPr>
              <a:t>Y4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35654" y="3552191"/>
            <a:ext cx="28785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1" i="0">
                <a:solidFill>
                  <a:srgbClr val="255A39"/>
                </a:solidFill>
                <a:latin typeface="Arial"/>
              </a:rPr>
              <a:t>36,0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363" y="3756693"/>
            <a:ext cx="24243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0" i="0">
                <a:solidFill>
                  <a:srgbClr val="255A39"/>
                </a:solidFill>
                <a:latin typeface="Arial"/>
              </a:rPr>
              <a:t>ASET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67053" y="3905391"/>
            <a:ext cx="992938" cy="343385"/>
          </a:xfrm>
          <a:prstGeom prst="rect">
            <a:avLst/>
          </a:prstGeom>
          <a:solidFill>
            <a:srgbClr val="D8E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67053" y="4248776"/>
            <a:ext cx="992938" cy="100230"/>
          </a:xfrm>
          <a:prstGeom prst="rect">
            <a:avLst/>
          </a:prstGeom>
          <a:solidFill>
            <a:srgbClr val="7F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67053" y="4347546"/>
            <a:ext cx="992938" cy="100230"/>
          </a:xfrm>
          <a:prstGeom prst="rect">
            <a:avLst/>
          </a:prstGeom>
          <a:solidFill>
            <a:srgbClr val="77A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67053" y="4446316"/>
            <a:ext cx="992938" cy="100230"/>
          </a:xfrm>
          <a:prstGeom prst="rect">
            <a:avLst/>
          </a:prstGeom>
          <a:solidFill>
            <a:srgbClr val="6FA4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467053" y="4545086"/>
            <a:ext cx="992938" cy="100230"/>
          </a:xfrm>
          <a:prstGeom prst="rect">
            <a:avLst/>
          </a:prstGeom>
          <a:solidFill>
            <a:srgbClr val="679C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67053" y="4643857"/>
            <a:ext cx="992938" cy="100230"/>
          </a:xfrm>
          <a:prstGeom prst="rect">
            <a:avLst/>
          </a:prstGeom>
          <a:solidFill>
            <a:srgbClr val="5F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467053" y="4742627"/>
            <a:ext cx="992938" cy="100230"/>
          </a:xfrm>
          <a:prstGeom prst="rect">
            <a:avLst/>
          </a:prstGeom>
          <a:solidFill>
            <a:srgbClr val="568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467053" y="4841397"/>
            <a:ext cx="992938" cy="100230"/>
          </a:xfrm>
          <a:prstGeom prst="rect">
            <a:avLst/>
          </a:prstGeom>
          <a:solidFill>
            <a:srgbClr val="4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67053" y="4940167"/>
            <a:ext cx="992938" cy="100230"/>
          </a:xfrm>
          <a:prstGeom prst="rect">
            <a:avLst/>
          </a:prstGeom>
          <a:solidFill>
            <a:srgbClr val="467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467053" y="5038938"/>
            <a:ext cx="992938" cy="100230"/>
          </a:xfrm>
          <a:prstGeom prst="rect">
            <a:avLst/>
          </a:prstGeom>
          <a:solidFill>
            <a:srgbClr val="3E77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467053" y="5137708"/>
            <a:ext cx="992938" cy="100230"/>
          </a:xfrm>
          <a:prstGeom prst="rect">
            <a:avLst/>
          </a:prstGeom>
          <a:solidFill>
            <a:srgbClr val="367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901043" y="5297418"/>
            <a:ext cx="15707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41644A"/>
                </a:solidFill>
                <a:latin typeface="Arial"/>
              </a:rPr>
              <a:t>Y6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71043" y="2903195"/>
            <a:ext cx="28785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1" i="0">
                <a:solidFill>
                  <a:srgbClr val="255A39"/>
                </a:solidFill>
                <a:latin typeface="Arial"/>
              </a:rPr>
              <a:t>53,5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93752" y="3107697"/>
            <a:ext cx="24243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0" i="0">
                <a:solidFill>
                  <a:srgbClr val="255A39"/>
                </a:solidFill>
                <a:latin typeface="Arial"/>
              </a:rPr>
              <a:t>ASET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202442" y="3260388"/>
            <a:ext cx="992938" cy="447461"/>
          </a:xfrm>
          <a:prstGeom prst="rect">
            <a:avLst/>
          </a:prstGeom>
          <a:solidFill>
            <a:srgbClr val="D8E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202442" y="3707850"/>
            <a:ext cx="992938" cy="154323"/>
          </a:xfrm>
          <a:prstGeom prst="rect">
            <a:avLst/>
          </a:prstGeom>
          <a:solidFill>
            <a:srgbClr val="7F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202442" y="3860713"/>
            <a:ext cx="992938" cy="154323"/>
          </a:xfrm>
          <a:prstGeom prst="rect">
            <a:avLst/>
          </a:prstGeom>
          <a:solidFill>
            <a:srgbClr val="77A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02442" y="4013576"/>
            <a:ext cx="992938" cy="154323"/>
          </a:xfrm>
          <a:prstGeom prst="rect">
            <a:avLst/>
          </a:prstGeom>
          <a:solidFill>
            <a:srgbClr val="6FA4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02442" y="4166438"/>
            <a:ext cx="992938" cy="154323"/>
          </a:xfrm>
          <a:prstGeom prst="rect">
            <a:avLst/>
          </a:prstGeom>
          <a:solidFill>
            <a:srgbClr val="679C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202442" y="4319301"/>
            <a:ext cx="992938" cy="154323"/>
          </a:xfrm>
          <a:prstGeom prst="rect">
            <a:avLst/>
          </a:prstGeom>
          <a:solidFill>
            <a:srgbClr val="5F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202442" y="4472164"/>
            <a:ext cx="992938" cy="154323"/>
          </a:xfrm>
          <a:prstGeom prst="rect">
            <a:avLst/>
          </a:prstGeom>
          <a:solidFill>
            <a:srgbClr val="568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202442" y="4625027"/>
            <a:ext cx="992938" cy="154323"/>
          </a:xfrm>
          <a:prstGeom prst="rect">
            <a:avLst/>
          </a:prstGeom>
          <a:solidFill>
            <a:srgbClr val="4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02442" y="4777890"/>
            <a:ext cx="992938" cy="154323"/>
          </a:xfrm>
          <a:prstGeom prst="rect">
            <a:avLst/>
          </a:prstGeom>
          <a:solidFill>
            <a:srgbClr val="467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202442" y="4930753"/>
            <a:ext cx="992938" cy="154323"/>
          </a:xfrm>
          <a:prstGeom prst="rect">
            <a:avLst/>
          </a:prstGeom>
          <a:solidFill>
            <a:srgbClr val="3E77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02442" y="5083615"/>
            <a:ext cx="992938" cy="154323"/>
          </a:xfrm>
          <a:prstGeom prst="rect">
            <a:avLst/>
          </a:prstGeom>
          <a:solidFill>
            <a:srgbClr val="367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636432" y="5297418"/>
            <a:ext cx="15707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41644A"/>
                </a:solidFill>
                <a:latin typeface="Arial"/>
              </a:rPr>
              <a:t>Y8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306431" y="2402896"/>
            <a:ext cx="28785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1" i="0">
                <a:solidFill>
                  <a:srgbClr val="255A39"/>
                </a:solidFill>
                <a:latin typeface="Arial"/>
              </a:rPr>
              <a:t>81,6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329141" y="2607398"/>
            <a:ext cx="24243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0" i="0">
                <a:solidFill>
                  <a:srgbClr val="255A39"/>
                </a:solidFill>
                <a:latin typeface="Arial"/>
              </a:rPr>
              <a:t>ASET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937831" y="2756095"/>
            <a:ext cx="992938" cy="488544"/>
          </a:xfrm>
          <a:prstGeom prst="rect">
            <a:avLst/>
          </a:prstGeom>
          <a:solidFill>
            <a:srgbClr val="D8E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937831" y="3244640"/>
            <a:ext cx="992938" cy="200644"/>
          </a:xfrm>
          <a:prstGeom prst="rect">
            <a:avLst/>
          </a:prstGeom>
          <a:solidFill>
            <a:srgbClr val="7F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937831" y="3443824"/>
            <a:ext cx="992938" cy="200644"/>
          </a:xfrm>
          <a:prstGeom prst="rect">
            <a:avLst/>
          </a:prstGeom>
          <a:solidFill>
            <a:srgbClr val="77A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937831" y="3643007"/>
            <a:ext cx="992938" cy="200644"/>
          </a:xfrm>
          <a:prstGeom prst="rect">
            <a:avLst/>
          </a:prstGeom>
          <a:solidFill>
            <a:srgbClr val="6FA4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937831" y="3842191"/>
            <a:ext cx="992938" cy="200644"/>
          </a:xfrm>
          <a:prstGeom prst="rect">
            <a:avLst/>
          </a:prstGeom>
          <a:solidFill>
            <a:srgbClr val="679C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937831" y="4041375"/>
            <a:ext cx="992938" cy="200644"/>
          </a:xfrm>
          <a:prstGeom prst="rect">
            <a:avLst/>
          </a:prstGeom>
          <a:solidFill>
            <a:srgbClr val="5F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937831" y="4240559"/>
            <a:ext cx="992938" cy="200644"/>
          </a:xfrm>
          <a:prstGeom prst="rect">
            <a:avLst/>
          </a:prstGeom>
          <a:solidFill>
            <a:srgbClr val="568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937831" y="4439743"/>
            <a:ext cx="992938" cy="200644"/>
          </a:xfrm>
          <a:prstGeom prst="rect">
            <a:avLst/>
          </a:prstGeom>
          <a:solidFill>
            <a:srgbClr val="4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937831" y="4638927"/>
            <a:ext cx="992938" cy="200644"/>
          </a:xfrm>
          <a:prstGeom prst="rect">
            <a:avLst/>
          </a:prstGeom>
          <a:solidFill>
            <a:srgbClr val="467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937831" y="4838111"/>
            <a:ext cx="992938" cy="200644"/>
          </a:xfrm>
          <a:prstGeom prst="rect">
            <a:avLst/>
          </a:prstGeom>
          <a:solidFill>
            <a:srgbClr val="3E77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937831" y="5037294"/>
            <a:ext cx="992938" cy="200644"/>
          </a:xfrm>
          <a:prstGeom prst="rect">
            <a:avLst/>
          </a:prstGeom>
          <a:solidFill>
            <a:srgbClr val="367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343406" y="5297418"/>
            <a:ext cx="21390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41644A"/>
                </a:solidFill>
                <a:latin typeface="Arial"/>
              </a:rPr>
              <a:t>Y10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0774" y="5667735"/>
            <a:ext cx="11102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496C51"/>
                </a:solidFill>
                <a:latin typeface="Arial"/>
              </a:rPr>
              <a:t>Y10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51244" y="5660431"/>
            <a:ext cx="586273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1A4B30"/>
                </a:solidFill>
                <a:latin typeface="Arial"/>
              </a:rPr>
              <a:t>Rp81,6 M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0774" y="5667735"/>
            <a:ext cx="11102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496C51"/>
                </a:solidFill>
                <a:latin typeface="Arial"/>
              </a:rPr>
              <a:t>aset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482331" y="5667735"/>
            <a:ext cx="66581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9AB995"/>
                </a:solidFill>
                <a:latin typeface="Arial"/>
              </a:rPr>
              <a:t>·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24636" y="5660431"/>
            <a:ext cx="586273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1A4B30"/>
                </a:solidFill>
                <a:latin typeface="Arial"/>
              </a:rPr>
              <a:t>Rp65,5 M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0774" y="5667735"/>
            <a:ext cx="11102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496C51"/>
                </a:solidFill>
                <a:latin typeface="Arial"/>
              </a:rPr>
              <a:t>ekuitas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716743" y="5667735"/>
            <a:ext cx="66581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9AB995"/>
                </a:solidFill>
                <a:latin typeface="Arial"/>
              </a:rPr>
              <a:t>·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9048" y="5660431"/>
            <a:ext cx="586273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1A4B30"/>
                </a:solidFill>
                <a:latin typeface="Arial"/>
              </a:rPr>
              <a:t>Rp16,1 M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0774" y="5667735"/>
            <a:ext cx="11102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496C51"/>
                </a:solidFill>
                <a:latin typeface="Arial"/>
              </a:rPr>
              <a:t>liabilitas</a:t>
            </a:r>
          </a:p>
        </p:txBody>
      </p:sp>
      <p:cxnSp>
        <p:nvCxnSpPr>
          <p:cNvPr id="118" name="Connector 117"/>
          <p:cNvCxnSpPr/>
          <p:nvPr/>
        </p:nvCxnSpPr>
        <p:spPr>
          <a:xfrm flipH="1">
            <a:off x="8972623" y="6309428"/>
            <a:ext cx="2658601" cy="0"/>
          </a:xfrm>
          <a:prstGeom prst="line">
            <a:avLst/>
          </a:prstGeom>
          <a:ln w="7303">
            <a:solidFill>
              <a:srgbClr val="98B2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972623" y="6081760"/>
            <a:ext cx="26906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57454"/>
                </a:solidFill>
                <a:latin typeface="Arial"/>
              </a:rPr>
              <a:t>LIHAT TABEL &amp; ANGKA LENGKAP SUMBER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452858" y="6037938"/>
            <a:ext cx="21037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557454"/>
                </a:solidFill>
                <a:latin typeface="Arial"/>
              </a:rPr>
              <a:t>↗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231784" y="6544057"/>
            <a:ext cx="24314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SUMBER: FINANCIAL STRATEGY (MERY) · HALAMAN 07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7549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KELAYAKAN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PRESENTASI 48 / 66 · ASLI 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KELAYAKAN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Kas kembali pada Tahun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Arus kas bebas kumulatif melewati nol di Y6; payback diperkirakan sekitar 5,4 tahun.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0774" y="2234684"/>
            <a:ext cx="265408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5725A"/>
                </a:solidFill>
                <a:latin typeface="Arial"/>
              </a:rPr>
              <a:t>ARUS KAS BEBAS KUMULATIF / RP MILIAR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35059" y="2095915"/>
            <a:ext cx="1628169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A4830"/>
                </a:solidFill>
                <a:latin typeface="Arial"/>
              </a:rPr>
              <a:t>Balik modal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52549" y="2095915"/>
            <a:ext cx="310679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86A663"/>
                </a:solidFill>
                <a:latin typeface="Arial"/>
              </a:rPr>
              <a:t>Y6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0774" y="2444093"/>
            <a:ext cx="2165270" cy="216598"/>
          </a:xfrm>
          <a:prstGeom prst="rect">
            <a:avLst/>
          </a:prstGeom>
          <a:solidFill>
            <a:srgbClr val="174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60774" y="2444093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726045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60774" y="2660691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60774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9017" y="2504918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7F9ED"/>
                </a:solidFill>
                <a:latin typeface="Arial"/>
              </a:rPr>
              <a:t>Y0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4288" y="2490311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F7F9ED"/>
                </a:solidFill>
                <a:latin typeface="Arial"/>
              </a:rPr>
              <a:t>−8,8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6984" y="2444093"/>
            <a:ext cx="2165384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2786984" y="2444093"/>
            <a:ext cx="2165384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952368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786984" y="2660691"/>
            <a:ext cx="2165384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786984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855226" y="2504918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70611" y="2490311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−9,8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13307" y="2444093"/>
            <a:ext cx="2165270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013307" y="2444093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78578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5013307" y="2660691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013307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81549" y="2504918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6821" y="2490311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−1,5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39516" y="2444093"/>
            <a:ext cx="2165384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239516" y="2444093"/>
            <a:ext cx="2165385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04901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7239516" y="2660691"/>
            <a:ext cx="2165385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7239516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307759" y="2504918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3144" y="2490311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+2,0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65840" y="2444093"/>
            <a:ext cx="2165270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9465840" y="2444093"/>
            <a:ext cx="2165270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631110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9465840" y="2660691"/>
            <a:ext cx="2165270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465840" y="2444093"/>
            <a:ext cx="0" cy="216598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534082" y="2504918"/>
            <a:ext cx="17955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89670" y="2490311"/>
            <a:ext cx="30520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+43,3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2662040" y="4594535"/>
            <a:ext cx="198081" cy="1594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60121" y="4592941"/>
            <a:ext cx="198082" cy="1594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058203" y="4591347"/>
            <a:ext cx="198081" cy="1594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256284" y="4591347"/>
            <a:ext cx="197938" cy="4988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454222" y="4596335"/>
            <a:ext cx="197824" cy="1023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652046" y="4606568"/>
            <a:ext cx="197823" cy="10232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49869" y="4616800"/>
            <a:ext cx="197819" cy="7912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047688" y="4613573"/>
            <a:ext cx="197774" cy="1113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245462" y="4602434"/>
            <a:ext cx="197775" cy="1113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443237" y="4591294"/>
            <a:ext cx="197774" cy="11140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641011" y="4573613"/>
            <a:ext cx="197241" cy="1768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838252" y="4552558"/>
            <a:ext cx="196966" cy="2105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035218" y="4531503"/>
            <a:ext cx="196966" cy="2105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232184" y="4507200"/>
            <a:ext cx="196479" cy="2430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428663" y="4469642"/>
            <a:ext cx="194495" cy="37558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5623158" y="4432084"/>
            <a:ext cx="194495" cy="37558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5817653" y="4394526"/>
            <a:ext cx="194495" cy="37558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012148" y="4362681"/>
            <a:ext cx="195473" cy="3184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6207621" y="4333407"/>
            <a:ext cx="195913" cy="29274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6403534" y="4304132"/>
            <a:ext cx="195913" cy="2927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6599447" y="4268935"/>
            <a:ext cx="194576" cy="35197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6794023" y="4211215"/>
            <a:ext cx="189492" cy="57720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6983515" y="4153495"/>
            <a:ext cx="189493" cy="57720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173008" y="4095775"/>
            <a:ext cx="189492" cy="57720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7362500" y="4034587"/>
            <a:ext cx="188379" cy="61188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7550879" y="3971170"/>
            <a:ext cx="187663" cy="63417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7738542" y="3907752"/>
            <a:ext cx="187661" cy="63418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7926203" y="3844334"/>
            <a:ext cx="187662" cy="63418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8113865" y="3772455"/>
            <a:ext cx="184582" cy="7187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8298447" y="3700352"/>
            <a:ext cx="184499" cy="7210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8482946" y="3628247"/>
            <a:ext cx="184500" cy="7210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8667446" y="3543566"/>
            <a:ext cx="177567" cy="8468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8845013" y="3426065"/>
            <a:ext cx="159476" cy="11750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9004489" y="3308564"/>
            <a:ext cx="159476" cy="11750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9163965" y="3191063"/>
            <a:ext cx="159476" cy="11750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9323441" y="3073562"/>
            <a:ext cx="159477" cy="11750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556366" y="4385402"/>
            <a:ext cx="243350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-8,8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589148" y="4710556"/>
            <a:ext cx="17684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38454" y="4379557"/>
            <a:ext cx="243350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-8,6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71235" y="4710556"/>
            <a:ext cx="17684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20542" y="4414624"/>
            <a:ext cx="243350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-9,8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953323" y="4710556"/>
            <a:ext cx="17684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02630" y="4376635"/>
            <a:ext cx="243350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-8,5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635411" y="4710556"/>
            <a:ext cx="17684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84718" y="4303579"/>
            <a:ext cx="243350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-6,0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17499" y="4710556"/>
            <a:ext cx="17684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66806" y="4172077"/>
            <a:ext cx="243349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-1,5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99587" y="4710556"/>
            <a:ext cx="17684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672802" y="4069799"/>
            <a:ext cx="195534" cy="1707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2,0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681675" y="4710556"/>
            <a:ext cx="17684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54889" y="4105364"/>
            <a:ext cx="19553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9,1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63762" y="4710556"/>
            <a:ext cx="17684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04283" y="3874506"/>
            <a:ext cx="26092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17,0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5851" y="4710556"/>
            <a:ext cx="17684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86370" y="3608581"/>
            <a:ext cx="26092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26,1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727939" y="4710556"/>
            <a:ext cx="17684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68458" y="3105953"/>
            <a:ext cx="26092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43,3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77332" y="4710556"/>
            <a:ext cx="242236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Y10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60774" y="4994888"/>
            <a:ext cx="11070450" cy="390059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39972" y="5146096"/>
            <a:ext cx="54405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F8758"/>
                </a:solidFill>
                <a:latin typeface="Arial"/>
              </a:rPr>
              <a:t>01 / 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225168" y="5108094"/>
            <a:ext cx="161687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73F2D"/>
                </a:solidFill>
                <a:latin typeface="Arial"/>
              </a:rPr>
              <a:t>Y0 · investasi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83185" y="5135026"/>
            <a:ext cx="87008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73F2D"/>
                </a:solidFill>
                <a:latin typeface="Arial"/>
              </a:rPr>
              <a:t>FCF kumulatif −Rp8,8 miliar setelah modal awal dan masa trial.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560774" y="5439725"/>
            <a:ext cx="3527609" cy="0"/>
          </a:xfrm>
          <a:prstGeom prst="line">
            <a:avLst/>
          </a:prstGeom>
          <a:ln w="7303">
            <a:solidFill>
              <a:srgbClr val="A9BE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560774" y="5495757"/>
            <a:ext cx="35596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PAYBACK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0774" y="5650389"/>
            <a:ext cx="355961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E4C31"/>
                </a:solidFill>
                <a:latin typeface="Arial"/>
              </a:rPr>
              <a:t>±5,4 tahun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4332138" y="5439725"/>
            <a:ext cx="3527723" cy="0"/>
          </a:xfrm>
          <a:prstGeom prst="line">
            <a:avLst/>
          </a:prstGeom>
          <a:ln w="7303">
            <a:solidFill>
              <a:srgbClr val="A9BE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4332138" y="5495757"/>
            <a:ext cx="355972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DISCOUNTED PAYBACK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332138" y="5650389"/>
            <a:ext cx="355972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E4C31"/>
                </a:solidFill>
                <a:latin typeface="Arial"/>
              </a:rPr>
              <a:t>Tahun 7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8103616" y="5439725"/>
            <a:ext cx="3527608" cy="0"/>
          </a:xfrm>
          <a:prstGeom prst="line">
            <a:avLst/>
          </a:prstGeom>
          <a:ln w="7303">
            <a:solidFill>
              <a:srgbClr val="A9BE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8103616" y="5495757"/>
            <a:ext cx="35596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KAS AKHIR Y10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103616" y="5650389"/>
            <a:ext cx="355961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E4C31"/>
                </a:solidFill>
                <a:latin typeface="Arial"/>
              </a:rPr>
              <a:t>Rp39,64 M</a:t>
            </a:r>
          </a:p>
        </p:txBody>
      </p:sp>
      <p:cxnSp>
        <p:nvCxnSpPr>
          <p:cNvPr id="118" name="Connector 117"/>
          <p:cNvCxnSpPr/>
          <p:nvPr/>
        </p:nvCxnSpPr>
        <p:spPr>
          <a:xfrm flipH="1">
            <a:off x="8972623" y="6309428"/>
            <a:ext cx="2658601" cy="0"/>
          </a:xfrm>
          <a:prstGeom prst="line">
            <a:avLst/>
          </a:prstGeom>
          <a:ln w="7303">
            <a:solidFill>
              <a:srgbClr val="98B2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972623" y="6081760"/>
            <a:ext cx="26906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57454"/>
                </a:solidFill>
                <a:latin typeface="Arial"/>
              </a:rPr>
              <a:t>LIHAT TABEL &amp; ANGKA LENGKAP SUMBER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452858" y="6037938"/>
            <a:ext cx="21037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557454"/>
                </a:solidFill>
                <a:latin typeface="Arial"/>
              </a:rPr>
              <a:t>↗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231784" y="6544057"/>
            <a:ext cx="24314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SUMBER: FINANCIAL STRATEGY (MERY) · HALAMAN 08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7549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KELAYAKAN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PRESENTASI 49 / 66 · ASLI 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KELAYAKAN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Tahun 1 adalah titik kritis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Produksi baru 3,3% di atas volume titik impas; bantalan membesar mulai Tahun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0774" y="2095915"/>
            <a:ext cx="19195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C7C60"/>
                </a:solidFill>
                <a:latin typeface="Arial"/>
              </a:rPr>
              <a:t>VOLUME PANEN VS TITIK IMPAS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4540" y="2103218"/>
            <a:ext cx="115868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C7C60"/>
                </a:solidFill>
                <a:latin typeface="Arial"/>
              </a:rPr>
              <a:t>SAFETY MARGIN ↗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0774" y="2249291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0774" y="2355194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0774" y="2683857"/>
            <a:ext cx="32334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3,3%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35518" y="2377561"/>
            <a:ext cx="2705960" cy="197997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0764" y="2418074"/>
            <a:ext cx="67939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97.251 kg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35518" y="2609680"/>
            <a:ext cx="2792347" cy="197882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20764" y="2650192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100.548 kg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0774" y="2928529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0774" y="3034432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0774" y="3363096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29,7%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35518" y="3056799"/>
            <a:ext cx="3166539" cy="197997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0764" y="3097312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114.044 kg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35518" y="3288918"/>
            <a:ext cx="4509934" cy="197882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20764" y="3329430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162.313 kg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0774" y="3607882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774" y="3713784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0774" y="4042448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37,3%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35518" y="3736152"/>
            <a:ext cx="3886166" cy="197997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20764" y="3776664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140.040 kg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35518" y="3968270"/>
            <a:ext cx="6208348" cy="197882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20764" y="4008783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223.360 kg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0774" y="4287120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0774" y="4393022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0774" y="4721686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39,2%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35518" y="4415390"/>
            <a:ext cx="4807439" cy="197997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20764" y="4455902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172.935 kg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35518" y="4647508"/>
            <a:ext cx="7897177" cy="197882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20764" y="4688021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284.407 kg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0774" y="4966472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60774" y="5072375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0774" y="5401038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37,5%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35518" y="5094742"/>
            <a:ext cx="5997230" cy="197997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120764" y="5135254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215.986 kg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35518" y="5326861"/>
            <a:ext cx="9595706" cy="197882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20764" y="5367373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345.454 kg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0774" y="5645710"/>
            <a:ext cx="11070450" cy="277766"/>
          </a:xfrm>
          <a:prstGeom prst="rect">
            <a:avLst/>
          </a:prstGeom>
          <a:solidFill>
            <a:srgbClr val="E6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0774" y="5718861"/>
            <a:ext cx="111024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376042"/>
                </a:solidFill>
                <a:latin typeface="Arial"/>
              </a:rPr>
              <a:t>Y0 adalah masa trial dua siklus dan belum mencapai BEP.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8972623" y="6309428"/>
            <a:ext cx="2658601" cy="0"/>
          </a:xfrm>
          <a:prstGeom prst="line">
            <a:avLst/>
          </a:prstGeom>
          <a:ln w="7303">
            <a:solidFill>
              <a:srgbClr val="98B2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972623" y="6081760"/>
            <a:ext cx="26906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57454"/>
                </a:solidFill>
                <a:latin typeface="Arial"/>
              </a:rPr>
              <a:t>LIHAT TABEL &amp; ANGKA LENGKAP SUMBER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52858" y="6037938"/>
            <a:ext cx="21037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557454"/>
                </a:solidFill>
                <a:latin typeface="Arial"/>
              </a:rPr>
              <a:t>↗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1784" y="6544057"/>
            <a:ext cx="24314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SUMBER: FINANCIAL STRATEGY (MERY) · HALAMAN 09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7549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KELAYAKAN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PRESENTASI 50 / 66 · ASLI 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KELAYAKAN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Indikator kelayakan melewati ambang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NPV dengan nilai likuidasi Y10, IRR, payback, dan profitability index mendukung keputusan GO.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774" y="2095915"/>
            <a:ext cx="6569075" cy="2042963"/>
          </a:xfrm>
          <a:prstGeom prst="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3591" y="2278734"/>
            <a:ext cx="623544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NPV / NILAI LIKUIDASI Y10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3591" y="2766822"/>
            <a:ext cx="6235445" cy="7258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D0EF9B"/>
                </a:solidFill>
                <a:latin typeface="Arial"/>
              </a:rPr>
              <a:t>Rp23,5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5696" y="3095486"/>
            <a:ext cx="62153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2" b="1" i="0">
                <a:solidFill>
                  <a:srgbClr val="D0EF9B"/>
                </a:solidFill>
                <a:latin typeface="Arial"/>
              </a:rPr>
              <a:t>miliar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3591" y="3824594"/>
            <a:ext cx="623544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Lebih besar dari nol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51727" y="2095915"/>
            <a:ext cx="4379497" cy="2042963"/>
          </a:xfrm>
          <a:prstGeom prst="rect">
            <a:avLst/>
          </a:prstGeom>
          <a:solidFill>
            <a:srgbClr val="27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34544" y="2278734"/>
            <a:ext cx="404586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IRR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34544" y="2766822"/>
            <a:ext cx="4045868" cy="7258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D0EF9B"/>
                </a:solidFill>
                <a:latin typeface="Arial"/>
              </a:rPr>
              <a:t>26,1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7968" y="3095486"/>
            <a:ext cx="267543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2" b="1" i="0">
                <a:solidFill>
                  <a:srgbClr val="D0EF9B"/>
                </a:solidFill>
                <a:latin typeface="Arial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4544" y="3824594"/>
            <a:ext cx="404586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Di atas WACC 12,77%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0774" y="4260758"/>
            <a:ext cx="2676176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231" y="4365520"/>
            <a:ext cx="2513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PAYBACK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231" y="4512848"/>
            <a:ext cx="251326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5,4 tahun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58828" y="4260758"/>
            <a:ext cx="2676175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456284" y="4365520"/>
            <a:ext cx="2513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PROFITABILITY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6284" y="4512848"/>
            <a:ext cx="251326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4,14×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56881" y="4260758"/>
            <a:ext cx="2676176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254338" y="4365520"/>
            <a:ext cx="2513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MIRR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338" y="4512848"/>
            <a:ext cx="251326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21,9%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54935" y="4260758"/>
            <a:ext cx="2676289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052391" y="4365520"/>
            <a:ext cx="25133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DISCOUNTED PAYBACK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391" y="4512848"/>
            <a:ext cx="2513380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Y7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0774" y="5690901"/>
            <a:ext cx="111024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C7253"/>
                </a:solidFill>
                <a:latin typeface="Arial"/>
              </a:rPr>
              <a:t>LAYAK INVESTASI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72020" y="5589792"/>
            <a:ext cx="574697" cy="333684"/>
          </a:xfrm>
          <a:prstGeom prst="rect">
            <a:avLst/>
          </a:prstGeom>
          <a:solidFill>
            <a:srgbClr val="D0E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72020" y="5650731"/>
            <a:ext cx="606701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1B4A2D"/>
                </a:solidFill>
                <a:latin typeface="Arial"/>
              </a:rPr>
              <a:t>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6258" y="5698205"/>
            <a:ext cx="263697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4C7253"/>
                </a:solidFill>
                <a:latin typeface="Arial"/>
              </a:rPr>
              <a:t>berdasarkan skenario most likely pada materi keuangan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8972623" y="6309428"/>
            <a:ext cx="2658601" cy="0"/>
          </a:xfrm>
          <a:prstGeom prst="line">
            <a:avLst/>
          </a:prstGeom>
          <a:ln w="7303">
            <a:solidFill>
              <a:srgbClr val="98B2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972623" y="6081760"/>
            <a:ext cx="26906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57454"/>
                </a:solidFill>
                <a:latin typeface="Arial"/>
              </a:rPr>
              <a:t>LIHAT TABEL &amp; ANGKA LENGKAP SUMBER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52858" y="6037938"/>
            <a:ext cx="21037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557454"/>
                </a:solidFill>
                <a:latin typeface="Arial"/>
              </a:rPr>
              <a:t>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1784" y="6544057"/>
            <a:ext cx="24314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SUMBER: FINANCIAL STRATEGY (MERY) · HALAMAN 10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7549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KELAYAKAN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PRESENTASI 51 / 66 · ASLI 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KELAYAKAN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Pendapatan adalah variabel paling peka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Skenario pesimis menghasilkan NPV negatif; expected NPV berbobot tetap positif.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774" y="2095915"/>
            <a:ext cx="2721822" cy="1523949"/>
          </a:xfrm>
          <a:prstGeom prst="rect">
            <a:avLst/>
          </a:prstGeom>
          <a:solidFill>
            <a:srgbClr val="F1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560774" y="2095915"/>
            <a:ext cx="2721823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82597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60774" y="3619864"/>
            <a:ext cx="2721823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0774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65534" y="2188466"/>
            <a:ext cx="254430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05A"/>
                </a:solidFill>
                <a:latin typeface="Arial"/>
              </a:rPr>
              <a:t>Pesimis · 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534" y="2739205"/>
            <a:ext cx="2544306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9F5A37"/>
                </a:solidFill>
                <a:latin typeface="Arial"/>
              </a:rPr>
              <a:t>−Rp19,9 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5534" y="3405434"/>
            <a:ext cx="2512302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5534" y="3405434"/>
            <a:ext cx="934510" cy="121879"/>
          </a:xfrm>
          <a:prstGeom prst="rect">
            <a:avLst/>
          </a:prstGeom>
          <a:solidFill>
            <a:srgbClr val="B67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43536" y="2095915"/>
            <a:ext cx="2721936" cy="1523949"/>
          </a:xfrm>
          <a:prstGeom prst="rect">
            <a:avLst/>
          </a:prstGeom>
          <a:solidFill>
            <a:srgbClr val="174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3343536" y="2095915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65473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3343536" y="3619864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343536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448296" y="2188466"/>
            <a:ext cx="254442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C9E4BD"/>
                </a:solidFill>
                <a:latin typeface="Arial"/>
              </a:rPr>
              <a:t>Most likely · 55%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8296" y="2739205"/>
            <a:ext cx="2544420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D2F09D"/>
                </a:solidFill>
                <a:latin typeface="Arial"/>
              </a:rPr>
              <a:t>+Rp23,5 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48296" y="3405434"/>
            <a:ext cx="2512416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48296" y="3405434"/>
            <a:ext cx="1102948" cy="121879"/>
          </a:xfrm>
          <a:prstGeom prst="rect">
            <a:avLst/>
          </a:prstGeom>
          <a:solidFill>
            <a:srgbClr val="C7E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12" y="2095915"/>
            <a:ext cx="2721936" cy="1523949"/>
          </a:xfrm>
          <a:prstGeom prst="rect">
            <a:avLst/>
          </a:prstGeom>
          <a:solidFill>
            <a:srgbClr val="E5E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126412" y="2095915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848349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6126412" y="3619864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126412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31172" y="2188466"/>
            <a:ext cx="254442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05A"/>
                </a:solidFill>
                <a:latin typeface="Arial"/>
              </a:rPr>
              <a:t>Optimis · 20%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1172" y="2739205"/>
            <a:ext cx="2544420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255938"/>
                </a:solidFill>
                <a:latin typeface="Arial"/>
              </a:rPr>
              <a:t>+Rp53,5 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172" y="3405434"/>
            <a:ext cx="2512416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1172" y="3405434"/>
            <a:ext cx="2512416" cy="121879"/>
          </a:xfrm>
          <a:prstGeom prst="rect">
            <a:avLst/>
          </a:prstGeom>
          <a:solidFill>
            <a:srgbClr val="6FA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09288" y="2095915"/>
            <a:ext cx="2721936" cy="1523949"/>
          </a:xfrm>
          <a:prstGeom prst="rect">
            <a:avLst/>
          </a:prstGeom>
          <a:solidFill>
            <a:srgbClr val="E5E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909288" y="2095915"/>
            <a:ext cx="2721936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631224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909288" y="3619864"/>
            <a:ext cx="2721936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909288" y="2095915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014048" y="2188466"/>
            <a:ext cx="254442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05A"/>
                </a:solidFill>
                <a:latin typeface="Arial"/>
              </a:rPr>
              <a:t>Expected NPV · bobot 25/55/20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4048" y="2739205"/>
            <a:ext cx="2544420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255938"/>
                </a:solidFill>
                <a:latin typeface="Arial"/>
              </a:rPr>
              <a:t>+Rp18,7 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14048" y="3405434"/>
            <a:ext cx="2512416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14048" y="3405434"/>
            <a:ext cx="879277" cy="121879"/>
          </a:xfrm>
          <a:prstGeom prst="rect">
            <a:avLst/>
          </a:prstGeom>
          <a:solidFill>
            <a:srgbClr val="6FA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0774" y="3674641"/>
            <a:ext cx="11070450" cy="1682004"/>
          </a:xfrm>
          <a:prstGeom prst="rect">
            <a:avLst/>
          </a:prstGeom>
          <a:solidFill>
            <a:srgbClr val="F7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560774" y="3674641"/>
            <a:ext cx="11070450" cy="0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631224" y="3674641"/>
            <a:ext cx="0" cy="1682005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560774" y="5356646"/>
            <a:ext cx="11070450" cy="0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60774" y="3674641"/>
            <a:ext cx="0" cy="1682005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568078" y="3681945"/>
            <a:ext cx="11055843" cy="185101"/>
          </a:xfrm>
          <a:prstGeom prst="rect">
            <a:avLst/>
          </a:prstGeom>
          <a:solidFill>
            <a:srgbClr val="184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7275" y="3730674"/>
            <a:ext cx="281933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UJI SATU VARIABEL · NPV RP MILIAR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71120" y="3730674"/>
            <a:ext cx="202301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−25%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98650" y="3730674"/>
            <a:ext cx="202301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BASE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26180" y="3730674"/>
            <a:ext cx="202301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+25%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53711" y="3730674"/>
            <a:ext cx="202290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NPV = 0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68078" y="3867046"/>
            <a:ext cx="11055843" cy="0"/>
          </a:xfrm>
          <a:prstGeom prst="line">
            <a:avLst/>
          </a:prstGeom>
          <a:ln w="7303">
            <a:solidFill>
              <a:srgbClr val="C7D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47275" y="4051920"/>
            <a:ext cx="28193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2" b="1" i="0">
                <a:solidFill>
                  <a:srgbClr val="193C2B"/>
                </a:solidFill>
                <a:latin typeface="Arial"/>
              </a:rPr>
              <a:t>Pendapatan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1120" y="4059223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9A5B3B"/>
                </a:solidFill>
                <a:latin typeface="Arial"/>
              </a:rPr>
              <a:t>−11,195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98650" y="4059223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23,547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26180" y="4059223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57,793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3711" y="4059223"/>
            <a:ext cx="20229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turun 14,4%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8078" y="4361069"/>
            <a:ext cx="11055843" cy="494136"/>
          </a:xfrm>
          <a:prstGeom prst="rect">
            <a:avLst/>
          </a:prstGeom>
          <a:solidFill>
            <a:srgbClr val="E9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568078" y="4361069"/>
            <a:ext cx="11055843" cy="0"/>
          </a:xfrm>
          <a:prstGeom prst="line">
            <a:avLst/>
          </a:prstGeom>
          <a:ln w="7303">
            <a:solidFill>
              <a:srgbClr val="C7D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47275" y="4546056"/>
            <a:ext cx="28193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2" b="1" i="0">
                <a:solidFill>
                  <a:srgbClr val="193C2B"/>
                </a:solidFill>
                <a:latin typeface="Arial"/>
              </a:rPr>
              <a:t>OPEX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71120" y="4553360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9A5B3B"/>
                </a:solidFill>
                <a:latin typeface="Arial"/>
              </a:rPr>
              <a:t>36,485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98650" y="4553360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23,547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26180" y="4553360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10,447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53711" y="4553360"/>
            <a:ext cx="20229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naik 35,9%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68078" y="4855206"/>
            <a:ext cx="11055843" cy="0"/>
          </a:xfrm>
          <a:prstGeom prst="line">
            <a:avLst/>
          </a:prstGeom>
          <a:ln w="7303">
            <a:solidFill>
              <a:srgbClr val="C7D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47275" y="5040193"/>
            <a:ext cx="28193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2" b="1" i="0">
                <a:solidFill>
                  <a:srgbClr val="193C2B"/>
                </a:solidFill>
                <a:latin typeface="Arial"/>
              </a:rPr>
              <a:t>WACC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71120" y="5047497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9A5B3B"/>
                </a:solidFill>
                <a:latin typeface="Arial"/>
              </a:rPr>
              <a:t>32,597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98650" y="5047497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23,547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26180" y="5047497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16,723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53711" y="5047497"/>
            <a:ext cx="20229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29,3% WACC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0774" y="5411423"/>
            <a:ext cx="6112946" cy="512053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2183" y="5478411"/>
            <a:ext cx="5962133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F8758"/>
                </a:solidFill>
                <a:latin typeface="Arial"/>
              </a:rPr>
              <a:t>01 / 04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2183" y="5572103"/>
            <a:ext cx="5962133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73F2D"/>
                </a:solidFill>
                <a:latin typeface="Arial"/>
              </a:rPr>
              <a:t>Pesimis · 25%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2183" y="5741799"/>
            <a:ext cx="5962133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527258"/>
                </a:solidFill>
                <a:latin typeface="Arial"/>
              </a:rPr>
              <a:t>Pendapatan turun 25% dan OPEX naik 15% menghasilkan NPV negatif Rp19,9 miliar.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740708" y="5411423"/>
            <a:ext cx="4890516" cy="512053"/>
          </a:xfrm>
          <a:prstGeom prst="rect">
            <a:avLst/>
          </a:prstGeom>
          <a:solidFill>
            <a:srgbClr val="E6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40708" y="5610790"/>
            <a:ext cx="492252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4F6F53"/>
                </a:solidFill>
                <a:latin typeface="Arial"/>
              </a:rPr>
              <a:t>Pendapatan paling sensitif. Pesimis: pendapatan −25% dan OPEX +15%; nilai NPV mencakup likuidasi Y10.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8972623" y="6309428"/>
            <a:ext cx="2658601" cy="0"/>
          </a:xfrm>
          <a:prstGeom prst="line">
            <a:avLst/>
          </a:prstGeom>
          <a:ln w="7303">
            <a:solidFill>
              <a:srgbClr val="98B2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8972623" y="6081760"/>
            <a:ext cx="26906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57454"/>
                </a:solidFill>
                <a:latin typeface="Arial"/>
              </a:rPr>
              <a:t>LIHAT TABEL &amp; ANGKA LENGKAP SUMBER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452858" y="6037938"/>
            <a:ext cx="21037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557454"/>
                </a:solidFill>
                <a:latin typeface="Arial"/>
              </a:rPr>
              <a:t>↗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31784" y="6544057"/>
            <a:ext cx="24314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SUMBER: FINANCIAL STRATEGY (MERY) · HALAMAN 11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7549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KELAYAKAN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PRESENTASI 52 / 66 · ASLI 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KELAYAKAN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Layak, dengan tiga risiko yang dikawal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Keputusan investasi GO bergantung pada penerimaan harga, ketahanan produksi, dan disiplin penagihan.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774" y="2095915"/>
            <a:ext cx="11070450" cy="1190949"/>
          </a:xfrm>
          <a:prstGeom prst="rect">
            <a:avLst/>
          </a:prstGeom>
          <a:solidFill>
            <a:srgbClr val="143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801" y="2629308"/>
            <a:ext cx="145071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D4E8CA"/>
                </a:solidFill>
                <a:latin typeface="Arial"/>
              </a:rPr>
              <a:t>KEPUTUSAN INVESTASI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1751" y="2249519"/>
            <a:ext cx="1023116" cy="90844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0" b="1" i="0">
                <a:solidFill>
                  <a:srgbClr val="D0ED9E"/>
                </a:solidFill>
                <a:latin typeface="Arial"/>
              </a:rPr>
              <a:t>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820" y="2417503"/>
            <a:ext cx="52503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E3F0DF"/>
                </a:solidFill>
                <a:latin typeface="Arial"/>
              </a:rPr>
              <a:t>NPV Rp23,5 M · IRR 26,1%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820" y="2614701"/>
            <a:ext cx="52503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E3F0DF"/>
                </a:solidFill>
                <a:latin typeface="Arial"/>
              </a:rPr>
              <a:t>MIRR 21,9% · PI 4,14×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820" y="2811899"/>
            <a:ext cx="52503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E3F0DF"/>
                </a:solidFill>
                <a:latin typeface="Arial"/>
              </a:rPr>
              <a:t>Payback ±5,4 tahun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0774" y="3408743"/>
            <a:ext cx="3616962" cy="2514733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560774" y="3408743"/>
            <a:ext cx="3616963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77737" y="3408743"/>
            <a:ext cx="0" cy="2514733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60774" y="5923476"/>
            <a:ext cx="3616963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60774" y="3408743"/>
            <a:ext cx="0" cy="2514733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4377" y="3562348"/>
            <a:ext cx="334176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9A05D"/>
                </a:solidFill>
                <a:latin typeface="Arial"/>
              </a:rPr>
              <a:t>01 / RISIKO TINGGI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377" y="3825507"/>
            <a:ext cx="3341761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27" b="1" i="0">
                <a:solidFill>
                  <a:srgbClr val="1B4B2E"/>
                </a:solidFill>
                <a:latin typeface="Arial"/>
              </a:rPr>
              <a:t>Harga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377" y="4258932"/>
            <a:ext cx="3341761" cy="351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58725D"/>
                </a:solidFill>
                <a:latin typeface="Arial"/>
              </a:rPr>
              <a:t>Kontrak pra-jual B2B, bukti Brix dan label per buah; Grade A tanpa diskon.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87404" y="3408743"/>
            <a:ext cx="3617076" cy="2514733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287404" y="3408743"/>
            <a:ext cx="3617077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904481" y="3408743"/>
            <a:ext cx="0" cy="2514733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287404" y="5923476"/>
            <a:ext cx="3617077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287404" y="3408743"/>
            <a:ext cx="0" cy="2514733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441006" y="3562348"/>
            <a:ext cx="33418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9A05D"/>
                </a:solidFill>
                <a:latin typeface="Arial"/>
              </a:rPr>
              <a:t>02 / RISIKO TINGGI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1006" y="3825507"/>
            <a:ext cx="3341875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27" b="1" i="0">
                <a:solidFill>
                  <a:srgbClr val="1B4B2E"/>
                </a:solidFill>
                <a:latin typeface="Arial"/>
              </a:rPr>
              <a:t>IoT / gagal panen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1006" y="4258932"/>
            <a:ext cx="3341875" cy="351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58725D"/>
                </a:solidFill>
                <a:latin typeface="Arial"/>
              </a:rPr>
              <a:t>Sensor multi-vendor, SOP manual cadangan, dua lokasi sejak Y1, IPM hama.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14148" y="3408743"/>
            <a:ext cx="3616962" cy="2514733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8014148" y="3408743"/>
            <a:ext cx="3616962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1631110" y="3408743"/>
            <a:ext cx="0" cy="2514733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8014148" y="5923476"/>
            <a:ext cx="3616962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8014148" y="3408743"/>
            <a:ext cx="0" cy="2514733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167750" y="3562348"/>
            <a:ext cx="334176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9A05D"/>
                </a:solidFill>
                <a:latin typeface="Arial"/>
              </a:rPr>
              <a:t>03 / RISIKO TINGGI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7750" y="3825507"/>
            <a:ext cx="3341761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27" b="1" i="0">
                <a:solidFill>
                  <a:srgbClr val="1B4B2E"/>
                </a:solidFill>
                <a:latin typeface="Arial"/>
              </a:rPr>
              <a:t>Piutang B2B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67750" y="4258932"/>
            <a:ext cx="3341761" cy="351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58725D"/>
                </a:solidFill>
                <a:latin typeface="Arial"/>
              </a:rPr>
              <a:t>SOP penagihan otomatis, invoice financing siaga, kas minimal 4,5 bulan biaya.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8972623" y="6309428"/>
            <a:ext cx="2658601" cy="0"/>
          </a:xfrm>
          <a:prstGeom prst="line">
            <a:avLst/>
          </a:prstGeom>
          <a:ln w="7303">
            <a:solidFill>
              <a:srgbClr val="98B2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972623" y="6081760"/>
            <a:ext cx="26906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57454"/>
                </a:solidFill>
                <a:latin typeface="Arial"/>
              </a:rPr>
              <a:t>LIHAT TABEL &amp; ANGKA LENGKAP SUMBER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52858" y="6037938"/>
            <a:ext cx="21037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557454"/>
                </a:solidFill>
                <a:latin typeface="Arial"/>
              </a:rPr>
              <a:t>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1784" y="6544057"/>
            <a:ext cx="24314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SUMBER: FINANCIAL STRATEGY (MERY) · HALAMAN 12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PRESENTASI 53 / 66 · ASLI 08</a:t>
            </a:r>
          </a:p>
        </p:txBody>
      </p:sp>
      <p:pic>
        <p:nvPicPr>
          <p:cNvPr id="6" name="Picture 5" descr="picture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1220660" cy="6858000"/>
          </a:xfrm>
          <a:prstGeom prst="rect">
            <a:avLst/>
          </a:prstGeom>
          <a:solidFill>
            <a:srgbClr val="031A12">
              <a:alpha val="950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19199" y="0"/>
            <a:ext cx="1220660" cy="6858000"/>
          </a:xfrm>
          <a:prstGeom prst="rect">
            <a:avLst/>
          </a:prstGeom>
          <a:solidFill>
            <a:srgbClr val="031A12">
              <a:alpha val="931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8399" y="0"/>
            <a:ext cx="1220660" cy="6858000"/>
          </a:xfrm>
          <a:prstGeom prst="rect">
            <a:avLst/>
          </a:prstGeom>
          <a:solidFill>
            <a:srgbClr val="031A12">
              <a:alpha val="912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599" y="0"/>
            <a:ext cx="1220660" cy="6858000"/>
          </a:xfrm>
          <a:prstGeom prst="rect">
            <a:avLst/>
          </a:prstGeom>
          <a:solidFill>
            <a:srgbClr val="031A12">
              <a:alpha val="893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799" y="0"/>
            <a:ext cx="1220660" cy="6858000"/>
          </a:xfrm>
          <a:prstGeom prst="rect">
            <a:avLst/>
          </a:prstGeom>
          <a:solidFill>
            <a:srgbClr val="031A12">
              <a:alpha val="874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99" y="0"/>
            <a:ext cx="1220660" cy="6858000"/>
          </a:xfrm>
          <a:prstGeom prst="rect">
            <a:avLst/>
          </a:prstGeom>
          <a:solidFill>
            <a:srgbClr val="031A12">
              <a:alpha val="855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199" y="0"/>
            <a:ext cx="1220660" cy="6858000"/>
          </a:xfrm>
          <a:prstGeom prst="rect">
            <a:avLst/>
          </a:prstGeom>
          <a:solidFill>
            <a:srgbClr val="031A12">
              <a:alpha val="836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34399" y="0"/>
            <a:ext cx="1220660" cy="6858000"/>
          </a:xfrm>
          <a:prstGeom prst="rect">
            <a:avLst/>
          </a:prstGeom>
          <a:solidFill>
            <a:srgbClr val="031A12">
              <a:alpha val="817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53599" y="0"/>
            <a:ext cx="1220660" cy="6858000"/>
          </a:xfrm>
          <a:prstGeom prst="rect">
            <a:avLst/>
          </a:prstGeom>
          <a:solidFill>
            <a:srgbClr val="031A12">
              <a:alpha val="798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799" y="0"/>
            <a:ext cx="1220660" cy="6858000"/>
          </a:xfrm>
          <a:prstGeom prst="rect">
            <a:avLst/>
          </a:prstGeom>
          <a:solidFill>
            <a:srgbClr val="031A12">
              <a:alpha val="779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PASAR &amp; MEREK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Tiga sasaran pemasaran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Meningkatkan penjualan, membangun merek, dan meningkatkan kepuasan pelanggan.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Rp 7,4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pendapatan Y1 menurut model keuangan baru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20 outlet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B2B aktif Tahun 1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10%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aided brand awareness Tahun 1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≥80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Customer Satisfaction Index Tahun 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36902" y="6544057"/>
            <a:ext cx="202632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SUMBER: PDF ASLI + CATATAN · HALAMAN 08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PRESENTASI 54 / 66 · ASLI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Enam segmen, dua jalur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Prioritas B2B adalah ritel premium dan HoReCa; B2C melayani keluarga premium, gifting, dan komunitas.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3533932"/>
            <a:ext cx="7163970" cy="2215169"/>
          </a:xfrm>
          <a:prstGeom prst="rect">
            <a:avLst/>
          </a:prstGeom>
          <a:solidFill>
            <a:srgbClr val="1C5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85195" y="3533932"/>
            <a:ext cx="7163971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8951" y="3784995"/>
            <a:ext cx="3034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1F6E7"/>
                </a:solidFill>
                <a:latin typeface="Arial"/>
              </a:rPr>
              <a:t>B2B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951" y="3936089"/>
            <a:ext cx="6708463" cy="13393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F1F6E7"/>
                </a:solidFill>
                <a:latin typeface="Arial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951" y="5282925"/>
            <a:ext cx="32505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F1F6E7"/>
                </a:solidFill>
                <a:latin typeface="Arial"/>
              </a:rPr>
              <a:t>Ritel premium · HoReCa · pembelian institusi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49166" y="3533932"/>
            <a:ext cx="3857522" cy="2215169"/>
          </a:xfrm>
          <a:prstGeom prst="rect">
            <a:avLst/>
          </a:prstGeom>
          <a:solidFill>
            <a:srgbClr val="DF9D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7749166" y="3533932"/>
            <a:ext cx="3857523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92922" y="3784995"/>
            <a:ext cx="30748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40291E"/>
                </a:solidFill>
                <a:latin typeface="Arial"/>
              </a:rPr>
              <a:t>B2C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2922" y="3936089"/>
            <a:ext cx="3402015" cy="13393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40291E"/>
                </a:solidFill>
                <a:latin typeface="Arial"/>
              </a:rPr>
              <a:t>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922" y="5282925"/>
            <a:ext cx="32505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40291E"/>
                </a:solidFill>
                <a:latin typeface="Arial"/>
              </a:rPr>
              <a:t>Keluarga premium · gifting · komunitas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195" y="5870982"/>
            <a:ext cx="7163970" cy="182819"/>
          </a:xfrm>
          <a:prstGeom prst="rect">
            <a:avLst/>
          </a:prstGeom>
          <a:solidFill>
            <a:srgbClr val="1C5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49166" y="5870982"/>
            <a:ext cx="3857522" cy="182819"/>
          </a:xfrm>
          <a:prstGeom prst="rect">
            <a:avLst/>
          </a:prstGeom>
          <a:solidFill>
            <a:srgbClr val="DF9D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195" y="6175680"/>
            <a:ext cx="11053611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4C2F25"/>
                </a:solidFill>
                <a:latin typeface="Arial"/>
              </a:rPr>
              <a:t>Dua jalur, satu standar buah premium.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SUMBER: PDF SIDANG AKHIR · HALAMAN 09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34098" y="328891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PRESENTASI 55 / 66 · ASLI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068156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Dari TAM ke SOM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814" y="1761203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Estimasi pasar disusun top-down dari konsumsi dan bottom-up dari pintu distribusi.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814" y="2194856"/>
            <a:ext cx="5198748" cy="3628651"/>
          </a:xfrm>
          <a:prstGeom prst="rect">
            <a:avLst/>
          </a:prstGeom>
          <a:solidFill>
            <a:srgbClr val="234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631" y="4555300"/>
            <a:ext cx="486511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EF6E8"/>
                </a:solidFill>
                <a:latin typeface="Arial"/>
              </a:rPr>
              <a:t>01 / TOTAL ADDRESSABLE 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631" y="4788674"/>
            <a:ext cx="4865119" cy="7039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EEF6E8"/>
                </a:solidFill>
                <a:latin typeface="Arial"/>
              </a:rPr>
              <a:t>16.800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92055" y="5131945"/>
            <a:ext cx="354500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EEF6E8"/>
                </a:solidFill>
                <a:latin typeface="Arial"/>
              </a:rPr>
              <a:t>ton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4631" y="5482291"/>
            <a:ext cx="4865119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EF6E8"/>
                </a:solidFill>
                <a:latin typeface="Arial"/>
              </a:rPr>
              <a:t>Jabodetabek · tahunan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88020" y="3174685"/>
            <a:ext cx="3327217" cy="2648823"/>
          </a:xfrm>
          <a:prstGeom prst="rect">
            <a:avLst/>
          </a:prstGeom>
          <a:solidFill>
            <a:srgbClr val="79A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70836" y="4555300"/>
            <a:ext cx="29935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EF6E8"/>
                </a:solidFill>
                <a:latin typeface="Arial"/>
              </a:rPr>
              <a:t>02 / SERVICEABLE AVAILABLE MARKET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0836" y="4788674"/>
            <a:ext cx="2993588" cy="7039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EEF6E8"/>
                </a:solidFill>
                <a:latin typeface="Arial"/>
              </a:rPr>
              <a:t>236,9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6931" y="5131945"/>
            <a:ext cx="354500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EEF6E8"/>
                </a:solidFill>
                <a:latin typeface="Arial"/>
              </a:rPr>
              <a:t>ton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70836" y="5482291"/>
            <a:ext cx="2993588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EF6E8"/>
                </a:solidFill>
                <a:latin typeface="Arial"/>
              </a:rPr>
              <a:t>Saluran yang dapat dilayani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12694" y="3972949"/>
            <a:ext cx="2287490" cy="1850558"/>
          </a:xfrm>
          <a:prstGeom prst="rect">
            <a:avLst/>
          </a:prstGeom>
          <a:solidFill>
            <a:srgbClr val="DC9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95511" y="4436502"/>
            <a:ext cx="1953861" cy="2603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4D3124"/>
                </a:solidFill>
                <a:latin typeface="Arial"/>
              </a:rPr>
              <a:t>03 / SERVICEABLE OBTAINABLE MARKET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5511" y="4788674"/>
            <a:ext cx="1953861" cy="7039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4D3124"/>
                </a:solidFill>
                <a:latin typeface="Arial"/>
              </a:rPr>
              <a:t>90,5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90389" y="5131945"/>
            <a:ext cx="354500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4D3124"/>
                </a:solidFill>
                <a:latin typeface="Arial"/>
              </a:rPr>
              <a:t>ton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95511" y="5482291"/>
            <a:ext cx="1953861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D3124"/>
                </a:solidFill>
                <a:latin typeface="Arial"/>
              </a:rPr>
              <a:t>Target Tahun 1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8902669" y="6337501"/>
            <a:ext cx="269751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902669" y="6075712"/>
            <a:ext cx="272951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4C2F25"/>
                </a:solidFill>
                <a:latin typeface="Arial"/>
              </a:rPr>
              <a:t>BUKA PERHITUNGAN TAM / SAM / SOM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18281" y="6042845"/>
            <a:ext cx="213907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4C2F25"/>
                </a:solidFill>
                <a:latin typeface="Arial"/>
              </a:rPr>
              <a:t>↗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2550" y="6537324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SUMBER: PDF SIDANG AKHIR · HALAMAN 10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PRESENTASI 56 / 66 · ASLI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2564"/>
            <a:ext cx="8298124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Apa yang setara. Apa yang berbeda.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755611"/>
            <a:ext cx="8298124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Standar premium menjadi titik kesetaraan; kesegaran urban, konsistensi, dan kedekatan lokasi menjadi pembeda.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2238107"/>
            <a:ext cx="5413290" cy="4105556"/>
          </a:xfrm>
          <a:prstGeom prst="rect">
            <a:avLst/>
          </a:prstGeom>
          <a:solidFill>
            <a:srgbClr val="FFF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85195" y="2238107"/>
            <a:ext cx="5413291" cy="0"/>
          </a:xfrm>
          <a:prstGeom prst="line">
            <a:avLst/>
          </a:prstGeom>
          <a:ln w="65731">
            <a:solidFill>
              <a:srgbClr val="6E9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53372" y="2572021"/>
            <a:ext cx="49089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01 / PARITY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372" y="2801058"/>
            <a:ext cx="4695426" cy="7235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4C2F25"/>
                </a:solidFill>
                <a:latin typeface="Arial"/>
              </a:rPr>
              <a:t>Layak dibandingkan sebagai melon premium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372" y="4810813"/>
            <a:ext cx="4908940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4C2F25"/>
                </a:solidFill>
                <a:latin typeface="Arial"/>
              </a:rPr>
              <a:t>Point of parity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372" y="5503175"/>
            <a:ext cx="490894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0" i="0">
                <a:solidFill>
                  <a:srgbClr val="4C2F25"/>
                </a:solidFill>
                <a:latin typeface="Arial"/>
              </a:rPr>
              <a:t>syarat untuk masuk pasar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53372" y="5793038"/>
            <a:ext cx="48769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53372" y="5885589"/>
            <a:ext cx="602136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4C2F25"/>
                </a:solidFill>
                <a:latin typeface="Arial"/>
              </a:rPr>
              <a:t>Standar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282" y="5929411"/>
            <a:ext cx="106203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4C2F25"/>
                </a:solidFill>
                <a:latin typeface="Arial"/>
              </a:rPr>
              <a:t>syarat dasar kategori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3513" y="2238107"/>
            <a:ext cx="5413290" cy="4105556"/>
          </a:xfrm>
          <a:prstGeom prst="rect">
            <a:avLst/>
          </a:prstGeom>
          <a:solidFill>
            <a:srgbClr val="E3E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193513" y="2238107"/>
            <a:ext cx="5413290" cy="0"/>
          </a:xfrm>
          <a:prstGeom prst="line">
            <a:avLst/>
          </a:prstGeom>
          <a:ln w="65731">
            <a:solidFill>
              <a:srgbClr val="D494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61690" y="2572021"/>
            <a:ext cx="49089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02 / DIFFERENCE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90" y="2801058"/>
            <a:ext cx="469542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4C2F25"/>
                </a:solidFill>
                <a:latin typeface="Arial"/>
              </a:rPr>
              <a:t>Alasan memilih Melooloo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90" y="4810813"/>
            <a:ext cx="4908940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4C2F25"/>
                </a:solidFill>
                <a:latin typeface="Arial"/>
              </a:rPr>
              <a:t>Point of difference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690" y="5503175"/>
            <a:ext cx="490894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0" i="0">
                <a:solidFill>
                  <a:srgbClr val="4C2F25"/>
                </a:solidFill>
                <a:latin typeface="Arial"/>
              </a:rPr>
              <a:t>alasan dipilih pelanggan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61690" y="5793038"/>
            <a:ext cx="48769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61690" y="5885589"/>
            <a:ext cx="475123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4C2F25"/>
                </a:solidFill>
                <a:latin typeface="Arial"/>
              </a:rPr>
              <a:t>Urban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74658" y="5929411"/>
            <a:ext cx="129597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4C2F25"/>
                </a:solidFill>
                <a:latin typeface="Arial"/>
              </a:rPr>
              <a:t>kesegaran dan kedekatan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SUMBER: PDF SIDANG AKHIR · HALAMAN 11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34098" y="328891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PRESENTASI 57 / 66 · ASLI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068156"/>
            <a:ext cx="3475393" cy="579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44" b="1" i="0">
                <a:solidFill>
                  <a:srgbClr val="4C2F25"/>
                </a:solidFill>
                <a:latin typeface="Arial Narrow"/>
              </a:rPr>
              <a:t>Peta kompetitif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814" y="1719321"/>
            <a:ext cx="3475393" cy="37367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766054"/>
                </a:solidFill>
                <a:latin typeface="Arial"/>
              </a:rPr>
              <a:t>Posisi pemain dilihat dari dua sumbu yang disusun dari sumber publik di dalam deck.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1814" y="4598095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1814" y="4678549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509" y="4656638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509" y="4926644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pemain dipetakan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1814" y="5208519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1814" y="5288973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09" y="5267062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509" y="5537068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ruang strategi yang dituju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1814" y="5758003"/>
            <a:ext cx="37748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766054"/>
                </a:solidFill>
                <a:latin typeface="Arial"/>
              </a:rPr>
              <a:t>Data dan bagan dari materi sumber.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591814" y="6337501"/>
            <a:ext cx="2364406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91814" y="6075712"/>
            <a:ext cx="239640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4C2F25"/>
                </a:solidFill>
                <a:latin typeface="Arial"/>
              </a:rPr>
              <a:t>LIHAT DATA PADA HALAMAN ASLI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74316" y="6042845"/>
            <a:ext cx="213907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4C2F25"/>
                </a:solidFill>
                <a:latin typeface="Arial"/>
              </a:rPr>
              <a:t>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0396" y="814811"/>
            <a:ext cx="6899788" cy="5522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700396" y="81481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600184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4700396" y="633750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700396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2550" y="6537324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SUMBER: PDF SIDANG AKHIR · HALAMAN 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4920" y="1344168"/>
            <a:ext cx="4443984" cy="4425696"/>
          </a:xfrm>
          <a:prstGeom prst="rect">
            <a:avLst/>
          </a:prstGeom>
          <a:solidFill>
            <a:srgbClr val="FFFFFF"/>
          </a:solidFill>
          <a:ln w="8890">
            <a:solidFill>
              <a:srgbClr val="B2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74920" y="1344168"/>
            <a:ext cx="2088672" cy="4425696"/>
          </a:xfrm>
          <a:prstGeom prst="rect">
            <a:avLst/>
          </a:prstGeom>
          <a:solidFill>
            <a:srgbClr val="DEEFDF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963716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74920" y="2229307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852513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074920" y="3114446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741310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074920" y="3999585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630107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74920" y="4884724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74920" y="5769864"/>
            <a:ext cx="4443984" cy="0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074920" y="1344168"/>
            <a:ext cx="0" cy="4425696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5-Point Star 43"/>
          <p:cNvSpPr/>
          <p:nvPr/>
        </p:nvSpPr>
        <p:spPr>
          <a:xfrm>
            <a:off x="5139659" y="1895185"/>
            <a:ext cx="137160" cy="137160"/>
          </a:xfrm>
          <a:prstGeom prst="star5">
            <a:avLst/>
          </a:prstGeom>
          <a:solidFill>
            <a:srgbClr val="21844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81391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</a:t>
            </a:r>
          </a:p>
        </p:txBody>
      </p:sp>
      <p:sp>
        <p:nvSpPr>
          <p:cNvPr id="46" name="Oval 45"/>
          <p:cNvSpPr/>
          <p:nvPr/>
        </p:nvSpPr>
        <p:spPr>
          <a:xfrm>
            <a:off x="9646920" y="1531619"/>
            <a:ext cx="100584" cy="100584"/>
          </a:xfrm>
          <a:prstGeom prst="ellipse">
            <a:avLst/>
          </a:prstGeom>
          <a:solidFill>
            <a:srgbClr val="21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1512" y="15087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3E27"/>
                </a:solidFill>
                <a:latin typeface="Arial"/>
              </a:rPr>
              <a:t>01  Melooloo</a:t>
            </a:r>
          </a:p>
        </p:txBody>
      </p:sp>
      <p:sp>
        <p:nvSpPr>
          <p:cNvPr id="48" name="Oval 47"/>
          <p:cNvSpPr/>
          <p:nvPr/>
        </p:nvSpPr>
        <p:spPr>
          <a:xfrm>
            <a:off x="6517294" y="3045866"/>
            <a:ext cx="137160" cy="137160"/>
          </a:xfrm>
          <a:prstGeom prst="ellipse">
            <a:avLst/>
          </a:prstGeom>
          <a:solidFill>
            <a:srgbClr val="3072A0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59026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2</a:t>
            </a:r>
          </a:p>
        </p:txBody>
      </p:sp>
      <p:sp>
        <p:nvSpPr>
          <p:cNvPr id="50" name="Oval 49"/>
          <p:cNvSpPr/>
          <p:nvPr/>
        </p:nvSpPr>
        <p:spPr>
          <a:xfrm>
            <a:off x="9646920" y="1897379"/>
            <a:ext cx="100584" cy="100584"/>
          </a:xfrm>
          <a:prstGeom prst="ellipse">
            <a:avLst/>
          </a:prstGeom>
          <a:solidFill>
            <a:srgbClr val="307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11512" y="1874519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02  Ir. Yoga Purnomo</a:t>
            </a:r>
          </a:p>
        </p:txBody>
      </p:sp>
      <p:sp>
        <p:nvSpPr>
          <p:cNvPr id="52" name="Oval 51"/>
          <p:cNvSpPr/>
          <p:nvPr/>
        </p:nvSpPr>
        <p:spPr>
          <a:xfrm>
            <a:off x="7095012" y="3045866"/>
            <a:ext cx="137160" cy="137160"/>
          </a:xfrm>
          <a:prstGeom prst="ellipse">
            <a:avLst/>
          </a:prstGeom>
          <a:solidFill>
            <a:srgbClr val="BE5341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36744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3</a:t>
            </a:r>
          </a:p>
        </p:txBody>
      </p:sp>
      <p:sp>
        <p:nvSpPr>
          <p:cNvPr id="54" name="Oval 53"/>
          <p:cNvSpPr/>
          <p:nvPr/>
        </p:nvSpPr>
        <p:spPr>
          <a:xfrm>
            <a:off x="9646920" y="2263140"/>
            <a:ext cx="100584" cy="100584"/>
          </a:xfrm>
          <a:prstGeom prst="ellipse">
            <a:avLst/>
          </a:prstGeom>
          <a:solidFill>
            <a:srgbClr val="BE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11512" y="22402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03  Sweet Greens</a:t>
            </a:r>
          </a:p>
        </p:txBody>
      </p:sp>
      <p:sp>
        <p:nvSpPr>
          <p:cNvPr id="56" name="Oval 55"/>
          <p:cNvSpPr/>
          <p:nvPr/>
        </p:nvSpPr>
        <p:spPr>
          <a:xfrm>
            <a:off x="8072688" y="3045866"/>
            <a:ext cx="137160" cy="137160"/>
          </a:xfrm>
          <a:prstGeom prst="ellipse">
            <a:avLst/>
          </a:prstGeom>
          <a:solidFill>
            <a:srgbClr val="CF7C2E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4420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4</a:t>
            </a:r>
          </a:p>
        </p:txBody>
      </p:sp>
      <p:sp>
        <p:nvSpPr>
          <p:cNvPr id="58" name="Oval 57"/>
          <p:cNvSpPr/>
          <p:nvPr/>
        </p:nvSpPr>
        <p:spPr>
          <a:xfrm>
            <a:off x="9646920" y="2628900"/>
            <a:ext cx="100584" cy="100584"/>
          </a:xfrm>
          <a:prstGeom prst="ellipse">
            <a:avLst/>
          </a:prstGeom>
          <a:solidFill>
            <a:srgbClr val="CF7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11512" y="26060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04  Wohsae</a:t>
            </a:r>
          </a:p>
        </p:txBody>
      </p:sp>
      <p:sp>
        <p:nvSpPr>
          <p:cNvPr id="60" name="Oval 59"/>
          <p:cNvSpPr/>
          <p:nvPr/>
        </p:nvSpPr>
        <p:spPr>
          <a:xfrm>
            <a:off x="7539410" y="1895185"/>
            <a:ext cx="137160" cy="137160"/>
          </a:xfrm>
          <a:prstGeom prst="ellipse">
            <a:avLst/>
          </a:prstGeom>
          <a:solidFill>
            <a:srgbClr val="954EA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81142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5</a:t>
            </a:r>
          </a:p>
        </p:txBody>
      </p:sp>
      <p:sp>
        <p:nvSpPr>
          <p:cNvPr id="62" name="Oval 61"/>
          <p:cNvSpPr/>
          <p:nvPr/>
        </p:nvSpPr>
        <p:spPr>
          <a:xfrm>
            <a:off x="9646920" y="2994660"/>
            <a:ext cx="100584" cy="100584"/>
          </a:xfrm>
          <a:prstGeom prst="ellipse">
            <a:avLst/>
          </a:prstGeom>
          <a:solidFill>
            <a:srgbClr val="95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811512" y="297180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05  Sunpride</a:t>
            </a:r>
          </a:p>
        </p:txBody>
      </p:sp>
      <p:sp>
        <p:nvSpPr>
          <p:cNvPr id="64" name="Oval 63"/>
          <p:cNvSpPr/>
          <p:nvPr/>
        </p:nvSpPr>
        <p:spPr>
          <a:xfrm>
            <a:off x="7850489" y="1895185"/>
            <a:ext cx="137160" cy="137160"/>
          </a:xfrm>
          <a:prstGeom prst="ellipse">
            <a:avLst/>
          </a:prstGeom>
          <a:solidFill>
            <a:srgbClr val="C44F3C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92221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6</a:t>
            </a:r>
          </a:p>
        </p:txBody>
      </p:sp>
      <p:sp>
        <p:nvSpPr>
          <p:cNvPr id="66" name="Oval 65"/>
          <p:cNvSpPr/>
          <p:nvPr/>
        </p:nvSpPr>
        <p:spPr>
          <a:xfrm>
            <a:off x="9646920" y="3360420"/>
            <a:ext cx="100584" cy="100584"/>
          </a:xfrm>
          <a:prstGeom prst="ellipse">
            <a:avLst/>
          </a:prstGeom>
          <a:solidFill>
            <a:srgbClr val="C44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11512" y="33375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06  Urbana Farm</a:t>
            </a:r>
          </a:p>
        </p:txBody>
      </p:sp>
      <p:sp>
        <p:nvSpPr>
          <p:cNvPr id="68" name="Oval 67"/>
          <p:cNvSpPr/>
          <p:nvPr/>
        </p:nvSpPr>
        <p:spPr>
          <a:xfrm>
            <a:off x="9183684" y="1895185"/>
            <a:ext cx="137160" cy="137160"/>
          </a:xfrm>
          <a:prstGeom prst="ellipse">
            <a:avLst/>
          </a:prstGeom>
          <a:solidFill>
            <a:srgbClr val="964DA3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5416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7</a:t>
            </a:r>
          </a:p>
        </p:txBody>
      </p:sp>
      <p:sp>
        <p:nvSpPr>
          <p:cNvPr id="70" name="Oval 69"/>
          <p:cNvSpPr/>
          <p:nvPr/>
        </p:nvSpPr>
        <p:spPr>
          <a:xfrm>
            <a:off x="9646920" y="3726180"/>
            <a:ext cx="100584" cy="100584"/>
          </a:xfrm>
          <a:prstGeom prst="ellipse">
            <a:avLst/>
          </a:prstGeom>
          <a:solidFill>
            <a:srgbClr val="964D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11512" y="370332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07  Crown Melon</a:t>
            </a:r>
          </a:p>
        </p:txBody>
      </p:sp>
      <p:sp>
        <p:nvSpPr>
          <p:cNvPr id="72" name="Oval 71"/>
          <p:cNvSpPr/>
          <p:nvPr/>
        </p:nvSpPr>
        <p:spPr>
          <a:xfrm>
            <a:off x="7806049" y="4063776"/>
            <a:ext cx="137160" cy="137160"/>
          </a:xfrm>
          <a:prstGeom prst="ellipse">
            <a:avLst/>
          </a:prstGeom>
          <a:solidFill>
            <a:srgbClr val="DC842D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947781" y="404091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8</a:t>
            </a:r>
          </a:p>
        </p:txBody>
      </p:sp>
      <p:sp>
        <p:nvSpPr>
          <p:cNvPr id="74" name="Oval 73"/>
          <p:cNvSpPr/>
          <p:nvPr/>
        </p:nvSpPr>
        <p:spPr>
          <a:xfrm>
            <a:off x="9646920" y="4091940"/>
            <a:ext cx="100584" cy="100584"/>
          </a:xfrm>
          <a:prstGeom prst="ellipse">
            <a:avLst/>
          </a:prstGeom>
          <a:solidFill>
            <a:srgbClr val="DC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11512" y="40690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08  Kabul Pamudji</a:t>
            </a:r>
          </a:p>
        </p:txBody>
      </p:sp>
      <p:sp>
        <p:nvSpPr>
          <p:cNvPr id="76" name="Oval 75"/>
          <p:cNvSpPr/>
          <p:nvPr/>
        </p:nvSpPr>
        <p:spPr>
          <a:xfrm>
            <a:off x="6650614" y="5081686"/>
            <a:ext cx="137160" cy="137160"/>
          </a:xfrm>
          <a:prstGeom prst="ellipse">
            <a:avLst/>
          </a:prstGeom>
          <a:solidFill>
            <a:srgbClr val="7A898E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92346" y="505882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9</a:t>
            </a:r>
          </a:p>
        </p:txBody>
      </p:sp>
      <p:sp>
        <p:nvSpPr>
          <p:cNvPr id="78" name="Oval 77"/>
          <p:cNvSpPr/>
          <p:nvPr/>
        </p:nvSpPr>
        <p:spPr>
          <a:xfrm>
            <a:off x="9646920" y="4457700"/>
            <a:ext cx="100584" cy="100584"/>
          </a:xfrm>
          <a:prstGeom prst="ellipse">
            <a:avLst/>
          </a:prstGeom>
          <a:solidFill>
            <a:srgbClr val="7A89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11512" y="44348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09  Akaruku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03520" y="5907024"/>
            <a:ext cx="4018788" cy="3246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93E27"/>
                </a:solidFill>
                <a:latin typeface="Arial"/>
              </a:rPr>
              <a:t>Jarak produksi ke konsumen Jakarta (km, skala logaritmik)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34098" y="328891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PRESENTASI 58 / 66 · ASLI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068156"/>
            <a:ext cx="3475393" cy="10457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44" b="1" i="0">
                <a:solidFill>
                  <a:srgbClr val="4C2F25"/>
                </a:solidFill>
                <a:latin typeface="Arial Narrow"/>
              </a:rPr>
              <a:t>Ruang menuju titik ideal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814" y="2185270"/>
            <a:ext cx="3475393" cy="37367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766054"/>
                </a:solidFill>
                <a:latin typeface="Arial"/>
              </a:rPr>
              <a:t>Posisi Melooloo dibandingkan dengan merek yang dapat ditemui konsumen Jakarta.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1814" y="4598095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1814" y="4678549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509" y="4656638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509" y="4926644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merek dalam peta positioning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1814" y="5208519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1814" y="5288973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09" y="5267062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Jakarta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509" y="5537068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fokus pasar awal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1814" y="5758003"/>
            <a:ext cx="37748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766054"/>
                </a:solidFill>
                <a:latin typeface="Arial"/>
              </a:rPr>
              <a:t>Data dan bagan dari materi sumber.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591814" y="6337501"/>
            <a:ext cx="2364406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91814" y="6075712"/>
            <a:ext cx="239640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4C2F25"/>
                </a:solidFill>
                <a:latin typeface="Arial"/>
              </a:rPr>
              <a:t>LIHAT DATA PADA HALAMAN ASLI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74316" y="6042845"/>
            <a:ext cx="213907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4C2F25"/>
                </a:solidFill>
                <a:latin typeface="Arial"/>
              </a:rPr>
              <a:t>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0396" y="814811"/>
            <a:ext cx="6899788" cy="5522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700396" y="81481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600184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4700396" y="633750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700396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2550" y="6537324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SUMBER: PDF SIDANG AKHIR · HALAMAN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4920" y="1344168"/>
            <a:ext cx="4443984" cy="4425696"/>
          </a:xfrm>
          <a:prstGeom prst="rect">
            <a:avLst/>
          </a:prstGeom>
          <a:solidFill>
            <a:srgbClr val="FFFFFF"/>
          </a:solidFill>
          <a:ln w="8890">
            <a:solidFill>
              <a:srgbClr val="B2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96912" y="1344168"/>
            <a:ext cx="2221992" cy="2212848"/>
          </a:xfrm>
          <a:prstGeom prst="rect">
            <a:avLst/>
          </a:prstGeom>
          <a:solidFill>
            <a:srgbClr val="DDF1DE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963716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74920" y="2229307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852513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074920" y="3114446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741310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074920" y="3999585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630107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74920" y="4884724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74920" y="5769864"/>
            <a:ext cx="4443984" cy="0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074920" y="1344168"/>
            <a:ext cx="0" cy="4425696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5-Point Star 43"/>
          <p:cNvSpPr/>
          <p:nvPr/>
        </p:nvSpPr>
        <p:spPr>
          <a:xfrm>
            <a:off x="8383767" y="2426268"/>
            <a:ext cx="137160" cy="137160"/>
          </a:xfrm>
          <a:prstGeom prst="star5">
            <a:avLst/>
          </a:prstGeom>
          <a:solidFill>
            <a:srgbClr val="21844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25499" y="2403408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</a:t>
            </a:r>
          </a:p>
        </p:txBody>
      </p:sp>
      <p:sp>
        <p:nvSpPr>
          <p:cNvPr id="46" name="Oval 45"/>
          <p:cNvSpPr/>
          <p:nvPr/>
        </p:nvSpPr>
        <p:spPr>
          <a:xfrm>
            <a:off x="9646920" y="1531619"/>
            <a:ext cx="100584" cy="100584"/>
          </a:xfrm>
          <a:prstGeom prst="ellipse">
            <a:avLst/>
          </a:prstGeom>
          <a:solidFill>
            <a:srgbClr val="21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1512" y="15087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3E27"/>
                </a:solidFill>
                <a:latin typeface="Arial"/>
              </a:rPr>
              <a:t>01  Melooloo</a:t>
            </a:r>
          </a:p>
        </p:txBody>
      </p:sp>
      <p:sp>
        <p:nvSpPr>
          <p:cNvPr id="48" name="Oval 47"/>
          <p:cNvSpPr/>
          <p:nvPr/>
        </p:nvSpPr>
        <p:spPr>
          <a:xfrm>
            <a:off x="8250448" y="2160727"/>
            <a:ext cx="137160" cy="137160"/>
          </a:xfrm>
          <a:prstGeom prst="ellipse">
            <a:avLst/>
          </a:prstGeom>
          <a:solidFill>
            <a:srgbClr val="21844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92180" y="2137867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2</a:t>
            </a:r>
          </a:p>
        </p:txBody>
      </p:sp>
      <p:sp>
        <p:nvSpPr>
          <p:cNvPr id="50" name="Oval 49"/>
          <p:cNvSpPr/>
          <p:nvPr/>
        </p:nvSpPr>
        <p:spPr>
          <a:xfrm>
            <a:off x="9646920" y="1897379"/>
            <a:ext cx="100584" cy="100584"/>
          </a:xfrm>
          <a:prstGeom prst="ellipse">
            <a:avLst/>
          </a:prstGeom>
          <a:solidFill>
            <a:srgbClr val="21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11512" y="1874519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02  Titik ideal</a:t>
            </a:r>
          </a:p>
        </p:txBody>
      </p:sp>
      <p:sp>
        <p:nvSpPr>
          <p:cNvPr id="52" name="Oval 51"/>
          <p:cNvSpPr/>
          <p:nvPr/>
        </p:nvSpPr>
        <p:spPr>
          <a:xfrm>
            <a:off x="6783933" y="2027956"/>
            <a:ext cx="137160" cy="137160"/>
          </a:xfrm>
          <a:prstGeom prst="ellipse">
            <a:avLst/>
          </a:prstGeom>
          <a:solidFill>
            <a:srgbClr val="854A9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25665" y="200509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3</a:t>
            </a:r>
          </a:p>
        </p:txBody>
      </p:sp>
      <p:sp>
        <p:nvSpPr>
          <p:cNvPr id="54" name="Oval 53"/>
          <p:cNvSpPr/>
          <p:nvPr/>
        </p:nvSpPr>
        <p:spPr>
          <a:xfrm>
            <a:off x="9646920" y="2263140"/>
            <a:ext cx="100584" cy="100584"/>
          </a:xfrm>
          <a:prstGeom prst="ellipse">
            <a:avLst/>
          </a:prstGeom>
          <a:solidFill>
            <a:srgbClr val="854A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11512" y="22402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03  Crown Melon</a:t>
            </a:r>
          </a:p>
        </p:txBody>
      </p:sp>
      <p:sp>
        <p:nvSpPr>
          <p:cNvPr id="56" name="Oval 55"/>
          <p:cNvSpPr/>
          <p:nvPr/>
        </p:nvSpPr>
        <p:spPr>
          <a:xfrm>
            <a:off x="7406091" y="2824581"/>
            <a:ext cx="137160" cy="137160"/>
          </a:xfrm>
          <a:prstGeom prst="ellipse">
            <a:avLst/>
          </a:prstGeom>
          <a:solidFill>
            <a:srgbClr val="C95042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47823" y="2801721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4</a:t>
            </a:r>
          </a:p>
        </p:txBody>
      </p:sp>
      <p:sp>
        <p:nvSpPr>
          <p:cNvPr id="58" name="Oval 57"/>
          <p:cNvSpPr/>
          <p:nvPr/>
        </p:nvSpPr>
        <p:spPr>
          <a:xfrm>
            <a:off x="9646920" y="2628900"/>
            <a:ext cx="100584" cy="100584"/>
          </a:xfrm>
          <a:prstGeom prst="ellipse">
            <a:avLst/>
          </a:prstGeom>
          <a:solidFill>
            <a:srgbClr val="C9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11512" y="26060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04  Urbana Farm</a:t>
            </a:r>
          </a:p>
        </p:txBody>
      </p:sp>
      <p:sp>
        <p:nvSpPr>
          <p:cNvPr id="60" name="Oval 59"/>
          <p:cNvSpPr/>
          <p:nvPr/>
        </p:nvSpPr>
        <p:spPr>
          <a:xfrm>
            <a:off x="7717170" y="2736067"/>
            <a:ext cx="137160" cy="137160"/>
          </a:xfrm>
          <a:prstGeom prst="ellipse">
            <a:avLst/>
          </a:prstGeom>
          <a:solidFill>
            <a:srgbClr val="BD4B3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58902" y="2713207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5</a:t>
            </a:r>
          </a:p>
        </p:txBody>
      </p:sp>
      <p:sp>
        <p:nvSpPr>
          <p:cNvPr id="62" name="Oval 61"/>
          <p:cNvSpPr/>
          <p:nvPr/>
        </p:nvSpPr>
        <p:spPr>
          <a:xfrm>
            <a:off x="9646920" y="2994660"/>
            <a:ext cx="100584" cy="100584"/>
          </a:xfrm>
          <a:prstGeom prst="ellipse">
            <a:avLst/>
          </a:prstGeom>
          <a:solidFill>
            <a:srgbClr val="BD4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811512" y="297180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05  Dang Sweet Melon</a:t>
            </a:r>
          </a:p>
        </p:txBody>
      </p:sp>
      <p:sp>
        <p:nvSpPr>
          <p:cNvPr id="64" name="Oval 63"/>
          <p:cNvSpPr/>
          <p:nvPr/>
        </p:nvSpPr>
        <p:spPr>
          <a:xfrm>
            <a:off x="7228332" y="3045866"/>
            <a:ext cx="137160" cy="137160"/>
          </a:xfrm>
          <a:prstGeom prst="ellipse">
            <a:avLst/>
          </a:prstGeom>
          <a:solidFill>
            <a:srgbClr val="D28B31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70064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6</a:t>
            </a:r>
          </a:p>
        </p:txBody>
      </p:sp>
      <p:sp>
        <p:nvSpPr>
          <p:cNvPr id="66" name="Oval 65"/>
          <p:cNvSpPr/>
          <p:nvPr/>
        </p:nvSpPr>
        <p:spPr>
          <a:xfrm>
            <a:off x="9646920" y="3360420"/>
            <a:ext cx="100584" cy="100584"/>
          </a:xfrm>
          <a:prstGeom prst="ellipse">
            <a:avLst/>
          </a:prstGeom>
          <a:solidFill>
            <a:srgbClr val="D28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11512" y="33375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06  Wohsae</a:t>
            </a:r>
          </a:p>
        </p:txBody>
      </p:sp>
      <p:sp>
        <p:nvSpPr>
          <p:cNvPr id="68" name="Oval 67"/>
          <p:cNvSpPr/>
          <p:nvPr/>
        </p:nvSpPr>
        <p:spPr>
          <a:xfrm>
            <a:off x="7494971" y="3267151"/>
            <a:ext cx="137160" cy="137160"/>
          </a:xfrm>
          <a:prstGeom prst="ellipse">
            <a:avLst/>
          </a:prstGeom>
          <a:solidFill>
            <a:srgbClr val="CE8029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36703" y="3244291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7</a:t>
            </a:r>
          </a:p>
        </p:txBody>
      </p:sp>
      <p:sp>
        <p:nvSpPr>
          <p:cNvPr id="70" name="Oval 69"/>
          <p:cNvSpPr/>
          <p:nvPr/>
        </p:nvSpPr>
        <p:spPr>
          <a:xfrm>
            <a:off x="9646920" y="3726180"/>
            <a:ext cx="100584" cy="100584"/>
          </a:xfrm>
          <a:prstGeom prst="ellipse">
            <a:avLst/>
          </a:prstGeom>
          <a:solidFill>
            <a:srgbClr val="CE8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11512" y="370332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07  Mirai Melon</a:t>
            </a:r>
          </a:p>
        </p:txBody>
      </p:sp>
      <p:sp>
        <p:nvSpPr>
          <p:cNvPr id="72" name="Oval 71"/>
          <p:cNvSpPr/>
          <p:nvPr/>
        </p:nvSpPr>
        <p:spPr>
          <a:xfrm>
            <a:off x="7894929" y="3488435"/>
            <a:ext cx="137160" cy="137160"/>
          </a:xfrm>
          <a:prstGeom prst="ellipse">
            <a:avLst/>
          </a:prstGeom>
          <a:solidFill>
            <a:srgbClr val="D38E3B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36661" y="346557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8</a:t>
            </a:r>
          </a:p>
        </p:txBody>
      </p:sp>
      <p:sp>
        <p:nvSpPr>
          <p:cNvPr id="74" name="Oval 73"/>
          <p:cNvSpPr/>
          <p:nvPr/>
        </p:nvSpPr>
        <p:spPr>
          <a:xfrm>
            <a:off x="9646920" y="4091940"/>
            <a:ext cx="100584" cy="100584"/>
          </a:xfrm>
          <a:prstGeom prst="ellipse">
            <a:avLst/>
          </a:prstGeom>
          <a:solidFill>
            <a:srgbClr val="D38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11512" y="40690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08  Akaruku</a:t>
            </a:r>
          </a:p>
        </p:txBody>
      </p:sp>
      <p:sp>
        <p:nvSpPr>
          <p:cNvPr id="76" name="Oval 75"/>
          <p:cNvSpPr/>
          <p:nvPr/>
        </p:nvSpPr>
        <p:spPr>
          <a:xfrm>
            <a:off x="7361651" y="3842491"/>
            <a:ext cx="137160" cy="137160"/>
          </a:xfrm>
          <a:prstGeom prst="ellipse">
            <a:avLst/>
          </a:prstGeom>
          <a:solidFill>
            <a:srgbClr val="327CAA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503383" y="3819631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9</a:t>
            </a:r>
          </a:p>
        </p:txBody>
      </p:sp>
      <p:sp>
        <p:nvSpPr>
          <p:cNvPr id="78" name="Oval 77"/>
          <p:cNvSpPr/>
          <p:nvPr/>
        </p:nvSpPr>
        <p:spPr>
          <a:xfrm>
            <a:off x="9646920" y="4457700"/>
            <a:ext cx="100584" cy="100584"/>
          </a:xfrm>
          <a:prstGeom prst="ellipse">
            <a:avLst/>
          </a:prstGeom>
          <a:solidFill>
            <a:srgbClr val="327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11512" y="44348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09  Sunpride</a:t>
            </a:r>
          </a:p>
        </p:txBody>
      </p:sp>
      <p:sp>
        <p:nvSpPr>
          <p:cNvPr id="80" name="Oval 79"/>
          <p:cNvSpPr/>
          <p:nvPr/>
        </p:nvSpPr>
        <p:spPr>
          <a:xfrm>
            <a:off x="7628290" y="3753977"/>
            <a:ext cx="137160" cy="137160"/>
          </a:xfrm>
          <a:prstGeom prst="ellipse">
            <a:avLst/>
          </a:prstGeom>
          <a:solidFill>
            <a:srgbClr val="259D83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770022" y="3731117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10</a:t>
            </a:r>
          </a:p>
        </p:txBody>
      </p:sp>
      <p:sp>
        <p:nvSpPr>
          <p:cNvPr id="82" name="Oval 81"/>
          <p:cNvSpPr/>
          <p:nvPr/>
        </p:nvSpPr>
        <p:spPr>
          <a:xfrm>
            <a:off x="9646920" y="4823460"/>
            <a:ext cx="100584" cy="100584"/>
          </a:xfrm>
          <a:prstGeom prst="ellipse">
            <a:avLst/>
          </a:prstGeom>
          <a:solidFill>
            <a:srgbClr val="25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811512" y="480060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10  Mama Melon</a:t>
            </a:r>
          </a:p>
        </p:txBody>
      </p:sp>
      <p:sp>
        <p:nvSpPr>
          <p:cNvPr id="84" name="Oval 83"/>
          <p:cNvSpPr/>
          <p:nvPr/>
        </p:nvSpPr>
        <p:spPr>
          <a:xfrm>
            <a:off x="6339535" y="4683373"/>
            <a:ext cx="137160" cy="137160"/>
          </a:xfrm>
          <a:prstGeom prst="ellipse">
            <a:avLst/>
          </a:prstGeom>
          <a:solidFill>
            <a:srgbClr val="67808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81267" y="4660513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11</a:t>
            </a:r>
          </a:p>
        </p:txBody>
      </p:sp>
      <p:sp>
        <p:nvSpPr>
          <p:cNvPr id="86" name="Oval 85"/>
          <p:cNvSpPr/>
          <p:nvPr/>
        </p:nvSpPr>
        <p:spPr>
          <a:xfrm>
            <a:off x="9646920" y="5189220"/>
            <a:ext cx="100584" cy="100584"/>
          </a:xfrm>
          <a:prstGeom prst="ellipse">
            <a:avLst/>
          </a:prstGeom>
          <a:solidFill>
            <a:srgbClr val="678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11512" y="51663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11  Melon tanpa merek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03520" y="5907024"/>
            <a:ext cx="4018788" cy="3246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93E27"/>
                </a:solidFill>
                <a:latin typeface="Arial"/>
              </a:rPr>
              <a:t>Persepsi kesegaran &amp; kejelasan asal produk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PRESENTASI 59 / 66 · ASLI 14</a:t>
            </a:r>
          </a:p>
        </p:txBody>
      </p:sp>
      <p:pic>
        <p:nvPicPr>
          <p:cNvPr id="6" name="Picture 5" descr="picture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1220660" cy="6858000"/>
          </a:xfrm>
          <a:prstGeom prst="rect">
            <a:avLst/>
          </a:prstGeom>
          <a:solidFill>
            <a:srgbClr val="031A12">
              <a:alpha val="950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19199" y="0"/>
            <a:ext cx="1220660" cy="6858000"/>
          </a:xfrm>
          <a:prstGeom prst="rect">
            <a:avLst/>
          </a:prstGeom>
          <a:solidFill>
            <a:srgbClr val="031A12">
              <a:alpha val="931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8399" y="0"/>
            <a:ext cx="1220660" cy="6858000"/>
          </a:xfrm>
          <a:prstGeom prst="rect">
            <a:avLst/>
          </a:prstGeom>
          <a:solidFill>
            <a:srgbClr val="031A12">
              <a:alpha val="912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599" y="0"/>
            <a:ext cx="1220660" cy="6858000"/>
          </a:xfrm>
          <a:prstGeom prst="rect">
            <a:avLst/>
          </a:prstGeom>
          <a:solidFill>
            <a:srgbClr val="031A12">
              <a:alpha val="893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799" y="0"/>
            <a:ext cx="1220660" cy="6858000"/>
          </a:xfrm>
          <a:prstGeom prst="rect">
            <a:avLst/>
          </a:prstGeom>
          <a:solidFill>
            <a:srgbClr val="031A12">
              <a:alpha val="874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99" y="0"/>
            <a:ext cx="1220660" cy="6858000"/>
          </a:xfrm>
          <a:prstGeom prst="rect">
            <a:avLst/>
          </a:prstGeom>
          <a:solidFill>
            <a:srgbClr val="031A12">
              <a:alpha val="855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199" y="0"/>
            <a:ext cx="1220660" cy="6858000"/>
          </a:xfrm>
          <a:prstGeom prst="rect">
            <a:avLst/>
          </a:prstGeom>
          <a:solidFill>
            <a:srgbClr val="031A12">
              <a:alpha val="836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34399" y="0"/>
            <a:ext cx="1220660" cy="6858000"/>
          </a:xfrm>
          <a:prstGeom prst="rect">
            <a:avLst/>
          </a:prstGeom>
          <a:solidFill>
            <a:srgbClr val="031A12">
              <a:alpha val="817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53599" y="0"/>
            <a:ext cx="1220660" cy="6858000"/>
          </a:xfrm>
          <a:prstGeom prst="rect">
            <a:avLst/>
          </a:prstGeom>
          <a:solidFill>
            <a:srgbClr val="031A12">
              <a:alpha val="798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799" y="0"/>
            <a:ext cx="1220660" cy="6858000"/>
          </a:xfrm>
          <a:prstGeom prst="rect">
            <a:avLst/>
          </a:prstGeom>
          <a:solidFill>
            <a:srgbClr val="031A12">
              <a:alpha val="779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PASAR &amp; MEREK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02" y="1331544"/>
            <a:ext cx="7603261" cy="182071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Posisi merek: kebun di kota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02" y="3205040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Janji merek bertumpu pada asal yang dekat, kesegaran, kualitas konsisten, dan pengalaman smart farming.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502" y="5550192"/>
            <a:ext cx="317806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9502" y="5642743"/>
            <a:ext cx="321006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02" y="5742597"/>
            <a:ext cx="321006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Lokal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02" y="6103899"/>
            <a:ext cx="321006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asal yang dekat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67955" y="5550192"/>
            <a:ext cx="317818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067955" y="5642743"/>
            <a:ext cx="321018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7955" y="5742597"/>
            <a:ext cx="321018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Premium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7955" y="6103899"/>
            <a:ext cx="321018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rasa dan penampilan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526523" y="5550192"/>
            <a:ext cx="3178065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526523" y="5642743"/>
            <a:ext cx="321006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6523" y="5742597"/>
            <a:ext cx="321006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Terukur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6523" y="6103899"/>
            <a:ext cx="321006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budidaya presisi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SUMBER: PDF SIDANG AKHIR · HALAMAN 14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PRESENTASI 60 / 66 · ASLI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Produk dan harga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Tiga lini produk melayani meja makan, hadiah, dan kebutuhan HoReCa.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2128325"/>
            <a:ext cx="5425500" cy="3504375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cture-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2128325"/>
            <a:ext cx="5425500" cy="35043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7073" y="5410396"/>
            <a:ext cx="52137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195" y="5717948"/>
            <a:ext cx="545750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4C2F25"/>
                </a:solidFill>
                <a:latin typeface="Arial"/>
              </a:rPr>
              <a:t>Signature Pack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195" y="6002789"/>
            <a:ext cx="545750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766054"/>
                </a:solidFill>
                <a:latin typeface="Arial"/>
              </a:rPr>
              <a:t>Rp 75.000/kg · jalur B2B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02" y="2128325"/>
            <a:ext cx="5425500" cy="3504375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cture-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02" y="2128325"/>
            <a:ext cx="5425500" cy="350437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3180" y="5410396"/>
            <a:ext cx="52137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1302" y="5717948"/>
            <a:ext cx="545750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4C2F25"/>
                </a:solidFill>
                <a:latin typeface="Arial"/>
              </a:rPr>
              <a:t>Gift Edition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02" y="6002789"/>
            <a:ext cx="545750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766054"/>
                </a:solidFill>
                <a:latin typeface="Arial"/>
              </a:rPr>
              <a:t>Rp 535.000 · kotak tiga buah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195" y="6234109"/>
            <a:ext cx="1105361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766054"/>
                </a:solidFill>
                <a:latin typeface="Arial"/>
              </a:rPr>
              <a:t>253 responden dalam pengujian kesediaan membayar · kemasan adalah visualisasi konsep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SUMBER: PDF SIDANG AKHIR · HALAMAN 15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PRESENTASI 61 / 66 · ASLI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Lima kanal distribusi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Harga, marjin perantara, dan dukungan channel dirancang per kanal dalam sumber deck.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5195" y="3113403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585195" y="4485117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5195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195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Ritel premium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597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494" y="3401097"/>
            <a:ext cx="213896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9494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Hotel &amp; restoran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010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3907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3907" y="3625228"/>
            <a:ext cx="1866789" cy="621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Direct to consumer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9309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8206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98206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Event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3608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2505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2505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Marketplace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195" y="5653014"/>
            <a:ext cx="3441792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85195" y="5745564"/>
            <a:ext cx="347379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195" y="5845419"/>
            <a:ext cx="3473795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4C2F25"/>
                </a:solidFill>
                <a:latin typeface="Arial"/>
              </a:rPr>
              <a:t>Ritel premium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195" y="6206721"/>
            <a:ext cx="34737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C2F25">
                    <a:alpha val="83000"/>
                  </a:srgbClr>
                </a:solidFill>
                <a:latin typeface="Arial"/>
              </a:rPr>
              <a:t>B2B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07375" y="5653014"/>
            <a:ext cx="3441791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307375" y="5745564"/>
            <a:ext cx="347379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07375" y="5845419"/>
            <a:ext cx="3473795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4C2F25"/>
                </a:solidFill>
                <a:latin typeface="Arial"/>
              </a:rPr>
              <a:t>Hotel &amp; restoran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07375" y="6206721"/>
            <a:ext cx="34737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C2F25">
                    <a:alpha val="83000"/>
                  </a:srgbClr>
                </a:solidFill>
                <a:latin typeface="Arial"/>
              </a:rPr>
              <a:t>HoReCa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SUMBER: PDF SIDANG AKHIR · HALAMAN 16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PRESENTASI 62 / 66 · ASLI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Komunikasi yang terukur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IMC Tahun 1 menggabungkan digital, personal selling, sampling, event, PR, dan materi di titik jual.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5195" y="2189264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585195" y="3307177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5195" y="2890642"/>
            <a:ext cx="35944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4C2F25"/>
                </a:solidFill>
                <a:latin typeface="Arial"/>
              </a:rPr>
              <a:t>ANGGARAN PEMASARAN &amp; PENJUALAN Y1 · MODEL BARU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05162" y="2350173"/>
            <a:ext cx="2333645" cy="8207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183" b="1" i="0">
                <a:solidFill>
                  <a:srgbClr val="4C2F25"/>
                </a:solidFill>
                <a:latin typeface="Arial"/>
              </a:rPr>
              <a:t>Rp 768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8258" y="2817605"/>
            <a:ext cx="360549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4C2F25"/>
                </a:solidFill>
                <a:latin typeface="Arial"/>
              </a:rPr>
              <a:t>juta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195" y="3429057"/>
            <a:ext cx="7629799" cy="2724598"/>
          </a:xfrm>
          <a:prstGeom prst="rect">
            <a:avLst/>
          </a:prstGeom>
          <a:solidFill>
            <a:srgbClr val="264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433" y="3495018"/>
            <a:ext cx="7247327" cy="9595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43" b="1" i="0">
                <a:solidFill>
                  <a:srgbClr val="F5F8ED"/>
                </a:solidFill>
                <a:latin typeface="Arial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433" y="4355705"/>
            <a:ext cx="724732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5F8ED"/>
                </a:solidFill>
                <a:latin typeface="Arial"/>
              </a:rPr>
              <a:t>MEMBANGUN KESADARAN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433" y="5909896"/>
            <a:ext cx="7215323" cy="97457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36873" y="3429057"/>
            <a:ext cx="3269930" cy="2724598"/>
          </a:xfrm>
          <a:prstGeom prst="rect">
            <a:avLst/>
          </a:prstGeom>
          <a:solidFill>
            <a:srgbClr val="DB9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4111" y="3495018"/>
            <a:ext cx="2887458" cy="9595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43" b="1" i="0">
                <a:solidFill>
                  <a:srgbClr val="452B20"/>
                </a:solidFill>
                <a:latin typeface="Arial"/>
              </a:rPr>
              <a:t>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4111" y="4355705"/>
            <a:ext cx="288745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452B20"/>
                </a:solidFill>
                <a:latin typeface="Arial"/>
              </a:rPr>
              <a:t>KONVERSI PROSPEK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4111" y="5909896"/>
            <a:ext cx="2855454" cy="97457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195" y="6226806"/>
            <a:ext cx="110536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766054"/>
                </a:solidFill>
                <a:latin typeface="Arial"/>
              </a:rPr>
              <a:t>Pembagian 70/30 berasal dari materi Canva dan perlu dibaca sebagai rencana alokasi, bukan realisasi.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6902" y="6544057"/>
            <a:ext cx="202632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SUMBER: PDF ASLI + CATATAN · HALAMAN 17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PRESENTASI 63 / 66 · ASLI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Brand di titik temu pelanggan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Materi produk, kemasan, rak ritel, halaman digital, dan booth menjadi satu pengalaman merek.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195" y="2116114"/>
            <a:ext cx="3383249" cy="4037541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cture-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2116114"/>
            <a:ext cx="3383249" cy="40375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7073" y="5931351"/>
            <a:ext cx="317149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7073" y="2237993"/>
            <a:ext cx="998644" cy="238737"/>
          </a:xfrm>
          <a:prstGeom prst="rect">
            <a:avLst/>
          </a:prstGeom>
          <a:solidFill>
            <a:srgbClr val="F4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073" y="2298933"/>
            <a:ext cx="103064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D392D"/>
                </a:solidFill>
                <a:latin typeface="Arial"/>
              </a:rPr>
              <a:t>01 · UJI MANIS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5901" y="2116114"/>
            <a:ext cx="4060081" cy="4037541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cture-0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901" y="2116114"/>
            <a:ext cx="4060081" cy="40375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87779" y="5931351"/>
            <a:ext cx="384833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87779" y="2237993"/>
            <a:ext cx="1011311" cy="238737"/>
          </a:xfrm>
          <a:prstGeom prst="rect">
            <a:avLst/>
          </a:prstGeom>
          <a:solidFill>
            <a:srgbClr val="F4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87779" y="2298933"/>
            <a:ext cx="104331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D392D"/>
                </a:solidFill>
                <a:latin typeface="Arial"/>
              </a:rPr>
              <a:t>02 · RAK RITEL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3440" y="2116114"/>
            <a:ext cx="3383363" cy="4037541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icture-0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3440" y="2116114"/>
            <a:ext cx="3383363" cy="403754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45318" y="5931351"/>
            <a:ext cx="317161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45318" y="2237993"/>
            <a:ext cx="1586008" cy="238737"/>
          </a:xfrm>
          <a:prstGeom prst="rect">
            <a:avLst/>
          </a:prstGeom>
          <a:solidFill>
            <a:srgbClr val="F4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5318" y="2298933"/>
            <a:ext cx="16180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D392D"/>
                </a:solidFill>
                <a:latin typeface="Arial"/>
              </a:rPr>
              <a:t>03 · KOMUNITAS PILATES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195" y="6226806"/>
            <a:ext cx="110536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766054"/>
                </a:solidFill>
                <a:latin typeface="Arial"/>
              </a:rPr>
              <a:t>Tiga titik pengalaman merek: cicip di booth, temukan di rak, lalu bawa ke komunitas. Semua foto adalah konsep tanpa wajah manusia.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SUMBER: PDF SIDANG AKHIR · HALAMAN 18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PRESENTASI 64 / 66 · ASLI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Ekonomi pemasaran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Deck mengukur kontribusi pemasaran melalui NMC, MROS, dan MROI sepanjang horizon.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5195" y="4867188"/>
            <a:ext cx="3576337" cy="0"/>
          </a:xfrm>
          <a:prstGeom prst="line">
            <a:avLst/>
          </a:prstGeom>
          <a:ln w="36517">
            <a:solidFill>
              <a:srgbClr val="DD97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585195" y="5983047"/>
            <a:ext cx="35763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5195" y="5074315"/>
            <a:ext cx="353519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01 / NMC kumulatif Y0–Y10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195" y="5403435"/>
            <a:ext cx="3535191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5" b="1" i="0">
                <a:solidFill>
                  <a:srgbClr val="4C2F25"/>
                </a:solidFill>
                <a:latin typeface="Arial"/>
              </a:rPr>
              <a:t>Rp 83.712 Jt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07831" y="4867188"/>
            <a:ext cx="3576337" cy="0"/>
          </a:xfrm>
          <a:prstGeom prst="line">
            <a:avLst/>
          </a:prstGeom>
          <a:ln w="36517">
            <a:solidFill>
              <a:srgbClr val="DD97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4307831" y="5983047"/>
            <a:ext cx="35763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307831" y="5074315"/>
            <a:ext cx="353519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02 / MROS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7831" y="5403435"/>
            <a:ext cx="3535191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5" b="1" i="0">
                <a:solidFill>
                  <a:srgbClr val="4C2F25"/>
                </a:solidFill>
                <a:latin typeface="Arial"/>
              </a:rPr>
              <a:t>52–59%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30467" y="4867188"/>
            <a:ext cx="3576336" cy="0"/>
          </a:xfrm>
          <a:prstGeom prst="line">
            <a:avLst/>
          </a:prstGeom>
          <a:ln w="36517">
            <a:solidFill>
              <a:srgbClr val="DD97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8030467" y="5983047"/>
            <a:ext cx="3576336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30467" y="5074315"/>
            <a:ext cx="353519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03 / MROI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0467" y="5403435"/>
            <a:ext cx="3535191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5" b="1" i="0">
                <a:solidFill>
                  <a:srgbClr val="4C2F25"/>
                </a:solidFill>
                <a:latin typeface="Arial"/>
              </a:rPr>
              <a:t>780–904%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195" y="6226806"/>
            <a:ext cx="110536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766054"/>
                </a:solidFill>
                <a:latin typeface="Arial"/>
              </a:rPr>
              <a:t>Ukuran NMC, MROS, dan MROI sesuai halaman pemasaran Canva; periksa kesesuaian dengan model keuangan terbaru sebelum mengutipnya.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SUMBER: PDF SIDANG AKHIR · HALAMAN 19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63079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PRESENTASI 65 / 66 · ASLI 65</a:t>
            </a:r>
          </a:p>
        </p:txBody>
      </p:sp>
      <p:pic>
        <p:nvPicPr>
          <p:cNvPr id="6" name="Picture 5" descr="picture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1220660" cy="6858000"/>
          </a:xfrm>
          <a:prstGeom prst="rect">
            <a:avLst/>
          </a:prstGeom>
          <a:solidFill>
            <a:srgbClr val="031C14">
              <a:alpha val="956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19199" y="0"/>
            <a:ext cx="1220660" cy="6858000"/>
          </a:xfrm>
          <a:prstGeom prst="rect">
            <a:avLst/>
          </a:prstGeom>
          <a:solidFill>
            <a:srgbClr val="031C14">
              <a:alpha val="929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8399" y="0"/>
            <a:ext cx="1220660" cy="6858000"/>
          </a:xfrm>
          <a:prstGeom prst="rect">
            <a:avLst/>
          </a:prstGeom>
          <a:solidFill>
            <a:srgbClr val="031C14">
              <a:alpha val="902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599" y="0"/>
            <a:ext cx="1220660" cy="6858000"/>
          </a:xfrm>
          <a:prstGeom prst="rect">
            <a:avLst/>
          </a:prstGeom>
          <a:solidFill>
            <a:srgbClr val="031C14">
              <a:alpha val="875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799" y="0"/>
            <a:ext cx="1220660" cy="6858000"/>
          </a:xfrm>
          <a:prstGeom prst="rect">
            <a:avLst/>
          </a:prstGeom>
          <a:solidFill>
            <a:srgbClr val="031C14">
              <a:alpha val="848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99" y="0"/>
            <a:ext cx="1220660" cy="6858000"/>
          </a:xfrm>
          <a:prstGeom prst="rect">
            <a:avLst/>
          </a:prstGeom>
          <a:solidFill>
            <a:srgbClr val="031C14">
              <a:alpha val="821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199" y="0"/>
            <a:ext cx="1220660" cy="6858000"/>
          </a:xfrm>
          <a:prstGeom prst="rect">
            <a:avLst/>
          </a:prstGeom>
          <a:solidFill>
            <a:srgbClr val="031C14">
              <a:alpha val="794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34399" y="0"/>
            <a:ext cx="1220660" cy="6858000"/>
          </a:xfrm>
          <a:prstGeom prst="rect">
            <a:avLst/>
          </a:prstGeom>
          <a:solidFill>
            <a:srgbClr val="031C14">
              <a:alpha val="767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53599" y="0"/>
            <a:ext cx="1220660" cy="6858000"/>
          </a:xfrm>
          <a:prstGeom prst="rect">
            <a:avLst/>
          </a:prstGeom>
          <a:solidFill>
            <a:srgbClr val="031C14">
              <a:alpha val="740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799" y="0"/>
            <a:ext cx="1220660" cy="6858000"/>
          </a:xfrm>
          <a:prstGeom prst="rect">
            <a:avLst/>
          </a:prstGeom>
          <a:solidFill>
            <a:srgbClr val="031C14">
              <a:alpha val="713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02" y="1097257"/>
            <a:ext cx="1100499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D2EE9C"/>
                </a:solidFill>
                <a:latin typeface="Arial"/>
              </a:rPr>
              <a:t>KEPUTUSAN INVESTASI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02" y="1228722"/>
            <a:ext cx="10127089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PENUTUP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02" y="1474763"/>
            <a:ext cx="9541665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92" b="1" i="0">
                <a:solidFill>
                  <a:srgbClr val="F7F8EF"/>
                </a:solidFill>
                <a:latin typeface="Arial Narrow"/>
              </a:rPr>
              <a:t>Dari peluang ke keputusan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02" y="2288548"/>
            <a:ext cx="6176675" cy="40471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0" i="0">
                <a:solidFill>
                  <a:srgbClr val="E0EBE0"/>
                </a:solidFill>
                <a:latin typeface="Arial"/>
              </a:rPr>
              <a:t>Melooloo membangun pasokan melon premium melalui smart greenhouse; model keuangan terbaru mendukung investasi dengan mitigasi terukur.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02" y="3185868"/>
            <a:ext cx="11004997" cy="1631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D0F09D"/>
                </a:solidFill>
                <a:latin typeface="Arial"/>
              </a:rPr>
              <a:t>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41255" y="3901625"/>
            <a:ext cx="507532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0" i="0">
                <a:solidFill>
                  <a:srgbClr val="D0F09D"/>
                </a:solidFill>
                <a:latin typeface="Arial"/>
              </a:rPr>
              <a:t>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502" y="5299586"/>
            <a:ext cx="9546408" cy="0"/>
          </a:xfrm>
          <a:prstGeom prst="line">
            <a:avLst/>
          </a:prstGeom>
          <a:ln w="7303">
            <a:solidFill>
              <a:srgbClr val="EEFBE6">
                <a:alpha val="4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502" y="5428769"/>
            <a:ext cx="2176226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9502" y="5521320"/>
            <a:ext cx="220822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502" y="5621174"/>
            <a:ext cx="220822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35 → 237 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502" y="5982476"/>
            <a:ext cx="220822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kapasitas Y0–Y10 dalam model baru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66116" y="5428769"/>
            <a:ext cx="2176340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066116" y="5521320"/>
            <a:ext cx="220834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6116" y="5621174"/>
            <a:ext cx="220834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IoT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6116" y="5982476"/>
            <a:ext cx="220834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kendali budidaya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522843" y="5428769"/>
            <a:ext cx="2176340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522843" y="5521320"/>
            <a:ext cx="220834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22843" y="5621174"/>
            <a:ext cx="220834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Rp23,5 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843" y="5982476"/>
            <a:ext cx="220834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NPV skenario most likely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979570" y="5428769"/>
            <a:ext cx="2176340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979570" y="5521320"/>
            <a:ext cx="220834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79570" y="5621174"/>
            <a:ext cx="220834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GO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9570" y="5982476"/>
            <a:ext cx="220834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dengan mitigasi risiko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6192570"/>
            <a:ext cx="110049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5EFE3"/>
                </a:solidFill>
                <a:latin typeface="Arial"/>
              </a:rPr>
              <a:t>Dengan mitigasi penerimaan harga, ketahanan produksi, dan piutang B2B · memakai model keuangan Mery.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36902" y="6544057"/>
            <a:ext cx="202632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SUMBER: PDF ASLI + CATATAN · HALAMAN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63079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40717" y="322272"/>
            <a:ext cx="18225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PRESENTASI 66 / 66 · ASLI 66</a:t>
            </a:r>
          </a:p>
        </p:txBody>
      </p:sp>
      <p:pic>
        <p:nvPicPr>
          <p:cNvPr id="6" name="Picture 5" descr="picture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1220660" cy="6858000"/>
          </a:xfrm>
          <a:prstGeom prst="rect">
            <a:avLst/>
          </a:prstGeom>
          <a:solidFill>
            <a:srgbClr val="031A12">
              <a:alpha val="950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19199" y="0"/>
            <a:ext cx="1220660" cy="6858000"/>
          </a:xfrm>
          <a:prstGeom prst="rect">
            <a:avLst/>
          </a:prstGeom>
          <a:solidFill>
            <a:srgbClr val="031A12">
              <a:alpha val="931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8399" y="0"/>
            <a:ext cx="1220660" cy="6858000"/>
          </a:xfrm>
          <a:prstGeom prst="rect">
            <a:avLst/>
          </a:prstGeom>
          <a:solidFill>
            <a:srgbClr val="031A12">
              <a:alpha val="912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599" y="0"/>
            <a:ext cx="1220660" cy="6858000"/>
          </a:xfrm>
          <a:prstGeom prst="rect">
            <a:avLst/>
          </a:prstGeom>
          <a:solidFill>
            <a:srgbClr val="031A12">
              <a:alpha val="893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799" y="0"/>
            <a:ext cx="1220660" cy="6858000"/>
          </a:xfrm>
          <a:prstGeom prst="rect">
            <a:avLst/>
          </a:prstGeom>
          <a:solidFill>
            <a:srgbClr val="031A12">
              <a:alpha val="874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99" y="0"/>
            <a:ext cx="1220660" cy="6858000"/>
          </a:xfrm>
          <a:prstGeom prst="rect">
            <a:avLst/>
          </a:prstGeom>
          <a:solidFill>
            <a:srgbClr val="031A12">
              <a:alpha val="855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199" y="0"/>
            <a:ext cx="1220660" cy="6858000"/>
          </a:xfrm>
          <a:prstGeom prst="rect">
            <a:avLst/>
          </a:prstGeom>
          <a:solidFill>
            <a:srgbClr val="031A12">
              <a:alpha val="836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34399" y="0"/>
            <a:ext cx="1220660" cy="6858000"/>
          </a:xfrm>
          <a:prstGeom prst="rect">
            <a:avLst/>
          </a:prstGeom>
          <a:solidFill>
            <a:srgbClr val="031A12">
              <a:alpha val="817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53599" y="0"/>
            <a:ext cx="1220660" cy="6858000"/>
          </a:xfrm>
          <a:prstGeom prst="rect">
            <a:avLst/>
          </a:prstGeom>
          <a:solidFill>
            <a:srgbClr val="031A12">
              <a:alpha val="798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799" y="0"/>
            <a:ext cx="1220660" cy="6858000"/>
          </a:xfrm>
          <a:prstGeom prst="rect">
            <a:avLst/>
          </a:prstGeom>
          <a:solidFill>
            <a:srgbClr val="031A12">
              <a:alpha val="7795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4360" y="1327778"/>
            <a:ext cx="2230140" cy="44100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760" b="0" i="0">
                <a:solidFill>
                  <a:srgbClr val="F8FAEF">
                    <a:alpha val="75000"/>
                  </a:srgbClr>
                </a:solidFill>
                <a:latin typeface="Arial"/>
              </a:rPr>
              <a:t>TERIMA KASIH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4360" y="1787450"/>
            <a:ext cx="22301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F8FAEF"/>
                </a:solidFill>
                <a:latin typeface="Arial"/>
              </a:rPr>
              <a:t>MELOOLOO / JAKARTA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02" y="1714414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PENUTUP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02" y="1850901"/>
            <a:ext cx="7603261" cy="128822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F7F8EF"/>
                </a:solidFill>
                <a:latin typeface="Arial Narrow"/>
              </a:rPr>
              <a:t>Terima kasih.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02" y="3163387"/>
            <a:ext cx="6145064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PT Melooloo Segar Indonesia · Business plan seminar 2.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502" y="5550192"/>
            <a:ext cx="4907293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09502" y="5642743"/>
            <a:ext cx="493929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02" y="5742597"/>
            <a:ext cx="493929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01–66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02" y="6103899"/>
            <a:ext cx="493929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sumber presentasi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797182" y="5550192"/>
            <a:ext cx="490740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797182" y="5642743"/>
            <a:ext cx="49394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97182" y="5742597"/>
            <a:ext cx="4939410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3D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97182" y="6103899"/>
            <a:ext cx="49394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walkthrough greenhouse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9168" y="6544057"/>
            <a:ext cx="197406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SUMBER: PDF SIDANG AKHIR · HALAMAN 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Melooloo — Presentasi Sidang Akhir (Editable)</dc:title>
  <dc:subject>PowerPoint objects rebuilt from the 66-slide web deck</dc:subject>
  <dc:creator>Melooloo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